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4.xml" ContentType="application/vnd.openxmlformats-officedocument.presentationml.notesSlide+xml"/>
  <Override PartName="/ppt/ink/ink2.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7.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1.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2.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3.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4.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5.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6.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7.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8.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9.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30.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31.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32.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33.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4.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35.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36.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3"/>
  </p:notesMasterIdLst>
  <p:sldIdLst>
    <p:sldId id="587" r:id="rId2"/>
    <p:sldId id="589" r:id="rId3"/>
    <p:sldId id="671" r:id="rId4"/>
    <p:sldId id="588" r:id="rId5"/>
    <p:sldId id="674" r:id="rId6"/>
    <p:sldId id="641" r:id="rId7"/>
    <p:sldId id="642" r:id="rId8"/>
    <p:sldId id="643" r:id="rId9"/>
    <p:sldId id="645" r:id="rId10"/>
    <p:sldId id="673" r:id="rId11"/>
    <p:sldId id="664" r:id="rId12"/>
    <p:sldId id="647" r:id="rId13"/>
    <p:sldId id="648" r:id="rId14"/>
    <p:sldId id="665" r:id="rId15"/>
    <p:sldId id="649" r:id="rId16"/>
    <p:sldId id="696" r:id="rId17"/>
    <p:sldId id="697" r:id="rId18"/>
    <p:sldId id="699" r:id="rId19"/>
    <p:sldId id="700" r:id="rId20"/>
    <p:sldId id="701" r:id="rId21"/>
    <p:sldId id="666" r:id="rId22"/>
    <p:sldId id="693" r:id="rId23"/>
    <p:sldId id="703" r:id="rId24"/>
    <p:sldId id="704" r:id="rId25"/>
    <p:sldId id="705" r:id="rId26"/>
    <p:sldId id="706" r:id="rId27"/>
    <p:sldId id="707" r:id="rId28"/>
    <p:sldId id="708" r:id="rId29"/>
    <p:sldId id="709" r:id="rId30"/>
    <p:sldId id="710" r:id="rId31"/>
    <p:sldId id="711" r:id="rId32"/>
    <p:sldId id="712" r:id="rId33"/>
    <p:sldId id="713" r:id="rId34"/>
    <p:sldId id="714" r:id="rId35"/>
    <p:sldId id="715" r:id="rId36"/>
    <p:sldId id="716" r:id="rId37"/>
    <p:sldId id="667" r:id="rId38"/>
    <p:sldId id="669" r:id="rId39"/>
    <p:sldId id="668" r:id="rId40"/>
    <p:sldId id="611" r:id="rId41"/>
    <p:sldId id="69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3" clrIdx="0"/>
  <p:cmAuthor id="2" name="Utilisateur de Microsoft Office" initials="Office" lastIdx="0" clrIdx="1"/>
  <p:cmAuthor id="3" name="Utilisateur de Microsoft Office" initials="Office [2]"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C"/>
    <a:srgbClr val="D0CECE"/>
    <a:srgbClr val="7F7F7F"/>
    <a:srgbClr val="FFCDCD"/>
    <a:srgbClr val="E31937"/>
    <a:srgbClr val="FF6600"/>
    <a:srgbClr val="FF7900"/>
    <a:srgbClr val="F8D8CA"/>
    <a:srgbClr val="595959"/>
    <a:srgbClr val="F5F5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80512" autoAdjust="0"/>
  </p:normalViewPr>
  <p:slideViewPr>
    <p:cSldViewPr snapToGrid="0">
      <p:cViewPr varScale="1">
        <p:scale>
          <a:sx n="51" d="100"/>
          <a:sy n="51" d="100"/>
        </p:scale>
        <p:origin x="1296" y="36"/>
      </p:cViewPr>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20" d="100"/>
        <a:sy n="20" d="100"/>
      </p:scale>
      <p:origin x="0" y="0"/>
    </p:cViewPr>
  </p:sorter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mohamedreda.bakri\Desktop\reda%20BAKRI\Pilotage\AVV\Maroc\repartitio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fr-FR" sz="1400" b="0" i="0" u="none" strike="noStrike" kern="1200" spc="0" baseline="0">
                <a:solidFill>
                  <a:schemeClr val="tx1">
                    <a:lumMod val="65000"/>
                    <a:lumOff val="35000"/>
                  </a:schemeClr>
                </a:solidFill>
                <a:latin typeface="+mn-lt"/>
                <a:ea typeface="+mn-ea"/>
                <a:cs typeface="+mn-cs"/>
              </a:defRPr>
            </a:pPr>
            <a:r>
              <a:rPr lang="fr-FR" sz="1600" b="1" dirty="0">
                <a:solidFill>
                  <a:srgbClr val="FF0000"/>
                </a:solidFill>
                <a:latin typeface="Abadi" panose="020F0502020204030204" pitchFamily="34" charset="0"/>
                <a:ea typeface="ADLaM Display" panose="02010000000000000000" pitchFamily="2" charset="0"/>
                <a:cs typeface="ADLaM Display" panose="02010000000000000000" pitchFamily="2" charset="0"/>
              </a:rPr>
              <a:t>Technologies</a:t>
            </a:r>
          </a:p>
        </c:rich>
      </c:tx>
      <c:layout>
        <c:manualLayout>
          <c:xMode val="edge"/>
          <c:yMode val="edge"/>
          <c:x val="0.43121278827374038"/>
          <c:y val="0.19087411084486366"/>
        </c:manualLayout>
      </c:layout>
      <c:overlay val="0"/>
      <c:spPr>
        <a:noFill/>
        <a:ln>
          <a:noFill/>
        </a:ln>
        <a:effectLst/>
      </c:spPr>
      <c:txPr>
        <a:bodyPr rot="0" spcFirstLastPara="1" vertOverflow="ellipsis" vert="horz" wrap="square" anchor="ctr" anchorCtr="1"/>
        <a:lstStyle/>
        <a:p>
          <a:pPr>
            <a:defRPr lang="fr-F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0.14636121698716001"/>
          <c:y val="0.28275405509052898"/>
          <c:w val="0.34785922526750601"/>
          <c:h val="0.58961691151107998"/>
        </c:manualLayout>
      </c:layout>
      <c:doughnutChart>
        <c:varyColors val="1"/>
        <c:ser>
          <c:idx val="0"/>
          <c:order val="0"/>
          <c:tx>
            <c:strRef>
              <c:f>Techno</c:f>
              <c:strCache>
                <c:ptCount val="1"/>
                <c:pt idx="0">
                  <c:v>Techno</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36F-4B2D-96EB-9D5117F651C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36F-4B2D-96EB-9D5117F651C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36F-4B2D-96EB-9D5117F651C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F36F-4B2D-96EB-9D5117F651C8}"/>
              </c:ext>
            </c:extLst>
          </c:dPt>
          <c:dLbls>
            <c:spPr>
              <a:noFill/>
              <a:ln>
                <a:noFill/>
              </a:ln>
              <a:effectLst/>
            </c:spPr>
            <c:txPr>
              <a:bodyPr rot="0" spcFirstLastPara="1" vertOverflow="ellipsis" vert="horz" wrap="square" lIns="38100" tIns="19050" rIns="38100" bIns="19050" anchor="ctr" anchorCtr="1">
                <a:spAutoFit/>
              </a:bodyPr>
              <a:lstStyle/>
              <a:p>
                <a:pPr>
                  <a:defRPr lang="fr-FR" sz="1050" b="0" i="0" u="none" strike="noStrike" kern="1200" baseline="0">
                    <a:solidFill>
                      <a:srgbClr val="FFFF00"/>
                    </a:solidFill>
                    <a:latin typeface="ADLaM Display" panose="02010000000000000000" pitchFamily="2" charset="0"/>
                    <a:ea typeface="ADLaM Display" panose="02010000000000000000" pitchFamily="2" charset="0"/>
                    <a:cs typeface="ADLaM Display" panose="02010000000000000000" pitchFamily="2" charset="0"/>
                  </a:defRPr>
                </a:pPr>
                <a:endParaRPr lang="fr-FR"/>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technologie!$A$4:$A$7</c:f>
              <c:strCache>
                <c:ptCount val="4"/>
                <c:pt idx="0">
                  <c:v>Microsoft &amp; Java</c:v>
                </c:pt>
                <c:pt idx="1">
                  <c:v>Data Management</c:v>
                </c:pt>
                <c:pt idx="2">
                  <c:v>Mainframe</c:v>
                </c:pt>
                <c:pt idx="3">
                  <c:v>Monitoring &amp; Contrôle</c:v>
                </c:pt>
              </c:strCache>
            </c:strRef>
          </c:cat>
          <c:val>
            <c:numRef>
              <c:f>technologie!$B$4:$B$7</c:f>
              <c:numCache>
                <c:formatCode>0%</c:formatCode>
                <c:ptCount val="4"/>
                <c:pt idx="0">
                  <c:v>0.33</c:v>
                </c:pt>
                <c:pt idx="1">
                  <c:v>0.25</c:v>
                </c:pt>
                <c:pt idx="2">
                  <c:v>0.15</c:v>
                </c:pt>
                <c:pt idx="3">
                  <c:v>0.27</c:v>
                </c:pt>
              </c:numCache>
            </c:numRef>
          </c:val>
          <c:extLst>
            <c:ext xmlns:c16="http://schemas.microsoft.com/office/drawing/2014/chart" uri="{C3380CC4-5D6E-409C-BE32-E72D297353CC}">
              <c16:uniqueId val="{00000008-F36F-4B2D-96EB-9D5117F651C8}"/>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egendEntry>
        <c:idx val="0"/>
        <c:txPr>
          <a:bodyPr rot="0" spcFirstLastPara="1" vertOverflow="ellipsis" vert="horz" wrap="square" anchor="ctr" anchorCtr="1"/>
          <a:lstStyle/>
          <a:p>
            <a:pPr>
              <a:defRPr lang="fr-FR" sz="1000" b="0" i="0" u="none" strike="noStrike" kern="1200" baseline="0">
                <a:solidFill>
                  <a:schemeClr val="tx1">
                    <a:lumMod val="65000"/>
                    <a:lumOff val="35000"/>
                  </a:schemeClr>
                </a:solidFill>
                <a:latin typeface="ADLaM Display" panose="02010000000000000000" pitchFamily="2" charset="0"/>
                <a:ea typeface="ADLaM Display" panose="02010000000000000000" pitchFamily="2" charset="0"/>
                <a:cs typeface="ADLaM Display" panose="02010000000000000000" pitchFamily="2" charset="0"/>
              </a:defRPr>
            </a:pPr>
            <a:endParaRPr lang="fr-FR"/>
          </a:p>
        </c:txPr>
      </c:legendEntry>
      <c:legendEntry>
        <c:idx val="1"/>
        <c:txPr>
          <a:bodyPr rot="0" spcFirstLastPara="1" vertOverflow="ellipsis" vert="horz" wrap="square" anchor="ctr" anchorCtr="1"/>
          <a:lstStyle/>
          <a:p>
            <a:pPr>
              <a:defRPr lang="fr-FR" sz="1000" b="0" i="0" u="none" strike="noStrike" kern="1200" baseline="0">
                <a:solidFill>
                  <a:schemeClr val="tx1">
                    <a:lumMod val="65000"/>
                    <a:lumOff val="35000"/>
                  </a:schemeClr>
                </a:solidFill>
                <a:latin typeface="ADLaM Display" panose="02010000000000000000" pitchFamily="2" charset="0"/>
                <a:ea typeface="ADLaM Display" panose="02010000000000000000" pitchFamily="2" charset="0"/>
                <a:cs typeface="ADLaM Display" panose="02010000000000000000" pitchFamily="2" charset="0"/>
              </a:defRPr>
            </a:pPr>
            <a:endParaRPr lang="fr-FR"/>
          </a:p>
        </c:txPr>
      </c:legendEntry>
      <c:legendEntry>
        <c:idx val="2"/>
        <c:txPr>
          <a:bodyPr rot="0" spcFirstLastPara="1" vertOverflow="ellipsis" vert="horz" wrap="square" anchor="ctr" anchorCtr="1"/>
          <a:lstStyle/>
          <a:p>
            <a:pPr>
              <a:defRPr lang="fr-FR" sz="1000" b="0" i="0" u="none" strike="noStrike" kern="1200" baseline="0">
                <a:solidFill>
                  <a:schemeClr val="tx1">
                    <a:lumMod val="65000"/>
                    <a:lumOff val="35000"/>
                  </a:schemeClr>
                </a:solidFill>
                <a:latin typeface="ADLaM Display" panose="02010000000000000000" pitchFamily="2" charset="0"/>
                <a:ea typeface="ADLaM Display" panose="02010000000000000000" pitchFamily="2" charset="0"/>
                <a:cs typeface="ADLaM Display" panose="02010000000000000000" pitchFamily="2" charset="0"/>
              </a:defRPr>
            </a:pPr>
            <a:endParaRPr lang="fr-FR"/>
          </a:p>
        </c:txPr>
      </c:legendEntry>
      <c:legendEntry>
        <c:idx val="3"/>
        <c:txPr>
          <a:bodyPr rot="0" spcFirstLastPara="1" vertOverflow="ellipsis" vert="horz" wrap="square" anchor="ctr" anchorCtr="1"/>
          <a:lstStyle/>
          <a:p>
            <a:pPr>
              <a:defRPr lang="fr-FR" sz="1000" b="0" i="0" u="none" strike="noStrike" kern="1200" baseline="0">
                <a:solidFill>
                  <a:schemeClr val="tx1">
                    <a:lumMod val="65000"/>
                    <a:lumOff val="35000"/>
                  </a:schemeClr>
                </a:solidFill>
                <a:latin typeface="ADLaM Display" panose="02010000000000000000" pitchFamily="2" charset="0"/>
                <a:ea typeface="ADLaM Display" panose="02010000000000000000" pitchFamily="2" charset="0"/>
                <a:cs typeface="ADLaM Display" panose="02010000000000000000" pitchFamily="2" charset="0"/>
              </a:defRPr>
            </a:pPr>
            <a:endParaRPr lang="fr-FR"/>
          </a:p>
        </c:txPr>
      </c:legendEntry>
      <c:layout>
        <c:manualLayout>
          <c:xMode val="edge"/>
          <c:yMode val="edge"/>
          <c:x val="0.48020385853340558"/>
          <c:y val="0.34697326877835888"/>
          <c:w val="0.49940352440561692"/>
          <c:h val="0.44215751597719599"/>
        </c:manualLayout>
      </c:layout>
      <c:overlay val="0"/>
      <c:spPr>
        <a:noFill/>
        <a:ln>
          <a:noFill/>
        </a:ln>
        <a:effectLst/>
      </c:spPr>
      <c:txPr>
        <a:bodyPr rot="0" spcFirstLastPara="1" vertOverflow="ellipsis" vert="horz" wrap="square" anchor="ctr" anchorCtr="1"/>
        <a:lstStyle/>
        <a:p>
          <a:pPr>
            <a:defRPr lang="fr-F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lang="fr-F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C3C1B7-089A-2446-8F42-6A61EF8E5869}" type="doc">
      <dgm:prSet loTypeId="urn:microsoft.com/office/officeart/2008/layout/VerticalCurvedList" loCatId="" qsTypeId="urn:microsoft.com/office/officeart/2005/8/quickstyle/simple4" qsCatId="simple" csTypeId="urn:microsoft.com/office/officeart/2005/8/colors/accent1_2" csCatId="accent1" phldr="1"/>
      <dgm:spPr/>
      <dgm:t>
        <a:bodyPr/>
        <a:lstStyle/>
        <a:p>
          <a:endParaRPr lang="fr-FR"/>
        </a:p>
      </dgm:t>
    </dgm:pt>
    <dgm:pt modelId="{0B4BFD1A-16D2-5A43-AF3F-2A62FD8E13B8}">
      <dgm:prSet phldrT="[Texte]" custT="1"/>
      <dgm:spPr>
        <a:noFill/>
      </dgm:spPr>
      <dgm:t>
        <a:bodyPr/>
        <a:lstStyle/>
        <a:p>
          <a:r>
            <a:rPr lang="en-US" sz="3200" noProof="0" dirty="0">
              <a:solidFill>
                <a:schemeClr val="tx1">
                  <a:lumMod val="65000"/>
                  <a:lumOff val="35000"/>
                </a:schemeClr>
              </a:solidFill>
              <a:latin typeface="Century Gothic" charset="0"/>
              <a:ea typeface="Century Gothic" charset="0"/>
              <a:cs typeface="Century Gothic" charset="0"/>
            </a:rPr>
            <a:t>Contexte Général</a:t>
          </a:r>
          <a:endParaRPr lang="en-US" sz="3200" noProof="0" dirty="0">
            <a:solidFill>
              <a:schemeClr val="tx1">
                <a:lumMod val="65000"/>
                <a:lumOff val="35000"/>
              </a:schemeClr>
            </a:solidFill>
          </a:endParaRPr>
        </a:p>
      </dgm:t>
    </dgm:pt>
    <dgm:pt modelId="{15651921-2405-EF45-81FD-7A4DB46C6BC3}" type="parTrans" cxnId="{39D52535-DCA3-1F40-98CD-29D833C7CB96}">
      <dgm:prSet/>
      <dgm:spPr/>
      <dgm:t>
        <a:bodyPr/>
        <a:lstStyle/>
        <a:p>
          <a:endParaRPr lang="fr-FR"/>
        </a:p>
      </dgm:t>
    </dgm:pt>
    <dgm:pt modelId="{3B55F7F4-9FCE-7848-B567-65A219AB5612}" type="sibTrans" cxnId="{39D52535-DCA3-1F40-98CD-29D833C7CB96}">
      <dgm:prSet/>
      <dgm:spPr>
        <a:solidFill>
          <a:schemeClr val="tx1"/>
        </a:solidFill>
        <a:ln>
          <a:solidFill>
            <a:schemeClr val="tx1"/>
          </a:solidFill>
        </a:ln>
      </dgm:spPr>
      <dgm:t>
        <a:bodyPr/>
        <a:lstStyle/>
        <a:p>
          <a:endParaRPr lang="fr-FR"/>
        </a:p>
      </dgm:t>
    </dgm:pt>
    <dgm:pt modelId="{E746B81D-D050-774E-B24A-9897BABF9A78}">
      <dgm:prSet phldrT="[Texte]" custT="1"/>
      <dgm:spPr>
        <a:noFill/>
      </dgm:spPr>
      <dgm:t>
        <a:bodyPr/>
        <a:lstStyle/>
        <a:p>
          <a:pPr marL="0" lvl="0" indent="0" algn="l" defTabSz="1422400">
            <a:lnSpc>
              <a:spcPct val="90000"/>
            </a:lnSpc>
            <a:spcBef>
              <a:spcPct val="0"/>
            </a:spcBef>
            <a:spcAft>
              <a:spcPct val="35000"/>
            </a:spcAft>
            <a:buNone/>
          </a:pPr>
          <a:r>
            <a:rPr lang="en-US" sz="3200" kern="1200" noProof="0" dirty="0">
              <a:solidFill>
                <a:srgbClr val="595959"/>
              </a:solidFill>
              <a:latin typeface="Century Gothic" charset="0"/>
              <a:ea typeface="+mn-ea"/>
              <a:cs typeface="+mn-cs"/>
            </a:rPr>
            <a:t>Conception</a:t>
          </a:r>
        </a:p>
      </dgm:t>
    </dgm:pt>
    <dgm:pt modelId="{4E685768-851F-734A-BBD0-B160A2D6B575}" type="parTrans" cxnId="{4EC3AB7A-3185-6B4C-A930-EB4534B7F63E}">
      <dgm:prSet/>
      <dgm:spPr/>
      <dgm:t>
        <a:bodyPr/>
        <a:lstStyle/>
        <a:p>
          <a:endParaRPr lang="fr-FR"/>
        </a:p>
      </dgm:t>
    </dgm:pt>
    <dgm:pt modelId="{CB245412-5C64-B940-A420-A63E5DEC4BA2}" type="sibTrans" cxnId="{4EC3AB7A-3185-6B4C-A930-EB4534B7F63E}">
      <dgm:prSet/>
      <dgm:spPr/>
      <dgm:t>
        <a:bodyPr/>
        <a:lstStyle/>
        <a:p>
          <a:endParaRPr lang="fr-FR"/>
        </a:p>
      </dgm:t>
    </dgm:pt>
    <dgm:pt modelId="{27BDBDF1-DA0B-6E46-9C5C-FB827E28A267}">
      <dgm:prSet custT="1"/>
      <dgm:spPr>
        <a:noFill/>
      </dgm:spPr>
      <dgm:t>
        <a:bodyPr/>
        <a:lstStyle/>
        <a:p>
          <a:r>
            <a:rPr lang="fr-MA" sz="3200" dirty="0">
              <a:solidFill>
                <a:srgbClr val="595959"/>
              </a:solidFill>
              <a:latin typeface="Century Gothic" charset="0"/>
            </a:rPr>
            <a:t>Analyse des Besoins</a:t>
          </a:r>
          <a:endParaRPr lang="fr-FR" sz="3200" dirty="0">
            <a:solidFill>
              <a:srgbClr val="595959"/>
            </a:solidFill>
            <a:latin typeface="Century Gothic" charset="0"/>
            <a:ea typeface="Century Gothic" charset="0"/>
            <a:cs typeface="Century Gothic" charset="0"/>
          </a:endParaRPr>
        </a:p>
      </dgm:t>
    </dgm:pt>
    <dgm:pt modelId="{94FA66AC-58DC-374E-8802-811A897C38EE}" type="parTrans" cxnId="{DC454865-499E-CC49-9CD9-41E0BCBEE62A}">
      <dgm:prSet/>
      <dgm:spPr/>
      <dgm:t>
        <a:bodyPr/>
        <a:lstStyle/>
        <a:p>
          <a:endParaRPr lang="fr-FR"/>
        </a:p>
      </dgm:t>
    </dgm:pt>
    <dgm:pt modelId="{F88DE77D-63D7-8846-BBA8-DF7D79F66670}" type="sibTrans" cxnId="{DC454865-499E-CC49-9CD9-41E0BCBEE62A}">
      <dgm:prSet/>
      <dgm:spPr/>
      <dgm:t>
        <a:bodyPr/>
        <a:lstStyle/>
        <a:p>
          <a:endParaRPr lang="fr-FR"/>
        </a:p>
      </dgm:t>
    </dgm:pt>
    <dgm:pt modelId="{388B6816-CDF8-0C4D-A81F-9153D3AE98A7}">
      <dgm:prSet custT="1"/>
      <dgm:spPr>
        <a:noFill/>
      </dgm:spPr>
      <dgm:t>
        <a:bodyPr/>
        <a:lstStyle/>
        <a:p>
          <a:r>
            <a:rPr lang="fr-MA" sz="3200" noProof="0" dirty="0">
              <a:solidFill>
                <a:schemeClr val="tx1">
                  <a:lumMod val="65000"/>
                  <a:lumOff val="35000"/>
                </a:schemeClr>
              </a:solidFill>
              <a:latin typeface="Century Gothic" charset="0"/>
            </a:rPr>
            <a:t>Réalisation</a:t>
          </a:r>
          <a:endParaRPr lang="en-US" sz="3200" noProof="0" dirty="0">
            <a:solidFill>
              <a:schemeClr val="tx1">
                <a:lumMod val="65000"/>
                <a:lumOff val="35000"/>
              </a:schemeClr>
            </a:solidFill>
            <a:latin typeface="Century Gothic" charset="0"/>
            <a:ea typeface="Century Gothic" charset="0"/>
            <a:cs typeface="Century Gothic" charset="0"/>
          </a:endParaRPr>
        </a:p>
      </dgm:t>
    </dgm:pt>
    <dgm:pt modelId="{12B99670-B646-994A-B626-F25EA4EDAF53}" type="parTrans" cxnId="{D405E488-3DAC-B341-87C5-7FDA61FD354E}">
      <dgm:prSet/>
      <dgm:spPr/>
      <dgm:t>
        <a:bodyPr/>
        <a:lstStyle/>
        <a:p>
          <a:endParaRPr lang="fr-FR"/>
        </a:p>
      </dgm:t>
    </dgm:pt>
    <dgm:pt modelId="{8EA4B254-E3FC-F94C-AFCB-1966B801302C}" type="sibTrans" cxnId="{D405E488-3DAC-B341-87C5-7FDA61FD354E}">
      <dgm:prSet/>
      <dgm:spPr/>
      <dgm:t>
        <a:bodyPr/>
        <a:lstStyle/>
        <a:p>
          <a:endParaRPr lang="fr-FR"/>
        </a:p>
      </dgm:t>
    </dgm:pt>
    <dgm:pt modelId="{6BCC9B11-6340-1240-806A-1F5F849741A5}">
      <dgm:prSet custT="1"/>
      <dgm:spPr>
        <a:noFill/>
      </dgm:spPr>
      <dgm:t>
        <a:bodyPr/>
        <a:lstStyle/>
        <a:p>
          <a:r>
            <a:rPr lang="en-US" sz="3200" noProof="0" dirty="0">
              <a:solidFill>
                <a:schemeClr val="tx1">
                  <a:lumMod val="65000"/>
                  <a:lumOff val="35000"/>
                </a:schemeClr>
              </a:solidFill>
              <a:latin typeface="Century Gothic" charset="0"/>
              <a:ea typeface="Century Gothic" charset="0"/>
              <a:cs typeface="Century Gothic" charset="0"/>
            </a:rPr>
            <a:t>Conclusion &amp; Perspectives </a:t>
          </a:r>
        </a:p>
      </dgm:t>
    </dgm:pt>
    <dgm:pt modelId="{A7A00F89-A120-C841-94E8-53E6FCF141F8}" type="parTrans" cxnId="{8B7B6F46-A10A-2D46-96F1-9F7A7C21045A}">
      <dgm:prSet/>
      <dgm:spPr/>
      <dgm:t>
        <a:bodyPr/>
        <a:lstStyle/>
        <a:p>
          <a:endParaRPr lang="fr-FR"/>
        </a:p>
      </dgm:t>
    </dgm:pt>
    <dgm:pt modelId="{EDAFFB3F-9E05-F444-BB42-E18978576F06}" type="sibTrans" cxnId="{8B7B6F46-A10A-2D46-96F1-9F7A7C21045A}">
      <dgm:prSet/>
      <dgm:spPr/>
      <dgm:t>
        <a:bodyPr/>
        <a:lstStyle/>
        <a:p>
          <a:endParaRPr lang="fr-FR"/>
        </a:p>
      </dgm:t>
    </dgm:pt>
    <dgm:pt modelId="{A5204C83-9118-7549-A0D7-3864CA782CFD}" type="pres">
      <dgm:prSet presAssocID="{ADC3C1B7-089A-2446-8F42-6A61EF8E5869}" presName="Name0" presStyleCnt="0">
        <dgm:presLayoutVars>
          <dgm:chMax val="7"/>
          <dgm:chPref val="7"/>
          <dgm:dir/>
        </dgm:presLayoutVars>
      </dgm:prSet>
      <dgm:spPr/>
    </dgm:pt>
    <dgm:pt modelId="{63072442-3AEA-0544-8FC0-236B83FD4334}" type="pres">
      <dgm:prSet presAssocID="{ADC3C1B7-089A-2446-8F42-6A61EF8E5869}" presName="Name1" presStyleCnt="0"/>
      <dgm:spPr/>
    </dgm:pt>
    <dgm:pt modelId="{0292FD81-56A7-AE42-A080-1EB49FCCD9B6}" type="pres">
      <dgm:prSet presAssocID="{ADC3C1B7-089A-2446-8F42-6A61EF8E5869}" presName="cycle" presStyleCnt="0"/>
      <dgm:spPr/>
    </dgm:pt>
    <dgm:pt modelId="{4245FAE8-8651-5445-9AA8-A21FF3A95B62}" type="pres">
      <dgm:prSet presAssocID="{ADC3C1B7-089A-2446-8F42-6A61EF8E5869}" presName="srcNode" presStyleLbl="node1" presStyleIdx="0" presStyleCnt="5"/>
      <dgm:spPr/>
    </dgm:pt>
    <dgm:pt modelId="{DE0B0214-84A6-2C4E-A0B3-EF7E891E4252}" type="pres">
      <dgm:prSet presAssocID="{ADC3C1B7-089A-2446-8F42-6A61EF8E5869}" presName="conn" presStyleLbl="parChTrans1D2" presStyleIdx="0" presStyleCnt="1" custLinFactNeighborX="-16607"/>
      <dgm:spPr/>
    </dgm:pt>
    <dgm:pt modelId="{62BA32F3-BADB-A440-A33C-FA6359C3171F}" type="pres">
      <dgm:prSet presAssocID="{ADC3C1B7-089A-2446-8F42-6A61EF8E5869}" presName="extraNode" presStyleLbl="node1" presStyleIdx="0" presStyleCnt="5"/>
      <dgm:spPr/>
    </dgm:pt>
    <dgm:pt modelId="{DF10906F-31FB-9543-9A05-0FC6A7775F55}" type="pres">
      <dgm:prSet presAssocID="{ADC3C1B7-089A-2446-8F42-6A61EF8E5869}" presName="dstNode" presStyleLbl="node1" presStyleIdx="0" presStyleCnt="5"/>
      <dgm:spPr/>
    </dgm:pt>
    <dgm:pt modelId="{F637DE42-0528-384D-9F52-01B3A1426649}" type="pres">
      <dgm:prSet presAssocID="{0B4BFD1A-16D2-5A43-AF3F-2A62FD8E13B8}" presName="text_1" presStyleLbl="node1" presStyleIdx="0" presStyleCnt="5">
        <dgm:presLayoutVars>
          <dgm:bulletEnabled val="1"/>
        </dgm:presLayoutVars>
      </dgm:prSet>
      <dgm:spPr/>
    </dgm:pt>
    <dgm:pt modelId="{5BF0BDE3-284B-9049-B94C-3B746FB64580}" type="pres">
      <dgm:prSet presAssocID="{0B4BFD1A-16D2-5A43-AF3F-2A62FD8E13B8}" presName="accent_1" presStyleCnt="0"/>
      <dgm:spPr/>
    </dgm:pt>
    <dgm:pt modelId="{91899B9D-4DFC-8D45-AEE5-951A89154402}" type="pres">
      <dgm:prSet presAssocID="{0B4BFD1A-16D2-5A43-AF3F-2A62FD8E13B8}" presName="accentRepeatNode" presStyleLbl="solidFgAcc1" presStyleIdx="0" presStyleCnt="5"/>
      <dgm:spPr>
        <a:solidFill>
          <a:srgbClr val="FFCDCD"/>
        </a:solidFill>
        <a:ln>
          <a:solidFill>
            <a:srgbClr val="FF7900"/>
          </a:solidFill>
        </a:ln>
      </dgm:spPr>
    </dgm:pt>
    <dgm:pt modelId="{54B5A4D3-80D5-2243-90BA-4830503E7F48}" type="pres">
      <dgm:prSet presAssocID="{27BDBDF1-DA0B-6E46-9C5C-FB827E28A267}" presName="text_2" presStyleLbl="node1" presStyleIdx="1" presStyleCnt="5">
        <dgm:presLayoutVars>
          <dgm:bulletEnabled val="1"/>
        </dgm:presLayoutVars>
      </dgm:prSet>
      <dgm:spPr/>
    </dgm:pt>
    <dgm:pt modelId="{ADF24E60-0E46-A747-B1C8-FF75CC685F01}" type="pres">
      <dgm:prSet presAssocID="{27BDBDF1-DA0B-6E46-9C5C-FB827E28A267}" presName="accent_2" presStyleCnt="0"/>
      <dgm:spPr/>
    </dgm:pt>
    <dgm:pt modelId="{ECC96F58-1074-F24A-85B5-304FEB2E5C1C}" type="pres">
      <dgm:prSet presAssocID="{27BDBDF1-DA0B-6E46-9C5C-FB827E28A267}" presName="accentRepeatNode" presStyleLbl="solidFgAcc1" presStyleIdx="1" presStyleCnt="5"/>
      <dgm:spPr>
        <a:xfrm>
          <a:off x="606494" y="1348238"/>
          <a:ext cx="899209" cy="899209"/>
        </a:xfrm>
        <a:prstGeom prst="ellipse">
          <a:avLst/>
        </a:prstGeom>
        <a:solidFill>
          <a:srgbClr val="FFCDCD"/>
        </a:solidFill>
        <a:ln w="6350" cap="flat" cmpd="sng" algn="ctr">
          <a:solidFill>
            <a:srgbClr val="FF7900"/>
          </a:solidFill>
          <a:prstDash val="solid"/>
          <a:miter lim="800000"/>
        </a:ln>
        <a:effectLst/>
      </dgm:spPr>
    </dgm:pt>
    <dgm:pt modelId="{AAAA55AD-E747-6A41-84BF-98C417518D12}" type="pres">
      <dgm:prSet presAssocID="{E746B81D-D050-774E-B24A-9897BABF9A78}" presName="text_3" presStyleLbl="node1" presStyleIdx="2" presStyleCnt="5">
        <dgm:presLayoutVars>
          <dgm:bulletEnabled val="1"/>
        </dgm:presLayoutVars>
      </dgm:prSet>
      <dgm:spPr/>
    </dgm:pt>
    <dgm:pt modelId="{65CF57E8-3A2D-334D-8D56-D306A219C9C2}" type="pres">
      <dgm:prSet presAssocID="{E746B81D-D050-774E-B24A-9897BABF9A78}" presName="accent_3" presStyleCnt="0"/>
      <dgm:spPr/>
    </dgm:pt>
    <dgm:pt modelId="{9CCA983D-9D18-6E46-8165-F9C02ED3550A}" type="pres">
      <dgm:prSet presAssocID="{E746B81D-D050-774E-B24A-9897BABF9A78}" presName="accentRepeatNode" presStyleLbl="solidFgAcc1" presStyleIdx="2" presStyleCnt="5"/>
      <dgm:spPr>
        <a:xfrm>
          <a:off x="764704" y="2426945"/>
          <a:ext cx="899209" cy="899209"/>
        </a:xfrm>
        <a:prstGeom prst="ellipse">
          <a:avLst/>
        </a:prstGeom>
        <a:solidFill>
          <a:srgbClr val="FFCDCD"/>
        </a:solidFill>
        <a:ln w="6350" cap="flat" cmpd="sng" algn="ctr">
          <a:solidFill>
            <a:srgbClr val="FF7900"/>
          </a:solidFill>
          <a:prstDash val="solid"/>
          <a:miter lim="800000"/>
        </a:ln>
        <a:effectLst/>
      </dgm:spPr>
    </dgm:pt>
    <dgm:pt modelId="{788B3D5F-65C0-2048-B1F7-F8BB7E80C1E8}" type="pres">
      <dgm:prSet presAssocID="{388B6816-CDF8-0C4D-A81F-9153D3AE98A7}" presName="text_4" presStyleLbl="node1" presStyleIdx="3" presStyleCnt="5">
        <dgm:presLayoutVars>
          <dgm:bulletEnabled val="1"/>
        </dgm:presLayoutVars>
      </dgm:prSet>
      <dgm:spPr/>
    </dgm:pt>
    <dgm:pt modelId="{2B335703-670F-874F-AF91-B518CCA2BF4F}" type="pres">
      <dgm:prSet presAssocID="{388B6816-CDF8-0C4D-A81F-9153D3AE98A7}" presName="accent_4" presStyleCnt="0"/>
      <dgm:spPr/>
    </dgm:pt>
    <dgm:pt modelId="{3B138492-440B-8142-91C6-AA5BD7EC7CE5}" type="pres">
      <dgm:prSet presAssocID="{388B6816-CDF8-0C4D-A81F-9153D3AE98A7}" presName="accentRepeatNode" presStyleLbl="solidFgAcc1" presStyleIdx="3" presStyleCnt="5"/>
      <dgm:spPr>
        <a:xfrm>
          <a:off x="606494" y="3505651"/>
          <a:ext cx="899209" cy="899209"/>
        </a:xfrm>
        <a:prstGeom prst="ellipse">
          <a:avLst/>
        </a:prstGeom>
        <a:solidFill>
          <a:srgbClr val="FFCDCD"/>
        </a:solidFill>
        <a:ln w="6350" cap="flat" cmpd="sng" algn="ctr">
          <a:solidFill>
            <a:srgbClr val="FF7900"/>
          </a:solidFill>
          <a:prstDash val="solid"/>
          <a:miter lim="800000"/>
        </a:ln>
        <a:effectLst/>
      </dgm:spPr>
    </dgm:pt>
    <dgm:pt modelId="{D4C394BE-2B9D-B745-8DD6-153FDE2C371E}" type="pres">
      <dgm:prSet presAssocID="{6BCC9B11-6340-1240-806A-1F5F849741A5}" presName="text_5" presStyleLbl="node1" presStyleIdx="4" presStyleCnt="5">
        <dgm:presLayoutVars>
          <dgm:bulletEnabled val="1"/>
        </dgm:presLayoutVars>
      </dgm:prSet>
      <dgm:spPr/>
    </dgm:pt>
    <dgm:pt modelId="{389BB51F-5004-DD45-866E-F2855283A876}" type="pres">
      <dgm:prSet presAssocID="{6BCC9B11-6340-1240-806A-1F5F849741A5}" presName="accent_5" presStyleCnt="0"/>
      <dgm:spPr/>
    </dgm:pt>
    <dgm:pt modelId="{A98A84FA-53A2-5C45-A924-F51CD007DDDE}" type="pres">
      <dgm:prSet presAssocID="{6BCC9B11-6340-1240-806A-1F5F849741A5}" presName="accentRepeatNode" presStyleLbl="solidFgAcc1" presStyleIdx="4" presStyleCnt="5"/>
      <dgm:spPr>
        <a:xfrm>
          <a:off x="91016" y="4584357"/>
          <a:ext cx="899209" cy="899209"/>
        </a:xfrm>
        <a:prstGeom prst="ellipse">
          <a:avLst/>
        </a:prstGeom>
        <a:solidFill>
          <a:srgbClr val="FFCDCD"/>
        </a:solidFill>
        <a:ln w="6350" cap="flat" cmpd="sng" algn="ctr">
          <a:solidFill>
            <a:srgbClr val="FF7900"/>
          </a:solidFill>
          <a:prstDash val="solid"/>
          <a:miter lim="800000"/>
        </a:ln>
        <a:effectLst/>
      </dgm:spPr>
    </dgm:pt>
  </dgm:ptLst>
  <dgm:cxnLst>
    <dgm:cxn modelId="{65A6C107-B9FA-AF48-93DF-12D70AF9A86A}" type="presOf" srcId="{27BDBDF1-DA0B-6E46-9C5C-FB827E28A267}" destId="{54B5A4D3-80D5-2243-90BA-4830503E7F48}" srcOrd="0" destOrd="0" presId="urn:microsoft.com/office/officeart/2008/layout/VerticalCurvedList"/>
    <dgm:cxn modelId="{646F290B-C5E6-F842-8376-63AE2849DAD8}" type="presOf" srcId="{E746B81D-D050-774E-B24A-9897BABF9A78}" destId="{AAAA55AD-E747-6A41-84BF-98C417518D12}" srcOrd="0" destOrd="0" presId="urn:microsoft.com/office/officeart/2008/layout/VerticalCurvedList"/>
    <dgm:cxn modelId="{C2806E10-22F3-4D41-BBF6-3A19F8A844E7}" type="presOf" srcId="{0B4BFD1A-16D2-5A43-AF3F-2A62FD8E13B8}" destId="{F637DE42-0528-384D-9F52-01B3A1426649}" srcOrd="0" destOrd="0" presId="urn:microsoft.com/office/officeart/2008/layout/VerticalCurvedList"/>
    <dgm:cxn modelId="{456B302F-0377-2A40-BBA3-4200F1909BE6}" type="presOf" srcId="{3B55F7F4-9FCE-7848-B567-65A219AB5612}" destId="{DE0B0214-84A6-2C4E-A0B3-EF7E891E4252}" srcOrd="0" destOrd="0" presId="urn:microsoft.com/office/officeart/2008/layout/VerticalCurvedList"/>
    <dgm:cxn modelId="{39D52535-DCA3-1F40-98CD-29D833C7CB96}" srcId="{ADC3C1B7-089A-2446-8F42-6A61EF8E5869}" destId="{0B4BFD1A-16D2-5A43-AF3F-2A62FD8E13B8}" srcOrd="0" destOrd="0" parTransId="{15651921-2405-EF45-81FD-7A4DB46C6BC3}" sibTransId="{3B55F7F4-9FCE-7848-B567-65A219AB5612}"/>
    <dgm:cxn modelId="{46F7CD3E-15B2-174A-AEAD-F1286CA58515}" type="presOf" srcId="{388B6816-CDF8-0C4D-A81F-9153D3AE98A7}" destId="{788B3D5F-65C0-2048-B1F7-F8BB7E80C1E8}" srcOrd="0" destOrd="0" presId="urn:microsoft.com/office/officeart/2008/layout/VerticalCurvedList"/>
    <dgm:cxn modelId="{DC454865-499E-CC49-9CD9-41E0BCBEE62A}" srcId="{ADC3C1B7-089A-2446-8F42-6A61EF8E5869}" destId="{27BDBDF1-DA0B-6E46-9C5C-FB827E28A267}" srcOrd="1" destOrd="0" parTransId="{94FA66AC-58DC-374E-8802-811A897C38EE}" sibTransId="{F88DE77D-63D7-8846-BBA8-DF7D79F66670}"/>
    <dgm:cxn modelId="{8B7B6F46-A10A-2D46-96F1-9F7A7C21045A}" srcId="{ADC3C1B7-089A-2446-8F42-6A61EF8E5869}" destId="{6BCC9B11-6340-1240-806A-1F5F849741A5}" srcOrd="4" destOrd="0" parTransId="{A7A00F89-A120-C841-94E8-53E6FCF141F8}" sibTransId="{EDAFFB3F-9E05-F444-BB42-E18978576F06}"/>
    <dgm:cxn modelId="{4EC3AB7A-3185-6B4C-A930-EB4534B7F63E}" srcId="{ADC3C1B7-089A-2446-8F42-6A61EF8E5869}" destId="{E746B81D-D050-774E-B24A-9897BABF9A78}" srcOrd="2" destOrd="0" parTransId="{4E685768-851F-734A-BBD0-B160A2D6B575}" sibTransId="{CB245412-5C64-B940-A420-A63E5DEC4BA2}"/>
    <dgm:cxn modelId="{D405E488-3DAC-B341-87C5-7FDA61FD354E}" srcId="{ADC3C1B7-089A-2446-8F42-6A61EF8E5869}" destId="{388B6816-CDF8-0C4D-A81F-9153D3AE98A7}" srcOrd="3" destOrd="0" parTransId="{12B99670-B646-994A-B626-F25EA4EDAF53}" sibTransId="{8EA4B254-E3FC-F94C-AFCB-1966B801302C}"/>
    <dgm:cxn modelId="{6FD83BEB-BF5D-4647-A599-4BF7DBE8E025}" type="presOf" srcId="{6BCC9B11-6340-1240-806A-1F5F849741A5}" destId="{D4C394BE-2B9D-B745-8DD6-153FDE2C371E}" srcOrd="0" destOrd="0" presId="urn:microsoft.com/office/officeart/2008/layout/VerticalCurvedList"/>
    <dgm:cxn modelId="{A163B4F9-46E7-CC4B-9D47-B80FA353FDE3}" type="presOf" srcId="{ADC3C1B7-089A-2446-8F42-6A61EF8E5869}" destId="{A5204C83-9118-7549-A0D7-3864CA782CFD}" srcOrd="0" destOrd="0" presId="urn:microsoft.com/office/officeart/2008/layout/VerticalCurvedList"/>
    <dgm:cxn modelId="{9EA64133-8AE7-5646-89B4-0A53343303DF}" type="presParOf" srcId="{A5204C83-9118-7549-A0D7-3864CA782CFD}" destId="{63072442-3AEA-0544-8FC0-236B83FD4334}" srcOrd="0" destOrd="0" presId="urn:microsoft.com/office/officeart/2008/layout/VerticalCurvedList"/>
    <dgm:cxn modelId="{EC520A5B-A3C9-AA4F-9D99-C74AD6EF9593}" type="presParOf" srcId="{63072442-3AEA-0544-8FC0-236B83FD4334}" destId="{0292FD81-56A7-AE42-A080-1EB49FCCD9B6}" srcOrd="0" destOrd="0" presId="urn:microsoft.com/office/officeart/2008/layout/VerticalCurvedList"/>
    <dgm:cxn modelId="{C64DA28F-F832-9847-A80A-1E729B36C30C}" type="presParOf" srcId="{0292FD81-56A7-AE42-A080-1EB49FCCD9B6}" destId="{4245FAE8-8651-5445-9AA8-A21FF3A95B62}" srcOrd="0" destOrd="0" presId="urn:microsoft.com/office/officeart/2008/layout/VerticalCurvedList"/>
    <dgm:cxn modelId="{7B61822B-65D5-DD4D-A309-05EE17B49605}" type="presParOf" srcId="{0292FD81-56A7-AE42-A080-1EB49FCCD9B6}" destId="{DE0B0214-84A6-2C4E-A0B3-EF7E891E4252}" srcOrd="1" destOrd="0" presId="urn:microsoft.com/office/officeart/2008/layout/VerticalCurvedList"/>
    <dgm:cxn modelId="{6F53F2BF-3740-6647-88BD-CC541ED4064C}" type="presParOf" srcId="{0292FD81-56A7-AE42-A080-1EB49FCCD9B6}" destId="{62BA32F3-BADB-A440-A33C-FA6359C3171F}" srcOrd="2" destOrd="0" presId="urn:microsoft.com/office/officeart/2008/layout/VerticalCurvedList"/>
    <dgm:cxn modelId="{3AC4D502-1F73-F44B-8CCF-8FFB52BB4C37}" type="presParOf" srcId="{0292FD81-56A7-AE42-A080-1EB49FCCD9B6}" destId="{DF10906F-31FB-9543-9A05-0FC6A7775F55}" srcOrd="3" destOrd="0" presId="urn:microsoft.com/office/officeart/2008/layout/VerticalCurvedList"/>
    <dgm:cxn modelId="{8975C913-F40D-9948-A1F4-338F36C889A8}" type="presParOf" srcId="{63072442-3AEA-0544-8FC0-236B83FD4334}" destId="{F637DE42-0528-384D-9F52-01B3A1426649}" srcOrd="1" destOrd="0" presId="urn:microsoft.com/office/officeart/2008/layout/VerticalCurvedList"/>
    <dgm:cxn modelId="{F4A3FC5C-0750-254D-B79C-FDD74F848DED}" type="presParOf" srcId="{63072442-3AEA-0544-8FC0-236B83FD4334}" destId="{5BF0BDE3-284B-9049-B94C-3B746FB64580}" srcOrd="2" destOrd="0" presId="urn:microsoft.com/office/officeart/2008/layout/VerticalCurvedList"/>
    <dgm:cxn modelId="{453FF34C-3F6E-6A49-AF88-11458EEEC0C2}" type="presParOf" srcId="{5BF0BDE3-284B-9049-B94C-3B746FB64580}" destId="{91899B9D-4DFC-8D45-AEE5-951A89154402}" srcOrd="0" destOrd="0" presId="urn:microsoft.com/office/officeart/2008/layout/VerticalCurvedList"/>
    <dgm:cxn modelId="{05E70190-D29F-0D42-BA05-7222EF1E9FC9}" type="presParOf" srcId="{63072442-3AEA-0544-8FC0-236B83FD4334}" destId="{54B5A4D3-80D5-2243-90BA-4830503E7F48}" srcOrd="3" destOrd="0" presId="urn:microsoft.com/office/officeart/2008/layout/VerticalCurvedList"/>
    <dgm:cxn modelId="{6EB0685F-4599-7345-A6C1-8C090C384484}" type="presParOf" srcId="{63072442-3AEA-0544-8FC0-236B83FD4334}" destId="{ADF24E60-0E46-A747-B1C8-FF75CC685F01}" srcOrd="4" destOrd="0" presId="urn:microsoft.com/office/officeart/2008/layout/VerticalCurvedList"/>
    <dgm:cxn modelId="{7AD7C526-E339-A743-B7AC-CB361EBAC1F1}" type="presParOf" srcId="{ADF24E60-0E46-A747-B1C8-FF75CC685F01}" destId="{ECC96F58-1074-F24A-85B5-304FEB2E5C1C}" srcOrd="0" destOrd="0" presId="urn:microsoft.com/office/officeart/2008/layout/VerticalCurvedList"/>
    <dgm:cxn modelId="{8C93A754-7FC7-824B-AFC5-0D2291A17042}" type="presParOf" srcId="{63072442-3AEA-0544-8FC0-236B83FD4334}" destId="{AAAA55AD-E747-6A41-84BF-98C417518D12}" srcOrd="5" destOrd="0" presId="urn:microsoft.com/office/officeart/2008/layout/VerticalCurvedList"/>
    <dgm:cxn modelId="{0C190FCA-0EFF-2549-B277-0408276734FC}" type="presParOf" srcId="{63072442-3AEA-0544-8FC0-236B83FD4334}" destId="{65CF57E8-3A2D-334D-8D56-D306A219C9C2}" srcOrd="6" destOrd="0" presId="urn:microsoft.com/office/officeart/2008/layout/VerticalCurvedList"/>
    <dgm:cxn modelId="{FB4D99D2-4118-DA42-90A0-89C63AE91F28}" type="presParOf" srcId="{65CF57E8-3A2D-334D-8D56-D306A219C9C2}" destId="{9CCA983D-9D18-6E46-8165-F9C02ED3550A}" srcOrd="0" destOrd="0" presId="urn:microsoft.com/office/officeart/2008/layout/VerticalCurvedList"/>
    <dgm:cxn modelId="{4BD3EC46-96D4-8644-AFAA-644A4DBE54B2}" type="presParOf" srcId="{63072442-3AEA-0544-8FC0-236B83FD4334}" destId="{788B3D5F-65C0-2048-B1F7-F8BB7E80C1E8}" srcOrd="7" destOrd="0" presId="urn:microsoft.com/office/officeart/2008/layout/VerticalCurvedList"/>
    <dgm:cxn modelId="{F5C15791-1182-3A4F-B46A-35BFE380E15B}" type="presParOf" srcId="{63072442-3AEA-0544-8FC0-236B83FD4334}" destId="{2B335703-670F-874F-AF91-B518CCA2BF4F}" srcOrd="8" destOrd="0" presId="urn:microsoft.com/office/officeart/2008/layout/VerticalCurvedList"/>
    <dgm:cxn modelId="{233C6090-82CA-8940-99E4-F2278E3ADE7D}" type="presParOf" srcId="{2B335703-670F-874F-AF91-B518CCA2BF4F}" destId="{3B138492-440B-8142-91C6-AA5BD7EC7CE5}" srcOrd="0" destOrd="0" presId="urn:microsoft.com/office/officeart/2008/layout/VerticalCurvedList"/>
    <dgm:cxn modelId="{B3BA4F67-88A0-4B49-8893-6FEABCC2437F}" type="presParOf" srcId="{63072442-3AEA-0544-8FC0-236B83FD4334}" destId="{D4C394BE-2B9D-B745-8DD6-153FDE2C371E}" srcOrd="9" destOrd="0" presId="urn:microsoft.com/office/officeart/2008/layout/VerticalCurvedList"/>
    <dgm:cxn modelId="{EDEC897E-B839-BC4C-8A05-576114F1A402}" type="presParOf" srcId="{63072442-3AEA-0544-8FC0-236B83FD4334}" destId="{389BB51F-5004-DD45-866E-F2855283A876}" srcOrd="10" destOrd="0" presId="urn:microsoft.com/office/officeart/2008/layout/VerticalCurvedList"/>
    <dgm:cxn modelId="{6D0357CE-A980-FE4C-B9AA-8788429F55D8}" type="presParOf" srcId="{389BB51F-5004-DD45-866E-F2855283A876}" destId="{A98A84FA-53A2-5C45-A924-F51CD007DDD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gradFill rotWithShape="0">
          <a:gsLst>
            <a:gs pos="0">
              <a:schemeClr val="bg2">
                <a:lumMod val="75000"/>
              </a:schemeClr>
            </a:gs>
            <a:gs pos="50000">
              <a:schemeClr val="bg1">
                <a:lumMod val="50000"/>
              </a:schemeClr>
            </a:gs>
            <a:gs pos="100000">
              <a:schemeClr val="bg2">
                <a:lumMod val="50000"/>
              </a:schemeClr>
            </a:gs>
          </a:gsLst>
          <a:lin ang="0" scaled="1"/>
        </a:gradFill>
      </dgm:spPr>
      <dgm:t>
        <a:bodyPr/>
        <a:lstStyle/>
        <a:p>
          <a:r>
            <a:rPr lang="fr-MA" sz="1800" dirty="0">
              <a:solidFill>
                <a:schemeClr val="bg1"/>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dgm:spPr>
      <dgm: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779">
        <dgm:presLayoutVars>
          <dgm:chMax val="0"/>
          <dgm:chPref val="0"/>
          <dgm:bulletEnabled val="1"/>
        </dgm:presLayoutVars>
      </dgm:prSet>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gradFill rotWithShape="0">
          <a:gsLst>
            <a:gs pos="0">
              <a:schemeClr val="bg2">
                <a:lumMod val="75000"/>
              </a:schemeClr>
            </a:gs>
            <a:gs pos="50000">
              <a:schemeClr val="bg1">
                <a:lumMod val="50000"/>
              </a:schemeClr>
            </a:gs>
            <a:gs pos="100000">
              <a:schemeClr val="bg2">
                <a:lumMod val="50000"/>
              </a:schemeClr>
            </a:gs>
          </a:gsLst>
          <a:lin ang="0" scaled="1"/>
        </a:gradFill>
      </dgm:spPr>
      <dgm:t>
        <a:bodyPr/>
        <a:lstStyle/>
        <a:p>
          <a:r>
            <a:rPr lang="fr-MA" sz="1800" dirty="0">
              <a:solidFill>
                <a:schemeClr val="bg1"/>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dgm:spPr>
      <dgm: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779">
        <dgm:presLayoutVars>
          <dgm:chMax val="0"/>
          <dgm:chPref val="0"/>
          <dgm:bulletEnabled val="1"/>
        </dgm:presLayoutVars>
      </dgm:prSet>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13"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gradFill rotWithShape="0">
          <a:gsLst>
            <a:gs pos="0">
              <a:schemeClr val="bg2">
                <a:lumMod val="75000"/>
              </a:schemeClr>
            </a:gs>
            <a:gs pos="50000">
              <a:schemeClr val="bg1">
                <a:lumMod val="50000"/>
              </a:schemeClr>
            </a:gs>
            <a:gs pos="100000">
              <a:schemeClr val="bg2">
                <a:lumMod val="50000"/>
              </a:schemeClr>
            </a:gs>
          </a:gsLst>
          <a:lin ang="0" scaled="1"/>
        </a:gradFill>
      </dgm:spPr>
      <dgm:t>
        <a:bodyPr/>
        <a:lstStyle/>
        <a:p>
          <a:r>
            <a:rPr lang="fr-MA" sz="1800" dirty="0">
              <a:solidFill>
                <a:schemeClr val="bg1"/>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dgm:spPr>
      <dgm: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779">
        <dgm:presLayoutVars>
          <dgm:chMax val="0"/>
          <dgm:chPref val="0"/>
          <dgm:bulletEnabled val="1"/>
        </dgm:presLayoutVars>
      </dgm:prSet>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gradFill rotWithShape="0">
          <a:gsLst>
            <a:gs pos="0">
              <a:schemeClr val="bg2">
                <a:lumMod val="75000"/>
              </a:schemeClr>
            </a:gs>
            <a:gs pos="50000">
              <a:schemeClr val="bg1">
                <a:lumMod val="50000"/>
              </a:schemeClr>
            </a:gs>
            <a:gs pos="100000">
              <a:schemeClr val="bg2">
                <a:lumMod val="50000"/>
              </a:schemeClr>
            </a:gs>
          </a:gsLst>
          <a:lin ang="0" scaled="1"/>
        </a:gradFill>
      </dgm:spPr>
      <dgm:t>
        <a:bodyPr/>
        <a:lstStyle/>
        <a:p>
          <a:r>
            <a:rPr lang="fr-MA" sz="1800" dirty="0">
              <a:solidFill>
                <a:schemeClr val="bg1"/>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dgm:spPr>
      <dgm: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779">
        <dgm:presLayoutVars>
          <dgm:chMax val="0"/>
          <dgm:chPref val="0"/>
          <dgm:bulletEnabled val="1"/>
        </dgm:presLayoutVars>
      </dgm:prSet>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gradFill rotWithShape="0">
          <a:gsLst>
            <a:gs pos="0">
              <a:schemeClr val="bg2">
                <a:lumMod val="75000"/>
              </a:schemeClr>
            </a:gs>
            <a:gs pos="50000">
              <a:schemeClr val="bg1">
                <a:lumMod val="50000"/>
              </a:schemeClr>
            </a:gs>
            <a:gs pos="100000">
              <a:schemeClr val="bg2">
                <a:lumMod val="50000"/>
              </a:schemeClr>
            </a:gs>
          </a:gsLst>
          <a:lin ang="0" scaled="1"/>
        </a:gradFill>
      </dgm:spPr>
      <dgm:t>
        <a:bodyPr/>
        <a:lstStyle/>
        <a:p>
          <a:r>
            <a:rPr lang="fr-MA" sz="1800" dirty="0">
              <a:solidFill>
                <a:schemeClr val="bg1"/>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dgm:spPr>
      <dgm: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779">
        <dgm:presLayoutVars>
          <dgm:chMax val="0"/>
          <dgm:chPref val="0"/>
          <dgm:bulletEnabled val="1"/>
        </dgm:presLayoutVars>
      </dgm:prSet>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31"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gradFill rotWithShape="0">
          <a:gsLst>
            <a:gs pos="0">
              <a:schemeClr val="bg2">
                <a:lumMod val="75000"/>
              </a:schemeClr>
            </a:gs>
            <a:gs pos="50000">
              <a:schemeClr val="bg1">
                <a:lumMod val="50000"/>
              </a:schemeClr>
            </a:gs>
            <a:gs pos="100000">
              <a:schemeClr val="bg2">
                <a:lumMod val="50000"/>
              </a:schemeClr>
            </a:gs>
          </a:gsLst>
          <a:lin ang="0" scaled="1"/>
        </a:gradFill>
      </dgm:spPr>
      <dgm:t>
        <a:bodyPr/>
        <a:lstStyle/>
        <a:p>
          <a:r>
            <a:rPr lang="fr-MA" sz="1800" dirty="0">
              <a:solidFill>
                <a:schemeClr val="bg1"/>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dgm:spPr>
      <dgm: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779">
        <dgm:presLayoutVars>
          <dgm:chMax val="0"/>
          <dgm:chPref val="0"/>
          <dgm:bulletEnabled val="1"/>
        </dgm:presLayoutVars>
      </dgm:prSet>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gradFill rotWithShape="0">
          <a:gsLst>
            <a:gs pos="0">
              <a:schemeClr val="bg2">
                <a:lumMod val="75000"/>
              </a:schemeClr>
            </a:gs>
            <a:gs pos="50000">
              <a:schemeClr val="bg1">
                <a:lumMod val="50000"/>
              </a:schemeClr>
            </a:gs>
            <a:gs pos="100000">
              <a:schemeClr val="bg2">
                <a:lumMod val="50000"/>
              </a:schemeClr>
            </a:gs>
          </a:gsLst>
          <a:lin ang="0" scaled="1"/>
        </a:gradFill>
      </dgm:spPr>
      <dgm:t>
        <a:bodyPr/>
        <a:lstStyle/>
        <a:p>
          <a:r>
            <a:rPr lang="fr-MA" sz="1800" dirty="0">
              <a:solidFill>
                <a:schemeClr val="bg1"/>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dgm:spPr>
      <dgm: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779">
        <dgm:presLayoutVars>
          <dgm:chMax val="0"/>
          <dgm:chPref val="0"/>
          <dgm:bulletEnabled val="1"/>
        </dgm:presLayoutVars>
      </dgm:prSet>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dgm:spPr>
      <dgm: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dgm:spPr>
      <dgm: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7.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8.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9.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0.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1.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2.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3.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4.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5.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6.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7.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8.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9.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30.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1.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solidFill>
          <a:srgbClr val="FF0000"/>
        </a:solidFill>
      </dgm:spPr>
      <dgm: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dgm:presLayoutVars>
          <dgm:chMax val="0"/>
          <dgm:chPref val="0"/>
          <dgm:bulletEnabled val="1"/>
        </dgm:presLayoutVars>
      </dgm:prSet>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2.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noProof="0" dirty="0">
              <a:solidFill>
                <a:prstClr val="white"/>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a:xfrm>
          <a:off x="9357283" y="0"/>
          <a:ext cx="2598434" cy="742944"/>
        </a:xfrm>
        <a:prstGeom prst="chevron">
          <a:avLst/>
        </a:prstGeom>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3.xml><?xml version="1.0" encoding="utf-8"?>
<dgm:dataModel xmlns:dgm="http://schemas.openxmlformats.org/drawingml/2006/diagram" xmlns:a="http://schemas.openxmlformats.org/drawingml/2006/main">
  <dgm:ptLst>
    <dgm:pt modelId="{981F0404-39AF-F143-A7B8-A3620F4E5FF9}" type="doc">
      <dgm:prSet loTypeId="urn:microsoft.com/office/officeart/2005/8/layout/chevron1" loCatId="process" qsTypeId="urn:microsoft.com/office/officeart/2005/8/quickstyle/simple1" qsCatId="simple" csTypeId="urn:microsoft.com/office/officeart/2005/8/colors/accent6_2" csCatId="accent6" phldr="1"/>
      <dgm:spPr/>
      <dgm:t>
        <a:bodyPr/>
        <a:lstStyle/>
        <a:p>
          <a:endParaRPr lang="fr-FR"/>
        </a:p>
      </dgm:t>
    </dgm:pt>
    <dgm:pt modelId="{F15AA4C6-FE6B-FE44-A15E-014BB4BE7DB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gm:t>
    </dgm:pt>
    <dgm:pt modelId="{4CB3E27E-E49B-3149-84AC-6EF053B0F906}" type="parTrans" cxnId="{9E91AA72-2AA5-E643-B0E1-301825ECAAAA}">
      <dgm:prSet/>
      <dgm:spPr/>
      <dgm:t>
        <a:bodyPr/>
        <a:lstStyle/>
        <a:p>
          <a:endParaRPr lang="fr-FR"/>
        </a:p>
      </dgm:t>
    </dgm:pt>
    <dgm:pt modelId="{ED7B585E-82BF-4E42-8787-5D5B0EDBEF2C}" type="sibTrans" cxnId="{9E91AA72-2AA5-E643-B0E1-301825ECAAAA}">
      <dgm:prSet/>
      <dgm:spPr/>
      <dgm:t>
        <a:bodyPr/>
        <a:lstStyle/>
        <a:p>
          <a:endParaRPr lang="fr-FR"/>
        </a:p>
      </dgm:t>
    </dgm:pt>
    <dgm:pt modelId="{FC757298-9437-8F41-98BE-6584B4A7C2B2}">
      <dgm:prSet custT="1"/>
      <dgm:spPr>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gm:t>
    </dgm:pt>
    <dgm:pt modelId="{6087C08F-82E9-6849-9E48-D6890E7EBFA8}" type="parTrans" cxnId="{8FD57CFF-F753-144F-96CE-223667564458}">
      <dgm:prSet/>
      <dgm:spPr/>
      <dgm:t>
        <a:bodyPr/>
        <a:lstStyle/>
        <a:p>
          <a:endParaRPr lang="fr-FR"/>
        </a:p>
      </dgm:t>
    </dgm:pt>
    <dgm:pt modelId="{9C0EEAAA-F1FD-5645-BC03-E6A28E9BE84E}" type="sibTrans" cxnId="{8FD57CFF-F753-144F-96CE-223667564458}">
      <dgm:prSet/>
      <dgm:spPr/>
      <dgm:t>
        <a:bodyPr/>
        <a:lstStyle/>
        <a:p>
          <a:endParaRPr lang="fr-FR"/>
        </a:p>
      </dgm:t>
    </dgm:pt>
    <dgm:pt modelId="{161F81A0-5891-984C-BF59-4A8E79688EE0}">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noProof="0" dirty="0">
              <a:solidFill>
                <a:prstClr val="white"/>
              </a:solidFill>
              <a:latin typeface="Century Gothic" charset="0"/>
              <a:ea typeface="Century Gothic" charset="0"/>
              <a:cs typeface="Century Gothic" charset="0"/>
            </a:rPr>
            <a:t>Contexte Général</a:t>
          </a:r>
        </a:p>
      </dgm:t>
    </dgm:pt>
    <dgm:pt modelId="{3AD859A0-7314-3447-A907-58DC6753B3CE}" type="parTrans" cxnId="{08505D02-BB25-0D42-ADB8-D3E4406A46D0}">
      <dgm:prSet/>
      <dgm:spPr/>
      <dgm:t>
        <a:bodyPr/>
        <a:lstStyle/>
        <a:p>
          <a:endParaRPr lang="fr-FR"/>
        </a:p>
      </dgm:t>
    </dgm:pt>
    <dgm:pt modelId="{B50A141E-BCF0-1B4C-A0A2-6B3572AA9274}" type="sibTrans" cxnId="{08505D02-BB25-0D42-ADB8-D3E4406A46D0}">
      <dgm:prSet/>
      <dgm:spPr/>
      <dgm:t>
        <a:bodyPr/>
        <a:lstStyle/>
        <a:p>
          <a:endParaRPr lang="fr-FR"/>
        </a:p>
      </dgm:t>
    </dgm:pt>
    <dgm:pt modelId="{7FDD1309-B716-0B45-AD68-61EDBF1D9D37}">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gm:t>
    </dgm:pt>
    <dgm:pt modelId="{1DFD9BE9-9235-6847-A164-3C72FCC382F1}" type="parTrans" cxnId="{5A752C9B-51A7-F045-A206-3FA99C69A5C4}">
      <dgm:prSet/>
      <dgm:spPr/>
      <dgm:t>
        <a:bodyPr/>
        <a:lstStyle/>
        <a:p>
          <a:endParaRPr lang="fr-FR"/>
        </a:p>
      </dgm:t>
    </dgm:pt>
    <dgm:pt modelId="{3A4AFD2E-32B2-E849-B105-999E269E0E29}" type="sibTrans" cxnId="{5A752C9B-51A7-F045-A206-3FA99C69A5C4}">
      <dgm:prSet/>
      <dgm:spPr/>
      <dgm:t>
        <a:bodyPr/>
        <a:lstStyle/>
        <a:p>
          <a:endParaRPr lang="fr-FR"/>
        </a:p>
      </dgm:t>
    </dgm:pt>
    <dgm:pt modelId="{7AB6B397-A826-6949-9D81-D063F65B0822}">
      <dgm:prSet custT="1"/>
      <dgm:spPr>
        <a:solidFill>
          <a:srgbClr val="FF0000"/>
        </a:solidFill>
        <a:ln w="12700" cap="flat" cmpd="sng" algn="ctr">
          <a:solidFill>
            <a:prstClr val="white">
              <a:hueOff val="0"/>
              <a:satOff val="0"/>
              <a:lumOff val="0"/>
              <a:alphaOff val="0"/>
            </a:prstClr>
          </a:solidFill>
          <a:prstDash val="solid"/>
          <a:miter lim="800000"/>
        </a:ln>
        <a:effectLst/>
      </dgm:spPr>
      <dgm:t>
        <a:bodyPr spcFirstLastPara="0" vert="horz" wrap="square" lIns="72009" tIns="24003" rIns="24003" bIns="24003" numCol="1" spcCol="1270" anchor="ctr" anchorCtr="0"/>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gm:t>
    </dgm:pt>
    <dgm:pt modelId="{ABA74756-6CDF-5543-9662-36D735FAF540}" type="parTrans" cxnId="{9D824BF9-CA5D-0446-B943-82E63F29808C}">
      <dgm:prSet/>
      <dgm:spPr/>
      <dgm:t>
        <a:bodyPr/>
        <a:lstStyle/>
        <a:p>
          <a:endParaRPr lang="fr-FR"/>
        </a:p>
      </dgm:t>
    </dgm:pt>
    <dgm:pt modelId="{4EDE9D49-21FD-564C-B97A-0991072B2A8C}" type="sibTrans" cxnId="{9D824BF9-CA5D-0446-B943-82E63F29808C}">
      <dgm:prSet/>
      <dgm:spPr/>
      <dgm:t>
        <a:bodyPr/>
        <a:lstStyle/>
        <a:p>
          <a:endParaRPr lang="fr-FR"/>
        </a:p>
      </dgm:t>
    </dgm:pt>
    <dgm:pt modelId="{354B1959-9761-C048-AADC-DF42DA181C3E}" type="pres">
      <dgm:prSet presAssocID="{981F0404-39AF-F143-A7B8-A3620F4E5FF9}" presName="Name0" presStyleCnt="0">
        <dgm:presLayoutVars>
          <dgm:dir/>
          <dgm:animLvl val="lvl"/>
          <dgm:resizeHandles val="exact"/>
        </dgm:presLayoutVars>
      </dgm:prSet>
      <dgm:spPr/>
    </dgm:pt>
    <dgm:pt modelId="{07C19582-3B16-E749-95A6-206EE7B53962}" type="pres">
      <dgm:prSet presAssocID="{161F81A0-5891-984C-BF59-4A8E79688EE0}" presName="parTxOnly" presStyleLbl="node1" presStyleIdx="0" presStyleCnt="5" custLinFactNeighborY="-6128">
        <dgm:presLayoutVars>
          <dgm:chMax val="0"/>
          <dgm:chPref val="0"/>
          <dgm:bulletEnabled val="1"/>
        </dgm:presLayoutVars>
      </dgm:prSet>
      <dgm:spPr>
        <a:xfrm>
          <a:off x="2919" y="0"/>
          <a:ext cx="2598434" cy="742944"/>
        </a:xfrm>
        <a:prstGeom prst="chevron">
          <a:avLst/>
        </a:prstGeom>
      </dgm:spPr>
    </dgm:pt>
    <dgm:pt modelId="{677A27F4-A352-1946-9B17-01E639AB19A6}" type="pres">
      <dgm:prSet presAssocID="{B50A141E-BCF0-1B4C-A0A2-6B3572AA9274}" presName="parTxOnlySpace" presStyleCnt="0"/>
      <dgm:spPr/>
    </dgm:pt>
    <dgm:pt modelId="{2C255DDA-D852-FB4A-A520-C6D036DD90EC}" type="pres">
      <dgm:prSet presAssocID="{7AB6B397-A826-6949-9D81-D063F65B0822}" presName="parTxOnly" presStyleLbl="node1" presStyleIdx="1" presStyleCnt="5" custLinFactNeighborY="-2279">
        <dgm:presLayoutVars>
          <dgm:chMax val="0"/>
          <dgm:chPref val="0"/>
          <dgm:bulletEnabled val="1"/>
        </dgm:presLayoutVars>
      </dgm:prSet>
      <dgm:spPr>
        <a:xfrm>
          <a:off x="2341510" y="0"/>
          <a:ext cx="2598434" cy="742944"/>
        </a:xfrm>
        <a:prstGeom prst="chevron">
          <a:avLst/>
        </a:prstGeom>
      </dgm:spPr>
    </dgm:pt>
    <dgm:pt modelId="{1CF2745D-F020-8840-8368-BAFF89D27777}" type="pres">
      <dgm:prSet presAssocID="{4EDE9D49-21FD-564C-B97A-0991072B2A8C}" presName="parTxOnlySpace" presStyleCnt="0"/>
      <dgm:spPr/>
    </dgm:pt>
    <dgm:pt modelId="{2C76D7CA-D091-FF48-8A7E-CD4E601723BA}" type="pres">
      <dgm:prSet presAssocID="{7FDD1309-B716-0B45-AD68-61EDBF1D9D37}" presName="parTxOnly" presStyleLbl="node1" presStyleIdx="2" presStyleCnt="5">
        <dgm:presLayoutVars>
          <dgm:chMax val="0"/>
          <dgm:chPref val="0"/>
          <dgm:bulletEnabled val="1"/>
        </dgm:presLayoutVars>
      </dgm:prSet>
      <dgm:spPr>
        <a:xfrm>
          <a:off x="4680101" y="0"/>
          <a:ext cx="2598434" cy="742944"/>
        </a:xfrm>
        <a:prstGeom prst="chevron">
          <a:avLst/>
        </a:prstGeom>
      </dgm:spPr>
    </dgm:pt>
    <dgm:pt modelId="{6ED752B1-2BFE-1743-B832-8A8E7EC5F5AA}" type="pres">
      <dgm:prSet presAssocID="{3A4AFD2E-32B2-E849-B105-999E269E0E29}" presName="parTxOnlySpace" presStyleCnt="0"/>
      <dgm:spPr/>
    </dgm:pt>
    <dgm:pt modelId="{984C9398-C8A3-DA4F-BEE2-82ED00914851}" type="pres">
      <dgm:prSet presAssocID="{F15AA4C6-FE6B-FE44-A15E-014BB4BE7DB2}" presName="parTxOnly" presStyleLbl="node1" presStyleIdx="3" presStyleCnt="5" custLinFactNeighborY="-2279">
        <dgm:presLayoutVars>
          <dgm:chMax val="0"/>
          <dgm:chPref val="0"/>
          <dgm:bulletEnabled val="1"/>
        </dgm:presLayoutVars>
      </dgm:prSet>
      <dgm:spPr>
        <a:xfrm>
          <a:off x="7018692" y="0"/>
          <a:ext cx="2598434" cy="742944"/>
        </a:xfrm>
        <a:prstGeom prst="chevron">
          <a:avLst/>
        </a:prstGeom>
      </dgm:spPr>
    </dgm:pt>
    <dgm:pt modelId="{56EE1296-BBA5-DD49-8E4A-8C3B175EFED7}" type="pres">
      <dgm:prSet presAssocID="{ED7B585E-82BF-4E42-8787-5D5B0EDBEF2C}" presName="parTxOnlySpace" presStyleCnt="0"/>
      <dgm:spPr/>
    </dgm:pt>
    <dgm:pt modelId="{360A155A-D9BA-A94C-846D-193109CC8F5C}" type="pres">
      <dgm:prSet presAssocID="{FC757298-9437-8F41-98BE-6584B4A7C2B2}" presName="parTxOnly" presStyleLbl="node1" presStyleIdx="4" presStyleCnt="5" custLinFactNeighborY="-2279">
        <dgm:presLayoutVars>
          <dgm:chMax val="0"/>
          <dgm:chPref val="0"/>
          <dgm:bulletEnabled val="1"/>
        </dgm:presLayoutVars>
      </dgm:prSet>
      <dgm:spPr>
        <a:xfrm>
          <a:off x="9357283" y="0"/>
          <a:ext cx="2598434" cy="742944"/>
        </a:xfrm>
        <a:prstGeom prst="chevron">
          <a:avLst/>
        </a:prstGeom>
      </dgm:spPr>
    </dgm:pt>
  </dgm:ptLst>
  <dgm:cxnLst>
    <dgm:cxn modelId="{08505D02-BB25-0D42-ADB8-D3E4406A46D0}" srcId="{981F0404-39AF-F143-A7B8-A3620F4E5FF9}" destId="{161F81A0-5891-984C-BF59-4A8E79688EE0}" srcOrd="0" destOrd="0" parTransId="{3AD859A0-7314-3447-A907-58DC6753B3CE}" sibTransId="{B50A141E-BCF0-1B4C-A0A2-6B3572AA9274}"/>
    <dgm:cxn modelId="{48ED9D33-4883-4C44-BD41-72DEFF3A8A60}" type="presOf" srcId="{7FDD1309-B716-0B45-AD68-61EDBF1D9D37}" destId="{2C76D7CA-D091-FF48-8A7E-CD4E601723BA}" srcOrd="0" destOrd="0" presId="urn:microsoft.com/office/officeart/2005/8/layout/chevron1"/>
    <dgm:cxn modelId="{B1D49B37-5AB0-9048-9B8C-551D7EA21720}" type="presOf" srcId="{7AB6B397-A826-6949-9D81-D063F65B0822}" destId="{2C255DDA-D852-FB4A-A520-C6D036DD90EC}" srcOrd="0" destOrd="0" presId="urn:microsoft.com/office/officeart/2005/8/layout/chevron1"/>
    <dgm:cxn modelId="{3053D73D-F7F0-1442-A9FE-EA2DB875CD04}" type="presOf" srcId="{F15AA4C6-FE6B-FE44-A15E-014BB4BE7DB2}" destId="{984C9398-C8A3-DA4F-BEE2-82ED00914851}" srcOrd="0" destOrd="0" presId="urn:microsoft.com/office/officeart/2005/8/layout/chevron1"/>
    <dgm:cxn modelId="{5659456F-D305-4147-AB3E-715ED0EB20AD}" type="presOf" srcId="{981F0404-39AF-F143-A7B8-A3620F4E5FF9}" destId="{354B1959-9761-C048-AADC-DF42DA181C3E}" srcOrd="0" destOrd="0" presId="urn:microsoft.com/office/officeart/2005/8/layout/chevron1"/>
    <dgm:cxn modelId="{C7B34F6F-B8F0-7A4C-877F-645963076F55}" type="presOf" srcId="{FC757298-9437-8F41-98BE-6584B4A7C2B2}" destId="{360A155A-D9BA-A94C-846D-193109CC8F5C}" srcOrd="0" destOrd="0" presId="urn:microsoft.com/office/officeart/2005/8/layout/chevron1"/>
    <dgm:cxn modelId="{9E91AA72-2AA5-E643-B0E1-301825ECAAAA}" srcId="{981F0404-39AF-F143-A7B8-A3620F4E5FF9}" destId="{F15AA4C6-FE6B-FE44-A15E-014BB4BE7DB2}" srcOrd="3" destOrd="0" parTransId="{4CB3E27E-E49B-3149-84AC-6EF053B0F906}" sibTransId="{ED7B585E-82BF-4E42-8787-5D5B0EDBEF2C}"/>
    <dgm:cxn modelId="{B15CD979-94CC-424C-96AE-53F5D9E71F6A}" type="presOf" srcId="{161F81A0-5891-984C-BF59-4A8E79688EE0}" destId="{07C19582-3B16-E749-95A6-206EE7B53962}" srcOrd="0" destOrd="0" presId="urn:microsoft.com/office/officeart/2005/8/layout/chevron1"/>
    <dgm:cxn modelId="{5A752C9B-51A7-F045-A206-3FA99C69A5C4}" srcId="{981F0404-39AF-F143-A7B8-A3620F4E5FF9}" destId="{7FDD1309-B716-0B45-AD68-61EDBF1D9D37}" srcOrd="2" destOrd="0" parTransId="{1DFD9BE9-9235-6847-A164-3C72FCC382F1}" sibTransId="{3A4AFD2E-32B2-E849-B105-999E269E0E29}"/>
    <dgm:cxn modelId="{9D824BF9-CA5D-0446-B943-82E63F29808C}" srcId="{981F0404-39AF-F143-A7B8-A3620F4E5FF9}" destId="{7AB6B397-A826-6949-9D81-D063F65B0822}" srcOrd="1" destOrd="0" parTransId="{ABA74756-6CDF-5543-9662-36D735FAF540}" sibTransId="{4EDE9D49-21FD-564C-B97A-0991072B2A8C}"/>
    <dgm:cxn modelId="{8FD57CFF-F753-144F-96CE-223667564458}" srcId="{981F0404-39AF-F143-A7B8-A3620F4E5FF9}" destId="{FC757298-9437-8F41-98BE-6584B4A7C2B2}" srcOrd="4" destOrd="0" parTransId="{6087C08F-82E9-6849-9E48-D6890E7EBFA8}" sibTransId="{9C0EEAAA-F1FD-5645-BC03-E6A28E9BE84E}"/>
    <dgm:cxn modelId="{6FAAECE4-5CBF-7B44-8EC0-DDD4F44E5FB3}" type="presParOf" srcId="{354B1959-9761-C048-AADC-DF42DA181C3E}" destId="{07C19582-3B16-E749-95A6-206EE7B53962}" srcOrd="0" destOrd="0" presId="urn:microsoft.com/office/officeart/2005/8/layout/chevron1"/>
    <dgm:cxn modelId="{683C37B4-E595-DB4E-B994-3E38CFE7DC1C}" type="presParOf" srcId="{354B1959-9761-C048-AADC-DF42DA181C3E}" destId="{677A27F4-A352-1946-9B17-01E639AB19A6}" srcOrd="1" destOrd="0" presId="urn:microsoft.com/office/officeart/2005/8/layout/chevron1"/>
    <dgm:cxn modelId="{80CB1B61-3D5A-5547-9A9D-E8EF69E5F190}" type="presParOf" srcId="{354B1959-9761-C048-AADC-DF42DA181C3E}" destId="{2C255DDA-D852-FB4A-A520-C6D036DD90EC}" srcOrd="2" destOrd="0" presId="urn:microsoft.com/office/officeart/2005/8/layout/chevron1"/>
    <dgm:cxn modelId="{CA477406-255E-5048-A16A-DF4FA4EB28D8}" type="presParOf" srcId="{354B1959-9761-C048-AADC-DF42DA181C3E}" destId="{1CF2745D-F020-8840-8368-BAFF89D27777}" srcOrd="3" destOrd="0" presId="urn:microsoft.com/office/officeart/2005/8/layout/chevron1"/>
    <dgm:cxn modelId="{58CB16F0-F928-D646-A94E-5FEF4961368B}" type="presParOf" srcId="{354B1959-9761-C048-AADC-DF42DA181C3E}" destId="{2C76D7CA-D091-FF48-8A7E-CD4E601723BA}" srcOrd="4" destOrd="0" presId="urn:microsoft.com/office/officeart/2005/8/layout/chevron1"/>
    <dgm:cxn modelId="{02B11AE2-597C-684B-8755-878DFEB8FCCA}" type="presParOf" srcId="{354B1959-9761-C048-AADC-DF42DA181C3E}" destId="{6ED752B1-2BFE-1743-B832-8A8E7EC5F5AA}" srcOrd="5" destOrd="0" presId="urn:microsoft.com/office/officeart/2005/8/layout/chevron1"/>
    <dgm:cxn modelId="{F2951CCC-DCF0-5E4D-85D4-681DE58E94CC}" type="presParOf" srcId="{354B1959-9761-C048-AADC-DF42DA181C3E}" destId="{984C9398-C8A3-DA4F-BEE2-82ED00914851}" srcOrd="6" destOrd="0" presId="urn:microsoft.com/office/officeart/2005/8/layout/chevron1"/>
    <dgm:cxn modelId="{8DC67124-7E4C-764B-8692-9EB20EB045CF}" type="presParOf" srcId="{354B1959-9761-C048-AADC-DF42DA181C3E}" destId="{56EE1296-BBA5-DD49-8E4A-8C3B175EFED7}" srcOrd="7" destOrd="0" presId="urn:microsoft.com/office/officeart/2005/8/layout/chevron1"/>
    <dgm:cxn modelId="{59887B9E-D9E9-DA43-9A32-4947A0D708A6}" type="presParOf" srcId="{354B1959-9761-C048-AADC-DF42DA181C3E}" destId="{360A155A-D9BA-A94C-846D-193109CC8F5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0B0214-84A6-2C4E-A0B3-EF7E891E4252}">
      <dsp:nvSpPr>
        <dsp:cNvPr id="0" name=""/>
        <dsp:cNvSpPr/>
      </dsp:nvSpPr>
      <dsp:spPr>
        <a:xfrm>
          <a:off x="-6505352" y="-994933"/>
          <a:ext cx="7742966" cy="7742966"/>
        </a:xfrm>
        <a:prstGeom prst="blockArc">
          <a:avLst>
            <a:gd name="adj1" fmla="val 18900000"/>
            <a:gd name="adj2" fmla="val 2700000"/>
            <a:gd name="adj3" fmla="val 279"/>
          </a:avLst>
        </a:prstGeom>
        <a:solidFill>
          <a:schemeClr val="tx1"/>
        </a:solidFill>
        <a:ln w="6350"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sp>
    <dsp:sp modelId="{F637DE42-0528-384D-9F52-01B3A1426649}">
      <dsp:nvSpPr>
        <dsp:cNvPr id="0" name=""/>
        <dsp:cNvSpPr/>
      </dsp:nvSpPr>
      <dsp:spPr>
        <a:xfrm>
          <a:off x="540621" y="359453"/>
          <a:ext cx="8013514" cy="719367"/>
        </a:xfrm>
        <a:prstGeom prst="rect">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0998" tIns="81280" rIns="81280" bIns="81280" numCol="1" spcCol="1270" anchor="ctr" anchorCtr="0">
          <a:noAutofit/>
        </a:bodyPr>
        <a:lstStyle/>
        <a:p>
          <a:pPr marL="0" lvl="0" indent="0" algn="l" defTabSz="1422400">
            <a:lnSpc>
              <a:spcPct val="90000"/>
            </a:lnSpc>
            <a:spcBef>
              <a:spcPct val="0"/>
            </a:spcBef>
            <a:spcAft>
              <a:spcPct val="35000"/>
            </a:spcAft>
            <a:buNone/>
          </a:pPr>
          <a:r>
            <a:rPr lang="en-US" sz="3200" kern="1200" noProof="0" dirty="0">
              <a:solidFill>
                <a:schemeClr val="tx1">
                  <a:lumMod val="65000"/>
                  <a:lumOff val="35000"/>
                </a:schemeClr>
              </a:solidFill>
              <a:latin typeface="Century Gothic" charset="0"/>
              <a:ea typeface="Century Gothic" charset="0"/>
              <a:cs typeface="Century Gothic" charset="0"/>
            </a:rPr>
            <a:t>Contexte Général</a:t>
          </a:r>
          <a:endParaRPr lang="en-US" sz="3200" kern="1200" noProof="0" dirty="0">
            <a:solidFill>
              <a:schemeClr val="tx1">
                <a:lumMod val="65000"/>
                <a:lumOff val="35000"/>
              </a:schemeClr>
            </a:solidFill>
          </a:endParaRPr>
        </a:p>
      </dsp:txBody>
      <dsp:txXfrm>
        <a:off x="540621" y="359453"/>
        <a:ext cx="8013514" cy="719367"/>
      </dsp:txXfrm>
    </dsp:sp>
    <dsp:sp modelId="{91899B9D-4DFC-8D45-AEE5-951A89154402}">
      <dsp:nvSpPr>
        <dsp:cNvPr id="0" name=""/>
        <dsp:cNvSpPr/>
      </dsp:nvSpPr>
      <dsp:spPr>
        <a:xfrm>
          <a:off x="91016" y="269532"/>
          <a:ext cx="899209" cy="899209"/>
        </a:xfrm>
        <a:prstGeom prst="ellipse">
          <a:avLst/>
        </a:prstGeom>
        <a:solidFill>
          <a:srgbClr val="FFCDCD"/>
        </a:solidFill>
        <a:ln w="6350" cap="flat" cmpd="sng" algn="ctr">
          <a:solidFill>
            <a:srgbClr val="FF7900"/>
          </a:solidFill>
          <a:prstDash val="solid"/>
          <a:miter lim="800000"/>
        </a:ln>
        <a:effectLst/>
      </dsp:spPr>
      <dsp:style>
        <a:lnRef idx="1">
          <a:scrgbClr r="0" g="0" b="0"/>
        </a:lnRef>
        <a:fillRef idx="1">
          <a:scrgbClr r="0" g="0" b="0"/>
        </a:fillRef>
        <a:effectRef idx="0">
          <a:scrgbClr r="0" g="0" b="0"/>
        </a:effectRef>
        <a:fontRef idx="minor"/>
      </dsp:style>
    </dsp:sp>
    <dsp:sp modelId="{54B5A4D3-80D5-2243-90BA-4830503E7F48}">
      <dsp:nvSpPr>
        <dsp:cNvPr id="0" name=""/>
        <dsp:cNvSpPr/>
      </dsp:nvSpPr>
      <dsp:spPr>
        <a:xfrm>
          <a:off x="1056099" y="1438159"/>
          <a:ext cx="7498036" cy="719367"/>
        </a:xfrm>
        <a:prstGeom prst="rect">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0998" tIns="81280" rIns="81280" bIns="81280" numCol="1" spcCol="1270" anchor="ctr" anchorCtr="0">
          <a:noAutofit/>
        </a:bodyPr>
        <a:lstStyle/>
        <a:p>
          <a:pPr marL="0" lvl="0" indent="0" algn="l" defTabSz="1422400">
            <a:lnSpc>
              <a:spcPct val="90000"/>
            </a:lnSpc>
            <a:spcBef>
              <a:spcPct val="0"/>
            </a:spcBef>
            <a:spcAft>
              <a:spcPct val="35000"/>
            </a:spcAft>
            <a:buNone/>
          </a:pPr>
          <a:r>
            <a:rPr lang="fr-MA" sz="3200" kern="1200" dirty="0">
              <a:solidFill>
                <a:srgbClr val="595959"/>
              </a:solidFill>
              <a:latin typeface="Century Gothic" charset="0"/>
            </a:rPr>
            <a:t>Analyse des Besoins</a:t>
          </a:r>
          <a:endParaRPr lang="fr-FR" sz="3200" kern="1200" dirty="0">
            <a:solidFill>
              <a:srgbClr val="595959"/>
            </a:solidFill>
            <a:latin typeface="Century Gothic" charset="0"/>
            <a:ea typeface="Century Gothic" charset="0"/>
            <a:cs typeface="Century Gothic" charset="0"/>
          </a:endParaRPr>
        </a:p>
      </dsp:txBody>
      <dsp:txXfrm>
        <a:off x="1056099" y="1438159"/>
        <a:ext cx="7498036" cy="719367"/>
      </dsp:txXfrm>
    </dsp:sp>
    <dsp:sp modelId="{ECC96F58-1074-F24A-85B5-304FEB2E5C1C}">
      <dsp:nvSpPr>
        <dsp:cNvPr id="0" name=""/>
        <dsp:cNvSpPr/>
      </dsp:nvSpPr>
      <dsp:spPr>
        <a:xfrm>
          <a:off x="606494" y="1348238"/>
          <a:ext cx="899209" cy="899209"/>
        </a:xfrm>
        <a:prstGeom prst="ellipse">
          <a:avLst/>
        </a:prstGeom>
        <a:solidFill>
          <a:srgbClr val="FFCDCD"/>
        </a:solidFill>
        <a:ln w="6350" cap="flat" cmpd="sng" algn="ctr">
          <a:solidFill>
            <a:srgbClr val="FF7900"/>
          </a:solidFill>
          <a:prstDash val="solid"/>
          <a:miter lim="800000"/>
        </a:ln>
        <a:effectLst/>
      </dsp:spPr>
      <dsp:style>
        <a:lnRef idx="1">
          <a:scrgbClr r="0" g="0" b="0"/>
        </a:lnRef>
        <a:fillRef idx="1">
          <a:scrgbClr r="0" g="0" b="0"/>
        </a:fillRef>
        <a:effectRef idx="0">
          <a:scrgbClr r="0" g="0" b="0"/>
        </a:effectRef>
        <a:fontRef idx="minor"/>
      </dsp:style>
    </dsp:sp>
    <dsp:sp modelId="{AAAA55AD-E747-6A41-84BF-98C417518D12}">
      <dsp:nvSpPr>
        <dsp:cNvPr id="0" name=""/>
        <dsp:cNvSpPr/>
      </dsp:nvSpPr>
      <dsp:spPr>
        <a:xfrm>
          <a:off x="1214309" y="2516866"/>
          <a:ext cx="7339826" cy="719367"/>
        </a:xfrm>
        <a:prstGeom prst="rect">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0998" tIns="81280" rIns="81280" bIns="81280" numCol="1" spcCol="1270" anchor="ctr" anchorCtr="0">
          <a:noAutofit/>
        </a:bodyPr>
        <a:lstStyle/>
        <a:p>
          <a:pPr marL="0" lvl="0" indent="0" algn="l" defTabSz="1422400">
            <a:lnSpc>
              <a:spcPct val="90000"/>
            </a:lnSpc>
            <a:spcBef>
              <a:spcPct val="0"/>
            </a:spcBef>
            <a:spcAft>
              <a:spcPct val="35000"/>
            </a:spcAft>
            <a:buNone/>
          </a:pPr>
          <a:r>
            <a:rPr lang="en-US" sz="3200" kern="1200" noProof="0" dirty="0">
              <a:solidFill>
                <a:srgbClr val="595959"/>
              </a:solidFill>
              <a:latin typeface="Century Gothic" charset="0"/>
              <a:ea typeface="+mn-ea"/>
              <a:cs typeface="+mn-cs"/>
            </a:rPr>
            <a:t>Conception</a:t>
          </a:r>
        </a:p>
      </dsp:txBody>
      <dsp:txXfrm>
        <a:off x="1214309" y="2516866"/>
        <a:ext cx="7339826" cy="719367"/>
      </dsp:txXfrm>
    </dsp:sp>
    <dsp:sp modelId="{9CCA983D-9D18-6E46-8165-F9C02ED3550A}">
      <dsp:nvSpPr>
        <dsp:cNvPr id="0" name=""/>
        <dsp:cNvSpPr/>
      </dsp:nvSpPr>
      <dsp:spPr>
        <a:xfrm>
          <a:off x="764704" y="2426945"/>
          <a:ext cx="899209" cy="899209"/>
        </a:xfrm>
        <a:prstGeom prst="ellipse">
          <a:avLst/>
        </a:prstGeom>
        <a:solidFill>
          <a:srgbClr val="FFCDCD"/>
        </a:solidFill>
        <a:ln w="6350" cap="flat" cmpd="sng" algn="ctr">
          <a:solidFill>
            <a:srgbClr val="FF7900"/>
          </a:solidFill>
          <a:prstDash val="solid"/>
          <a:miter lim="800000"/>
        </a:ln>
        <a:effectLst/>
      </dsp:spPr>
      <dsp:style>
        <a:lnRef idx="1">
          <a:scrgbClr r="0" g="0" b="0"/>
        </a:lnRef>
        <a:fillRef idx="1">
          <a:scrgbClr r="0" g="0" b="0"/>
        </a:fillRef>
        <a:effectRef idx="0">
          <a:scrgbClr r="0" g="0" b="0"/>
        </a:effectRef>
        <a:fontRef idx="minor"/>
      </dsp:style>
    </dsp:sp>
    <dsp:sp modelId="{788B3D5F-65C0-2048-B1F7-F8BB7E80C1E8}">
      <dsp:nvSpPr>
        <dsp:cNvPr id="0" name=""/>
        <dsp:cNvSpPr/>
      </dsp:nvSpPr>
      <dsp:spPr>
        <a:xfrm>
          <a:off x="1056099" y="3595572"/>
          <a:ext cx="7498036" cy="719367"/>
        </a:xfrm>
        <a:prstGeom prst="rect">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0998" tIns="81280" rIns="81280" bIns="81280" numCol="1" spcCol="1270" anchor="ctr" anchorCtr="0">
          <a:noAutofit/>
        </a:bodyPr>
        <a:lstStyle/>
        <a:p>
          <a:pPr marL="0" lvl="0" indent="0" algn="l" defTabSz="1422400">
            <a:lnSpc>
              <a:spcPct val="90000"/>
            </a:lnSpc>
            <a:spcBef>
              <a:spcPct val="0"/>
            </a:spcBef>
            <a:spcAft>
              <a:spcPct val="35000"/>
            </a:spcAft>
            <a:buNone/>
          </a:pPr>
          <a:r>
            <a:rPr lang="fr-MA" sz="3200" kern="1200" noProof="0" dirty="0">
              <a:solidFill>
                <a:schemeClr val="tx1">
                  <a:lumMod val="65000"/>
                  <a:lumOff val="35000"/>
                </a:schemeClr>
              </a:solidFill>
              <a:latin typeface="Century Gothic" charset="0"/>
            </a:rPr>
            <a:t>Réalisation</a:t>
          </a:r>
          <a:endParaRPr lang="en-US" sz="3200" kern="1200" noProof="0" dirty="0">
            <a:solidFill>
              <a:schemeClr val="tx1">
                <a:lumMod val="65000"/>
                <a:lumOff val="35000"/>
              </a:schemeClr>
            </a:solidFill>
            <a:latin typeface="Century Gothic" charset="0"/>
            <a:ea typeface="Century Gothic" charset="0"/>
            <a:cs typeface="Century Gothic" charset="0"/>
          </a:endParaRPr>
        </a:p>
      </dsp:txBody>
      <dsp:txXfrm>
        <a:off x="1056099" y="3595572"/>
        <a:ext cx="7498036" cy="719367"/>
      </dsp:txXfrm>
    </dsp:sp>
    <dsp:sp modelId="{3B138492-440B-8142-91C6-AA5BD7EC7CE5}">
      <dsp:nvSpPr>
        <dsp:cNvPr id="0" name=""/>
        <dsp:cNvSpPr/>
      </dsp:nvSpPr>
      <dsp:spPr>
        <a:xfrm>
          <a:off x="606494" y="3505651"/>
          <a:ext cx="899209" cy="899209"/>
        </a:xfrm>
        <a:prstGeom prst="ellipse">
          <a:avLst/>
        </a:prstGeom>
        <a:solidFill>
          <a:srgbClr val="FFCDCD"/>
        </a:solidFill>
        <a:ln w="6350" cap="flat" cmpd="sng" algn="ctr">
          <a:solidFill>
            <a:srgbClr val="FF7900"/>
          </a:solidFill>
          <a:prstDash val="solid"/>
          <a:miter lim="800000"/>
        </a:ln>
        <a:effectLst/>
      </dsp:spPr>
      <dsp:style>
        <a:lnRef idx="1">
          <a:scrgbClr r="0" g="0" b="0"/>
        </a:lnRef>
        <a:fillRef idx="1">
          <a:scrgbClr r="0" g="0" b="0"/>
        </a:fillRef>
        <a:effectRef idx="0">
          <a:scrgbClr r="0" g="0" b="0"/>
        </a:effectRef>
        <a:fontRef idx="minor"/>
      </dsp:style>
    </dsp:sp>
    <dsp:sp modelId="{D4C394BE-2B9D-B745-8DD6-153FDE2C371E}">
      <dsp:nvSpPr>
        <dsp:cNvPr id="0" name=""/>
        <dsp:cNvSpPr/>
      </dsp:nvSpPr>
      <dsp:spPr>
        <a:xfrm>
          <a:off x="540621" y="4674278"/>
          <a:ext cx="8013514" cy="719367"/>
        </a:xfrm>
        <a:prstGeom prst="rect">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0998" tIns="81280" rIns="81280" bIns="81280" numCol="1" spcCol="1270" anchor="ctr" anchorCtr="0">
          <a:noAutofit/>
        </a:bodyPr>
        <a:lstStyle/>
        <a:p>
          <a:pPr marL="0" lvl="0" indent="0" algn="l" defTabSz="1422400">
            <a:lnSpc>
              <a:spcPct val="90000"/>
            </a:lnSpc>
            <a:spcBef>
              <a:spcPct val="0"/>
            </a:spcBef>
            <a:spcAft>
              <a:spcPct val="35000"/>
            </a:spcAft>
            <a:buNone/>
          </a:pPr>
          <a:r>
            <a:rPr lang="en-US" sz="3200" kern="1200" noProof="0" dirty="0">
              <a:solidFill>
                <a:schemeClr val="tx1">
                  <a:lumMod val="65000"/>
                  <a:lumOff val="35000"/>
                </a:schemeClr>
              </a:solidFill>
              <a:latin typeface="Century Gothic" charset="0"/>
              <a:ea typeface="Century Gothic" charset="0"/>
              <a:cs typeface="Century Gothic" charset="0"/>
            </a:rPr>
            <a:t>Conclusion &amp; Perspectives </a:t>
          </a:r>
        </a:p>
      </dsp:txBody>
      <dsp:txXfrm>
        <a:off x="540621" y="4674278"/>
        <a:ext cx="8013514" cy="719367"/>
      </dsp:txXfrm>
    </dsp:sp>
    <dsp:sp modelId="{A98A84FA-53A2-5C45-A924-F51CD007DDDE}">
      <dsp:nvSpPr>
        <dsp:cNvPr id="0" name=""/>
        <dsp:cNvSpPr/>
      </dsp:nvSpPr>
      <dsp:spPr>
        <a:xfrm>
          <a:off x="91016" y="4584357"/>
          <a:ext cx="899209" cy="899209"/>
        </a:xfrm>
        <a:prstGeom prst="ellipse">
          <a:avLst/>
        </a:prstGeom>
        <a:solidFill>
          <a:srgbClr val="FFCDCD"/>
        </a:solidFill>
        <a:ln w="6350" cap="flat" cmpd="sng" algn="ctr">
          <a:solidFill>
            <a:srgbClr val="FF7900"/>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gradFill rotWithShape="0">
          <a:gsLst>
            <a:gs pos="0">
              <a:schemeClr val="bg2">
                <a:lumMod val="75000"/>
              </a:schemeClr>
            </a:gs>
            <a:gs pos="50000">
              <a:schemeClr val="bg1">
                <a:lumMod val="50000"/>
              </a:schemeClr>
            </a:gs>
            <a:gs pos="100000">
              <a:schemeClr val="bg2">
                <a:lumMod val="50000"/>
              </a:schemeClr>
            </a:gs>
          </a:gsLst>
          <a:lin ang="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schemeClr val="bg1"/>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gradFill rotWithShape="0">
          <a:gsLst>
            <a:gs pos="0">
              <a:schemeClr val="bg2">
                <a:lumMod val="75000"/>
              </a:schemeClr>
            </a:gs>
            <a:gs pos="50000">
              <a:schemeClr val="bg1">
                <a:lumMod val="50000"/>
              </a:schemeClr>
            </a:gs>
            <a:gs pos="100000">
              <a:schemeClr val="bg2">
                <a:lumMod val="50000"/>
              </a:schemeClr>
            </a:gs>
          </a:gsLst>
          <a:lin ang="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schemeClr val="bg1"/>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gradFill rotWithShape="0">
          <a:gsLst>
            <a:gs pos="0">
              <a:schemeClr val="bg2">
                <a:lumMod val="75000"/>
              </a:schemeClr>
            </a:gs>
            <a:gs pos="50000">
              <a:schemeClr val="bg1">
                <a:lumMod val="50000"/>
              </a:schemeClr>
            </a:gs>
            <a:gs pos="100000">
              <a:schemeClr val="bg2">
                <a:lumMod val="50000"/>
              </a:schemeClr>
            </a:gs>
          </a:gsLst>
          <a:lin ang="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schemeClr val="bg1"/>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gradFill rotWithShape="0">
          <a:gsLst>
            <a:gs pos="0">
              <a:schemeClr val="bg2">
                <a:lumMod val="75000"/>
              </a:schemeClr>
            </a:gs>
            <a:gs pos="50000">
              <a:schemeClr val="bg1">
                <a:lumMod val="50000"/>
              </a:schemeClr>
            </a:gs>
            <a:gs pos="100000">
              <a:schemeClr val="bg2">
                <a:lumMod val="50000"/>
              </a:schemeClr>
            </a:gs>
          </a:gsLst>
          <a:lin ang="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schemeClr val="bg1"/>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gradFill rotWithShape="0">
          <a:gsLst>
            <a:gs pos="0">
              <a:schemeClr val="bg2">
                <a:lumMod val="75000"/>
              </a:schemeClr>
            </a:gs>
            <a:gs pos="50000">
              <a:schemeClr val="bg1">
                <a:lumMod val="50000"/>
              </a:schemeClr>
            </a:gs>
            <a:gs pos="100000">
              <a:schemeClr val="bg2">
                <a:lumMod val="50000"/>
              </a:schemeClr>
            </a:gs>
          </a:gsLst>
          <a:lin ang="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schemeClr val="bg1"/>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gradFill rotWithShape="0">
          <a:gsLst>
            <a:gs pos="0">
              <a:schemeClr val="bg2">
                <a:lumMod val="75000"/>
              </a:schemeClr>
            </a:gs>
            <a:gs pos="50000">
              <a:schemeClr val="bg1">
                <a:lumMod val="50000"/>
              </a:schemeClr>
            </a:gs>
            <a:gs pos="100000">
              <a:schemeClr val="bg2">
                <a:lumMod val="50000"/>
              </a:schemeClr>
            </a:gs>
          </a:gsLst>
          <a:lin ang="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schemeClr val="bg1"/>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gradFill rotWithShape="0">
          <a:gsLst>
            <a:gs pos="0">
              <a:schemeClr val="bg2">
                <a:lumMod val="75000"/>
              </a:schemeClr>
            </a:gs>
            <a:gs pos="50000">
              <a:schemeClr val="bg1">
                <a:lumMod val="50000"/>
              </a:schemeClr>
            </a:gs>
            <a:gs pos="100000">
              <a:schemeClr val="bg2">
                <a:lumMod val="50000"/>
              </a:schemeClr>
            </a:gs>
          </a:gsLst>
          <a:lin ang="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schemeClr val="bg1"/>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dirty="0">
              <a:solidFill>
                <a:prstClr val="white"/>
              </a:solidFill>
              <a:latin typeface="Century Gothic" charset="0"/>
              <a:ea typeface="Century Gothic" charset="0"/>
              <a:cs typeface="Century Gothic" charset="0"/>
            </a:rPr>
            <a:t>Contexte Général</a:t>
          </a:r>
          <a:endParaRPr lang="en-US" sz="1800" kern="1200" noProof="0" dirty="0">
            <a:solidFill>
              <a:prstClr val="white"/>
            </a:solidFill>
            <a:latin typeface="Century Gothic" charset="0"/>
            <a:ea typeface="Century Gothic" charset="0"/>
            <a:cs typeface="Century Gothic" charset="0"/>
          </a:endParaRP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noProof="0" dirty="0">
              <a:solidFill>
                <a:prstClr val="white"/>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19582-3B16-E749-95A6-206EE7B53962}">
      <dsp:nvSpPr>
        <dsp:cNvPr id="0" name=""/>
        <dsp:cNvSpPr/>
      </dsp:nvSpPr>
      <dsp:spPr>
        <a:xfrm>
          <a:off x="2919"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noProof="0" dirty="0">
              <a:solidFill>
                <a:prstClr val="white"/>
              </a:solidFill>
              <a:latin typeface="Century Gothic" charset="0"/>
              <a:ea typeface="Century Gothic" charset="0"/>
              <a:cs typeface="Century Gothic" charset="0"/>
            </a:rPr>
            <a:t>Contexte Général</a:t>
          </a:r>
        </a:p>
      </dsp:txBody>
      <dsp:txXfrm>
        <a:off x="374391" y="0"/>
        <a:ext cx="1855490" cy="742944"/>
      </dsp:txXfrm>
    </dsp:sp>
    <dsp:sp modelId="{2C255DDA-D852-FB4A-A520-C6D036DD90EC}">
      <dsp:nvSpPr>
        <dsp:cNvPr id="0" name=""/>
        <dsp:cNvSpPr/>
      </dsp:nvSpPr>
      <dsp:spPr>
        <a:xfrm>
          <a:off x="2341510"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Century Gothic" charset="0"/>
              <a:ea typeface="Century Gothic" charset="0"/>
              <a:cs typeface="Century Gothic" charset="0"/>
            </a:rPr>
            <a:t>Analyse des Besoins</a:t>
          </a:r>
          <a:endParaRPr lang="fr-FR" sz="1800" kern="1200" dirty="0">
            <a:solidFill>
              <a:prstClr val="white"/>
            </a:solidFill>
            <a:latin typeface="Century Gothic" charset="0"/>
            <a:ea typeface="Century Gothic" charset="0"/>
            <a:cs typeface="Century Gothic" charset="0"/>
          </a:endParaRPr>
        </a:p>
      </dsp:txBody>
      <dsp:txXfrm>
        <a:off x="2712982" y="0"/>
        <a:ext cx="1855490" cy="742944"/>
      </dsp:txXfrm>
    </dsp:sp>
    <dsp:sp modelId="{2C76D7CA-D091-FF48-8A7E-CD4E601723BA}">
      <dsp:nvSpPr>
        <dsp:cNvPr id="0" name=""/>
        <dsp:cNvSpPr/>
      </dsp:nvSpPr>
      <dsp:spPr>
        <a:xfrm>
          <a:off x="4680101"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800" kern="1200" noProof="0" dirty="0">
              <a:solidFill>
                <a:prstClr val="white"/>
              </a:solidFill>
              <a:latin typeface="Century Gothic" charset="0"/>
              <a:ea typeface="Century Gothic" charset="0"/>
              <a:cs typeface="Century Gothic" charset="0"/>
            </a:rPr>
            <a:t>Conception</a:t>
          </a:r>
          <a:endParaRPr lang="en-US" sz="1800" kern="1200" noProof="0" dirty="0">
            <a:solidFill>
              <a:prstClr val="white"/>
            </a:solidFill>
            <a:latin typeface="Century Gothic" charset="0"/>
            <a:ea typeface="Century Gothic" charset="0"/>
            <a:cs typeface="Century Gothic" charset="0"/>
          </a:endParaRPr>
        </a:p>
      </dsp:txBody>
      <dsp:txXfrm>
        <a:off x="5051573" y="0"/>
        <a:ext cx="1855490" cy="742944"/>
      </dsp:txXfrm>
    </dsp:sp>
    <dsp:sp modelId="{984C9398-C8A3-DA4F-BEE2-82ED00914851}">
      <dsp:nvSpPr>
        <dsp:cNvPr id="0" name=""/>
        <dsp:cNvSpPr/>
      </dsp:nvSpPr>
      <dsp:spPr>
        <a:xfrm>
          <a:off x="7018692" y="0"/>
          <a:ext cx="2598434" cy="742944"/>
        </a:xfrm>
        <a:prstGeom prst="chevron">
          <a:avLst/>
        </a:prstGeom>
        <a:solidFill>
          <a:srgbClr val="FF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MA" sz="1600" kern="1200" dirty="0">
              <a:solidFill>
                <a:prstClr val="white"/>
              </a:solidFill>
              <a:latin typeface="Century Gothic" charset="0"/>
              <a:ea typeface="Century Gothic" charset="0"/>
              <a:cs typeface="Century Gothic" charset="0"/>
            </a:rPr>
            <a:t>Réalisation</a:t>
          </a:r>
          <a:endParaRPr lang="fr-FR" sz="1600" kern="1200" dirty="0">
            <a:solidFill>
              <a:prstClr val="white"/>
            </a:solidFill>
            <a:latin typeface="Century Gothic" charset="0"/>
            <a:ea typeface="Century Gothic" charset="0"/>
            <a:cs typeface="Century Gothic" charset="0"/>
          </a:endParaRPr>
        </a:p>
      </dsp:txBody>
      <dsp:txXfrm>
        <a:off x="7390164" y="0"/>
        <a:ext cx="1855490" cy="742944"/>
      </dsp:txXfrm>
    </dsp:sp>
    <dsp:sp modelId="{360A155A-D9BA-A94C-846D-193109CC8F5C}">
      <dsp:nvSpPr>
        <dsp:cNvPr id="0" name=""/>
        <dsp:cNvSpPr/>
      </dsp:nvSpPr>
      <dsp:spPr>
        <a:xfrm>
          <a:off x="9357283" y="0"/>
          <a:ext cx="2598434" cy="742944"/>
        </a:xfrm>
        <a:prstGeom prst="chevron">
          <a:avLst/>
        </a:prstGeom>
        <a:gradFill rotWithShape="0">
          <a:gsLst>
            <a:gs pos="0">
              <a:srgbClr val="E7E6E6">
                <a:lumMod val="75000"/>
              </a:srgbClr>
            </a:gs>
            <a:gs pos="50000">
              <a:prstClr val="white">
                <a:lumMod val="50000"/>
              </a:prstClr>
            </a:gs>
            <a:gs pos="100000">
              <a:srgbClr val="E7E6E6">
                <a:lumMod val="50000"/>
              </a:srgbClr>
            </a:gs>
          </a:gsLst>
          <a:lin ang="0" scaled="1"/>
        </a:gra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600" kern="1200" dirty="0">
              <a:solidFill>
                <a:prstClr val="white"/>
              </a:solidFill>
              <a:latin typeface="Century Gothic" charset="0"/>
              <a:ea typeface="Century Gothic" charset="0"/>
              <a:cs typeface="Century Gothic" charset="0"/>
            </a:rPr>
            <a:t>Conclusion &amp; </a:t>
          </a:r>
          <a:r>
            <a:rPr lang="fr-MA" sz="1600" kern="1200" dirty="0">
              <a:solidFill>
                <a:prstClr val="white"/>
              </a:solidFill>
              <a:latin typeface="Century Gothic" charset="0"/>
              <a:ea typeface="Century Gothic" charset="0"/>
              <a:cs typeface="Century Gothic" charset="0"/>
            </a:rPr>
            <a:t>Perspectives</a:t>
          </a:r>
          <a:r>
            <a:rPr lang="fr-FR" sz="1600" kern="1200" dirty="0">
              <a:solidFill>
                <a:prstClr val="white"/>
              </a:solidFill>
              <a:latin typeface="Century Gothic" charset="0"/>
              <a:ea typeface="Century Gothic" charset="0"/>
              <a:cs typeface="Century Gothic" charset="0"/>
            </a:rPr>
            <a:t> </a:t>
          </a:r>
        </a:p>
      </dsp:txBody>
      <dsp:txXfrm>
        <a:off x="9728755" y="0"/>
        <a:ext cx="1855490" cy="742944"/>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4:06.858"/>
    </inkml:context>
    <inkml:brush xml:id="br0">
      <inkml:brushProperty name="width" value="0.035" units="cm"/>
      <inkml:brushProperty name="height" value="0.035" units="cm"/>
      <inkml:brushProperty name="color" value="#FFFFFF"/>
    </inkml:brush>
  </inkml:definitions>
  <inkml:trace contextRef="#ctx0" brushRef="#br0">1 1 24575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4:06.858"/>
    </inkml:context>
    <inkml:brush xml:id="br0">
      <inkml:brushProperty name="width" value="0.035" units="cm"/>
      <inkml:brushProperty name="height" value="0.035" units="cm"/>
      <inkml:brushProperty name="color" value="#FFFFFF"/>
    </inkml:brush>
  </inkml:definitions>
  <inkml:trace contextRef="#ctx0" brushRef="#br0">1 1 24575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2:41.720"/>
    </inkml:context>
    <inkml:brush xml:id="br0">
      <inkml:brushProperty name="width" value="0.035" units="cm"/>
      <inkml:brushProperty name="height" value="0.035" units="cm"/>
      <inkml:brushProperty name="color" value="#FFFFFF"/>
    </inkml:brush>
  </inkml:definitions>
  <inkml:trace contextRef="#ctx0" brushRef="#br0">21 2 24575,'34'-1'0,"-19"1"0,-1-1 0,1 2 0,-1-1 0,1 2 0,18 4 0,-32-6 0,1 1 0,-1-1 0,0 1 0,1-1 0,-1 1 0,0-1 0,0 1 0,1 0 0,-1 0 0,0-1 0,0 1 0,1 1 0,-2-1 0,0-1 0,0 0 0,0 0 0,1 1 0,-1-1 0,0 0 0,0 0 0,0 1 0,0-1 0,0 0 0,0 1 0,0-1 0,0 0 0,0 0 0,0 1 0,0-1 0,-1 0 0,1 0 0,0 1 0,0-1 0,0 0 0,0 0 0,0 1 0,0-1 0,-1 0 0,1 0 0,0 0 0,0 1 0,0-1 0,0 0 0,-1 0 0,1 0 0,0 0 0,0 1 0,-1-1 0,-2 2 0,0-1 0,0 1 0,-1-1 0,1 0 0,-1 0 0,1 0 0,-7 1 0,-105 2 0,88-4 0,39 0-273,0 0 0,-1 0 0,1 1 0,19 4 0,-6 3-6553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2:42.177"/>
    </inkml:context>
    <inkml:brush xml:id="br0">
      <inkml:brushProperty name="width" value="0.035" units="cm"/>
      <inkml:brushProperty name="height" value="0.035" units="cm"/>
      <inkml:brushProperty name="color" value="#FFFFFF"/>
    </inkml:brush>
  </inkml:definitions>
  <inkml:trace contextRef="#ctx0" brushRef="#br0">0 1 24575,'0'0'-8191</inkml:trace>
  <inkml:trace contextRef="#ctx0" brushRef="#br0" timeOffset="1">0 1 24575,'7'0'0,"2"6"0,-1 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2:43.727"/>
    </inkml:context>
    <inkml:brush xml:id="br0">
      <inkml:brushProperty name="width" value="0.035" units="cm"/>
      <inkml:brushProperty name="height" value="0.035" units="cm"/>
      <inkml:brushProperty name="color" value="#FFFFFF"/>
    </inkml:brush>
  </inkml:definitions>
  <inkml:trace contextRef="#ctx0" brushRef="#br0">1 1 24575,'0'6'0,"0"10"0,0 7 0,0 8 0,0 4 0,0-4-8191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2:44.139"/>
    </inkml:context>
    <inkml:brush xml:id="br0">
      <inkml:brushProperty name="width" value="0.035" units="cm"/>
      <inkml:brushProperty name="height" value="0.035" units="cm"/>
      <inkml:brushProperty name="color" value="#FFFFFF"/>
    </inkml:brush>
  </inkml:definitions>
  <inkml:trace contextRef="#ctx0" brushRef="#br0">1 92 24575,'0'0'-8191</inkml:trace>
  <inkml:trace contextRef="#ctx0" brushRef="#br0" timeOffset="1">1 15 24575,'0'-6'0,"0"-3"-8191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2:44.539"/>
    </inkml:context>
    <inkml:brush xml:id="br0">
      <inkml:brushProperty name="width" value="0.035" units="cm"/>
      <inkml:brushProperty name="height" value="0.035" units="cm"/>
      <inkml:brushProperty name="color" value="#FFFFFF"/>
    </inkml:brush>
  </inkml:definitions>
  <inkml:trace contextRef="#ctx0" brushRef="#br0">1 0 24575,'0'0'-8191</inkml:trace>
  <inkml:trace contextRef="#ctx0" brushRef="#br0" timeOffset="1">1 76 24575,'7'0'0,"8"7"0,2 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2:44.987"/>
    </inkml:context>
    <inkml:brush xml:id="br0">
      <inkml:brushProperty name="width" value="0.035" units="cm"/>
      <inkml:brushProperty name="height" value="0.035" units="cm"/>
      <inkml:brushProperty name="color" value="#FFFFFF"/>
    </inkml:brush>
  </inkml:definitions>
  <inkml:trace contextRef="#ctx0" brushRef="#br0">1 1 24575,'0'0'-8191</inkml:trace>
  <inkml:trace contextRef="#ctx0" brushRef="#br0" timeOffset="1">1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3:02.202"/>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3:02.838"/>
    </inkml:context>
    <inkml:brush xml:id="br0">
      <inkml:brushProperty name="width" value="0.035" units="cm"/>
      <inkml:brushProperty name="height" value="0.035" units="cm"/>
      <inkml:brushProperty name="color" value="#FFFFFF"/>
    </inkml:brush>
  </inkml:definitions>
  <inkml:trace contextRef="#ctx0" brushRef="#br0">104 0 24575,'-3'3'0,"-4"1"0,-4 0 0,-3-1 0,-2-1 0,-1 0 0,-1-1 0,5-1 0,9 0 0,10 0 0,8 0 0,1-4 0,1 0 0,1 0 0,0 1 0,1 1 0,-3 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3:03.332"/>
    </inkml:context>
    <inkml:brush xml:id="br0">
      <inkml:brushProperty name="width" value="0.035" units="cm"/>
      <inkml:brushProperty name="height" value="0.035" units="cm"/>
      <inkml:brushProperty name="color" value="#FFFFFF"/>
    </inkml:brush>
  </inkml:definitions>
  <inkml:trace contextRef="#ctx0" brushRef="#br0">160 0 24575,'0'3'0,"0"4"0,0 4 0,-3 0 0,-1 1 0,-6-1 0,-7-3 0,-4-3 0,-1-2 0,0-1 0,4-5 0,2-1 0,3-3 0,5-4 0,3 1-8191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6T13:53:10.268"/>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5EA48C-0A41-DA46-BB0A-4745155C8057}" type="datetimeFigureOut">
              <a:rPr lang="fr-FR" smtClean="0"/>
              <a:t>01/07/2025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8DA5C1-750F-B448-B611-27C66E737675}" type="slidenum">
              <a:rPr lang="fr-FR" smtClean="0"/>
              <a:t>‹N°›</a:t>
            </a:fld>
            <a:endParaRPr lang="fr-FR" dirty="0"/>
          </a:p>
        </p:txBody>
      </p:sp>
    </p:spTree>
    <p:extLst>
      <p:ext uri="{BB962C8B-B14F-4D97-AF65-F5344CB8AC3E}">
        <p14:creationId xmlns:p14="http://schemas.microsoft.com/office/powerpoint/2010/main" val="485560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MA" dirty="0"/>
              <a:t>Bonjour a tous , J’ai le plaisir aujourd’hui de présenter devant vous mon projet de fin d’étude </a:t>
            </a:r>
          </a:p>
          <a:p>
            <a:r>
              <a:rPr lang="fr-MA" dirty="0"/>
              <a:t>Avant toute chose permettez-moi de vous remercier honorables professeurs et d’avoir accepter de consacrer votre temps a l’évaluation de ce travail.</a:t>
            </a:r>
          </a:p>
          <a:p>
            <a:pPr algn="l"/>
            <a:r>
              <a:rPr lang="fr-MA" dirty="0"/>
              <a:t>J’en profite également pour exprimer ma gratitude envers mon encadrant de recherche monsieur ATKI </a:t>
            </a:r>
            <a:r>
              <a:rPr lang="fr-MA" dirty="0" err="1"/>
              <a:t>youness</a:t>
            </a:r>
            <a:r>
              <a:rPr lang="fr-MA" dirty="0"/>
              <a:t> et ma encadrante interne </a:t>
            </a:r>
            <a:r>
              <a:rPr lang="fr-MA" dirty="0" err="1"/>
              <a:t>mme</a:t>
            </a:r>
            <a:r>
              <a:rPr lang="fr-MA" dirty="0"/>
              <a:t> KHOUIA </a:t>
            </a:r>
            <a:r>
              <a:rPr lang="fr-MA" dirty="0" err="1"/>
              <a:t>asmae</a:t>
            </a:r>
            <a:r>
              <a:rPr lang="fr-MA" dirty="0"/>
              <a:t> pour leurs précieux conseils et leur soutien constant. A </a:t>
            </a:r>
            <a:r>
              <a:rPr lang="fr-MA" dirty="0" err="1"/>
              <a:t>present</a:t>
            </a:r>
            <a:r>
              <a:rPr lang="fr-MA" dirty="0"/>
              <a:t> je vais vous présenter mon travail intitule : </a:t>
            </a:r>
            <a:r>
              <a:rPr lang="fr-MA" sz="1200" b="1" dirty="0">
                <a:solidFill>
                  <a:schemeClr val="bg1"/>
                </a:solidFill>
                <a:latin typeface="Century Gothic" panose="020B0502020202020204" pitchFamily="34" charset="0"/>
                <a:cs typeface="Times New Roman" panose="02020603050405020304" pitchFamily="18" charset="0"/>
              </a:rPr>
              <a:t>Conception et Développement d’un Système de Suivi et de Gestion</a:t>
            </a:r>
          </a:p>
          <a:p>
            <a:pPr algn="l"/>
            <a:r>
              <a:rPr lang="fr-MA" sz="1200" b="1" dirty="0">
                <a:solidFill>
                  <a:schemeClr val="bg1"/>
                </a:solidFill>
                <a:latin typeface="Century Gothic" panose="020B0502020202020204" pitchFamily="34" charset="0"/>
                <a:cs typeface="Times New Roman" panose="02020603050405020304" pitchFamily="18" charset="0"/>
              </a:rPr>
              <a:t>des Rejets des Fichiers sur S3 via </a:t>
            </a:r>
            <a:r>
              <a:rPr lang="fr-MA" sz="1200" b="1" dirty="0" err="1">
                <a:solidFill>
                  <a:schemeClr val="bg1"/>
                </a:solidFill>
                <a:latin typeface="Century Gothic" panose="020B0502020202020204" pitchFamily="34" charset="0"/>
                <a:cs typeface="Times New Roman" panose="02020603050405020304" pitchFamily="18" charset="0"/>
              </a:rPr>
              <a:t>Databricks</a:t>
            </a:r>
            <a:r>
              <a:rPr lang="fr-MA" sz="1200" b="1" dirty="0">
                <a:solidFill>
                  <a:schemeClr val="bg1"/>
                </a:solidFill>
                <a:latin typeface="Century Gothic" panose="020B0502020202020204" pitchFamily="34" charset="0"/>
                <a:cs typeface="Times New Roman" panose="02020603050405020304" pitchFamily="18" charset="0"/>
              </a:rPr>
              <a:t> et Power BI</a:t>
            </a:r>
            <a:endParaRPr lang="en-US" sz="1200" b="1" dirty="0">
              <a:solidFill>
                <a:schemeClr val="bg1"/>
              </a:solidFill>
              <a:latin typeface="Century Gothic" panose="020B0502020202020204" pitchFamily="34" charset="0"/>
              <a:cs typeface="Times New Roman" panose="02020603050405020304" pitchFamily="18" charset="0"/>
            </a:endParaRPr>
          </a:p>
          <a:p>
            <a:endParaRPr lang="fr-MA" dirty="0"/>
          </a:p>
        </p:txBody>
      </p:sp>
      <p:sp>
        <p:nvSpPr>
          <p:cNvPr id="4" name="Espace réservé du numéro de diapositive 3"/>
          <p:cNvSpPr>
            <a:spLocks noGrp="1"/>
          </p:cNvSpPr>
          <p:nvPr>
            <p:ph type="sldNum" sz="quarter" idx="10"/>
          </p:nvPr>
        </p:nvSpPr>
        <p:spPr/>
        <p:txBody>
          <a:bodyPr/>
          <a:lstStyle/>
          <a:p>
            <a:fld id="{668DA5C1-750F-B448-B611-27C66E737675}" type="slidenum">
              <a:rPr lang="fr-FR" smtClean="0"/>
              <a:t>1</a:t>
            </a:fld>
            <a:endParaRPr lang="fr-FR" dirty="0"/>
          </a:p>
        </p:txBody>
      </p:sp>
    </p:spTree>
    <p:extLst>
      <p:ext uri="{BB962C8B-B14F-4D97-AF65-F5344CB8AC3E}">
        <p14:creationId xmlns:p14="http://schemas.microsoft.com/office/powerpoint/2010/main" val="1392740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MA" dirty="0"/>
              <a:t>Avant de rentrer dans le vif du sujet, je vous propose un aperçu du plan que je vais suivre tout au long de cette présentation.</a:t>
            </a:r>
          </a:p>
          <a:p>
            <a:r>
              <a:rPr lang="fr-MA" dirty="0"/>
              <a:t>Nous commencerons tout d’abord par le </a:t>
            </a:r>
            <a:r>
              <a:rPr lang="fr-MA" b="1" dirty="0"/>
              <a:t>contexte général</a:t>
            </a:r>
            <a:r>
              <a:rPr lang="fr-MA" dirty="0"/>
              <a:t> du projet, en présentant l’entreprise CGI, ainsi que les objectifs du stage.</a:t>
            </a:r>
          </a:p>
          <a:p>
            <a:r>
              <a:rPr lang="fr-MA" dirty="0"/>
              <a:t>Ensuite, nous passerons à une </a:t>
            </a:r>
            <a:r>
              <a:rPr lang="fr-MA" b="1" dirty="0"/>
              <a:t>analyse des besoins</a:t>
            </a:r>
            <a:r>
              <a:rPr lang="fr-MA" dirty="0"/>
              <a:t>, où je détaillerai les problématiques identifiées et les exigences du système à concevoir.</a:t>
            </a:r>
          </a:p>
          <a:p>
            <a:r>
              <a:rPr lang="fr-MA" dirty="0"/>
              <a:t>La troisième partie portera sur la </a:t>
            </a:r>
            <a:r>
              <a:rPr lang="fr-MA" b="1" dirty="0"/>
              <a:t>conception</a:t>
            </a:r>
            <a:r>
              <a:rPr lang="fr-MA" dirty="0"/>
              <a:t> de la solution. </a:t>
            </a:r>
          </a:p>
          <a:p>
            <a:r>
              <a:rPr lang="fr-MA" dirty="0"/>
              <a:t>Nous verrons ensuite la </a:t>
            </a:r>
            <a:r>
              <a:rPr lang="fr-MA" b="1" dirty="0"/>
              <a:t>réalisation</a:t>
            </a:r>
            <a:r>
              <a:rPr lang="fr-MA" dirty="0"/>
              <a:t>, avec la mise en œuvre technique, les traitements sur </a:t>
            </a:r>
            <a:r>
              <a:rPr lang="fr-MA" dirty="0" err="1"/>
              <a:t>Databricks</a:t>
            </a:r>
            <a:r>
              <a:rPr lang="fr-MA" dirty="0"/>
              <a:t>, les tables créées, ainsi que les </a:t>
            </a:r>
            <a:r>
              <a:rPr lang="fr-MA" dirty="0" err="1"/>
              <a:t>dashboards</a:t>
            </a:r>
            <a:r>
              <a:rPr lang="fr-MA" dirty="0"/>
              <a:t> Power BI.</a:t>
            </a:r>
          </a:p>
          <a:p>
            <a:r>
              <a:rPr lang="fr-MA" dirty="0"/>
              <a:t>Et enfin, je conclurai cette présentation par une </a:t>
            </a:r>
            <a:r>
              <a:rPr lang="fr-MA" b="1" dirty="0"/>
              <a:t>synthèse des résultats</a:t>
            </a:r>
            <a:r>
              <a:rPr lang="fr-MA" dirty="0"/>
              <a:t> et quelques </a:t>
            </a:r>
            <a:r>
              <a:rPr lang="fr-MA" b="1" dirty="0"/>
              <a:t>perspectives d’évolution</a:t>
            </a:r>
            <a:r>
              <a:rPr lang="fr-MA" dirty="0"/>
              <a:t> de la solution.</a:t>
            </a:r>
          </a:p>
        </p:txBody>
      </p:sp>
      <p:sp>
        <p:nvSpPr>
          <p:cNvPr id="4" name="Espace réservé du numéro de diapositive 3"/>
          <p:cNvSpPr>
            <a:spLocks noGrp="1"/>
          </p:cNvSpPr>
          <p:nvPr>
            <p:ph type="sldNum" sz="quarter" idx="5"/>
          </p:nvPr>
        </p:nvSpPr>
        <p:spPr/>
        <p:txBody>
          <a:bodyPr/>
          <a:lstStyle/>
          <a:p>
            <a:fld id="{668DA5C1-750F-B448-B611-27C66E737675}" type="slidenum">
              <a:rPr lang="fr-FR" smtClean="0"/>
              <a:t>2</a:t>
            </a:fld>
            <a:endParaRPr lang="fr-FR" dirty="0"/>
          </a:p>
        </p:txBody>
      </p:sp>
    </p:spTree>
    <p:extLst>
      <p:ext uri="{BB962C8B-B14F-4D97-AF65-F5344CB8AC3E}">
        <p14:creationId xmlns:p14="http://schemas.microsoft.com/office/powerpoint/2010/main" val="753534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dirty="0"/>
              <a:t>L'organisme d'accueil de notre projet est CGI qui désigne ‘conseillés en gestion et en informatique’. Fondée en 1976 par Serge Godin et André </a:t>
            </a:r>
            <a:r>
              <a:rPr lang="fr-MA" dirty="0" err="1"/>
              <a:t>Imbeau</a:t>
            </a:r>
            <a:r>
              <a:rPr lang="fr-MA" dirty="0"/>
              <a:t>, CGI est l'une des plus grandes entreprises mondiales de services en technologies de l'information. Présente dans 40 pays avec plus de 90 000 consultants, CGI offre une gamme complète de services allant de la consultation stratégique à l'intégration de systèmes et à la gestion des infrastructures.</a:t>
            </a:r>
          </a:p>
          <a:p>
            <a:endParaRPr lang="fr-MA" dirty="0"/>
          </a:p>
        </p:txBody>
      </p:sp>
      <p:sp>
        <p:nvSpPr>
          <p:cNvPr id="4" name="Espace réservé du numéro de diapositive 3"/>
          <p:cNvSpPr>
            <a:spLocks noGrp="1"/>
          </p:cNvSpPr>
          <p:nvPr>
            <p:ph type="sldNum" sz="quarter" idx="5"/>
          </p:nvPr>
        </p:nvSpPr>
        <p:spPr/>
        <p:txBody>
          <a:bodyPr/>
          <a:lstStyle/>
          <a:p>
            <a:fld id="{668DA5C1-750F-B448-B611-27C66E737675}" type="slidenum">
              <a:rPr lang="fr-FR" smtClean="0"/>
              <a:t>4</a:t>
            </a:fld>
            <a:endParaRPr lang="fr-FR" dirty="0"/>
          </a:p>
        </p:txBody>
      </p:sp>
    </p:spTree>
    <p:extLst>
      <p:ext uri="{BB962C8B-B14F-4D97-AF65-F5344CB8AC3E}">
        <p14:creationId xmlns:p14="http://schemas.microsoft.com/office/powerpoint/2010/main" val="1008259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MA" dirty="0"/>
              <a:t>Voici un aperçu de l’équipe dans laquelle j’ai effectué mon stage : l’équipe </a:t>
            </a:r>
            <a:r>
              <a:rPr lang="fr-MA" b="1" dirty="0"/>
              <a:t>MCM BI</a:t>
            </a:r>
            <a:r>
              <a:rPr lang="fr-MA" dirty="0"/>
              <a:t> de CGI Rabat.</a:t>
            </a:r>
          </a:p>
          <a:p>
            <a:r>
              <a:rPr lang="fr-MA" dirty="0"/>
              <a:t>Cette équipe est spécialisée dans la </a:t>
            </a:r>
            <a:r>
              <a:rPr lang="fr-MA" b="1" dirty="0"/>
              <a:t>Business Intelligence</a:t>
            </a:r>
            <a:r>
              <a:rPr lang="fr-MA" dirty="0"/>
              <a:t> et </a:t>
            </a:r>
            <a:r>
              <a:rPr lang="fr-MA" b="1" dirty="0"/>
              <a:t>l’ingénierie des données</a:t>
            </a:r>
            <a:r>
              <a:rPr lang="fr-MA" dirty="0"/>
              <a:t>, et elle intervient sur plusieurs projets critiques pour des clients internationaux. Cette organisation m’a permis de travailler dans un cadre professionnel stimulant, en lien direct avec les besoins métiers du client.</a:t>
            </a:r>
          </a:p>
        </p:txBody>
      </p:sp>
      <p:sp>
        <p:nvSpPr>
          <p:cNvPr id="4" name="Espace réservé du numéro de diapositive 3"/>
          <p:cNvSpPr>
            <a:spLocks noGrp="1"/>
          </p:cNvSpPr>
          <p:nvPr>
            <p:ph type="sldNum" sz="quarter" idx="5"/>
          </p:nvPr>
        </p:nvSpPr>
        <p:spPr/>
        <p:txBody>
          <a:bodyPr/>
          <a:lstStyle/>
          <a:p>
            <a:fld id="{668DA5C1-750F-B448-B611-27C66E737675}" type="slidenum">
              <a:rPr lang="fr-FR" smtClean="0"/>
              <a:t>5</a:t>
            </a:fld>
            <a:endParaRPr lang="fr-FR" dirty="0"/>
          </a:p>
        </p:txBody>
      </p:sp>
    </p:spTree>
    <p:extLst>
      <p:ext uri="{BB962C8B-B14F-4D97-AF65-F5344CB8AC3E}">
        <p14:creationId xmlns:p14="http://schemas.microsoft.com/office/powerpoint/2010/main" val="220846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Cette slide illustre l’</a:t>
            </a:r>
            <a:r>
              <a:rPr lang="fr-MA" b="1" dirty="0"/>
              <a:t>architecture existante</a:t>
            </a:r>
            <a:r>
              <a:rPr lang="fr-MA" dirty="0"/>
              <a:t>, avant la migration vers le cloud, que nous appelons aussi l’architecture </a:t>
            </a:r>
            <a:r>
              <a:rPr lang="fr-MA" b="1" dirty="0"/>
              <a:t>AS-IS</a:t>
            </a:r>
            <a:r>
              <a:rPr lang="fr-MA" dirty="0"/>
              <a:t>.</a:t>
            </a:r>
          </a:p>
          <a:p>
            <a:r>
              <a:rPr lang="fr-MA" dirty="0"/>
              <a:t>L’environnement était basé sur une infrastructure </a:t>
            </a:r>
            <a:r>
              <a:rPr lang="fr-MA" b="1" dirty="0"/>
              <a:t>on-</a:t>
            </a:r>
            <a:r>
              <a:rPr lang="fr-MA" b="1" dirty="0" err="1"/>
              <a:t>premise</a:t>
            </a:r>
            <a:r>
              <a:rPr lang="fr-MA" dirty="0"/>
              <a:t>, centrée sur des bases Oracle </a:t>
            </a:r>
            <a:r>
              <a:rPr lang="fr-MA" b="1" dirty="0" err="1"/>
              <a:t>Exadata</a:t>
            </a:r>
            <a:r>
              <a:rPr lang="fr-MA" dirty="0"/>
              <a:t>, avec des traitements développés en </a:t>
            </a:r>
            <a:r>
              <a:rPr lang="fr-MA" b="1" dirty="0"/>
              <a:t>PL/SQL</a:t>
            </a:r>
            <a:r>
              <a:rPr lang="fr-MA" dirty="0"/>
              <a:t>, et des restitutions réalisées via des outils comme </a:t>
            </a:r>
            <a:r>
              <a:rPr lang="fr-MA" b="1" dirty="0"/>
              <a:t>BO</a:t>
            </a:r>
            <a:r>
              <a:rPr lang="fr-MA" dirty="0"/>
              <a:t> et </a:t>
            </a:r>
            <a:r>
              <a:rPr lang="fr-MA" b="1" dirty="0"/>
              <a:t>Power BI</a:t>
            </a:r>
            <a:r>
              <a:rPr lang="fr-MA" dirty="0"/>
              <a:t>.</a:t>
            </a:r>
          </a:p>
          <a:p>
            <a:r>
              <a:rPr lang="fr-MA" dirty="0"/>
              <a:t>Chaque source alimentait plusieurs bases. Ensuite, ces données étaient regroupées dans des </a:t>
            </a:r>
            <a:r>
              <a:rPr lang="fr-MA" b="1" dirty="0"/>
              <a:t>univers BI</a:t>
            </a:r>
            <a:r>
              <a:rPr lang="fr-MA" dirty="0"/>
              <a:t> pour être structurées sous forme de vues matérialisées, d’agrégats, ou de cubes analytiques.</a:t>
            </a:r>
          </a:p>
          <a:p>
            <a:r>
              <a:rPr lang="fr-MA" dirty="0"/>
              <a:t>Cette architecture avait certes permis de centraliser les données, mais elle présentait plusieurs </a:t>
            </a:r>
            <a:r>
              <a:rPr lang="fr-MA" b="1" dirty="0"/>
              <a:t>limitations.</a:t>
            </a:r>
            <a:endParaRPr lang="fr-MA" dirty="0"/>
          </a:p>
        </p:txBody>
      </p:sp>
      <p:sp>
        <p:nvSpPr>
          <p:cNvPr id="4" name="Slide Number Placeholder 3"/>
          <p:cNvSpPr>
            <a:spLocks noGrp="1"/>
          </p:cNvSpPr>
          <p:nvPr>
            <p:ph type="sldNum" sz="quarter" idx="5"/>
          </p:nvPr>
        </p:nvSpPr>
        <p:spPr/>
        <p:txBody>
          <a:bodyPr/>
          <a:lstStyle/>
          <a:p>
            <a:fld id="{668DA5C1-750F-B448-B611-27C66E737675}" type="slidenum">
              <a:rPr lang="fr-FR" smtClean="0"/>
              <a:t>6</a:t>
            </a:fld>
            <a:endParaRPr lang="fr-FR" dirty="0"/>
          </a:p>
        </p:txBody>
      </p:sp>
    </p:spTree>
    <p:extLst>
      <p:ext uri="{BB962C8B-B14F-4D97-AF65-F5344CB8AC3E}">
        <p14:creationId xmlns:p14="http://schemas.microsoft.com/office/powerpoint/2010/main" val="2329114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Au démarrage du projet, plusieurs </a:t>
            </a:r>
            <a:r>
              <a:rPr lang="fr-MA" b="1" dirty="0"/>
              <a:t>dysfonctionnements majeurs</a:t>
            </a:r>
            <a:r>
              <a:rPr lang="fr-MA" dirty="0"/>
              <a:t> ont été identifiés dans la gestion des fichiers monétiques.</a:t>
            </a:r>
          </a:p>
          <a:p>
            <a:r>
              <a:rPr lang="fr-MA" dirty="0"/>
              <a:t>Premièrement, la </a:t>
            </a:r>
            <a:r>
              <a:rPr lang="fr-MA" b="1" dirty="0"/>
              <a:t>multiplication des flux</a:t>
            </a:r>
            <a:r>
              <a:rPr lang="fr-MA" dirty="0"/>
              <a:t>, à la fois en termes de sources et de formats, générait une grande hétérogénéité dans les traitements. Deuxièmement, il existait un </a:t>
            </a:r>
            <a:r>
              <a:rPr lang="fr-MA" b="1" dirty="0"/>
              <a:t>manque de visibilité sur les erreurs</a:t>
            </a:r>
            <a:r>
              <a:rPr lang="fr-MA" dirty="0"/>
              <a:t>. Lorsqu’un fichier était rejeté ou qu’un traitement échouait, il était très difficile d’en connaître la cause exacte, ce qui freinait la réactivité des équipes.</a:t>
            </a:r>
          </a:p>
          <a:p>
            <a:r>
              <a:rPr lang="fr-MA" dirty="0"/>
              <a:t>Enfin, les </a:t>
            </a:r>
            <a:r>
              <a:rPr lang="fr-MA" b="1" dirty="0"/>
              <a:t>utilisateurs métiers</a:t>
            </a:r>
            <a:r>
              <a:rPr lang="fr-MA" dirty="0"/>
              <a:t> étaient souvent dépendants des équipes techniques pour obtenir des indicateurs de suivi ou comprendre l’état des flux, ce qui limitait leur </a:t>
            </a:r>
            <a:r>
              <a:rPr lang="fr-MA" b="1" dirty="0"/>
              <a:t>autonomie</a:t>
            </a:r>
            <a:r>
              <a:rPr lang="fr-MA" dirty="0"/>
              <a:t> dans l’exploitation de la donnée.</a:t>
            </a:r>
          </a:p>
        </p:txBody>
      </p:sp>
      <p:sp>
        <p:nvSpPr>
          <p:cNvPr id="4" name="Slide Number Placeholder 3"/>
          <p:cNvSpPr>
            <a:spLocks noGrp="1"/>
          </p:cNvSpPr>
          <p:nvPr>
            <p:ph type="sldNum" sz="quarter" idx="5"/>
          </p:nvPr>
        </p:nvSpPr>
        <p:spPr/>
        <p:txBody>
          <a:bodyPr/>
          <a:lstStyle/>
          <a:p>
            <a:fld id="{668DA5C1-750F-B448-B611-27C66E737675}" type="slidenum">
              <a:rPr lang="fr-FR" smtClean="0"/>
              <a:t>7</a:t>
            </a:fld>
            <a:endParaRPr lang="fr-FR" dirty="0"/>
          </a:p>
        </p:txBody>
      </p:sp>
    </p:spTree>
    <p:extLst>
      <p:ext uri="{BB962C8B-B14F-4D97-AF65-F5344CB8AC3E}">
        <p14:creationId xmlns:p14="http://schemas.microsoft.com/office/powerpoint/2010/main" val="3111897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Pour répondre aux limites de l’architecture existante, une nouvelle solution a été conçue autour d’une </a:t>
            </a:r>
            <a:r>
              <a:rPr lang="fr-MA" b="1" dirty="0"/>
              <a:t>architecture cloud moderne et évolutive</a:t>
            </a:r>
            <a:r>
              <a:rPr lang="fr-MA" dirty="0"/>
              <a:t>, comme représentée ici.</a:t>
            </a:r>
          </a:p>
          <a:p>
            <a:r>
              <a:rPr lang="fr-MA" dirty="0"/>
              <a:t>Cette architecture repose principalement sur les services </a:t>
            </a:r>
            <a:r>
              <a:rPr lang="fr-MA" b="1" dirty="0"/>
              <a:t>AWS</a:t>
            </a:r>
            <a:r>
              <a:rPr lang="fr-MA" dirty="0"/>
              <a:t> pour le stockage et </a:t>
            </a:r>
            <a:r>
              <a:rPr lang="fr-MA" b="1" dirty="0" err="1"/>
              <a:t>Databricks</a:t>
            </a:r>
            <a:r>
              <a:rPr lang="fr-MA" dirty="0"/>
              <a:t> pour le traitement distribué des données.</a:t>
            </a:r>
          </a:p>
          <a:p>
            <a:r>
              <a:rPr lang="fr-MA" dirty="0"/>
              <a:t>À gauche, on retrouve les </a:t>
            </a:r>
            <a:r>
              <a:rPr lang="fr-MA" b="1" dirty="0"/>
              <a:t>sources de données</a:t>
            </a:r>
            <a:r>
              <a:rPr lang="fr-MA" dirty="0"/>
              <a:t>, qui sont nombreuses et variées </a:t>
            </a:r>
          </a:p>
          <a:p>
            <a:r>
              <a:rPr lang="fr-MA" dirty="0"/>
              <a:t>Les données sont ensuite structurées dans des environnements partagés, par domaine </a:t>
            </a:r>
          </a:p>
          <a:p>
            <a:r>
              <a:rPr lang="fr-MA" dirty="0"/>
              <a:t>Enfin, les données traitées sont exploitées par différents outils métiers, notamment </a:t>
            </a:r>
            <a:r>
              <a:rPr lang="fr-MA" b="1" dirty="0"/>
              <a:t>SAP</a:t>
            </a:r>
            <a:r>
              <a:rPr lang="fr-MA" dirty="0"/>
              <a:t>, ou via des </a:t>
            </a:r>
            <a:r>
              <a:rPr lang="fr-MA" dirty="0" err="1"/>
              <a:t>dashboards</a:t>
            </a:r>
            <a:r>
              <a:rPr lang="fr-MA" dirty="0"/>
              <a:t> </a:t>
            </a:r>
            <a:r>
              <a:rPr lang="fr-MA" b="1" dirty="0"/>
              <a:t>Power BI</a:t>
            </a:r>
            <a:r>
              <a:rPr lang="fr-MA" dirty="0"/>
              <a:t> pour permettre un pilotage efficace des flux et une meilleure prise de décision.</a:t>
            </a:r>
          </a:p>
          <a:p>
            <a:r>
              <a:rPr lang="fr-MA" dirty="0"/>
              <a:t>Cette nouvelle architecture permet donc de gagner en </a:t>
            </a:r>
            <a:r>
              <a:rPr lang="fr-MA" b="1" dirty="0"/>
              <a:t>scalabilité, en automatisation et en traçabilité</a:t>
            </a:r>
            <a:r>
              <a:rPr lang="fr-MA" dirty="0"/>
              <a:t>, tout en répondant aux exigences de sécurité et de conformité du secteur.</a:t>
            </a:r>
          </a:p>
          <a:p>
            <a:endParaRPr lang="en-US" dirty="0"/>
          </a:p>
        </p:txBody>
      </p:sp>
      <p:sp>
        <p:nvSpPr>
          <p:cNvPr id="4" name="Slide Number Placeholder 3"/>
          <p:cNvSpPr>
            <a:spLocks noGrp="1"/>
          </p:cNvSpPr>
          <p:nvPr>
            <p:ph type="sldNum" sz="quarter" idx="5"/>
          </p:nvPr>
        </p:nvSpPr>
        <p:spPr/>
        <p:txBody>
          <a:bodyPr/>
          <a:lstStyle/>
          <a:p>
            <a:fld id="{668DA5C1-750F-B448-B611-27C66E737675}" type="slidenum">
              <a:rPr lang="fr-FR" smtClean="0"/>
              <a:t>8</a:t>
            </a:fld>
            <a:endParaRPr lang="fr-FR" dirty="0"/>
          </a:p>
        </p:txBody>
      </p:sp>
    </p:spTree>
    <p:extLst>
      <p:ext uri="{BB962C8B-B14F-4D97-AF65-F5344CB8AC3E}">
        <p14:creationId xmlns:p14="http://schemas.microsoft.com/office/powerpoint/2010/main" val="1716497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Tout au long du stage, le projet a été mené selon une </a:t>
            </a:r>
            <a:r>
              <a:rPr lang="fr-MA" b="1" dirty="0"/>
              <a:t>approche agile</a:t>
            </a:r>
            <a:r>
              <a:rPr lang="fr-MA" dirty="0"/>
              <a:t>, plus précisément en suivant la méthode </a:t>
            </a:r>
            <a:r>
              <a:rPr lang="fr-MA" b="1" dirty="0"/>
              <a:t>Scrum</a:t>
            </a:r>
            <a:r>
              <a:rPr lang="fr-MA" dirty="0"/>
              <a:t>.</a:t>
            </a:r>
          </a:p>
          <a:p>
            <a:r>
              <a:rPr lang="fr-MA" dirty="0"/>
              <a:t>Cette méthodologie permet de structurer le travail de manière itérative et collaborative, avec des livraisons régulières, ce qui est particulièrement adapté aux environnements techniques comme celui de </a:t>
            </a:r>
            <a:r>
              <a:rPr lang="fr-MA" dirty="0" err="1"/>
              <a:t>Databricks</a:t>
            </a:r>
            <a:r>
              <a:rPr lang="fr-MA" dirty="0"/>
              <a:t>. Le projet avance ainsi par cycles courts, avec un rythme régulier de validation et d’amélioration continue.</a:t>
            </a:r>
          </a:p>
        </p:txBody>
      </p:sp>
      <p:sp>
        <p:nvSpPr>
          <p:cNvPr id="4" name="Slide Number Placeholder 3"/>
          <p:cNvSpPr>
            <a:spLocks noGrp="1"/>
          </p:cNvSpPr>
          <p:nvPr>
            <p:ph type="sldNum" sz="quarter" idx="5"/>
          </p:nvPr>
        </p:nvSpPr>
        <p:spPr/>
        <p:txBody>
          <a:bodyPr/>
          <a:lstStyle/>
          <a:p>
            <a:fld id="{668DA5C1-750F-B448-B611-27C66E737675}" type="slidenum">
              <a:rPr lang="fr-FR" smtClean="0"/>
              <a:t>9</a:t>
            </a:fld>
            <a:endParaRPr lang="fr-FR" dirty="0"/>
          </a:p>
        </p:txBody>
      </p:sp>
    </p:spTree>
    <p:extLst>
      <p:ext uri="{BB962C8B-B14F-4D97-AF65-F5344CB8AC3E}">
        <p14:creationId xmlns:p14="http://schemas.microsoft.com/office/powerpoint/2010/main" val="198055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Voici une vue synthétique de l’</a:t>
            </a:r>
            <a:r>
              <a:rPr lang="fr-MA" b="1" dirty="0"/>
              <a:t>avancement du projet</a:t>
            </a:r>
            <a:r>
              <a:rPr lang="fr-MA" dirty="0"/>
              <a:t> tout au long de la période de stage, représentée sous forme de </a:t>
            </a:r>
            <a:r>
              <a:rPr lang="fr-MA" b="1" dirty="0"/>
              <a:t>diagramme de Gantt</a:t>
            </a:r>
            <a:r>
              <a:rPr lang="fr-MA" dirty="0"/>
              <a:t>.</a:t>
            </a:r>
          </a:p>
          <a:p>
            <a:r>
              <a:rPr lang="fr-MA" dirty="0"/>
              <a:t>Comme vous pouvez le voir, le travail a été organisé en plusieurs phases successives, tout en gardant une certaine flexibilité grâce à l’approche agile.</a:t>
            </a:r>
          </a:p>
          <a:p>
            <a:r>
              <a:rPr lang="fr-MA" dirty="0"/>
              <a:t>Le projet a débuté par une phase de </a:t>
            </a:r>
            <a:r>
              <a:rPr lang="fr-MA" b="1" dirty="0"/>
              <a:t>formation</a:t>
            </a:r>
            <a:r>
              <a:rPr lang="fr-MA" dirty="0"/>
              <a:t> et de </a:t>
            </a:r>
            <a:r>
              <a:rPr lang="fr-MA" b="1" dirty="0"/>
              <a:t>prise en main des accès, </a:t>
            </a:r>
            <a:r>
              <a:rPr lang="fr-MA" dirty="0"/>
              <a:t>puis sur la </a:t>
            </a:r>
            <a:r>
              <a:rPr lang="fr-MA" b="1" dirty="0"/>
              <a:t>création et l’alimentation des différentes tables</a:t>
            </a:r>
            <a:r>
              <a:rPr lang="fr-MA" dirty="0"/>
              <a:t> dans </a:t>
            </a:r>
            <a:r>
              <a:rPr lang="fr-MA" dirty="0" err="1"/>
              <a:t>Databricks</a:t>
            </a:r>
            <a:r>
              <a:rPr lang="fr-MA" dirty="0"/>
              <a:t>. Une phase importante a été dédiée à la </a:t>
            </a:r>
            <a:r>
              <a:rPr lang="fr-MA" b="1" dirty="0"/>
              <a:t>mise en place des </a:t>
            </a:r>
            <a:r>
              <a:rPr lang="fr-MA" b="1" dirty="0" err="1"/>
              <a:t>dashboards</a:t>
            </a:r>
            <a:r>
              <a:rPr lang="fr-MA" b="1" dirty="0"/>
              <a:t> Power BI</a:t>
            </a:r>
            <a:r>
              <a:rPr lang="fr-MA" dirty="0"/>
              <a:t>, Enfin, participé aux </a:t>
            </a:r>
            <a:r>
              <a:rPr lang="fr-MA" b="1" dirty="0"/>
              <a:t>tests fonctionnels</a:t>
            </a:r>
            <a:r>
              <a:rPr lang="fr-MA" dirty="0"/>
              <a:t>, et rédigé toute la </a:t>
            </a:r>
            <a:r>
              <a:rPr lang="fr-MA" b="1" dirty="0"/>
              <a:t>documentation technique et métier</a:t>
            </a:r>
            <a:r>
              <a:rPr lang="fr-MA" dirty="0"/>
              <a:t> nécessaire	</a:t>
            </a:r>
          </a:p>
        </p:txBody>
      </p:sp>
      <p:sp>
        <p:nvSpPr>
          <p:cNvPr id="4" name="Slide Number Placeholder 3"/>
          <p:cNvSpPr>
            <a:spLocks noGrp="1"/>
          </p:cNvSpPr>
          <p:nvPr>
            <p:ph type="sldNum" sz="quarter" idx="5"/>
          </p:nvPr>
        </p:nvSpPr>
        <p:spPr/>
        <p:txBody>
          <a:bodyPr/>
          <a:lstStyle/>
          <a:p>
            <a:fld id="{668DA5C1-750F-B448-B611-27C66E737675}" type="slidenum">
              <a:rPr lang="fr-FR" smtClean="0"/>
              <a:t>10</a:t>
            </a:fld>
            <a:endParaRPr lang="fr-FR" dirty="0"/>
          </a:p>
        </p:txBody>
      </p:sp>
    </p:spTree>
    <p:extLst>
      <p:ext uri="{BB962C8B-B14F-4D97-AF65-F5344CB8AC3E}">
        <p14:creationId xmlns:p14="http://schemas.microsoft.com/office/powerpoint/2010/main" val="225040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L’analyse des besoins a permis de définir les </a:t>
            </a:r>
            <a:r>
              <a:rPr lang="fr-MA" b="1" dirty="0"/>
              <a:t>exigences clés</a:t>
            </a:r>
            <a:r>
              <a:rPr lang="fr-MA" dirty="0"/>
              <a:t> du projet, à la fois fonctionnelles et non fonctionnelles.</a:t>
            </a:r>
          </a:p>
          <a:p>
            <a:r>
              <a:rPr lang="fr-MA" dirty="0"/>
              <a:t>D’un point de vue </a:t>
            </a:r>
            <a:r>
              <a:rPr lang="fr-MA" b="1" dirty="0"/>
              <a:t>fonctionnel</a:t>
            </a:r>
            <a:r>
              <a:rPr lang="fr-MA" dirty="0"/>
              <a:t>, la solution devait assurer un </a:t>
            </a:r>
            <a:r>
              <a:rPr lang="fr-MA" b="1" dirty="0"/>
              <a:t>suivi automatisé des fichiers</a:t>
            </a:r>
            <a:r>
              <a:rPr lang="fr-MA" dirty="0"/>
              <a:t>, avec une </a:t>
            </a:r>
            <a:r>
              <a:rPr lang="fr-MA" b="1" dirty="0"/>
              <a:t>détection des anomalies</a:t>
            </a:r>
            <a:r>
              <a:rPr lang="fr-MA" dirty="0"/>
              <a:t> en cas de rejet ou d’échec de traitement.</a:t>
            </a:r>
          </a:p>
          <a:p>
            <a:r>
              <a:rPr lang="fr-MA" dirty="0"/>
              <a:t>Il fallait également garantir une </a:t>
            </a:r>
            <a:r>
              <a:rPr lang="fr-MA" b="1" dirty="0"/>
              <a:t>accessibilité claire des indicateurs métiers</a:t>
            </a:r>
            <a:r>
              <a:rPr lang="fr-MA" dirty="0"/>
              <a:t>, pour permettre aux utilisateurs de suivre les statuts sans dépendre des équipes techniques, ainsi qu’une </a:t>
            </a:r>
            <a:r>
              <a:rPr lang="fr-MA" b="1" dirty="0"/>
              <a:t>visualisation simple et dynamique via Power BI</a:t>
            </a:r>
            <a:r>
              <a:rPr lang="fr-MA" dirty="0"/>
              <a:t>.</a:t>
            </a:r>
          </a:p>
          <a:p>
            <a:endParaRPr lang="en-US" dirty="0"/>
          </a:p>
        </p:txBody>
      </p:sp>
      <p:sp>
        <p:nvSpPr>
          <p:cNvPr id="4" name="Slide Number Placeholder 3"/>
          <p:cNvSpPr>
            <a:spLocks noGrp="1"/>
          </p:cNvSpPr>
          <p:nvPr>
            <p:ph type="sldNum" sz="quarter" idx="5"/>
          </p:nvPr>
        </p:nvSpPr>
        <p:spPr/>
        <p:txBody>
          <a:bodyPr/>
          <a:lstStyle/>
          <a:p>
            <a:fld id="{668DA5C1-750F-B448-B611-27C66E737675}" type="slidenum">
              <a:rPr lang="fr-FR" smtClean="0"/>
              <a:t>12</a:t>
            </a:fld>
            <a:endParaRPr lang="fr-FR" dirty="0"/>
          </a:p>
        </p:txBody>
      </p:sp>
    </p:spTree>
    <p:extLst>
      <p:ext uri="{BB962C8B-B14F-4D97-AF65-F5344CB8AC3E}">
        <p14:creationId xmlns:p14="http://schemas.microsoft.com/office/powerpoint/2010/main" val="1982714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En ce qui concerne les </a:t>
            </a:r>
            <a:r>
              <a:rPr lang="fr-MA" b="1" dirty="0"/>
              <a:t>exigences non fonctionnelles</a:t>
            </a:r>
            <a:r>
              <a:rPr lang="fr-MA" dirty="0"/>
              <a:t>, plusieurs critères ont été pris en compte pour garantir la fiabilité de la solution.</a:t>
            </a:r>
          </a:p>
          <a:p>
            <a:r>
              <a:rPr lang="fr-MA" dirty="0"/>
              <a:t>D’abord, la </a:t>
            </a:r>
            <a:r>
              <a:rPr lang="fr-MA" b="1" dirty="0"/>
              <a:t>sécurité</a:t>
            </a:r>
            <a:r>
              <a:rPr lang="fr-MA" dirty="0"/>
              <a:t> a été assurée par un stockage chiffré sur AWS S3, avec une gestion des accès via </a:t>
            </a:r>
            <a:r>
              <a:rPr lang="fr-MA" b="1" dirty="0"/>
              <a:t>IAM</a:t>
            </a:r>
            <a:r>
              <a:rPr lang="fr-MA" dirty="0"/>
              <a:t>.</a:t>
            </a:r>
          </a:p>
          <a:p>
            <a:r>
              <a:rPr lang="fr-MA" dirty="0"/>
              <a:t>Ensuite, la </a:t>
            </a:r>
            <a:r>
              <a:rPr lang="fr-MA" b="1" dirty="0"/>
              <a:t>fiabilité</a:t>
            </a:r>
            <a:r>
              <a:rPr lang="fr-MA" dirty="0"/>
              <a:t> a été renforcée grâce à l’usage de </a:t>
            </a:r>
            <a:r>
              <a:rPr lang="fr-MA" b="1" dirty="0" err="1"/>
              <a:t>Databricks</a:t>
            </a:r>
            <a:r>
              <a:rPr lang="fr-MA" dirty="0"/>
              <a:t>, qui permet l’exécution de traitements distribués robustes, avec une bonne tolérance aux erreurs.</a:t>
            </a:r>
          </a:p>
          <a:p>
            <a:r>
              <a:rPr lang="fr-MA" dirty="0"/>
              <a:t>La </a:t>
            </a:r>
            <a:r>
              <a:rPr lang="fr-MA" b="1" dirty="0"/>
              <a:t>performance</a:t>
            </a:r>
            <a:r>
              <a:rPr lang="fr-MA" dirty="0"/>
              <a:t> était également essentielle : les traitements s’exécutent de manière quasi instantanée grâce à l’orchestration automatique des workflows.</a:t>
            </a:r>
          </a:p>
          <a:p>
            <a:r>
              <a:rPr lang="fr-MA" dirty="0"/>
              <a:t>Pour la </a:t>
            </a:r>
            <a:r>
              <a:rPr lang="fr-MA" b="1" dirty="0"/>
              <a:t>traçabilité</a:t>
            </a:r>
            <a:r>
              <a:rPr lang="fr-MA" dirty="0"/>
              <a:t>, chaque étape – de l’ingestion à la validation – est historisée à l’aide de </a:t>
            </a:r>
            <a:r>
              <a:rPr lang="fr-MA" b="1" dirty="0"/>
              <a:t>Delta Lake</a:t>
            </a:r>
            <a:r>
              <a:rPr lang="fr-MA" dirty="0"/>
              <a:t>.</a:t>
            </a:r>
          </a:p>
          <a:p>
            <a:r>
              <a:rPr lang="fr-MA" dirty="0"/>
              <a:t>Et enfin, l’</a:t>
            </a:r>
            <a:r>
              <a:rPr lang="fr-MA" b="1" dirty="0"/>
              <a:t>accessibilité</a:t>
            </a:r>
            <a:r>
              <a:rPr lang="fr-MA" dirty="0"/>
              <a:t> a été optimisée via des </a:t>
            </a:r>
            <a:r>
              <a:rPr lang="fr-MA" dirty="0" err="1"/>
              <a:t>dashboards</a:t>
            </a:r>
            <a:r>
              <a:rPr lang="fr-MA" dirty="0"/>
              <a:t> Power BI, permettant aux utilisateurs métiers de suivre les traitements de manière autonome, sans avoir besoin de support technique.</a:t>
            </a:r>
          </a:p>
        </p:txBody>
      </p:sp>
      <p:sp>
        <p:nvSpPr>
          <p:cNvPr id="4" name="Slide Number Placeholder 3"/>
          <p:cNvSpPr>
            <a:spLocks noGrp="1"/>
          </p:cNvSpPr>
          <p:nvPr>
            <p:ph type="sldNum" sz="quarter" idx="5"/>
          </p:nvPr>
        </p:nvSpPr>
        <p:spPr/>
        <p:txBody>
          <a:bodyPr/>
          <a:lstStyle/>
          <a:p>
            <a:fld id="{668DA5C1-750F-B448-B611-27C66E737675}" type="slidenum">
              <a:rPr lang="fr-FR" smtClean="0"/>
              <a:t>13</a:t>
            </a:fld>
            <a:endParaRPr lang="fr-FR" dirty="0"/>
          </a:p>
        </p:txBody>
      </p:sp>
    </p:spTree>
    <p:extLst>
      <p:ext uri="{BB962C8B-B14F-4D97-AF65-F5344CB8AC3E}">
        <p14:creationId xmlns:p14="http://schemas.microsoft.com/office/powerpoint/2010/main" val="2751866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MA" dirty="0"/>
              <a:t>Cette partie illustre la </a:t>
            </a:r>
            <a:r>
              <a:rPr lang="fr-MA" b="1" dirty="0"/>
              <a:t>logique de traitement développée dans </a:t>
            </a:r>
            <a:r>
              <a:rPr lang="fr-MA" b="1" dirty="0" err="1"/>
              <a:t>Databricks</a:t>
            </a:r>
            <a:r>
              <a:rPr lang="fr-MA" dirty="0"/>
              <a:t> pour le suivi des fichiers. Et les </a:t>
            </a:r>
            <a:r>
              <a:rPr lang="fr-MA" dirty="0" err="1"/>
              <a:t>modeles</a:t>
            </a:r>
            <a:r>
              <a:rPr lang="fr-MA" dirty="0"/>
              <a:t> sémantiques utilises pour le </a:t>
            </a:r>
            <a:r>
              <a:rPr lang="fr-MA" dirty="0" err="1"/>
              <a:t>developement</a:t>
            </a:r>
            <a:r>
              <a:rPr lang="fr-MA" dirty="0"/>
              <a:t> des </a:t>
            </a:r>
            <a:r>
              <a:rPr lang="fr-MA" dirty="0" err="1"/>
              <a:t>dashboards</a:t>
            </a:r>
            <a:r>
              <a:rPr lang="fr-MA" dirty="0"/>
              <a:t> power bi.</a:t>
            </a:r>
          </a:p>
        </p:txBody>
      </p:sp>
      <p:sp>
        <p:nvSpPr>
          <p:cNvPr id="4" name="Espace réservé du numéro de diapositive 3"/>
          <p:cNvSpPr>
            <a:spLocks noGrp="1"/>
          </p:cNvSpPr>
          <p:nvPr>
            <p:ph type="sldNum" sz="quarter" idx="5"/>
          </p:nvPr>
        </p:nvSpPr>
        <p:spPr/>
        <p:txBody>
          <a:bodyPr/>
          <a:lstStyle/>
          <a:p>
            <a:fld id="{668DA5C1-750F-B448-B611-27C66E737675}" type="slidenum">
              <a:rPr lang="fr-FR" smtClean="0"/>
              <a:t>14</a:t>
            </a:fld>
            <a:endParaRPr lang="fr-FR" dirty="0"/>
          </a:p>
        </p:txBody>
      </p:sp>
    </p:spTree>
    <p:extLst>
      <p:ext uri="{BB962C8B-B14F-4D97-AF65-F5344CB8AC3E}">
        <p14:creationId xmlns:p14="http://schemas.microsoft.com/office/powerpoint/2010/main" val="28329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Ce diagramme d’activité présente les différentes étapes qu’un fichier traverse après son arrivée dans le système.</a:t>
            </a:r>
          </a:p>
          <a:p>
            <a:r>
              <a:rPr lang="fr-MA" dirty="0"/>
              <a:t>On commence par lire la </a:t>
            </a:r>
            <a:r>
              <a:rPr lang="fr-MA" b="1" dirty="0"/>
              <a:t>table de configuration</a:t>
            </a:r>
            <a:r>
              <a:rPr lang="fr-MA" dirty="0"/>
              <a:t>, puis on vérifie si le fichier est attendu pour la journée.</a:t>
            </a:r>
          </a:p>
          <a:p>
            <a:r>
              <a:rPr lang="fr-MA" dirty="0"/>
              <a:t>S’il est attendu, on lit son contenu, on effectue une série de </a:t>
            </a:r>
            <a:r>
              <a:rPr lang="fr-MA" b="1" dirty="0"/>
              <a:t>contrôles de qualité</a:t>
            </a:r>
            <a:r>
              <a:rPr lang="fr-MA" dirty="0"/>
              <a:t>, comme la structure, le schéma, le volume ou encore le format.</a:t>
            </a:r>
          </a:p>
          <a:p>
            <a:r>
              <a:rPr lang="fr-MA" dirty="0"/>
              <a:t>En cas d’erreur, le fichier est envoyé vers une </a:t>
            </a:r>
            <a:r>
              <a:rPr lang="fr-MA" b="1" dirty="0"/>
              <a:t>table de quarantaine</a:t>
            </a:r>
            <a:r>
              <a:rPr lang="fr-MA" dirty="0"/>
              <a:t> avec une alerte. Sinon, il est validé et son statut est mis à jour.</a:t>
            </a:r>
          </a:p>
          <a:p>
            <a:r>
              <a:rPr lang="fr-MA" dirty="0"/>
              <a:t>Cette automatisation permet une </a:t>
            </a:r>
            <a:r>
              <a:rPr lang="fr-MA" b="1" dirty="0"/>
              <a:t>détection rapide des anomalies</a:t>
            </a:r>
            <a:r>
              <a:rPr lang="fr-MA" dirty="0"/>
              <a:t> et une </a:t>
            </a:r>
            <a:r>
              <a:rPr lang="fr-MA" b="1" dirty="0"/>
              <a:t>traçabilité complète</a:t>
            </a:r>
            <a:r>
              <a:rPr lang="fr-MA" dirty="0"/>
              <a:t>, ce qui est essentiel dans un contexte de production avec des flux multiples</a:t>
            </a:r>
          </a:p>
        </p:txBody>
      </p:sp>
      <p:sp>
        <p:nvSpPr>
          <p:cNvPr id="4" name="Slide Number Placeholder 3"/>
          <p:cNvSpPr>
            <a:spLocks noGrp="1"/>
          </p:cNvSpPr>
          <p:nvPr>
            <p:ph type="sldNum" sz="quarter" idx="5"/>
          </p:nvPr>
        </p:nvSpPr>
        <p:spPr/>
        <p:txBody>
          <a:bodyPr/>
          <a:lstStyle/>
          <a:p>
            <a:fld id="{668DA5C1-750F-B448-B611-27C66E737675}" type="slidenum">
              <a:rPr lang="fr-FR" smtClean="0"/>
              <a:t>15</a:t>
            </a:fld>
            <a:endParaRPr lang="fr-FR" dirty="0"/>
          </a:p>
        </p:txBody>
      </p:sp>
    </p:spTree>
    <p:extLst>
      <p:ext uri="{BB962C8B-B14F-4D97-AF65-F5344CB8AC3E}">
        <p14:creationId xmlns:p14="http://schemas.microsoft.com/office/powerpoint/2010/main" val="2830408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D501-E3EB-0D97-CF4C-5C95399CD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5877B-FF10-789B-38B3-4F4DC7D7F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94D23-580E-2BB3-FEE6-D70195A9A12E}"/>
              </a:ext>
            </a:extLst>
          </p:cNvPr>
          <p:cNvSpPr>
            <a:spLocks noGrp="1"/>
          </p:cNvSpPr>
          <p:nvPr>
            <p:ph type="body" idx="1"/>
          </p:nvPr>
        </p:nvSpPr>
        <p:spPr/>
        <p:txBody>
          <a:bodyPr/>
          <a:lstStyle/>
          <a:p>
            <a:r>
              <a:rPr lang="fr-MA" dirty="0"/>
              <a:t>Ici, on présente le </a:t>
            </a:r>
            <a:r>
              <a:rPr lang="fr-MA" b="1" dirty="0"/>
              <a:t>workflow développé dans </a:t>
            </a:r>
            <a:r>
              <a:rPr lang="fr-MA" b="1" dirty="0" err="1"/>
              <a:t>Databricks</a:t>
            </a:r>
            <a:r>
              <a:rPr lang="fr-MA" dirty="0"/>
              <a:t> pour la </a:t>
            </a:r>
            <a:r>
              <a:rPr lang="fr-MA" b="1" dirty="0"/>
              <a:t>gestion des rejets de fichiers</a:t>
            </a:r>
            <a:r>
              <a:rPr lang="fr-MA" dirty="0"/>
              <a:t>, un élément essentiel pour garantir la qualité des données.</a:t>
            </a:r>
          </a:p>
          <a:p>
            <a:r>
              <a:rPr lang="fr-MA" dirty="0"/>
              <a:t>Ce notebook commence par </a:t>
            </a:r>
            <a:r>
              <a:rPr lang="fr-MA" b="1" dirty="0"/>
              <a:t>lire les métadonnées</a:t>
            </a:r>
            <a:r>
              <a:rPr lang="fr-MA" dirty="0"/>
              <a:t> d’un fichier issu du volume STD, notamment son nom et le nom de la table cible dans la zone Silver.</a:t>
            </a:r>
          </a:p>
          <a:p>
            <a:r>
              <a:rPr lang="fr-MA" dirty="0"/>
              <a:t>Ensuite, on effectue une </a:t>
            </a:r>
            <a:r>
              <a:rPr lang="fr-MA" b="1" dirty="0"/>
              <a:t>extraction du schéma</a:t>
            </a:r>
            <a:r>
              <a:rPr lang="fr-MA" dirty="0"/>
              <a:t> et on applique des fonctions de typage dynamique pour </a:t>
            </a:r>
            <a:r>
              <a:rPr lang="fr-MA" b="1" dirty="0"/>
              <a:t>vérifier la cohérence des données</a:t>
            </a:r>
            <a:r>
              <a:rPr lang="fr-MA" dirty="0"/>
              <a:t>.</a:t>
            </a:r>
          </a:p>
          <a:p>
            <a:r>
              <a:rPr lang="fr-MA" dirty="0"/>
              <a:t>Ces données sont croisées avec une table de mapping entre les rejets et les tables Silver, ce qui permet de construire une </a:t>
            </a:r>
            <a:r>
              <a:rPr lang="fr-MA" b="1" dirty="0"/>
              <a:t>table finale combinée</a:t>
            </a:r>
            <a:r>
              <a:rPr lang="fr-MA" dirty="0"/>
              <a:t>.</a:t>
            </a:r>
          </a:p>
          <a:p>
            <a:r>
              <a:rPr lang="fr-MA" dirty="0"/>
              <a:t>Enfin, pour chaque </a:t>
            </a:r>
            <a:r>
              <a:rPr lang="fr-MA" b="1" dirty="0"/>
              <a:t>table de quarantaine</a:t>
            </a:r>
            <a:r>
              <a:rPr lang="fr-MA" dirty="0"/>
              <a:t>, le script identifie les raisons des rejets — par exemple : clé primaire manquante, </a:t>
            </a:r>
            <a:r>
              <a:rPr lang="fr-MA" dirty="0" err="1"/>
              <a:t>mismatch</a:t>
            </a:r>
            <a:r>
              <a:rPr lang="fr-MA" dirty="0"/>
              <a:t> de types, ou colonnes nulles — et </a:t>
            </a:r>
            <a:r>
              <a:rPr lang="fr-MA" b="1" dirty="0"/>
              <a:t>enregistre ces erreurs</a:t>
            </a:r>
            <a:r>
              <a:rPr lang="fr-MA" dirty="0"/>
              <a:t> pour qu’elles soient </a:t>
            </a:r>
            <a:r>
              <a:rPr lang="fr-MA" b="1" dirty="0"/>
              <a:t>traçables dans Power BI</a:t>
            </a:r>
            <a:r>
              <a:rPr lang="fr-MA" dirty="0"/>
              <a:t>.</a:t>
            </a:r>
          </a:p>
          <a:p>
            <a:r>
              <a:rPr lang="fr-MA" dirty="0"/>
              <a:t>Cela nous permet de proposer une </a:t>
            </a:r>
            <a:r>
              <a:rPr lang="fr-MA" b="1" dirty="0"/>
              <a:t>solution robuste de contrôle qualité</a:t>
            </a:r>
            <a:r>
              <a:rPr lang="fr-MA" dirty="0"/>
              <a:t> tout au long de la chaîne de traitement.</a:t>
            </a:r>
          </a:p>
        </p:txBody>
      </p:sp>
      <p:sp>
        <p:nvSpPr>
          <p:cNvPr id="4" name="Slide Number Placeholder 3">
            <a:extLst>
              <a:ext uri="{FF2B5EF4-FFF2-40B4-BE49-F238E27FC236}">
                <a16:creationId xmlns:a16="http://schemas.microsoft.com/office/drawing/2014/main" id="{34829063-A37C-162C-F87E-4529BB374B63}"/>
              </a:ext>
            </a:extLst>
          </p:cNvPr>
          <p:cNvSpPr>
            <a:spLocks noGrp="1"/>
          </p:cNvSpPr>
          <p:nvPr>
            <p:ph type="sldNum" sz="quarter" idx="5"/>
          </p:nvPr>
        </p:nvSpPr>
        <p:spPr/>
        <p:txBody>
          <a:bodyPr/>
          <a:lstStyle/>
          <a:p>
            <a:fld id="{668DA5C1-750F-B448-B611-27C66E737675}" type="slidenum">
              <a:rPr lang="fr-FR" smtClean="0"/>
              <a:t>16</a:t>
            </a:fld>
            <a:endParaRPr lang="fr-FR" dirty="0"/>
          </a:p>
        </p:txBody>
      </p:sp>
    </p:spTree>
    <p:extLst>
      <p:ext uri="{BB962C8B-B14F-4D97-AF65-F5344CB8AC3E}">
        <p14:creationId xmlns:p14="http://schemas.microsoft.com/office/powerpoint/2010/main" val="3435209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2A8B1-E8D7-FB83-BC2B-BF07A7660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89ADA-2FCE-5299-8169-30444FA9A5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922D2-4D33-C5FF-DF22-DCB73ABD31C3}"/>
              </a:ext>
            </a:extLst>
          </p:cNvPr>
          <p:cNvSpPr>
            <a:spLocks noGrp="1"/>
          </p:cNvSpPr>
          <p:nvPr>
            <p:ph type="body" idx="1"/>
          </p:nvPr>
        </p:nvSpPr>
        <p:spPr/>
        <p:txBody>
          <a:bodyPr/>
          <a:lstStyle/>
          <a:p>
            <a:r>
              <a:rPr lang="fr-MA" dirty="0"/>
              <a:t>Ce diagramme d’activité </a:t>
            </a:r>
            <a:r>
              <a:rPr lang="fr-MA" dirty="0" err="1"/>
              <a:t>presente</a:t>
            </a:r>
            <a:r>
              <a:rPr lang="fr-MA" dirty="0"/>
              <a:t> le processus de suivi des</a:t>
            </a:r>
            <a:r>
              <a:rPr lang="fr-MA" b="1" dirty="0"/>
              <a:t> jobs globaux</a:t>
            </a:r>
            <a:r>
              <a:rPr lang="fr-MA" dirty="0"/>
              <a:t> exécutés dans </a:t>
            </a:r>
            <a:r>
              <a:rPr lang="fr-MA" dirty="0" err="1"/>
              <a:t>Databricks</a:t>
            </a:r>
            <a:r>
              <a:rPr lang="fr-MA" dirty="0"/>
              <a:t>. Le processus commence par la lecture des </a:t>
            </a:r>
            <a:r>
              <a:rPr lang="fr-MA" b="1" dirty="0"/>
              <a:t>tables de monitoring</a:t>
            </a:r>
            <a:r>
              <a:rPr lang="fr-MA" dirty="0"/>
              <a:t>, qui sont ensuite jointes à une table de correspondance (</a:t>
            </a:r>
            <a:r>
              <a:rPr lang="fr-MA" dirty="0" err="1"/>
              <a:t>job_tasks</a:t>
            </a:r>
            <a:r>
              <a:rPr lang="fr-MA" dirty="0"/>
              <a:t>) en se basant sur le nom de la tâche.</a:t>
            </a:r>
          </a:p>
          <a:p>
            <a:r>
              <a:rPr lang="fr-MA" dirty="0"/>
              <a:t>Ensuite, une seconde jointure permet de récupérer le nom du job associé. On applique un nettoyage pour </a:t>
            </a:r>
            <a:r>
              <a:rPr lang="fr-MA" b="1" dirty="0"/>
              <a:t>éliminer les doublons</a:t>
            </a:r>
            <a:r>
              <a:rPr lang="fr-MA" dirty="0"/>
              <a:t>.</a:t>
            </a:r>
          </a:p>
          <a:p>
            <a:r>
              <a:rPr lang="fr-MA" dirty="0"/>
              <a:t>À partir de là, une logique conditionnelle permet d’associer chaque job global à un </a:t>
            </a:r>
            <a:r>
              <a:rPr lang="fr-MA" b="1" dirty="0"/>
              <a:t>domaine fonctionnel</a:t>
            </a:r>
            <a:r>
              <a:rPr lang="fr-MA" dirty="0"/>
              <a:t> spécifique</a:t>
            </a:r>
          </a:p>
          <a:p>
            <a:r>
              <a:rPr lang="fr-MA" dirty="0"/>
              <a:t>Si aucune correspondance n’est trouvée, le domaine est renseigné comme NULL.</a:t>
            </a:r>
          </a:p>
          <a:p>
            <a:r>
              <a:rPr lang="fr-MA" dirty="0"/>
              <a:t>Une fois les correspondances établies, on </a:t>
            </a:r>
            <a:r>
              <a:rPr lang="fr-MA" b="1" dirty="0"/>
              <a:t>ajoute une colonne d’activation</a:t>
            </a:r>
            <a:r>
              <a:rPr lang="fr-MA" dirty="0"/>
              <a:t> (</a:t>
            </a:r>
            <a:r>
              <a:rPr lang="fr-MA" dirty="0" err="1"/>
              <a:t>isActive</a:t>
            </a:r>
            <a:r>
              <a:rPr lang="fr-MA" dirty="0"/>
              <a:t>) pour suivre les jobs actifs uniquement, puis on insère le tout dans la table </a:t>
            </a:r>
            <a:r>
              <a:rPr lang="fr-MA" dirty="0" err="1"/>
              <a:t>job_task_mapping</a:t>
            </a:r>
            <a:r>
              <a:rPr lang="fr-MA" dirty="0"/>
              <a:t>.</a:t>
            </a:r>
          </a:p>
          <a:p>
            <a:r>
              <a:rPr lang="fr-MA" dirty="0"/>
              <a:t>Cette table jouera un </a:t>
            </a:r>
            <a:r>
              <a:rPr lang="fr-MA" b="1" dirty="0"/>
              <a:t>rôle central</a:t>
            </a:r>
            <a:r>
              <a:rPr lang="fr-MA" dirty="0"/>
              <a:t> dans la structuration des rapports Power BI et l’analyse des exécutions de jobs.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C82702B-4C94-3B02-1554-4FDA86E42BC7}"/>
              </a:ext>
            </a:extLst>
          </p:cNvPr>
          <p:cNvSpPr>
            <a:spLocks noGrp="1"/>
          </p:cNvSpPr>
          <p:nvPr>
            <p:ph type="sldNum" sz="quarter" idx="5"/>
          </p:nvPr>
        </p:nvSpPr>
        <p:spPr/>
        <p:txBody>
          <a:bodyPr/>
          <a:lstStyle/>
          <a:p>
            <a:fld id="{668DA5C1-750F-B448-B611-27C66E737675}" type="slidenum">
              <a:rPr lang="fr-FR" smtClean="0"/>
              <a:t>17</a:t>
            </a:fld>
            <a:endParaRPr lang="fr-FR" dirty="0"/>
          </a:p>
        </p:txBody>
      </p:sp>
    </p:spTree>
    <p:extLst>
      <p:ext uri="{BB962C8B-B14F-4D97-AF65-F5344CB8AC3E}">
        <p14:creationId xmlns:p14="http://schemas.microsoft.com/office/powerpoint/2010/main" val="2738140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8375-6947-0336-3EC7-E4A37E5C4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53B0A-E41C-2080-2905-80C9223EB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57F09-C2F9-3D60-DA38-3FBB9D16C856}"/>
              </a:ext>
            </a:extLst>
          </p:cNvPr>
          <p:cNvSpPr>
            <a:spLocks noGrp="1"/>
          </p:cNvSpPr>
          <p:nvPr>
            <p:ph type="body" idx="1"/>
          </p:nvPr>
        </p:nvSpPr>
        <p:spPr/>
        <p:txBody>
          <a:bodyPr/>
          <a:lstStyle/>
          <a:p>
            <a:r>
              <a:rPr lang="fr-MA" dirty="0"/>
              <a:t>Cette diapositive présente les </a:t>
            </a:r>
            <a:r>
              <a:rPr lang="fr-MA" b="1" dirty="0"/>
              <a:t>modèles sémantiques</a:t>
            </a:r>
            <a:r>
              <a:rPr lang="fr-MA" dirty="0"/>
              <a:t> utilisés dans Power BI pour la visualisation des données liées au </a:t>
            </a:r>
            <a:r>
              <a:rPr lang="fr-MA" b="1" dirty="0"/>
              <a:t>suivi des fichiers</a:t>
            </a:r>
            <a:r>
              <a:rPr lang="fr-MA" dirty="0"/>
              <a:t>.</a:t>
            </a:r>
          </a:p>
          <a:p>
            <a:r>
              <a:rPr lang="fr-MA" dirty="0"/>
              <a:t>Le premier modèle, à gauche, intègre différentes tables techniques telles que :</a:t>
            </a:r>
          </a:p>
          <a:p>
            <a:r>
              <a:rPr lang="fr-MA" dirty="0" err="1"/>
              <a:t>unexpected_files</a:t>
            </a:r>
            <a:r>
              <a:rPr lang="fr-MA" dirty="0"/>
              <a:t> et </a:t>
            </a:r>
            <a:r>
              <a:rPr lang="fr-MA" dirty="0" err="1"/>
              <a:t>invalid_files</a:t>
            </a:r>
            <a:r>
              <a:rPr lang="fr-MA" dirty="0"/>
              <a:t>, qui permettent d’identifier les fichiers reçus hors planning ou au format incorrect,</a:t>
            </a:r>
          </a:p>
          <a:p>
            <a:r>
              <a:rPr lang="fr-MA" dirty="0" err="1"/>
              <a:t>file_tracking</a:t>
            </a:r>
            <a:r>
              <a:rPr lang="fr-MA" dirty="0"/>
              <a:t>, qui centralise les métadonnées de traitement,</a:t>
            </a:r>
          </a:p>
          <a:p>
            <a:r>
              <a:rPr lang="fr-MA" dirty="0"/>
              <a:t>Une table </a:t>
            </a:r>
            <a:r>
              <a:rPr lang="fr-MA" dirty="0" err="1"/>
              <a:t>calendar</a:t>
            </a:r>
            <a:r>
              <a:rPr lang="fr-MA" dirty="0"/>
              <a:t> liée à toutes les autres pour assurer une analyse temporelle cohérente.</a:t>
            </a:r>
          </a:p>
          <a:p>
            <a:r>
              <a:rPr lang="fr-MA" dirty="0"/>
              <a:t>Ce modèle permet de </a:t>
            </a:r>
            <a:r>
              <a:rPr lang="fr-MA" b="1" dirty="0"/>
              <a:t>croiser les anomalies détectées</a:t>
            </a:r>
            <a:r>
              <a:rPr lang="fr-MA" dirty="0"/>
              <a:t>, les fichiers attendus, les délais de réception, et les écarts par rapport aux attentes.</a:t>
            </a:r>
          </a:p>
          <a:p>
            <a:r>
              <a:rPr lang="fr-MA" dirty="0"/>
              <a:t>À droite, un second modèle plus simple permet de </a:t>
            </a:r>
            <a:r>
              <a:rPr lang="fr-MA" b="1" dirty="0"/>
              <a:t>tracer le chemin d’un fichier dans les différentes étapes du traitement</a:t>
            </a:r>
            <a:r>
              <a:rPr lang="fr-MA" dirty="0"/>
              <a:t>, en reliant les fichiers source aux étapes de pipeline.</a:t>
            </a:r>
          </a:p>
          <a:p>
            <a:r>
              <a:rPr lang="fr-MA" dirty="0"/>
              <a:t>Ces modèles sémantiques sont au cœur de nos </a:t>
            </a:r>
            <a:r>
              <a:rPr lang="fr-MA" b="1" dirty="0" err="1"/>
              <a:t>dashboards</a:t>
            </a:r>
            <a:r>
              <a:rPr lang="fr-MA" b="1" dirty="0"/>
              <a:t> Power BI</a:t>
            </a:r>
            <a:r>
              <a:rPr lang="fr-MA" dirty="0"/>
              <a:t>, qui assurent une </a:t>
            </a:r>
            <a:r>
              <a:rPr lang="fr-MA" b="1" dirty="0"/>
              <a:t>visualisation claire et interactive</a:t>
            </a:r>
            <a:r>
              <a:rPr lang="fr-MA" dirty="0"/>
              <a:t> pour les utilisateurs métier.</a:t>
            </a:r>
          </a:p>
        </p:txBody>
      </p:sp>
      <p:sp>
        <p:nvSpPr>
          <p:cNvPr id="4" name="Slide Number Placeholder 3">
            <a:extLst>
              <a:ext uri="{FF2B5EF4-FFF2-40B4-BE49-F238E27FC236}">
                <a16:creationId xmlns:a16="http://schemas.microsoft.com/office/drawing/2014/main" id="{E22AE03D-13DD-62D3-5FD2-F2C744DC53DB}"/>
              </a:ext>
            </a:extLst>
          </p:cNvPr>
          <p:cNvSpPr>
            <a:spLocks noGrp="1"/>
          </p:cNvSpPr>
          <p:nvPr>
            <p:ph type="sldNum" sz="quarter" idx="5"/>
          </p:nvPr>
        </p:nvSpPr>
        <p:spPr/>
        <p:txBody>
          <a:bodyPr/>
          <a:lstStyle/>
          <a:p>
            <a:fld id="{668DA5C1-750F-B448-B611-27C66E737675}" type="slidenum">
              <a:rPr lang="fr-FR" smtClean="0"/>
              <a:t>18</a:t>
            </a:fld>
            <a:endParaRPr lang="fr-FR" dirty="0"/>
          </a:p>
        </p:txBody>
      </p:sp>
    </p:spTree>
    <p:extLst>
      <p:ext uri="{BB962C8B-B14F-4D97-AF65-F5344CB8AC3E}">
        <p14:creationId xmlns:p14="http://schemas.microsoft.com/office/powerpoint/2010/main" val="966265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FF299-FCD9-C370-58F0-D12DFC6E8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86260-E0B8-27DF-4B8C-2DB9A62A8C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F8D41-4405-BA96-4B23-21BAD4770FFE}"/>
              </a:ext>
            </a:extLst>
          </p:cNvPr>
          <p:cNvSpPr>
            <a:spLocks noGrp="1"/>
          </p:cNvSpPr>
          <p:nvPr>
            <p:ph type="body" idx="1"/>
          </p:nvPr>
        </p:nvSpPr>
        <p:spPr/>
        <p:txBody>
          <a:bodyPr/>
          <a:lstStyle/>
          <a:p>
            <a:r>
              <a:rPr lang="fr-MA" dirty="0"/>
              <a:t>Ce modèle sémantique permet de </a:t>
            </a:r>
            <a:r>
              <a:rPr lang="fr-MA" b="1" dirty="0"/>
              <a:t>suivre les rejets de fichiers</a:t>
            </a:r>
            <a:r>
              <a:rPr lang="fr-MA" dirty="0"/>
              <a:t> au cours des différentes étapes de traitement.</a:t>
            </a:r>
          </a:p>
          <a:p>
            <a:r>
              <a:rPr lang="fr-MA" dirty="0"/>
              <a:t>La table centrale </a:t>
            </a:r>
            <a:r>
              <a:rPr lang="fr-MA" dirty="0" err="1"/>
              <a:t>quarantine_monitoring</a:t>
            </a:r>
            <a:r>
              <a:rPr lang="fr-MA" dirty="0"/>
              <a:t> contient les </a:t>
            </a:r>
            <a:r>
              <a:rPr lang="fr-MA" b="1" dirty="0"/>
              <a:t>informations sur les fichiers rejetés</a:t>
            </a:r>
            <a:r>
              <a:rPr lang="fr-MA" dirty="0"/>
              <a:t>, comme :</a:t>
            </a:r>
          </a:p>
          <a:p>
            <a:r>
              <a:rPr lang="fr-MA" dirty="0"/>
              <a:t>le nom du fichier,</a:t>
            </a:r>
          </a:p>
          <a:p>
            <a:r>
              <a:rPr lang="fr-MA" dirty="0"/>
              <a:t>le format détecté,</a:t>
            </a:r>
          </a:p>
          <a:p>
            <a:r>
              <a:rPr lang="fr-MA" dirty="0"/>
              <a:t>la date de rejet,</a:t>
            </a:r>
          </a:p>
          <a:p>
            <a:r>
              <a:rPr lang="fr-MA" dirty="0"/>
              <a:t>ainsi que le type d'erreur (exemple : format invalide, structure incorrecte…).</a:t>
            </a:r>
          </a:p>
          <a:p>
            <a:r>
              <a:rPr lang="fr-MA" dirty="0"/>
              <a:t>Elle est reliée à des tables de dimensions comme Jours et Table_Dates_Job_T4, qui permettent de </a:t>
            </a:r>
            <a:r>
              <a:rPr lang="fr-MA" b="1" dirty="0"/>
              <a:t>croiser les rejets avec le temps d’exécution des jobs</a:t>
            </a:r>
            <a:r>
              <a:rPr lang="fr-MA" dirty="0"/>
              <a:t>.</a:t>
            </a:r>
          </a:p>
          <a:p>
            <a:r>
              <a:rPr lang="fr-MA" dirty="0"/>
              <a:t>La table </a:t>
            </a:r>
            <a:r>
              <a:rPr lang="fr-MA" dirty="0" err="1"/>
              <a:t>NewTable</a:t>
            </a:r>
            <a:r>
              <a:rPr lang="fr-MA" dirty="0"/>
              <a:t>, quant à elle, enrichit l’analyse avec des métadonnées techniques comme la date de chargement ou des libellés personnalisés.</a:t>
            </a:r>
          </a:p>
          <a:p>
            <a:r>
              <a:rPr lang="fr-MA" dirty="0"/>
              <a:t>Ce modèle permet donc de </a:t>
            </a:r>
            <a:r>
              <a:rPr lang="fr-MA" b="1" dirty="0"/>
              <a:t>visualiser les volumes de fichiers rejetés par jour, par erreur, ou par étape de traitement</a:t>
            </a:r>
            <a:r>
              <a:rPr lang="fr-MA" dirty="0"/>
              <a:t>, et ainsi </a:t>
            </a:r>
            <a:r>
              <a:rPr lang="fr-MA" b="1" dirty="0"/>
              <a:t>d’identifier les sources récurrentes de problèmes</a:t>
            </a:r>
            <a:r>
              <a:rPr lang="fr-MA" dirty="0"/>
              <a:t>.</a:t>
            </a:r>
          </a:p>
        </p:txBody>
      </p:sp>
      <p:sp>
        <p:nvSpPr>
          <p:cNvPr id="4" name="Slide Number Placeholder 3">
            <a:extLst>
              <a:ext uri="{FF2B5EF4-FFF2-40B4-BE49-F238E27FC236}">
                <a16:creationId xmlns:a16="http://schemas.microsoft.com/office/drawing/2014/main" id="{423A7376-87E5-AD0B-E93D-B8E30A238314}"/>
              </a:ext>
            </a:extLst>
          </p:cNvPr>
          <p:cNvSpPr>
            <a:spLocks noGrp="1"/>
          </p:cNvSpPr>
          <p:nvPr>
            <p:ph type="sldNum" sz="quarter" idx="5"/>
          </p:nvPr>
        </p:nvSpPr>
        <p:spPr/>
        <p:txBody>
          <a:bodyPr/>
          <a:lstStyle/>
          <a:p>
            <a:fld id="{668DA5C1-750F-B448-B611-27C66E737675}" type="slidenum">
              <a:rPr lang="fr-FR" smtClean="0"/>
              <a:t>19</a:t>
            </a:fld>
            <a:endParaRPr lang="fr-FR" dirty="0"/>
          </a:p>
        </p:txBody>
      </p:sp>
    </p:spTree>
    <p:extLst>
      <p:ext uri="{BB962C8B-B14F-4D97-AF65-F5344CB8AC3E}">
        <p14:creationId xmlns:p14="http://schemas.microsoft.com/office/powerpoint/2010/main" val="2828895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BE04-6C6A-B682-CB0A-EC38826BB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EC59F-9FED-2898-922B-7F4EE2612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A2D1A-DB96-8102-28E9-052B166539A9}"/>
              </a:ext>
            </a:extLst>
          </p:cNvPr>
          <p:cNvSpPr>
            <a:spLocks noGrp="1"/>
          </p:cNvSpPr>
          <p:nvPr>
            <p:ph type="body" idx="1"/>
          </p:nvPr>
        </p:nvSpPr>
        <p:spPr/>
        <p:txBody>
          <a:bodyPr/>
          <a:lstStyle/>
          <a:p>
            <a:r>
              <a:rPr lang="fr-MA" dirty="0"/>
              <a:t>Ce modèle permet de </a:t>
            </a:r>
            <a:r>
              <a:rPr lang="fr-MA" b="1" dirty="0"/>
              <a:t>surveiller l'exécution des jobs </a:t>
            </a:r>
            <a:r>
              <a:rPr lang="fr-MA" b="1" dirty="0" err="1"/>
              <a:t>Databricks</a:t>
            </a:r>
            <a:r>
              <a:rPr lang="fr-MA" dirty="0"/>
              <a:t> de manière détaillée.</a:t>
            </a:r>
          </a:p>
          <a:p>
            <a:r>
              <a:rPr lang="fr-MA" dirty="0"/>
              <a:t>On commence avec la table </a:t>
            </a:r>
            <a:r>
              <a:rPr lang="fr-MA" dirty="0" err="1"/>
              <a:t>datahubmsp_masterdata_monitoring</a:t>
            </a:r>
            <a:r>
              <a:rPr lang="fr-MA" dirty="0"/>
              <a:t>, qui contient les métadonnées techniques issues des logs d’exécution : le </a:t>
            </a:r>
            <a:r>
              <a:rPr lang="fr-MA" dirty="0" err="1"/>
              <a:t>jobRunId</a:t>
            </a:r>
            <a:r>
              <a:rPr lang="fr-MA" dirty="0"/>
              <a:t>, le </a:t>
            </a:r>
            <a:r>
              <a:rPr lang="fr-MA" dirty="0" err="1"/>
              <a:t>jobStartTime</a:t>
            </a:r>
            <a:r>
              <a:rPr lang="fr-MA" dirty="0"/>
              <a:t>, la durée, le statut, etc.</a:t>
            </a:r>
          </a:p>
          <a:p>
            <a:r>
              <a:rPr lang="fr-MA" dirty="0"/>
              <a:t>Ensuite, la table </a:t>
            </a:r>
            <a:r>
              <a:rPr lang="fr-MA" dirty="0" err="1"/>
              <a:t>job_task_mapping</a:t>
            </a:r>
            <a:r>
              <a:rPr lang="fr-MA" dirty="0"/>
              <a:t> permet de faire la correspondance entre les noms de tâches, les IDs, les domaines fonctionnels, et les jobs globaux. Cette jointure est essentielle pour contextualiser les métriques techniques.</a:t>
            </a:r>
          </a:p>
          <a:p>
            <a:r>
              <a:rPr lang="fr-MA" dirty="0"/>
              <a:t>La table </a:t>
            </a:r>
            <a:r>
              <a:rPr lang="fr-MA" dirty="0" err="1"/>
              <a:t>TableFusion</a:t>
            </a:r>
            <a:r>
              <a:rPr lang="fr-MA" dirty="0"/>
              <a:t> centralise les données de suivi, notamment les écarts journaliers entre les zones Bronze, Silver et Gold.</a:t>
            </a:r>
          </a:p>
          <a:p>
            <a:r>
              <a:rPr lang="fr-MA" dirty="0" err="1"/>
              <a:t>Table_Dates_Job</a:t>
            </a:r>
            <a:r>
              <a:rPr lang="fr-MA" dirty="0"/>
              <a:t> permet d’effectuer un suivi temporel des exécutions, avec des libellés de dates pour les visualisations.</a:t>
            </a:r>
          </a:p>
          <a:p>
            <a:r>
              <a:rPr lang="fr-MA" dirty="0"/>
              <a:t>Enfin, </a:t>
            </a:r>
            <a:r>
              <a:rPr lang="fr-MA" dirty="0" err="1"/>
              <a:t>Jobs_Summary</a:t>
            </a:r>
            <a:r>
              <a:rPr lang="fr-MA" dirty="0"/>
              <a:t> contient les agrégations utilisées dans les </a:t>
            </a:r>
            <a:r>
              <a:rPr lang="fr-MA" dirty="0" err="1"/>
              <a:t>dashboards</a:t>
            </a:r>
            <a:r>
              <a:rPr lang="fr-MA" dirty="0"/>
              <a:t> : alertes, durée totale du job, heure de début et de fin, etc.</a:t>
            </a:r>
          </a:p>
          <a:p>
            <a:r>
              <a:rPr lang="fr-MA" dirty="0"/>
              <a:t>Ce modèle facilite donc une </a:t>
            </a:r>
            <a:r>
              <a:rPr lang="fr-MA" b="1" dirty="0"/>
              <a:t>visualisation claire de la complétude et de la performance des jobs</a:t>
            </a:r>
            <a:r>
              <a:rPr lang="fr-MA" dirty="0"/>
              <a:t> </a:t>
            </a:r>
            <a:r>
              <a:rPr lang="fr-MA" dirty="0" err="1"/>
              <a:t>Databricks</a:t>
            </a:r>
            <a:r>
              <a:rPr lang="fr-MA" dirty="0"/>
              <a:t> au fil du temps.</a:t>
            </a:r>
          </a:p>
        </p:txBody>
      </p:sp>
      <p:sp>
        <p:nvSpPr>
          <p:cNvPr id="4" name="Slide Number Placeholder 3">
            <a:extLst>
              <a:ext uri="{FF2B5EF4-FFF2-40B4-BE49-F238E27FC236}">
                <a16:creationId xmlns:a16="http://schemas.microsoft.com/office/drawing/2014/main" id="{7411B3C6-C6DB-ECC0-BD53-ACD7B0B2B653}"/>
              </a:ext>
            </a:extLst>
          </p:cNvPr>
          <p:cNvSpPr>
            <a:spLocks noGrp="1"/>
          </p:cNvSpPr>
          <p:nvPr>
            <p:ph type="sldNum" sz="quarter" idx="5"/>
          </p:nvPr>
        </p:nvSpPr>
        <p:spPr/>
        <p:txBody>
          <a:bodyPr/>
          <a:lstStyle/>
          <a:p>
            <a:fld id="{668DA5C1-750F-B448-B611-27C66E737675}" type="slidenum">
              <a:rPr lang="fr-FR" smtClean="0"/>
              <a:t>20</a:t>
            </a:fld>
            <a:endParaRPr lang="fr-FR" dirty="0"/>
          </a:p>
        </p:txBody>
      </p:sp>
    </p:spTree>
    <p:extLst>
      <p:ext uri="{BB962C8B-B14F-4D97-AF65-F5344CB8AC3E}">
        <p14:creationId xmlns:p14="http://schemas.microsoft.com/office/powerpoint/2010/main" val="3280704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MA" dirty="0"/>
          </a:p>
        </p:txBody>
      </p:sp>
      <p:sp>
        <p:nvSpPr>
          <p:cNvPr id="4" name="Espace réservé du numéro de diapositive 3"/>
          <p:cNvSpPr>
            <a:spLocks noGrp="1"/>
          </p:cNvSpPr>
          <p:nvPr>
            <p:ph type="sldNum" sz="quarter" idx="5"/>
          </p:nvPr>
        </p:nvSpPr>
        <p:spPr/>
        <p:txBody>
          <a:bodyPr/>
          <a:lstStyle/>
          <a:p>
            <a:fld id="{668DA5C1-750F-B448-B611-27C66E737675}" type="slidenum">
              <a:rPr lang="fr-FR" smtClean="0"/>
              <a:t>21</a:t>
            </a:fld>
            <a:endParaRPr lang="fr-FR" dirty="0"/>
          </a:p>
        </p:txBody>
      </p:sp>
    </p:spTree>
    <p:extLst>
      <p:ext uri="{BB962C8B-B14F-4D97-AF65-F5344CB8AC3E}">
        <p14:creationId xmlns:p14="http://schemas.microsoft.com/office/powerpoint/2010/main" val="2306788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Pour la phase de réalisation, j’ai principalement travaillé dans trois environnements complémentaires :</a:t>
            </a:r>
          </a:p>
          <a:p>
            <a:r>
              <a:rPr lang="fr-MA" b="1" dirty="0" err="1"/>
              <a:t>Databricks</a:t>
            </a:r>
            <a:r>
              <a:rPr lang="fr-MA" dirty="0"/>
              <a:t> : C’est la plateforme principale utilisée pour le traitement des données. Elle permet d’orchestrer les jobs, d’exécuter des notebooks en </a:t>
            </a:r>
            <a:r>
              <a:rPr lang="fr-MA" dirty="0" err="1"/>
              <a:t>PySpark</a:t>
            </a:r>
            <a:r>
              <a:rPr lang="fr-MA" dirty="0"/>
              <a:t>, et d'automatiser les flux de traitement avec les workflows.</a:t>
            </a:r>
          </a:p>
          <a:p>
            <a:r>
              <a:rPr lang="fr-MA" b="1" dirty="0"/>
              <a:t>Amazon S3</a:t>
            </a:r>
            <a:r>
              <a:rPr lang="fr-MA" dirty="0"/>
              <a:t> : Il sert de solution de stockage cloud pour héberger les fichiers sources, les fichiers de logs, ainsi que les données intermédiaires dans les différentes zones de traitement (Bronze, Silver, Gold).</a:t>
            </a:r>
          </a:p>
          <a:p>
            <a:r>
              <a:rPr lang="fr-MA" dirty="0"/>
              <a:t>Et enfin </a:t>
            </a:r>
            <a:r>
              <a:rPr lang="fr-MA" b="1" dirty="0"/>
              <a:t>Power BI</a:t>
            </a:r>
            <a:r>
              <a:rPr lang="fr-MA" dirty="0"/>
              <a:t>, qui m’a permis de créer les tableaux de bord interactifs, consommés par les utilisateurs métiers pour suivre les traitements, détecter les erreurs et analyser la qualité des données.</a:t>
            </a:r>
          </a:p>
          <a:p>
            <a:r>
              <a:rPr lang="fr-MA" dirty="0"/>
              <a:t>Ces trois outils ont été intégrés dans une </a:t>
            </a:r>
            <a:r>
              <a:rPr lang="fr-MA" b="1" dirty="0"/>
              <a:t>chaîne cohérente</a:t>
            </a:r>
            <a:r>
              <a:rPr lang="fr-MA" dirty="0"/>
              <a:t>, de la collecte à la visualisation des données, pour assurer un suivi fluide et automatisé.</a:t>
            </a:r>
          </a:p>
          <a:p>
            <a:endParaRPr lang="en-US" dirty="0"/>
          </a:p>
        </p:txBody>
      </p:sp>
      <p:sp>
        <p:nvSpPr>
          <p:cNvPr id="4" name="Slide Number Placeholder 3"/>
          <p:cNvSpPr>
            <a:spLocks noGrp="1"/>
          </p:cNvSpPr>
          <p:nvPr>
            <p:ph type="sldNum" sz="quarter" idx="5"/>
          </p:nvPr>
        </p:nvSpPr>
        <p:spPr/>
        <p:txBody>
          <a:bodyPr/>
          <a:lstStyle/>
          <a:p>
            <a:fld id="{668DA5C1-750F-B448-B611-27C66E737675}" type="slidenum">
              <a:rPr lang="fr-FR" smtClean="0"/>
              <a:t>22</a:t>
            </a:fld>
            <a:endParaRPr lang="fr-FR" dirty="0"/>
          </a:p>
        </p:txBody>
      </p:sp>
    </p:spTree>
    <p:extLst>
      <p:ext uri="{BB962C8B-B14F-4D97-AF65-F5344CB8AC3E}">
        <p14:creationId xmlns:p14="http://schemas.microsoft.com/office/powerpoint/2010/main" val="3352293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637C2-34BC-8C1E-E969-CD71D5F36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6B305-8AD1-4A6F-BEBD-6F71B31F8C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D65D1-FB7E-D67E-A329-922E381C6CEB}"/>
              </a:ext>
            </a:extLst>
          </p:cNvPr>
          <p:cNvSpPr>
            <a:spLocks noGrp="1"/>
          </p:cNvSpPr>
          <p:nvPr>
            <p:ph type="body" idx="1"/>
          </p:nvPr>
        </p:nvSpPr>
        <p:spPr/>
        <p:txBody>
          <a:bodyPr/>
          <a:lstStyle/>
          <a:p>
            <a:r>
              <a:rPr lang="fr-MA" dirty="0"/>
              <a:t>Pour la mise en œuvre technique du projet, j’ai utilisé trois langages principaux :</a:t>
            </a:r>
          </a:p>
          <a:p>
            <a:r>
              <a:rPr lang="fr-MA" b="1" dirty="0"/>
              <a:t>SQL</a:t>
            </a:r>
            <a:r>
              <a:rPr lang="fr-MA" dirty="0"/>
              <a:t>, qui a été utilisé dans </a:t>
            </a:r>
            <a:r>
              <a:rPr lang="fr-MA" dirty="0" err="1"/>
              <a:t>Databricks</a:t>
            </a:r>
            <a:r>
              <a:rPr lang="fr-MA" dirty="0"/>
              <a:t> pour interroger les tables techniques, créer des jointures et manipuler les données au sein des différents niveaux de la </a:t>
            </a:r>
            <a:r>
              <a:rPr lang="fr-MA" dirty="0" err="1"/>
              <a:t>Medaillon</a:t>
            </a:r>
            <a:r>
              <a:rPr lang="fr-MA" dirty="0"/>
              <a:t> architecture (Bronze, Silver, Gold).</a:t>
            </a:r>
          </a:p>
          <a:p>
            <a:r>
              <a:rPr lang="fr-MA" b="1" dirty="0" err="1"/>
              <a:t>PySpark</a:t>
            </a:r>
            <a:r>
              <a:rPr lang="fr-MA" dirty="0"/>
              <a:t>, le langage principal dans les notebooks </a:t>
            </a:r>
            <a:r>
              <a:rPr lang="fr-MA" dirty="0" err="1"/>
              <a:t>Databricks</a:t>
            </a:r>
            <a:r>
              <a:rPr lang="fr-MA" dirty="0"/>
              <a:t>. Il a permis de développer des scripts de traitement distribués, gérer la logique des jobs, et structurer les workflows d’exécution.</a:t>
            </a:r>
          </a:p>
          <a:p>
            <a:r>
              <a:rPr lang="fr-MA" dirty="0"/>
              <a:t>Enfin, </a:t>
            </a:r>
            <a:r>
              <a:rPr lang="fr-MA" b="1" dirty="0"/>
              <a:t>DAX</a:t>
            </a:r>
            <a:r>
              <a:rPr lang="fr-MA" dirty="0"/>
              <a:t> dans Power BI. Ce langage a été utilisé pour créer des mesures personnalisées, des indicateurs dynamiques, et des colonnes calculées qui enrichissent les tableaux de bord destinés aux utilisateurs métiers.</a:t>
            </a:r>
          </a:p>
        </p:txBody>
      </p:sp>
      <p:sp>
        <p:nvSpPr>
          <p:cNvPr id="4" name="Slide Number Placeholder 3">
            <a:extLst>
              <a:ext uri="{FF2B5EF4-FFF2-40B4-BE49-F238E27FC236}">
                <a16:creationId xmlns:a16="http://schemas.microsoft.com/office/drawing/2014/main" id="{0205606C-C588-F4FD-5096-8203256F0F31}"/>
              </a:ext>
            </a:extLst>
          </p:cNvPr>
          <p:cNvSpPr>
            <a:spLocks noGrp="1"/>
          </p:cNvSpPr>
          <p:nvPr>
            <p:ph type="sldNum" sz="quarter" idx="5"/>
          </p:nvPr>
        </p:nvSpPr>
        <p:spPr/>
        <p:txBody>
          <a:bodyPr/>
          <a:lstStyle/>
          <a:p>
            <a:fld id="{668DA5C1-750F-B448-B611-27C66E737675}" type="slidenum">
              <a:rPr lang="fr-FR" smtClean="0"/>
              <a:t>23</a:t>
            </a:fld>
            <a:endParaRPr lang="fr-FR" dirty="0"/>
          </a:p>
        </p:txBody>
      </p:sp>
    </p:spTree>
    <p:extLst>
      <p:ext uri="{BB962C8B-B14F-4D97-AF65-F5344CB8AC3E}">
        <p14:creationId xmlns:p14="http://schemas.microsoft.com/office/powerpoint/2010/main" val="33943909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A6CA-7E67-72C4-D240-D0AA92CB7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D0408-14B7-B87B-5914-A7A49783C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2A037-A2BB-E62B-4BDB-3FE1690037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069675-5EF2-7B51-5151-5C992F841A96}"/>
              </a:ext>
            </a:extLst>
          </p:cNvPr>
          <p:cNvSpPr>
            <a:spLocks noGrp="1"/>
          </p:cNvSpPr>
          <p:nvPr>
            <p:ph type="sldNum" sz="quarter" idx="5"/>
          </p:nvPr>
        </p:nvSpPr>
        <p:spPr/>
        <p:txBody>
          <a:bodyPr/>
          <a:lstStyle/>
          <a:p>
            <a:fld id="{668DA5C1-750F-B448-B611-27C66E737675}" type="slidenum">
              <a:rPr lang="fr-FR" smtClean="0"/>
              <a:t>24</a:t>
            </a:fld>
            <a:endParaRPr lang="fr-FR" dirty="0"/>
          </a:p>
        </p:txBody>
      </p:sp>
    </p:spTree>
    <p:extLst>
      <p:ext uri="{BB962C8B-B14F-4D97-AF65-F5344CB8AC3E}">
        <p14:creationId xmlns:p14="http://schemas.microsoft.com/office/powerpoint/2010/main" val="18719828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6A39-F7AE-9220-D965-555DCDFFA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428AC-1D1E-2B33-E845-5E70EBAF7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6D1EB-EC17-F0CE-6445-5FB8D05636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EB95E2-4473-824E-0A43-EFD9D117CF7F}"/>
              </a:ext>
            </a:extLst>
          </p:cNvPr>
          <p:cNvSpPr>
            <a:spLocks noGrp="1"/>
          </p:cNvSpPr>
          <p:nvPr>
            <p:ph type="sldNum" sz="quarter" idx="5"/>
          </p:nvPr>
        </p:nvSpPr>
        <p:spPr/>
        <p:txBody>
          <a:bodyPr/>
          <a:lstStyle/>
          <a:p>
            <a:fld id="{668DA5C1-750F-B448-B611-27C66E737675}" type="slidenum">
              <a:rPr lang="fr-FR" smtClean="0"/>
              <a:t>25</a:t>
            </a:fld>
            <a:endParaRPr lang="fr-FR" dirty="0"/>
          </a:p>
        </p:txBody>
      </p:sp>
    </p:spTree>
    <p:extLst>
      <p:ext uri="{BB962C8B-B14F-4D97-AF65-F5344CB8AC3E}">
        <p14:creationId xmlns:p14="http://schemas.microsoft.com/office/powerpoint/2010/main" val="21007680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6F0D4-25AA-E944-DA4E-2CB5EF2D9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FBBFE9-C1D5-A1A0-99A1-319DB913A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E08CC-98E2-48A1-9ACA-606F51A34F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2D072-9717-17C7-1A50-42CED1FB9E69}"/>
              </a:ext>
            </a:extLst>
          </p:cNvPr>
          <p:cNvSpPr>
            <a:spLocks noGrp="1"/>
          </p:cNvSpPr>
          <p:nvPr>
            <p:ph type="sldNum" sz="quarter" idx="5"/>
          </p:nvPr>
        </p:nvSpPr>
        <p:spPr/>
        <p:txBody>
          <a:bodyPr/>
          <a:lstStyle/>
          <a:p>
            <a:fld id="{668DA5C1-750F-B448-B611-27C66E737675}" type="slidenum">
              <a:rPr lang="fr-FR" smtClean="0"/>
              <a:t>26</a:t>
            </a:fld>
            <a:endParaRPr lang="fr-FR" dirty="0"/>
          </a:p>
        </p:txBody>
      </p:sp>
    </p:spTree>
    <p:extLst>
      <p:ext uri="{BB962C8B-B14F-4D97-AF65-F5344CB8AC3E}">
        <p14:creationId xmlns:p14="http://schemas.microsoft.com/office/powerpoint/2010/main" val="4287729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B9A2A-B072-D261-A973-09F0CC878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1949F-13B3-B1FE-52A9-5EED137274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7BA36-4718-2640-9906-12DA71C2E8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66E3D6-305F-839F-72DD-1BAB9B9ECF9C}"/>
              </a:ext>
            </a:extLst>
          </p:cNvPr>
          <p:cNvSpPr>
            <a:spLocks noGrp="1"/>
          </p:cNvSpPr>
          <p:nvPr>
            <p:ph type="sldNum" sz="quarter" idx="5"/>
          </p:nvPr>
        </p:nvSpPr>
        <p:spPr/>
        <p:txBody>
          <a:bodyPr/>
          <a:lstStyle/>
          <a:p>
            <a:fld id="{668DA5C1-750F-B448-B611-27C66E737675}" type="slidenum">
              <a:rPr lang="fr-FR" smtClean="0"/>
              <a:t>27</a:t>
            </a:fld>
            <a:endParaRPr lang="fr-FR" dirty="0"/>
          </a:p>
        </p:txBody>
      </p:sp>
    </p:spTree>
    <p:extLst>
      <p:ext uri="{BB962C8B-B14F-4D97-AF65-F5344CB8AC3E}">
        <p14:creationId xmlns:p14="http://schemas.microsoft.com/office/powerpoint/2010/main" val="209838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A99D9-CB2B-145A-BEFA-09A1A9141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54C98-4B02-B3B5-2FA0-42B772DE1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951DE-93BE-D547-7AE8-E44067723C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62DC75-797E-70B9-9D44-79E4605D0ABD}"/>
              </a:ext>
            </a:extLst>
          </p:cNvPr>
          <p:cNvSpPr>
            <a:spLocks noGrp="1"/>
          </p:cNvSpPr>
          <p:nvPr>
            <p:ph type="sldNum" sz="quarter" idx="5"/>
          </p:nvPr>
        </p:nvSpPr>
        <p:spPr/>
        <p:txBody>
          <a:bodyPr/>
          <a:lstStyle/>
          <a:p>
            <a:fld id="{668DA5C1-750F-B448-B611-27C66E737675}" type="slidenum">
              <a:rPr lang="fr-FR" smtClean="0"/>
              <a:t>28</a:t>
            </a:fld>
            <a:endParaRPr lang="fr-FR" dirty="0"/>
          </a:p>
        </p:txBody>
      </p:sp>
    </p:spTree>
    <p:extLst>
      <p:ext uri="{BB962C8B-B14F-4D97-AF65-F5344CB8AC3E}">
        <p14:creationId xmlns:p14="http://schemas.microsoft.com/office/powerpoint/2010/main" val="7352383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C16CD-AA4A-7B6B-9EF4-E644D0053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AD208-A5CD-A9A0-7663-ECF76FE6B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D58F3-C02C-A750-2A82-77B763B725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17E85E-0E48-F94F-4D38-157A0B49C803}"/>
              </a:ext>
            </a:extLst>
          </p:cNvPr>
          <p:cNvSpPr>
            <a:spLocks noGrp="1"/>
          </p:cNvSpPr>
          <p:nvPr>
            <p:ph type="sldNum" sz="quarter" idx="5"/>
          </p:nvPr>
        </p:nvSpPr>
        <p:spPr/>
        <p:txBody>
          <a:bodyPr/>
          <a:lstStyle/>
          <a:p>
            <a:fld id="{668DA5C1-750F-B448-B611-27C66E737675}" type="slidenum">
              <a:rPr lang="fr-FR" smtClean="0"/>
              <a:t>29</a:t>
            </a:fld>
            <a:endParaRPr lang="fr-FR" dirty="0"/>
          </a:p>
        </p:txBody>
      </p:sp>
    </p:spTree>
    <p:extLst>
      <p:ext uri="{BB962C8B-B14F-4D97-AF65-F5344CB8AC3E}">
        <p14:creationId xmlns:p14="http://schemas.microsoft.com/office/powerpoint/2010/main" val="418714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38E82-C7C4-FC6B-A992-A6400605B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5ED8A-1A68-3F03-B7C1-E892E033D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78C21D-468B-17A2-7A1B-1E80C186B0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4BD7F-FC5E-A3DC-CA75-5743170B9B4F}"/>
              </a:ext>
            </a:extLst>
          </p:cNvPr>
          <p:cNvSpPr>
            <a:spLocks noGrp="1"/>
          </p:cNvSpPr>
          <p:nvPr>
            <p:ph type="sldNum" sz="quarter" idx="5"/>
          </p:nvPr>
        </p:nvSpPr>
        <p:spPr/>
        <p:txBody>
          <a:bodyPr/>
          <a:lstStyle/>
          <a:p>
            <a:fld id="{668DA5C1-750F-B448-B611-27C66E737675}" type="slidenum">
              <a:rPr lang="fr-FR" smtClean="0"/>
              <a:t>30</a:t>
            </a:fld>
            <a:endParaRPr lang="fr-FR" dirty="0"/>
          </a:p>
        </p:txBody>
      </p:sp>
    </p:spTree>
    <p:extLst>
      <p:ext uri="{BB962C8B-B14F-4D97-AF65-F5344CB8AC3E}">
        <p14:creationId xmlns:p14="http://schemas.microsoft.com/office/powerpoint/2010/main" val="3456426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78078-74BD-6E4F-653B-D4C3C2DFA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E73A8-6C31-ECAE-A9C3-2D48F8AF3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59A9C-5660-702B-1CCF-DC75947DD1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26907E-44D7-7325-3E93-B5B30DD806F4}"/>
              </a:ext>
            </a:extLst>
          </p:cNvPr>
          <p:cNvSpPr>
            <a:spLocks noGrp="1"/>
          </p:cNvSpPr>
          <p:nvPr>
            <p:ph type="sldNum" sz="quarter" idx="5"/>
          </p:nvPr>
        </p:nvSpPr>
        <p:spPr/>
        <p:txBody>
          <a:bodyPr/>
          <a:lstStyle/>
          <a:p>
            <a:fld id="{668DA5C1-750F-B448-B611-27C66E737675}" type="slidenum">
              <a:rPr lang="fr-FR" smtClean="0"/>
              <a:t>31</a:t>
            </a:fld>
            <a:endParaRPr lang="fr-FR" dirty="0"/>
          </a:p>
        </p:txBody>
      </p:sp>
    </p:spTree>
    <p:extLst>
      <p:ext uri="{BB962C8B-B14F-4D97-AF65-F5344CB8AC3E}">
        <p14:creationId xmlns:p14="http://schemas.microsoft.com/office/powerpoint/2010/main" val="964595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BA62-34E8-B1C2-6F75-D2EA9A51B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704E2-268B-2CC7-29DB-0CCF85B95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AD206E-F962-6629-CA39-18F949F240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F78FD9-B348-42B3-A7CB-98291D1183C7}"/>
              </a:ext>
            </a:extLst>
          </p:cNvPr>
          <p:cNvSpPr>
            <a:spLocks noGrp="1"/>
          </p:cNvSpPr>
          <p:nvPr>
            <p:ph type="sldNum" sz="quarter" idx="5"/>
          </p:nvPr>
        </p:nvSpPr>
        <p:spPr/>
        <p:txBody>
          <a:bodyPr/>
          <a:lstStyle/>
          <a:p>
            <a:fld id="{668DA5C1-750F-B448-B611-27C66E737675}" type="slidenum">
              <a:rPr lang="fr-FR" smtClean="0"/>
              <a:t>32</a:t>
            </a:fld>
            <a:endParaRPr lang="fr-FR" dirty="0"/>
          </a:p>
        </p:txBody>
      </p:sp>
    </p:spTree>
    <p:extLst>
      <p:ext uri="{BB962C8B-B14F-4D97-AF65-F5344CB8AC3E}">
        <p14:creationId xmlns:p14="http://schemas.microsoft.com/office/powerpoint/2010/main" val="16053544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502FE-6703-BC02-B088-B99285F40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8F3AB-A62F-5AE7-3D67-F0DA68100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DEE4A-B14D-9C55-0B80-8C181477E2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A15FCE-A1B5-FE3C-F631-C31670893FA5}"/>
              </a:ext>
            </a:extLst>
          </p:cNvPr>
          <p:cNvSpPr>
            <a:spLocks noGrp="1"/>
          </p:cNvSpPr>
          <p:nvPr>
            <p:ph type="sldNum" sz="quarter" idx="5"/>
          </p:nvPr>
        </p:nvSpPr>
        <p:spPr/>
        <p:txBody>
          <a:bodyPr/>
          <a:lstStyle/>
          <a:p>
            <a:fld id="{668DA5C1-750F-B448-B611-27C66E737675}" type="slidenum">
              <a:rPr lang="fr-FR" smtClean="0"/>
              <a:t>33</a:t>
            </a:fld>
            <a:endParaRPr lang="fr-FR" dirty="0"/>
          </a:p>
        </p:txBody>
      </p:sp>
    </p:spTree>
    <p:extLst>
      <p:ext uri="{BB962C8B-B14F-4D97-AF65-F5344CB8AC3E}">
        <p14:creationId xmlns:p14="http://schemas.microsoft.com/office/powerpoint/2010/main" val="3931149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18DE9-3F6C-9D06-3EE9-180C5B2D1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90139-4897-0AA4-159D-B32E291C74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07277-10C1-C884-56F7-8525DA9813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68BD15-C087-95BD-D314-01E929F4A886}"/>
              </a:ext>
            </a:extLst>
          </p:cNvPr>
          <p:cNvSpPr>
            <a:spLocks noGrp="1"/>
          </p:cNvSpPr>
          <p:nvPr>
            <p:ph type="sldNum" sz="quarter" idx="5"/>
          </p:nvPr>
        </p:nvSpPr>
        <p:spPr/>
        <p:txBody>
          <a:bodyPr/>
          <a:lstStyle/>
          <a:p>
            <a:fld id="{668DA5C1-750F-B448-B611-27C66E737675}" type="slidenum">
              <a:rPr lang="fr-FR" smtClean="0"/>
              <a:t>34</a:t>
            </a:fld>
            <a:endParaRPr lang="fr-FR" dirty="0"/>
          </a:p>
        </p:txBody>
      </p:sp>
    </p:spTree>
    <p:extLst>
      <p:ext uri="{BB962C8B-B14F-4D97-AF65-F5344CB8AC3E}">
        <p14:creationId xmlns:p14="http://schemas.microsoft.com/office/powerpoint/2010/main" val="34883082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7BE53-9AEE-6751-DF9F-F8ECF43E1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5643B-8B25-A866-B80D-FD000BBA0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E36E3-C15A-0B46-C04D-2C53C8061A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6F653-DF56-8EE4-743E-F3DA0593FAF3}"/>
              </a:ext>
            </a:extLst>
          </p:cNvPr>
          <p:cNvSpPr>
            <a:spLocks noGrp="1"/>
          </p:cNvSpPr>
          <p:nvPr>
            <p:ph type="sldNum" sz="quarter" idx="5"/>
          </p:nvPr>
        </p:nvSpPr>
        <p:spPr/>
        <p:txBody>
          <a:bodyPr/>
          <a:lstStyle/>
          <a:p>
            <a:fld id="{668DA5C1-750F-B448-B611-27C66E737675}" type="slidenum">
              <a:rPr lang="fr-FR" smtClean="0"/>
              <a:t>35</a:t>
            </a:fld>
            <a:endParaRPr lang="fr-FR" dirty="0"/>
          </a:p>
        </p:txBody>
      </p:sp>
    </p:spTree>
    <p:extLst>
      <p:ext uri="{BB962C8B-B14F-4D97-AF65-F5344CB8AC3E}">
        <p14:creationId xmlns:p14="http://schemas.microsoft.com/office/powerpoint/2010/main" val="37490699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5F56-E8B0-6663-604A-E8CB40D41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515B1-63DE-5F67-5308-BFC6782E2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DA2F3-FE5F-C8A8-FBF7-90336F6563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4ADA25-F335-BF7D-55B1-19F6FE183832}"/>
              </a:ext>
            </a:extLst>
          </p:cNvPr>
          <p:cNvSpPr>
            <a:spLocks noGrp="1"/>
          </p:cNvSpPr>
          <p:nvPr>
            <p:ph type="sldNum" sz="quarter" idx="5"/>
          </p:nvPr>
        </p:nvSpPr>
        <p:spPr/>
        <p:txBody>
          <a:bodyPr/>
          <a:lstStyle/>
          <a:p>
            <a:fld id="{668DA5C1-750F-B448-B611-27C66E737675}" type="slidenum">
              <a:rPr lang="fr-FR" smtClean="0"/>
              <a:t>36</a:t>
            </a:fld>
            <a:endParaRPr lang="fr-FR" dirty="0"/>
          </a:p>
        </p:txBody>
      </p:sp>
    </p:spTree>
    <p:extLst>
      <p:ext uri="{BB962C8B-B14F-4D97-AF65-F5344CB8AC3E}">
        <p14:creationId xmlns:p14="http://schemas.microsoft.com/office/powerpoint/2010/main" val="11192651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En guise de conclusion, ce projet m’a permis de concevoir et de déployer un système de monitoring des fichiers fiable et automatisé, répondant aux besoins spécifiques du métier.</a:t>
            </a:r>
          </a:p>
          <a:p>
            <a:r>
              <a:rPr lang="fr-MA" dirty="0"/>
              <a:t>La solution mise en place est désormais </a:t>
            </a:r>
            <a:r>
              <a:rPr lang="fr-MA" b="1" dirty="0"/>
              <a:t>en production</a:t>
            </a:r>
            <a:r>
              <a:rPr lang="fr-MA" dirty="0"/>
              <a:t> et utilisée par les équipes au quotidien pour le suivi des traitements.</a:t>
            </a:r>
          </a:p>
          <a:p>
            <a:r>
              <a:rPr lang="fr-MA" dirty="0"/>
              <a:t>Grâce à l'intégration de Power BI, les indicateurs sont </a:t>
            </a:r>
            <a:r>
              <a:rPr lang="fr-MA" b="1" dirty="0"/>
              <a:t>visibles de façon claire et intuitive</a:t>
            </a:r>
            <a:r>
              <a:rPr lang="fr-MA" dirty="0"/>
              <a:t>, facilitant la prise de décision.</a:t>
            </a:r>
          </a:p>
          <a:p>
            <a:r>
              <a:rPr lang="fr-MA" dirty="0"/>
              <a:t>Enfin, le projet contribue directement à </a:t>
            </a:r>
            <a:r>
              <a:rPr lang="fr-MA" b="1" dirty="0"/>
              <a:t>l’amélioration de la qualité des données</a:t>
            </a:r>
            <a:r>
              <a:rPr lang="fr-MA" dirty="0"/>
              <a:t> et à </a:t>
            </a:r>
            <a:r>
              <a:rPr lang="fr-MA" b="1" dirty="0"/>
              <a:t>une meilleure gouvernance</a:t>
            </a:r>
            <a:r>
              <a:rPr lang="fr-MA" dirty="0"/>
              <a:t>, en assurant la traçabilité et la supervision des flux de données.</a:t>
            </a:r>
          </a:p>
          <a:p>
            <a:endParaRPr lang="en-US" dirty="0"/>
          </a:p>
        </p:txBody>
      </p:sp>
      <p:sp>
        <p:nvSpPr>
          <p:cNvPr id="4" name="Slide Number Placeholder 3"/>
          <p:cNvSpPr>
            <a:spLocks noGrp="1"/>
          </p:cNvSpPr>
          <p:nvPr>
            <p:ph type="sldNum" sz="quarter" idx="5"/>
          </p:nvPr>
        </p:nvSpPr>
        <p:spPr/>
        <p:txBody>
          <a:bodyPr/>
          <a:lstStyle/>
          <a:p>
            <a:fld id="{668DA5C1-750F-B448-B611-27C66E737675}" type="slidenum">
              <a:rPr lang="fr-FR" smtClean="0"/>
              <a:t>38</a:t>
            </a:fld>
            <a:endParaRPr lang="fr-FR" dirty="0"/>
          </a:p>
        </p:txBody>
      </p:sp>
    </p:spTree>
    <p:extLst>
      <p:ext uri="{BB962C8B-B14F-4D97-AF65-F5344CB8AC3E}">
        <p14:creationId xmlns:p14="http://schemas.microsoft.com/office/powerpoint/2010/main" val="22902407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MA" dirty="0"/>
              <a:t>Pour la suite, plusieurs pistes d’amélioration sont envisageables.</a:t>
            </a:r>
          </a:p>
          <a:p>
            <a:r>
              <a:rPr lang="fr-MA" dirty="0"/>
              <a:t>Tout d’abord, </a:t>
            </a:r>
            <a:r>
              <a:rPr lang="fr-MA" b="1" dirty="0"/>
              <a:t>l’ajout d’un système d’alertes en temps réel</a:t>
            </a:r>
            <a:r>
              <a:rPr lang="fr-MA" dirty="0"/>
              <a:t> permettrait de réagir rapidement aux anomalies détectées.</a:t>
            </a:r>
          </a:p>
          <a:p>
            <a:r>
              <a:rPr lang="fr-MA" dirty="0"/>
              <a:t>Ensuite, le projet pourrait être </a:t>
            </a:r>
            <a:r>
              <a:rPr lang="fr-MA" b="1" dirty="0"/>
              <a:t>étendu à d’autres domaines de traitement</a:t>
            </a:r>
            <a:r>
              <a:rPr lang="fr-MA" dirty="0"/>
              <a:t>, afin de couvrir plus largement les besoins métier.</a:t>
            </a:r>
          </a:p>
          <a:p>
            <a:r>
              <a:rPr lang="fr-MA" dirty="0"/>
              <a:t>Une autre évolution serait </a:t>
            </a:r>
            <a:r>
              <a:rPr lang="fr-MA" b="1" dirty="0"/>
              <a:t>l’intégration avec une plateforme de logs centralisée</a:t>
            </a:r>
            <a:r>
              <a:rPr lang="fr-MA" dirty="0"/>
              <a:t>, pour améliorer la supervision et faciliter le diagnostic des erreurs.</a:t>
            </a:r>
          </a:p>
          <a:p>
            <a:r>
              <a:rPr lang="fr-MA" dirty="0"/>
              <a:t>Enfin, </a:t>
            </a:r>
            <a:r>
              <a:rPr lang="fr-MA" b="1" dirty="0"/>
              <a:t>l’industrialisation complète du pipeline</a:t>
            </a:r>
            <a:r>
              <a:rPr lang="fr-MA" dirty="0"/>
              <a:t> permettrait de fiabiliser davantage les traitements et de faciliter leur maintenance à long terme.</a:t>
            </a:r>
          </a:p>
          <a:p>
            <a:endParaRPr lang="en-US" dirty="0"/>
          </a:p>
        </p:txBody>
      </p:sp>
      <p:sp>
        <p:nvSpPr>
          <p:cNvPr id="4" name="Slide Number Placeholder 3"/>
          <p:cNvSpPr>
            <a:spLocks noGrp="1"/>
          </p:cNvSpPr>
          <p:nvPr>
            <p:ph type="sldNum" sz="quarter" idx="5"/>
          </p:nvPr>
        </p:nvSpPr>
        <p:spPr/>
        <p:txBody>
          <a:bodyPr/>
          <a:lstStyle/>
          <a:p>
            <a:fld id="{668DA5C1-750F-B448-B611-27C66E737675}" type="slidenum">
              <a:rPr lang="fr-FR" smtClean="0"/>
              <a:t>39</a:t>
            </a:fld>
            <a:endParaRPr lang="fr-FR" dirty="0"/>
          </a:p>
        </p:txBody>
      </p:sp>
    </p:spTree>
    <p:extLst>
      <p:ext uri="{BB962C8B-B14F-4D97-AF65-F5344CB8AC3E}">
        <p14:creationId xmlns:p14="http://schemas.microsoft.com/office/powerpoint/2010/main" val="5332408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dirty="0"/>
              <a:t>Notre présentation est arrive a ca fin, </a:t>
            </a:r>
            <a:r>
              <a:rPr lang="fr-FR" sz="1200" b="1" dirty="0">
                <a:ln w="0"/>
                <a:solidFill>
                  <a:srgbClr val="FF0000"/>
                </a:solidFill>
                <a:effectLst>
                  <a:outerShdw blurRad="38100" dist="25400" dir="5400000" algn="ctr" rotWithShape="0">
                    <a:srgbClr val="6E747A">
                      <a:alpha val="43000"/>
                    </a:srgbClr>
                  </a:outerShdw>
                </a:effectLst>
              </a:rPr>
              <a:t>Merci pour votre attention!</a:t>
            </a:r>
            <a:endParaRPr lang="fr-FR" sz="1200" b="1" cap="none" spc="0" dirty="0">
              <a:ln w="0"/>
              <a:solidFill>
                <a:srgbClr val="FF0000"/>
              </a:solidFill>
              <a:effectLst>
                <a:outerShdw blurRad="38100" dist="25400" dir="5400000" algn="ctr" rotWithShape="0">
                  <a:srgbClr val="6E747A">
                    <a:alpha val="43000"/>
                  </a:srgbClr>
                </a:outerShdw>
              </a:effectLst>
            </a:endParaRPr>
          </a:p>
        </p:txBody>
      </p:sp>
      <p:sp>
        <p:nvSpPr>
          <p:cNvPr id="4" name="Espace réservé du numéro de diapositive 3"/>
          <p:cNvSpPr>
            <a:spLocks noGrp="1"/>
          </p:cNvSpPr>
          <p:nvPr>
            <p:ph type="sldNum" sz="quarter" idx="5"/>
          </p:nvPr>
        </p:nvSpPr>
        <p:spPr/>
        <p:txBody>
          <a:bodyPr/>
          <a:lstStyle/>
          <a:p>
            <a:fld id="{668DA5C1-750F-B448-B611-27C66E737675}" type="slidenum">
              <a:rPr lang="fr-FR" smtClean="0"/>
              <a:t>40</a:t>
            </a:fld>
            <a:endParaRPr lang="fr-FR" dirty="0"/>
          </a:p>
        </p:txBody>
      </p:sp>
    </p:spTree>
    <p:extLst>
      <p:ext uri="{BB962C8B-B14F-4D97-AF65-F5344CB8AC3E}">
        <p14:creationId xmlns:p14="http://schemas.microsoft.com/office/powerpoint/2010/main" val="5856269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DD66F-E3FF-0B09-D347-14E7DDAE06D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69339CE-6B42-3B8C-FD0B-26865B32858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5A8F422-2005-C765-32D1-BBD295005F3B}"/>
              </a:ext>
            </a:extLst>
          </p:cNvPr>
          <p:cNvSpPr>
            <a:spLocks noGrp="1"/>
          </p:cNvSpPr>
          <p:nvPr>
            <p:ph type="body" idx="1"/>
          </p:nvPr>
        </p:nvSpPr>
        <p:spPr/>
        <p:txBody>
          <a:bodyPr/>
          <a:lstStyle/>
          <a:p>
            <a:r>
              <a:rPr lang="fr-MA" dirty="0"/>
              <a:t>Bonjour à tous. Nous sommes très heureux et honorés de vous présenter notre projet de fin d'études intitulé 'Migration de l'application GESPER vers le Cloud Azure'. Avant de commencer, nous tenons à remercier sincèrement les membres du jury pour leur présence et leur temps précieux. Un grand merci également à nos familles, amis et collègues qui nous soutiennent depuis le début de cette aventure."</a:t>
            </a:r>
          </a:p>
          <a:p>
            <a:r>
              <a:rPr lang="fr-MA" dirty="0"/>
              <a:t>"Nous remercions chaleureusement notre encadrant interne, M. El Ghazi Hamid, pour son soutien et ses conseils avisés. Nous sommes également reconnaissants envers notre encadrante externe, Mme Laghouati Fatima-Zohra, pour son accueil et son accompagnement tout au long de ce projet. Merci à toute l'équipe de CGI pour leur collaboration et leur appui constant.</a:t>
            </a:r>
          </a:p>
        </p:txBody>
      </p:sp>
      <p:sp>
        <p:nvSpPr>
          <p:cNvPr id="4" name="Espace réservé du numéro de diapositive 3">
            <a:extLst>
              <a:ext uri="{FF2B5EF4-FFF2-40B4-BE49-F238E27FC236}">
                <a16:creationId xmlns:a16="http://schemas.microsoft.com/office/drawing/2014/main" id="{22D4B273-1A96-EF81-CB27-E45EA1102329}"/>
              </a:ext>
            </a:extLst>
          </p:cNvPr>
          <p:cNvSpPr>
            <a:spLocks noGrp="1"/>
          </p:cNvSpPr>
          <p:nvPr>
            <p:ph type="sldNum" sz="quarter" idx="10"/>
          </p:nvPr>
        </p:nvSpPr>
        <p:spPr/>
        <p:txBody>
          <a:bodyPr/>
          <a:lstStyle/>
          <a:p>
            <a:fld id="{668DA5C1-750F-B448-B611-27C66E737675}" type="slidenum">
              <a:rPr lang="fr-FR" smtClean="0"/>
              <a:t>41</a:t>
            </a:fld>
            <a:endParaRPr lang="fr-FR" dirty="0"/>
          </a:p>
        </p:txBody>
      </p:sp>
    </p:spTree>
    <p:extLst>
      <p:ext uri="{BB962C8B-B14F-4D97-AF65-F5344CB8AC3E}">
        <p14:creationId xmlns:p14="http://schemas.microsoft.com/office/powerpoint/2010/main" val="3765482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Cliquez et modifiez le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Cliquez pour modifier le style des sous-titres du masque</a:t>
            </a:r>
            <a:endParaRPr lang="en-US" dirty="0"/>
          </a:p>
        </p:txBody>
      </p:sp>
      <p:sp>
        <p:nvSpPr>
          <p:cNvPr id="4" name="Date Placeholder 3"/>
          <p:cNvSpPr>
            <a:spLocks noGrp="1"/>
          </p:cNvSpPr>
          <p:nvPr>
            <p:ph type="dt" sz="half" idx="10"/>
          </p:nvPr>
        </p:nvSpPr>
        <p:spPr/>
        <p:txBody>
          <a:bodyPr/>
          <a:lstStyle/>
          <a:p>
            <a:fld id="{399D81E1-ABB1-41A8-ACDE-477CE077BA6D}" type="datetime1">
              <a:rPr lang="en-GB" smtClean="0"/>
              <a:t>01/07/2025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435889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Cliquez et modifiez le titre</a:t>
            </a:r>
            <a:endParaRPr lang="en-US" dirty="0"/>
          </a:p>
        </p:txBody>
      </p:sp>
      <p:sp>
        <p:nvSpPr>
          <p:cNvPr id="3" name="Content Placeholder 2"/>
          <p:cNvSpPr>
            <a:spLocks noGrp="1"/>
          </p:cNvSpPr>
          <p:nvPr>
            <p:ph idx="1"/>
          </p:nvPr>
        </p:nvSpPr>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4" name="Date Placeholder 3"/>
          <p:cNvSpPr>
            <a:spLocks noGrp="1"/>
          </p:cNvSpPr>
          <p:nvPr>
            <p:ph type="dt" sz="half" idx="10"/>
          </p:nvPr>
        </p:nvSpPr>
        <p:spPr/>
        <p:txBody>
          <a:bodyPr/>
          <a:lstStyle/>
          <a:p>
            <a:fld id="{594D076B-F111-4B61-91C8-090A01E36445}" type="datetime1">
              <a:rPr lang="en-GB" smtClean="0"/>
              <a:t>01/07/2025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1344593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Cliquez et modifiez le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Cliquez pour modifier les styles du texte du masque</a:t>
            </a:r>
          </a:p>
        </p:txBody>
      </p:sp>
      <p:sp>
        <p:nvSpPr>
          <p:cNvPr id="4" name="Date Placeholder 3"/>
          <p:cNvSpPr>
            <a:spLocks noGrp="1"/>
          </p:cNvSpPr>
          <p:nvPr>
            <p:ph type="dt" sz="half" idx="10"/>
          </p:nvPr>
        </p:nvSpPr>
        <p:spPr/>
        <p:txBody>
          <a:bodyPr/>
          <a:lstStyle/>
          <a:p>
            <a:fld id="{5DD3EAEC-1A7F-49E9-9C48-7C7319400007}" type="datetime1">
              <a:rPr lang="en-GB" smtClean="0"/>
              <a:t>01/07/2025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378469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Cliquez et modifiez le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5" name="Date Placeholder 4"/>
          <p:cNvSpPr>
            <a:spLocks noGrp="1"/>
          </p:cNvSpPr>
          <p:nvPr>
            <p:ph type="dt" sz="half" idx="10"/>
          </p:nvPr>
        </p:nvSpPr>
        <p:spPr/>
        <p:txBody>
          <a:bodyPr/>
          <a:lstStyle/>
          <a:p>
            <a:fld id="{4F2D5D6A-A180-4B8F-A02F-02A43A919D94}" type="datetime1">
              <a:rPr lang="en-GB" smtClean="0"/>
              <a:t>01/07/2025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272020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Cliquez et modifiez le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7" name="Date Placeholder 6"/>
          <p:cNvSpPr>
            <a:spLocks noGrp="1"/>
          </p:cNvSpPr>
          <p:nvPr>
            <p:ph type="dt" sz="half" idx="10"/>
          </p:nvPr>
        </p:nvSpPr>
        <p:spPr/>
        <p:txBody>
          <a:bodyPr/>
          <a:lstStyle/>
          <a:p>
            <a:fld id="{F000E3B9-AC4B-49AB-9173-85B4E9149585}" type="datetime1">
              <a:rPr lang="en-GB" smtClean="0"/>
              <a:t>01/07/2025</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488663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Cliquez et modifiez le titre</a:t>
            </a:r>
            <a:endParaRPr lang="en-US" dirty="0"/>
          </a:p>
        </p:txBody>
      </p:sp>
      <p:sp>
        <p:nvSpPr>
          <p:cNvPr id="3" name="Date Placeholder 2"/>
          <p:cNvSpPr>
            <a:spLocks noGrp="1"/>
          </p:cNvSpPr>
          <p:nvPr>
            <p:ph type="dt" sz="half" idx="10"/>
          </p:nvPr>
        </p:nvSpPr>
        <p:spPr/>
        <p:txBody>
          <a:bodyPr/>
          <a:lstStyle/>
          <a:p>
            <a:fld id="{F12C6CD8-8140-4A8F-8011-EAA3BD0683E0}" type="datetime1">
              <a:rPr lang="en-GB" smtClean="0"/>
              <a:t>01/07/2025</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2033505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495E47-0EF7-4802-89F5-184DC125E9AB}" type="datetime1">
              <a:rPr lang="en-GB" smtClean="0"/>
              <a:t>01/07/2025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29777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Cliquez et modifiez le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Cliquez pour modifier les styles du texte du masque</a:t>
            </a:r>
          </a:p>
        </p:txBody>
      </p:sp>
      <p:sp>
        <p:nvSpPr>
          <p:cNvPr id="5" name="Date Placeholder 4"/>
          <p:cNvSpPr>
            <a:spLocks noGrp="1"/>
          </p:cNvSpPr>
          <p:nvPr>
            <p:ph type="dt" sz="half" idx="10"/>
          </p:nvPr>
        </p:nvSpPr>
        <p:spPr/>
        <p:txBody>
          <a:bodyPr/>
          <a:lstStyle/>
          <a:p>
            <a:fld id="{E27B898D-98B7-401F-B5C4-BF771DF924A7}" type="datetime1">
              <a:rPr lang="en-GB" smtClean="0"/>
              <a:t>01/07/2025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345367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Cliquez et modifiez le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Faire </a:t>
            </a:r>
            <a:r>
              <a:rPr lang="en-US" dirty="0" err="1"/>
              <a:t>glisser</a:t>
            </a:r>
            <a:r>
              <a:rPr lang="en-US" dirty="0"/>
              <a:t> </a:t>
            </a:r>
            <a:r>
              <a:rPr lang="en-US" dirty="0" err="1"/>
              <a:t>l'image</a:t>
            </a:r>
            <a:r>
              <a:rPr lang="en-US" dirty="0"/>
              <a:t> vers </a:t>
            </a:r>
            <a:r>
              <a:rPr lang="en-US" dirty="0" err="1"/>
              <a:t>l'espace</a:t>
            </a:r>
            <a:r>
              <a:rPr lang="en-US" dirty="0"/>
              <a:t> </a:t>
            </a:r>
            <a:r>
              <a:rPr lang="en-US" dirty="0" err="1"/>
              <a:t>réservé</a:t>
            </a:r>
            <a:r>
              <a:rPr lang="en-US" dirty="0"/>
              <a:t> </a:t>
            </a:r>
            <a:r>
              <a:rPr lang="en-US" dirty="0" err="1"/>
              <a:t>ou</a:t>
            </a:r>
            <a:r>
              <a:rPr lang="en-US" dirty="0"/>
              <a:t> </a:t>
            </a:r>
            <a:r>
              <a:rPr lang="en-US" dirty="0" err="1"/>
              <a:t>cliquer</a:t>
            </a:r>
            <a:r>
              <a:rPr lang="en-US" dirty="0"/>
              <a:t> sur </a:t>
            </a:r>
            <a:r>
              <a:rPr lang="en-US" dirty="0" err="1"/>
              <a:t>l'icône</a:t>
            </a:r>
            <a:r>
              <a:rPr lang="en-US" dirty="0"/>
              <a:t> pour </a:t>
            </a:r>
            <a:r>
              <a:rPr lang="en-US" dirty="0" err="1"/>
              <a:t>l'ajouter</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Cliquez pour modifier les styles du texte du masque</a:t>
            </a:r>
          </a:p>
        </p:txBody>
      </p:sp>
      <p:sp>
        <p:nvSpPr>
          <p:cNvPr id="5" name="Date Placeholder 4"/>
          <p:cNvSpPr>
            <a:spLocks noGrp="1"/>
          </p:cNvSpPr>
          <p:nvPr>
            <p:ph type="dt" sz="half" idx="10"/>
          </p:nvPr>
        </p:nvSpPr>
        <p:spPr/>
        <p:txBody>
          <a:bodyPr/>
          <a:lstStyle/>
          <a:p>
            <a:fld id="{6CF27FDE-898C-4534-A049-2EE36FD735E3}" type="datetime1">
              <a:rPr lang="en-GB" smtClean="0"/>
              <a:t>01/07/2025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257675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Cliquez et modifiez le titre</a:t>
            </a:r>
            <a:endParaRPr lang="en-US" dirty="0"/>
          </a:p>
        </p:txBody>
      </p:sp>
      <p:sp>
        <p:nvSpPr>
          <p:cNvPr id="3" name="Vertical Text Placeholder 2"/>
          <p:cNvSpPr>
            <a:spLocks noGrp="1"/>
          </p:cNvSpPr>
          <p:nvPr>
            <p:ph type="body" orient="vert" idx="1"/>
          </p:nvPr>
        </p:nvSpPr>
        <p:spPr/>
        <p:txBody>
          <a:bodyPr vert="eaVert"/>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4" name="Date Placeholder 3"/>
          <p:cNvSpPr>
            <a:spLocks noGrp="1"/>
          </p:cNvSpPr>
          <p:nvPr>
            <p:ph type="dt" sz="half" idx="10"/>
          </p:nvPr>
        </p:nvSpPr>
        <p:spPr/>
        <p:txBody>
          <a:bodyPr/>
          <a:lstStyle/>
          <a:p>
            <a:fld id="{464A531D-2B0F-4228-BB29-930516BBE010}" type="datetime1">
              <a:rPr lang="en-GB" smtClean="0"/>
              <a:t>01/07/2025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991810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Cliquez et modifiez le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4" name="Date Placeholder 3"/>
          <p:cNvSpPr>
            <a:spLocks noGrp="1"/>
          </p:cNvSpPr>
          <p:nvPr>
            <p:ph type="dt" sz="half" idx="10"/>
          </p:nvPr>
        </p:nvSpPr>
        <p:spPr/>
        <p:txBody>
          <a:bodyPr/>
          <a:lstStyle/>
          <a:p>
            <a:fld id="{CD5D77BD-0CC5-4C11-9F94-E10CB15AA76A}" type="datetime1">
              <a:rPr lang="en-GB" smtClean="0"/>
              <a:t>01/07/2025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983841B-0DB4-4C99-B5E5-79625F01DBF7}" type="slidenum">
              <a:rPr lang="en-GB" smtClean="0"/>
              <a:t>‹N°›</a:t>
            </a:fld>
            <a:endParaRPr lang="en-GB" dirty="0"/>
          </a:p>
        </p:txBody>
      </p:sp>
    </p:spTree>
    <p:extLst>
      <p:ext uri="{BB962C8B-B14F-4D97-AF65-F5344CB8AC3E}">
        <p14:creationId xmlns:p14="http://schemas.microsoft.com/office/powerpoint/2010/main" val="1392740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Cliquez et modifiez le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C04D7D-EA29-4A82-94AE-AE858457FB00}" type="datetime1">
              <a:rPr lang="en-GB" smtClean="0"/>
              <a:t>01/07/2025</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83841B-0DB4-4C99-B5E5-79625F01DBF7}" type="slidenum">
              <a:rPr lang="en-GB" smtClean="0"/>
              <a:t>‹N°›</a:t>
            </a:fld>
            <a:endParaRPr lang="en-GB" dirty="0"/>
          </a:p>
        </p:txBody>
      </p:sp>
    </p:spTree>
    <p:extLst>
      <p:ext uri="{BB962C8B-B14F-4D97-AF65-F5344CB8AC3E}">
        <p14:creationId xmlns:p14="http://schemas.microsoft.com/office/powerpoint/2010/main" val="35898485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7.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image" Target="../media/image6.png"/><Relationship Id="rId5" Type="http://schemas.openxmlformats.org/officeDocument/2006/relationships/diagramQuickStyle" Target="../diagrams/quickStyle2.xml"/><Relationship Id="rId10" Type="http://schemas.openxmlformats.org/officeDocument/2006/relationships/image" Target="../media/image5.png"/><Relationship Id="rId4" Type="http://schemas.openxmlformats.org/officeDocument/2006/relationships/diagramLayout" Target="../diagrams/layout2.xml"/><Relationship Id="rId9" Type="http://schemas.openxmlformats.org/officeDocument/2006/relationships/image" Target="../media/image4.png"/><Relationship Id="rId14" Type="http://schemas.openxmlformats.org/officeDocument/2006/relationships/chart" Target="../charts/chart1.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microsoft.com/office/2007/relationships/diagramDrawing" Target="../diagrams/drawing3.xml"/><Relationship Id="rId3" Type="http://schemas.openxmlformats.org/officeDocument/2006/relationships/customXml" Target="../ink/ink2.xml"/><Relationship Id="rId12"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7.xml"/><Relationship Id="rId11" Type="http://schemas.openxmlformats.org/officeDocument/2006/relationships/diagramQuickStyle" Target="../diagrams/quickStyle3.xml"/><Relationship Id="rId10" Type="http://schemas.openxmlformats.org/officeDocument/2006/relationships/diagramLayout" Target="../diagrams/layout3.xml"/><Relationship Id="rId9" Type="http://schemas.openxmlformats.org/officeDocument/2006/relationships/diagramData" Target="../diagrams/data3.xml"/><Relationship Id="rId14" Type="http://schemas.openxmlformats.org/officeDocument/2006/relationships/image" Target="../media/image7.emf"/></Relationships>
</file>

<file path=ppt/slides/_rels/slide6.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10" Type="http://schemas.openxmlformats.org/officeDocument/2006/relationships/image" Target="../media/image11.png"/><Relationship Id="rId4" Type="http://schemas.openxmlformats.org/officeDocument/2006/relationships/diagramLayout" Target="../diagrams/layout5.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7.png"/><Relationship Id="rId26" Type="http://schemas.openxmlformats.org/officeDocument/2006/relationships/customXml" Target="../ink/ink12.xml"/><Relationship Id="rId3" Type="http://schemas.openxmlformats.org/officeDocument/2006/relationships/customXml" Target="../ink/ink3.xml"/><Relationship Id="rId21" Type="http://schemas.openxmlformats.org/officeDocument/2006/relationships/customXml" Target="../ink/ink9.xml"/><Relationship Id="rId12" Type="http://schemas.openxmlformats.org/officeDocument/2006/relationships/image" Target="../media/image140.png"/><Relationship Id="rId17" Type="http://schemas.openxmlformats.org/officeDocument/2006/relationships/customXml" Target="../ink/ink7.xml"/><Relationship Id="rId25" Type="http://schemas.openxmlformats.org/officeDocument/2006/relationships/image" Target="../media/image19.png"/><Relationship Id="rId2" Type="http://schemas.openxmlformats.org/officeDocument/2006/relationships/notesSlide" Target="../notesSlides/notesSlide7.xml"/><Relationship Id="rId16" Type="http://schemas.openxmlformats.org/officeDocument/2006/relationships/image" Target="../media/image16.png"/><Relationship Id="rId20" Type="http://schemas.openxmlformats.org/officeDocument/2006/relationships/image" Target="../media/image7.png"/><Relationship Id="rId29" Type="http://schemas.openxmlformats.org/officeDocument/2006/relationships/diagramQuickStyle" Target="../diagrams/quickStyle6.xml"/><Relationship Id="rId1" Type="http://schemas.openxmlformats.org/officeDocument/2006/relationships/slideLayout" Target="../slideLayouts/slideLayout7.xml"/><Relationship Id="rId11" Type="http://schemas.openxmlformats.org/officeDocument/2006/relationships/customXml" Target="../ink/ink4.xml"/><Relationship Id="rId24" Type="http://schemas.openxmlformats.org/officeDocument/2006/relationships/customXml" Target="../ink/ink11.xml"/><Relationship Id="rId32" Type="http://schemas.openxmlformats.org/officeDocument/2006/relationships/image" Target="../media/image12.emf"/><Relationship Id="rId15" Type="http://schemas.openxmlformats.org/officeDocument/2006/relationships/customXml" Target="../ink/ink6.xml"/><Relationship Id="rId23" Type="http://schemas.openxmlformats.org/officeDocument/2006/relationships/image" Target="../media/image18.png"/><Relationship Id="rId28" Type="http://schemas.openxmlformats.org/officeDocument/2006/relationships/diagramLayout" Target="../diagrams/layout6.xml"/><Relationship Id="rId10" Type="http://schemas.openxmlformats.org/officeDocument/2006/relationships/image" Target="../media/image130.png"/><Relationship Id="rId19" Type="http://schemas.openxmlformats.org/officeDocument/2006/relationships/customXml" Target="../ink/ink8.xml"/><Relationship Id="rId31" Type="http://schemas.microsoft.com/office/2007/relationships/diagramDrawing" Target="../diagrams/drawing6.xml"/><Relationship Id="rId14" Type="http://schemas.openxmlformats.org/officeDocument/2006/relationships/image" Target="../media/image15.png"/><Relationship Id="rId22" Type="http://schemas.openxmlformats.org/officeDocument/2006/relationships/customXml" Target="../ink/ink10.xml"/><Relationship Id="rId27" Type="http://schemas.openxmlformats.org/officeDocument/2006/relationships/diagramData" Target="../diagrams/data6.xml"/><Relationship Id="rId30" Type="http://schemas.openxmlformats.org/officeDocument/2006/relationships/diagramColors" Target="../diagrams/colors6.xml"/></Relationships>
</file>

<file path=ppt/slides/_rels/slide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3.jp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0.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10" Type="http://schemas.openxmlformats.org/officeDocument/2006/relationships/image" Target="../media/image22.png"/><Relationship Id="rId4" Type="http://schemas.openxmlformats.org/officeDocument/2006/relationships/diagramLayout" Target="../diagrams/layout9.xml"/><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6.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8.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 Id="rId9" Type="http://schemas.openxmlformats.org/officeDocument/2006/relationships/image" Target="../media/image27.emf"/></Relationships>
</file>

<file path=ppt/slides/_rels/slide19.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0.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diagramData" Target="../diagrams/data17.xml"/><Relationship Id="rId7" Type="http://schemas.microsoft.com/office/2007/relationships/diagramDrawing" Target="../diagrams/drawing17.xml"/><Relationship Id="rId12"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diagramColors" Target="../diagrams/colors17.xml"/><Relationship Id="rId11" Type="http://schemas.openxmlformats.org/officeDocument/2006/relationships/image" Target="../media/image33.png"/><Relationship Id="rId5" Type="http://schemas.openxmlformats.org/officeDocument/2006/relationships/diagramQuickStyle" Target="../diagrams/quickStyle17.xml"/><Relationship Id="rId10" Type="http://schemas.openxmlformats.org/officeDocument/2006/relationships/image" Target="../media/image32.emf"/><Relationship Id="rId4" Type="http://schemas.openxmlformats.org/officeDocument/2006/relationships/diagramLayout" Target="../diagrams/layout17.xml"/><Relationship Id="rId9" Type="http://schemas.openxmlformats.org/officeDocument/2006/relationships/image" Target="../media/image31.png"/></Relationships>
</file>

<file path=ppt/slides/_rels/slide23.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diagramColors" Target="../diagrams/colors18.xml"/><Relationship Id="rId5" Type="http://schemas.openxmlformats.org/officeDocument/2006/relationships/diagramQuickStyle" Target="../diagrams/quickStyle18.xml"/><Relationship Id="rId10" Type="http://schemas.openxmlformats.org/officeDocument/2006/relationships/image" Target="../media/image34.png"/><Relationship Id="rId4" Type="http://schemas.openxmlformats.org/officeDocument/2006/relationships/diagramLayout" Target="../diagrams/layout18.xml"/><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7.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39.png"/><Relationship Id="rId7" Type="http://schemas.openxmlformats.org/officeDocument/2006/relationships/diagramColors" Target="../diagrams/colors22.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28.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image" Target="../media/image40.png"/><Relationship Id="rId7" Type="http://schemas.openxmlformats.org/officeDocument/2006/relationships/diagramColors" Target="../diagrams/colors23.xm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29.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41.png"/><Relationship Id="rId7" Type="http://schemas.openxmlformats.org/officeDocument/2006/relationships/diagramColors" Target="../diagrams/colors24.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3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1.xml.rels><?xml version="1.0" encoding="UTF-8" standalone="yes"?>
<Relationships xmlns="http://schemas.openxmlformats.org/package/2006/relationships"><Relationship Id="rId8" Type="http://schemas.microsoft.com/office/2007/relationships/diagramDrawing" Target="../diagrams/drawing26.xml"/><Relationship Id="rId3" Type="http://schemas.openxmlformats.org/officeDocument/2006/relationships/image" Target="../media/image43.png"/><Relationship Id="rId7" Type="http://schemas.openxmlformats.org/officeDocument/2006/relationships/diagramColors" Target="../diagrams/colors26.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diagramQuickStyle" Target="../diagrams/quickStyle26.xml"/><Relationship Id="rId5" Type="http://schemas.openxmlformats.org/officeDocument/2006/relationships/diagramLayout" Target="../diagrams/layout26.xml"/><Relationship Id="rId4" Type="http://schemas.openxmlformats.org/officeDocument/2006/relationships/diagramData" Target="../diagrams/data26.xml"/></Relationships>
</file>

<file path=ppt/slides/_rels/slide32.xml.rels><?xml version="1.0" encoding="UTF-8" standalone="yes"?>
<Relationships xmlns="http://schemas.openxmlformats.org/package/2006/relationships"><Relationship Id="rId8" Type="http://schemas.microsoft.com/office/2007/relationships/diagramDrawing" Target="../diagrams/drawing27.xml"/><Relationship Id="rId3" Type="http://schemas.openxmlformats.org/officeDocument/2006/relationships/image" Target="../media/image44.png"/><Relationship Id="rId7" Type="http://schemas.openxmlformats.org/officeDocument/2006/relationships/diagramColors" Target="../diagrams/colors27.xm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diagramQuickStyle" Target="../diagrams/quickStyle27.xml"/><Relationship Id="rId5" Type="http://schemas.openxmlformats.org/officeDocument/2006/relationships/diagramLayout" Target="../diagrams/layout27.xml"/><Relationship Id="rId4" Type="http://schemas.openxmlformats.org/officeDocument/2006/relationships/diagramData" Target="../diagrams/data27.xml"/></Relationships>
</file>

<file path=ppt/slides/_rels/slide33.xml.rels><?xml version="1.0" encoding="UTF-8" standalone="yes"?>
<Relationships xmlns="http://schemas.openxmlformats.org/package/2006/relationships"><Relationship Id="rId8" Type="http://schemas.microsoft.com/office/2007/relationships/diagramDrawing" Target="../diagrams/drawing28.xml"/><Relationship Id="rId3" Type="http://schemas.openxmlformats.org/officeDocument/2006/relationships/image" Target="../media/image45.png"/><Relationship Id="rId7" Type="http://schemas.openxmlformats.org/officeDocument/2006/relationships/diagramColors" Target="../diagrams/colors28.xm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diagramQuickStyle" Target="../diagrams/quickStyle28.xml"/><Relationship Id="rId5" Type="http://schemas.openxmlformats.org/officeDocument/2006/relationships/diagramLayout" Target="../diagrams/layout28.xml"/><Relationship Id="rId4" Type="http://schemas.openxmlformats.org/officeDocument/2006/relationships/diagramData" Target="../diagrams/data28.xml"/></Relationships>
</file>

<file path=ppt/slides/_rels/slide34.xml.rels><?xml version="1.0" encoding="UTF-8" standalone="yes"?>
<Relationships xmlns="http://schemas.openxmlformats.org/package/2006/relationships"><Relationship Id="rId8" Type="http://schemas.microsoft.com/office/2007/relationships/diagramDrawing" Target="../diagrams/drawing29.xml"/><Relationship Id="rId3" Type="http://schemas.openxmlformats.org/officeDocument/2006/relationships/image" Target="../media/image46.png"/><Relationship Id="rId7" Type="http://schemas.openxmlformats.org/officeDocument/2006/relationships/diagramColors" Target="../diagrams/colors29.xm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diagramQuickStyle" Target="../diagrams/quickStyle29.xml"/><Relationship Id="rId5" Type="http://schemas.openxmlformats.org/officeDocument/2006/relationships/diagramLayout" Target="../diagrams/layout29.xml"/><Relationship Id="rId4" Type="http://schemas.openxmlformats.org/officeDocument/2006/relationships/diagramData" Target="../diagrams/data29.xml"/></Relationships>
</file>

<file path=ppt/slides/_rels/slide3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3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63151" y="3670588"/>
            <a:ext cx="3621454" cy="2123658"/>
          </a:xfrm>
          <a:prstGeom prst="rect">
            <a:avLst/>
          </a:prstGeom>
        </p:spPr>
        <p:txBody>
          <a:bodyPr wrap="square">
            <a:spAutoFit/>
          </a:bodyPr>
          <a:lstStyle/>
          <a:p>
            <a:r>
              <a:rPr lang="en-US" sz="1600" dirty="0">
                <a:solidFill>
                  <a:schemeClr val="tx1">
                    <a:lumMod val="50000"/>
                    <a:lumOff val="50000"/>
                  </a:schemeClr>
                </a:solidFill>
                <a:latin typeface="Century Gothic" charset="0"/>
                <a:ea typeface="Century Gothic" charset="0"/>
                <a:cs typeface="Century Gothic" charset="0"/>
              </a:rPr>
              <a:t>Membres du jury :</a:t>
            </a:r>
          </a:p>
          <a:p>
            <a:endParaRPr lang="en-US" dirty="0"/>
          </a:p>
          <a:p>
            <a:r>
              <a:rPr lang="fr-MA" sz="1400" b="1" dirty="0">
                <a:latin typeface="Century Gothic" charset="0"/>
              </a:rPr>
              <a:t>Mme. KHOUIA Asmaa</a:t>
            </a:r>
          </a:p>
          <a:p>
            <a:endParaRPr lang="fr-MA" sz="1400" b="1" dirty="0">
              <a:latin typeface="Century Gothic" charset="0"/>
            </a:endParaRPr>
          </a:p>
          <a:p>
            <a:r>
              <a:rPr lang="en-US" sz="1400" b="1" dirty="0">
                <a:latin typeface="Century Gothic" charset="0"/>
              </a:rPr>
              <a:t>M. EZZAHAR Jamal</a:t>
            </a:r>
          </a:p>
          <a:p>
            <a:endParaRPr lang="en-US" sz="1400" b="1" dirty="0">
              <a:latin typeface="Century Gothic" charset="0"/>
              <a:ea typeface="Century Gothic" charset="0"/>
              <a:cs typeface="Century Gothic" charset="0"/>
            </a:endParaRPr>
          </a:p>
          <a:p>
            <a:r>
              <a:rPr lang="en-US" sz="1400" b="1" dirty="0">
                <a:latin typeface="Century Gothic" charset="0"/>
                <a:ea typeface="Century Gothic" charset="0"/>
                <a:cs typeface="Century Gothic" charset="0"/>
              </a:rPr>
              <a:t>M. HARZALLA Driss</a:t>
            </a:r>
          </a:p>
          <a:p>
            <a:endParaRPr lang="en-US" sz="1400" b="1" dirty="0">
              <a:latin typeface="Century Gothic" charset="0"/>
              <a:ea typeface="Century Gothic" charset="0"/>
              <a:cs typeface="Century Gothic" charset="0"/>
            </a:endParaRPr>
          </a:p>
          <a:p>
            <a:r>
              <a:rPr lang="en-US" sz="1400" b="1" dirty="0">
                <a:latin typeface="Century Gothic" charset="0"/>
                <a:ea typeface="Century Gothic" charset="0"/>
                <a:cs typeface="Century Gothic" charset="0"/>
              </a:rPr>
              <a:t>M. MADIAFI Mohammed</a:t>
            </a:r>
          </a:p>
        </p:txBody>
      </p:sp>
      <p:sp>
        <p:nvSpPr>
          <p:cNvPr id="5" name="Rectangle 4"/>
          <p:cNvSpPr/>
          <p:nvPr/>
        </p:nvSpPr>
        <p:spPr>
          <a:xfrm>
            <a:off x="9241680" y="4060335"/>
            <a:ext cx="6096000" cy="2062103"/>
          </a:xfrm>
          <a:prstGeom prst="rect">
            <a:avLst/>
          </a:prstGeom>
        </p:spPr>
        <p:txBody>
          <a:bodyPr>
            <a:spAutoFit/>
          </a:bodyPr>
          <a:lstStyle/>
          <a:p>
            <a:r>
              <a:rPr lang="fr-MA" sz="1600" dirty="0">
                <a:solidFill>
                  <a:schemeClr val="tx1">
                    <a:lumMod val="65000"/>
                    <a:lumOff val="35000"/>
                  </a:schemeClr>
                </a:solidFill>
                <a:latin typeface="Century" charset="0"/>
              </a:rPr>
              <a:t>Professeur à ENSA de Safi</a:t>
            </a:r>
          </a:p>
          <a:p>
            <a:endParaRPr lang="fr-MA" sz="1600" dirty="0">
              <a:solidFill>
                <a:schemeClr val="tx1">
                  <a:lumMod val="65000"/>
                  <a:lumOff val="35000"/>
                </a:schemeClr>
              </a:solidFill>
              <a:latin typeface="Century" charset="0"/>
            </a:endParaRPr>
          </a:p>
          <a:p>
            <a:r>
              <a:rPr lang="fr-MA" sz="1600" dirty="0">
                <a:solidFill>
                  <a:schemeClr val="tx1">
                    <a:lumMod val="65000"/>
                    <a:lumOff val="35000"/>
                  </a:schemeClr>
                </a:solidFill>
                <a:latin typeface="Century" charset="0"/>
              </a:rPr>
              <a:t>Professeur à ENSA de Safi</a:t>
            </a:r>
            <a:endParaRPr lang="en-US" sz="1600" dirty="0">
              <a:solidFill>
                <a:schemeClr val="tx1">
                  <a:lumMod val="65000"/>
                  <a:lumOff val="35000"/>
                </a:schemeClr>
              </a:solidFill>
              <a:latin typeface="Century" charset="0"/>
            </a:endParaRPr>
          </a:p>
          <a:p>
            <a:endParaRPr lang="en-US" sz="1600" dirty="0">
              <a:solidFill>
                <a:schemeClr val="tx1">
                  <a:lumMod val="65000"/>
                  <a:lumOff val="35000"/>
                </a:schemeClr>
              </a:solidFill>
              <a:latin typeface="Century" charset="0"/>
            </a:endParaRPr>
          </a:p>
          <a:p>
            <a:r>
              <a:rPr lang="fr-MA" sz="1600" dirty="0">
                <a:solidFill>
                  <a:schemeClr val="tx1">
                    <a:lumMod val="65000"/>
                    <a:lumOff val="35000"/>
                  </a:schemeClr>
                </a:solidFill>
                <a:latin typeface="Century" charset="0"/>
              </a:rPr>
              <a:t>Professeur à ENSA de Safi</a:t>
            </a:r>
            <a:endParaRPr lang="en-US" sz="1600" dirty="0">
              <a:solidFill>
                <a:schemeClr val="tx1">
                  <a:lumMod val="65000"/>
                  <a:lumOff val="35000"/>
                </a:schemeClr>
              </a:solidFill>
              <a:latin typeface="Century" charset="0"/>
            </a:endParaRPr>
          </a:p>
          <a:p>
            <a:endParaRPr lang="en-US" sz="1600" dirty="0">
              <a:solidFill>
                <a:schemeClr val="tx1">
                  <a:lumMod val="65000"/>
                  <a:lumOff val="35000"/>
                </a:schemeClr>
              </a:solidFill>
              <a:latin typeface="Century" charset="0"/>
            </a:endParaRPr>
          </a:p>
          <a:p>
            <a:r>
              <a:rPr lang="fr-MA" sz="1600" dirty="0">
                <a:solidFill>
                  <a:schemeClr val="tx1">
                    <a:lumMod val="65000"/>
                    <a:lumOff val="35000"/>
                  </a:schemeClr>
                </a:solidFill>
                <a:latin typeface="Century" charset="0"/>
              </a:rPr>
              <a:t>Professeur à ENSA de Safi</a:t>
            </a:r>
            <a:endParaRPr lang="en-US" sz="1600" dirty="0">
              <a:solidFill>
                <a:schemeClr val="tx1">
                  <a:lumMod val="65000"/>
                  <a:lumOff val="35000"/>
                </a:schemeClr>
              </a:solidFill>
              <a:latin typeface="Century" charset="0"/>
            </a:endParaRPr>
          </a:p>
          <a:p>
            <a:endParaRPr lang="en-US" sz="1600" dirty="0">
              <a:solidFill>
                <a:schemeClr val="tx1">
                  <a:lumMod val="65000"/>
                  <a:lumOff val="35000"/>
                </a:schemeClr>
              </a:solidFill>
              <a:latin typeface="Century" charset="0"/>
            </a:endParaRPr>
          </a:p>
        </p:txBody>
      </p:sp>
      <p:sp>
        <p:nvSpPr>
          <p:cNvPr id="2" name="Rectangle 1"/>
          <p:cNvSpPr/>
          <p:nvPr/>
        </p:nvSpPr>
        <p:spPr>
          <a:xfrm>
            <a:off x="0" y="1688751"/>
            <a:ext cx="12192000" cy="1785562"/>
          </a:xfrm>
          <a:prstGeom prst="rect">
            <a:avLst/>
          </a:prstGeom>
          <a:solidFill>
            <a:srgbClr val="E31937"/>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solidFill>
                <a:srgbClr val="F19D19"/>
              </a:solidFill>
              <a:highlight>
                <a:srgbClr val="000080"/>
              </a:highlight>
            </a:endParaRPr>
          </a:p>
        </p:txBody>
      </p:sp>
      <p:sp>
        <p:nvSpPr>
          <p:cNvPr id="6" name="Rectangle 5"/>
          <p:cNvSpPr/>
          <p:nvPr/>
        </p:nvSpPr>
        <p:spPr>
          <a:xfrm>
            <a:off x="479216" y="3670588"/>
            <a:ext cx="2420221" cy="830997"/>
          </a:xfrm>
          <a:prstGeom prst="rect">
            <a:avLst/>
          </a:prstGeom>
        </p:spPr>
        <p:txBody>
          <a:bodyPr wrap="square">
            <a:spAutoFit/>
          </a:bodyPr>
          <a:lstStyle/>
          <a:p>
            <a:r>
              <a:rPr lang="en-US" sz="1600" dirty="0">
                <a:solidFill>
                  <a:schemeClr val="tx1">
                    <a:lumMod val="50000"/>
                    <a:lumOff val="50000"/>
                  </a:schemeClr>
                </a:solidFill>
                <a:latin typeface="Century Gothic" charset="0"/>
                <a:ea typeface="Century Gothic" charset="0"/>
                <a:cs typeface="Century Gothic" charset="0"/>
              </a:rPr>
              <a:t>Présenté par :</a:t>
            </a:r>
            <a:endParaRPr lang="fr-FR" sz="1600" dirty="0">
              <a:solidFill>
                <a:schemeClr val="tx1">
                  <a:lumMod val="50000"/>
                  <a:lumOff val="50000"/>
                </a:schemeClr>
              </a:solidFill>
              <a:latin typeface="Century Gothic" charset="0"/>
              <a:ea typeface="Century Gothic" charset="0"/>
              <a:cs typeface="Century Gothic" charset="0"/>
            </a:endParaRPr>
          </a:p>
          <a:p>
            <a:endParaRPr lang="fr-FR" b="1" dirty="0">
              <a:latin typeface="Century Gothic" charset="0"/>
              <a:ea typeface="Century Gothic" charset="0"/>
              <a:cs typeface="Century Gothic" charset="0"/>
            </a:endParaRPr>
          </a:p>
          <a:p>
            <a:r>
              <a:rPr lang="fr-FR" sz="1400" b="1" dirty="0">
                <a:latin typeface="Century Gothic" charset="0"/>
                <a:ea typeface="Century Gothic" charset="0"/>
                <a:cs typeface="Century Gothic" charset="0"/>
              </a:rPr>
              <a:t>M. SOROURI Yasser</a:t>
            </a:r>
          </a:p>
        </p:txBody>
      </p:sp>
      <p:sp>
        <p:nvSpPr>
          <p:cNvPr id="7" name="Rectangle 6"/>
          <p:cNvSpPr/>
          <p:nvPr/>
        </p:nvSpPr>
        <p:spPr>
          <a:xfrm>
            <a:off x="-787093" y="2073700"/>
            <a:ext cx="13766185" cy="1015663"/>
          </a:xfrm>
          <a:prstGeom prst="rect">
            <a:avLst/>
          </a:prstGeom>
        </p:spPr>
        <p:txBody>
          <a:bodyPr wrap="square">
            <a:spAutoFit/>
          </a:bodyPr>
          <a:lstStyle/>
          <a:p>
            <a:pPr algn="ctr"/>
            <a:r>
              <a:rPr lang="fr-MA" sz="2900" b="1" dirty="0">
                <a:solidFill>
                  <a:schemeClr val="bg1"/>
                </a:solidFill>
                <a:latin typeface="Century Gothic" panose="020B0502020202020204" pitchFamily="34" charset="0"/>
                <a:cs typeface="Times New Roman" panose="02020603050405020304" pitchFamily="18" charset="0"/>
              </a:rPr>
              <a:t>Conception et Développement d’un Système de Suivi et de Gestion</a:t>
            </a:r>
          </a:p>
          <a:p>
            <a:pPr algn="ctr"/>
            <a:r>
              <a:rPr lang="fr-MA" sz="2900" b="1" dirty="0">
                <a:solidFill>
                  <a:schemeClr val="bg1"/>
                </a:solidFill>
                <a:latin typeface="Century Gothic" panose="020B0502020202020204" pitchFamily="34" charset="0"/>
                <a:cs typeface="Times New Roman" panose="02020603050405020304" pitchFamily="18" charset="0"/>
              </a:rPr>
              <a:t>des Rejets des Fichiers sur S3 via </a:t>
            </a:r>
            <a:r>
              <a:rPr lang="fr-MA" sz="2900" b="1" dirty="0" err="1">
                <a:solidFill>
                  <a:schemeClr val="bg1"/>
                </a:solidFill>
                <a:latin typeface="Century Gothic" panose="020B0502020202020204" pitchFamily="34" charset="0"/>
                <a:cs typeface="Times New Roman" panose="02020603050405020304" pitchFamily="18" charset="0"/>
              </a:rPr>
              <a:t>Databricks</a:t>
            </a:r>
            <a:r>
              <a:rPr lang="fr-MA" sz="2900" b="1" dirty="0">
                <a:solidFill>
                  <a:schemeClr val="bg1"/>
                </a:solidFill>
                <a:latin typeface="Century Gothic" panose="020B0502020202020204" pitchFamily="34" charset="0"/>
                <a:cs typeface="Times New Roman" panose="02020603050405020304" pitchFamily="18" charset="0"/>
              </a:rPr>
              <a:t> et Power BI</a:t>
            </a:r>
            <a:endParaRPr lang="en-US" sz="2900" b="1" dirty="0">
              <a:solidFill>
                <a:schemeClr val="bg1"/>
              </a:solidFill>
              <a:latin typeface="Century Gothic" panose="020B0502020202020204" pitchFamily="34" charset="0"/>
              <a:cs typeface="Times New Roman" panose="02020603050405020304" pitchFamily="18" charset="0"/>
            </a:endParaRPr>
          </a:p>
        </p:txBody>
      </p:sp>
      <p:sp>
        <p:nvSpPr>
          <p:cNvPr id="8" name="Rectangle 7"/>
          <p:cNvSpPr/>
          <p:nvPr/>
        </p:nvSpPr>
        <p:spPr>
          <a:xfrm>
            <a:off x="2626815" y="176079"/>
            <a:ext cx="6662521" cy="1323439"/>
          </a:xfrm>
          <a:prstGeom prst="rect">
            <a:avLst/>
          </a:prstGeom>
        </p:spPr>
        <p:txBody>
          <a:bodyPr wrap="square">
            <a:spAutoFit/>
          </a:bodyPr>
          <a:lstStyle/>
          <a:p>
            <a:pPr algn="ctr"/>
            <a:r>
              <a:rPr lang="fr-MA" sz="2000" dirty="0">
                <a:latin typeface="Century Gothic" panose="020B0502020202020204" pitchFamily="34" charset="0"/>
              </a:rPr>
              <a:t>Soutenance du Projet de Fin d’Etudes</a:t>
            </a:r>
          </a:p>
          <a:p>
            <a:pPr algn="ctr"/>
            <a:br>
              <a:rPr lang="en-US" sz="2000" dirty="0">
                <a:latin typeface="Century Gothic" panose="020B0502020202020204" pitchFamily="34" charset="0"/>
              </a:rPr>
            </a:br>
            <a:endParaRPr lang="en-US" sz="2000" dirty="0">
              <a:latin typeface="Century Gothic" panose="020B0502020202020204" pitchFamily="34" charset="0"/>
            </a:endParaRPr>
          </a:p>
          <a:p>
            <a:pPr algn="ctr"/>
            <a:r>
              <a:rPr lang="en-US" sz="2000" b="1" dirty="0">
                <a:latin typeface="Century Gothic" panose="020B0502020202020204" pitchFamily="34" charset="0"/>
              </a:rPr>
              <a:t>Filière: </a:t>
            </a:r>
            <a:r>
              <a:rPr lang="fr-MA" sz="2000" dirty="0"/>
              <a:t>Ingénierie de Données et Intelligence Artificielle</a:t>
            </a:r>
            <a:endParaRPr lang="fr-FR" sz="2000" dirty="0">
              <a:latin typeface="Century Gothic" panose="020B0502020202020204" pitchFamily="34" charset="0"/>
              <a:ea typeface="Lato Light" panose="020F0502020204030203"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FAB2427F-5AF9-A07B-1AFC-581DBA6689D1}"/>
              </a:ext>
            </a:extLst>
          </p:cNvPr>
          <p:cNvSpPr/>
          <p:nvPr/>
        </p:nvSpPr>
        <p:spPr>
          <a:xfrm>
            <a:off x="4928241" y="6308553"/>
            <a:ext cx="3621454" cy="307777"/>
          </a:xfrm>
          <a:prstGeom prst="rect">
            <a:avLst/>
          </a:prstGeom>
        </p:spPr>
        <p:txBody>
          <a:bodyPr wrap="square">
            <a:spAutoFit/>
          </a:bodyPr>
          <a:lstStyle/>
          <a:p>
            <a:r>
              <a:rPr lang="en-US" sz="1400" dirty="0">
                <a:solidFill>
                  <a:schemeClr val="tx1">
                    <a:lumMod val="50000"/>
                    <a:lumOff val="50000"/>
                  </a:schemeClr>
                </a:solidFill>
                <a:latin typeface="Century Gothic" charset="0"/>
              </a:rPr>
              <a:t>Soutenu le 2 Juillet 2025</a:t>
            </a:r>
            <a:endParaRPr lang="fr-FR" sz="1400" dirty="0">
              <a:solidFill>
                <a:schemeClr val="tx1">
                  <a:lumMod val="50000"/>
                  <a:lumOff val="50000"/>
                </a:schemeClr>
              </a:solidFill>
              <a:latin typeface="Century Gothic" charset="0"/>
            </a:endParaRPr>
          </a:p>
        </p:txBody>
      </p:sp>
      <p:sp>
        <p:nvSpPr>
          <p:cNvPr id="9" name="Rectangle 8">
            <a:extLst>
              <a:ext uri="{FF2B5EF4-FFF2-40B4-BE49-F238E27FC236}">
                <a16:creationId xmlns:a16="http://schemas.microsoft.com/office/drawing/2014/main" id="{42041E7B-5959-AB9F-110C-3376917A2CF1}"/>
              </a:ext>
            </a:extLst>
          </p:cNvPr>
          <p:cNvSpPr/>
          <p:nvPr/>
        </p:nvSpPr>
        <p:spPr>
          <a:xfrm>
            <a:off x="3642305" y="549447"/>
            <a:ext cx="4907390" cy="307777"/>
          </a:xfrm>
          <a:prstGeom prst="rect">
            <a:avLst/>
          </a:prstGeom>
        </p:spPr>
        <p:txBody>
          <a:bodyPr wrap="square">
            <a:spAutoFit/>
          </a:bodyPr>
          <a:lstStyle/>
          <a:p>
            <a:r>
              <a:rPr lang="fr-MA" sz="1400" dirty="0">
                <a:solidFill>
                  <a:schemeClr val="tx1">
                    <a:lumMod val="50000"/>
                    <a:lumOff val="50000"/>
                  </a:schemeClr>
                </a:solidFill>
                <a:latin typeface="Century Gothic" charset="0"/>
              </a:rPr>
              <a:t>En vue de l’obtention du Diplôme d’Ingénieur D’Etat</a:t>
            </a:r>
            <a:endParaRPr lang="fr-FR" sz="1400" dirty="0">
              <a:solidFill>
                <a:schemeClr val="tx1">
                  <a:lumMod val="50000"/>
                  <a:lumOff val="50000"/>
                </a:schemeClr>
              </a:solidFill>
              <a:latin typeface="Century Gothic" charset="0"/>
            </a:endParaRPr>
          </a:p>
        </p:txBody>
      </p:sp>
      <p:pic>
        <p:nvPicPr>
          <p:cNvPr id="12" name="Image 11" descr="Une image contenant Graphique, Police, logo, symbole&#10;&#10;Description générée automatiquement">
            <a:extLst>
              <a:ext uri="{FF2B5EF4-FFF2-40B4-BE49-F238E27FC236}">
                <a16:creationId xmlns:a16="http://schemas.microsoft.com/office/drawing/2014/main" id="{3F4C1F68-921A-F153-464D-3F6F3121B7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223" y="5237325"/>
            <a:ext cx="2019836" cy="1253047"/>
          </a:xfrm>
          <a:prstGeom prst="rect">
            <a:avLst/>
          </a:prstGeom>
        </p:spPr>
      </p:pic>
      <p:pic>
        <p:nvPicPr>
          <p:cNvPr id="15" name="Image 14">
            <a:extLst>
              <a:ext uri="{FF2B5EF4-FFF2-40B4-BE49-F238E27FC236}">
                <a16:creationId xmlns:a16="http://schemas.microsoft.com/office/drawing/2014/main" id="{D743C3F0-C295-067B-1359-4355F044B717}"/>
              </a:ext>
            </a:extLst>
          </p:cNvPr>
          <p:cNvPicPr>
            <a:picLocks noChangeAspect="1"/>
          </p:cNvPicPr>
          <p:nvPr/>
        </p:nvPicPr>
        <p:blipFill>
          <a:blip r:embed="rId4"/>
          <a:stretch>
            <a:fillRect/>
          </a:stretch>
        </p:blipFill>
        <p:spPr>
          <a:xfrm>
            <a:off x="10566178" y="58862"/>
            <a:ext cx="1203767" cy="1475772"/>
          </a:xfrm>
          <a:prstGeom prst="rect">
            <a:avLst/>
          </a:prstGeom>
        </p:spPr>
      </p:pic>
      <p:pic>
        <p:nvPicPr>
          <p:cNvPr id="23" name="Image 22">
            <a:extLst>
              <a:ext uri="{FF2B5EF4-FFF2-40B4-BE49-F238E27FC236}">
                <a16:creationId xmlns:a16="http://schemas.microsoft.com/office/drawing/2014/main" id="{6409FF32-7A1D-818A-2DF9-677218AFAA89}"/>
              </a:ext>
            </a:extLst>
          </p:cNvPr>
          <p:cNvPicPr>
            <a:picLocks noChangeAspect="1"/>
          </p:cNvPicPr>
          <p:nvPr/>
        </p:nvPicPr>
        <p:blipFill>
          <a:blip r:embed="rId5"/>
          <a:stretch>
            <a:fillRect/>
          </a:stretch>
        </p:blipFill>
        <p:spPr>
          <a:xfrm>
            <a:off x="169020" y="57303"/>
            <a:ext cx="1977027" cy="1398713"/>
          </a:xfrm>
          <a:prstGeom prst="rect">
            <a:avLst/>
          </a:prstGeom>
        </p:spPr>
      </p:pic>
      <p:sp>
        <p:nvSpPr>
          <p:cNvPr id="25" name="ZoneTexte 24">
            <a:extLst>
              <a:ext uri="{FF2B5EF4-FFF2-40B4-BE49-F238E27FC236}">
                <a16:creationId xmlns:a16="http://schemas.microsoft.com/office/drawing/2014/main" id="{EE88A2C8-73E7-8160-53B5-210F1F9CE31E}"/>
              </a:ext>
            </a:extLst>
          </p:cNvPr>
          <p:cNvSpPr txBox="1"/>
          <p:nvPr/>
        </p:nvSpPr>
        <p:spPr>
          <a:xfrm>
            <a:off x="3081403" y="3685582"/>
            <a:ext cx="2420221" cy="1477328"/>
          </a:xfrm>
          <a:prstGeom prst="rect">
            <a:avLst/>
          </a:prstGeom>
          <a:noFill/>
        </p:spPr>
        <p:txBody>
          <a:bodyPr wrap="square">
            <a:spAutoFit/>
          </a:bodyPr>
          <a:lstStyle/>
          <a:p>
            <a:r>
              <a:rPr lang="en-US" sz="1600" dirty="0" err="1">
                <a:solidFill>
                  <a:schemeClr val="tx1">
                    <a:lumMod val="50000"/>
                    <a:lumOff val="50000"/>
                  </a:schemeClr>
                </a:solidFill>
                <a:latin typeface="Century Gothic" charset="0"/>
              </a:rPr>
              <a:t>Encadré</a:t>
            </a:r>
            <a:r>
              <a:rPr lang="en-US" sz="1600" dirty="0">
                <a:solidFill>
                  <a:schemeClr val="tx1">
                    <a:lumMod val="50000"/>
                    <a:lumOff val="50000"/>
                  </a:schemeClr>
                </a:solidFill>
                <a:latin typeface="Century Gothic" charset="0"/>
              </a:rPr>
              <a:t> par :</a:t>
            </a:r>
          </a:p>
          <a:p>
            <a:endParaRPr lang="en-US" sz="1600" dirty="0">
              <a:solidFill>
                <a:schemeClr val="tx1">
                  <a:lumMod val="50000"/>
                  <a:lumOff val="50000"/>
                </a:schemeClr>
              </a:solidFill>
              <a:latin typeface="Century Gothic" charset="0"/>
            </a:endParaRPr>
          </a:p>
          <a:p>
            <a:pPr>
              <a:lnSpc>
                <a:spcPct val="150000"/>
              </a:lnSpc>
            </a:pPr>
            <a:r>
              <a:rPr lang="fr-MA" sz="1400" b="1" dirty="0">
                <a:latin typeface="Century Gothic" charset="0"/>
              </a:rPr>
              <a:t>Mme. KHOUIA Asmaa</a:t>
            </a:r>
          </a:p>
          <a:p>
            <a:pPr>
              <a:lnSpc>
                <a:spcPct val="150000"/>
              </a:lnSpc>
            </a:pPr>
            <a:r>
              <a:rPr lang="fr-MA" sz="1400" b="1" dirty="0">
                <a:latin typeface="Century Gothic" charset="0"/>
              </a:rPr>
              <a:t>M. ATKI Youness</a:t>
            </a:r>
            <a:endParaRPr lang="en-US" sz="1400" b="1" dirty="0">
              <a:latin typeface="Century Gothic" charset="0"/>
            </a:endParaRPr>
          </a:p>
          <a:p>
            <a:endParaRPr lang="fr-FR" sz="1600" dirty="0">
              <a:solidFill>
                <a:schemeClr val="tx1">
                  <a:lumMod val="50000"/>
                  <a:lumOff val="50000"/>
                </a:schemeClr>
              </a:solidFill>
              <a:latin typeface="Century Gothic" charset="0"/>
            </a:endParaRPr>
          </a:p>
        </p:txBody>
      </p:sp>
      <p:sp>
        <p:nvSpPr>
          <p:cNvPr id="27" name="ZoneTexte 26">
            <a:extLst>
              <a:ext uri="{FF2B5EF4-FFF2-40B4-BE49-F238E27FC236}">
                <a16:creationId xmlns:a16="http://schemas.microsoft.com/office/drawing/2014/main" id="{B0C3E4ED-15C5-4C6C-C308-A71871A1694C}"/>
              </a:ext>
            </a:extLst>
          </p:cNvPr>
          <p:cNvSpPr txBox="1"/>
          <p:nvPr/>
        </p:nvSpPr>
        <p:spPr>
          <a:xfrm>
            <a:off x="484401" y="4895814"/>
            <a:ext cx="8065294" cy="369332"/>
          </a:xfrm>
          <a:prstGeom prst="rect">
            <a:avLst/>
          </a:prstGeom>
          <a:noFill/>
        </p:spPr>
        <p:txBody>
          <a:bodyPr wrap="square">
            <a:spAutoFit/>
          </a:bodyPr>
          <a:lstStyle/>
          <a:p>
            <a:r>
              <a:rPr lang="fr-MA" sz="1600" dirty="0">
                <a:solidFill>
                  <a:schemeClr val="tx1">
                    <a:lumMod val="50000"/>
                    <a:lumOff val="50000"/>
                  </a:schemeClr>
                </a:solidFill>
                <a:latin typeface="Century Gothic" charset="0"/>
              </a:rPr>
              <a:t>Effectué à</a:t>
            </a:r>
            <a:r>
              <a:rPr lang="fr-MA" sz="1800" b="0" i="0" u="none" strike="noStrike" baseline="0" dirty="0">
                <a:latin typeface="SFBX1200"/>
              </a:rPr>
              <a:t> </a:t>
            </a:r>
            <a:r>
              <a:rPr lang="fr-MA" sz="1800" b="0" i="0" u="none" strike="noStrike" baseline="0" dirty="0">
                <a:latin typeface="SFRM1200"/>
              </a:rPr>
              <a:t>: </a:t>
            </a:r>
            <a:r>
              <a:rPr lang="fr-MA" sz="1400" b="1" dirty="0">
                <a:latin typeface="Century Gothic" charset="0"/>
              </a:rPr>
              <a:t>CGI</a:t>
            </a:r>
          </a:p>
        </p:txBody>
      </p:sp>
    </p:spTree>
    <p:extLst>
      <p:ext uri="{BB962C8B-B14F-4D97-AF65-F5344CB8AC3E}">
        <p14:creationId xmlns:p14="http://schemas.microsoft.com/office/powerpoint/2010/main" val="596516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EB7993-FCA7-DA12-22BA-62E461B41EBA}"/>
              </a:ext>
            </a:extLst>
          </p:cNvPr>
          <p:cNvSpPr>
            <a:spLocks noGrp="1"/>
          </p:cNvSpPr>
          <p:nvPr>
            <p:ph type="sldNum" sz="quarter" idx="12"/>
          </p:nvPr>
        </p:nvSpPr>
        <p:spPr>
          <a:xfrm>
            <a:off x="8008667" y="5746750"/>
            <a:ext cx="2743200" cy="365125"/>
          </a:xfrm>
        </p:spPr>
        <p:txBody>
          <a:bodyPr/>
          <a:lstStyle/>
          <a:p>
            <a:fld id="{6983841B-0DB4-4C99-B5E5-79625F01DBF7}" type="slidenum">
              <a:rPr lang="en-GB" smtClean="0"/>
              <a:t>2</a:t>
            </a:fld>
            <a:endParaRPr lang="en-GB" dirty="0"/>
          </a:p>
        </p:txBody>
      </p:sp>
      <p:graphicFrame>
        <p:nvGraphicFramePr>
          <p:cNvPr id="6" name="Diagramme 16">
            <a:extLst>
              <a:ext uri="{FF2B5EF4-FFF2-40B4-BE49-F238E27FC236}">
                <a16:creationId xmlns:a16="http://schemas.microsoft.com/office/drawing/2014/main" id="{5580E917-B630-EBED-FDA2-ACCB55FF63C5}"/>
              </a:ext>
            </a:extLst>
          </p:cNvPr>
          <p:cNvGraphicFramePr/>
          <p:nvPr>
            <p:extLst>
              <p:ext uri="{D42A27DB-BD31-4B8C-83A1-F6EECF244321}">
                <p14:modId xmlns:p14="http://schemas.microsoft.com/office/powerpoint/2010/main" val="197718723"/>
              </p:ext>
            </p:extLst>
          </p:nvPr>
        </p:nvGraphicFramePr>
        <p:xfrm>
          <a:off x="2152652" y="927102"/>
          <a:ext cx="8636000" cy="5753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ZoneTexte 17">
            <a:extLst>
              <a:ext uri="{FF2B5EF4-FFF2-40B4-BE49-F238E27FC236}">
                <a16:creationId xmlns:a16="http://schemas.microsoft.com/office/drawing/2014/main" id="{F6544D50-F571-62E4-462E-FF5FFE498AE4}"/>
              </a:ext>
            </a:extLst>
          </p:cNvPr>
          <p:cNvSpPr txBox="1"/>
          <p:nvPr/>
        </p:nvSpPr>
        <p:spPr>
          <a:xfrm>
            <a:off x="2485326" y="1308596"/>
            <a:ext cx="59055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4000" dirty="0">
                <a:solidFill>
                  <a:schemeClr val="tx1">
                    <a:lumMod val="65000"/>
                    <a:lumOff val="35000"/>
                  </a:schemeClr>
                </a:solidFill>
              </a:rPr>
              <a:t>1</a:t>
            </a:r>
          </a:p>
        </p:txBody>
      </p:sp>
      <p:sp>
        <p:nvSpPr>
          <p:cNvPr id="12" name="ZoneTexte 29">
            <a:extLst>
              <a:ext uri="{FF2B5EF4-FFF2-40B4-BE49-F238E27FC236}">
                <a16:creationId xmlns:a16="http://schemas.microsoft.com/office/drawing/2014/main" id="{569AB67C-6AFB-D8C3-DFE7-4514D0684EBD}"/>
              </a:ext>
            </a:extLst>
          </p:cNvPr>
          <p:cNvSpPr txBox="1"/>
          <p:nvPr/>
        </p:nvSpPr>
        <p:spPr>
          <a:xfrm>
            <a:off x="2984090" y="2376722"/>
            <a:ext cx="59055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4000" dirty="0">
                <a:solidFill>
                  <a:schemeClr val="tx1">
                    <a:lumMod val="65000"/>
                    <a:lumOff val="35000"/>
                  </a:schemeClr>
                </a:solidFill>
              </a:rPr>
              <a:t>2</a:t>
            </a:r>
          </a:p>
        </p:txBody>
      </p:sp>
      <p:sp>
        <p:nvSpPr>
          <p:cNvPr id="13" name="ZoneTexte 30">
            <a:extLst>
              <a:ext uri="{FF2B5EF4-FFF2-40B4-BE49-F238E27FC236}">
                <a16:creationId xmlns:a16="http://schemas.microsoft.com/office/drawing/2014/main" id="{F7182563-C365-26A2-6EA6-C25D64FF35DD}"/>
              </a:ext>
            </a:extLst>
          </p:cNvPr>
          <p:cNvSpPr txBox="1"/>
          <p:nvPr/>
        </p:nvSpPr>
        <p:spPr>
          <a:xfrm>
            <a:off x="3158261" y="3449709"/>
            <a:ext cx="59055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4000" dirty="0">
                <a:solidFill>
                  <a:schemeClr val="tx1">
                    <a:lumMod val="65000"/>
                    <a:lumOff val="35000"/>
                  </a:schemeClr>
                </a:solidFill>
              </a:rPr>
              <a:t>3</a:t>
            </a:r>
          </a:p>
        </p:txBody>
      </p:sp>
      <p:sp>
        <p:nvSpPr>
          <p:cNvPr id="14" name="ZoneTexte 31">
            <a:extLst>
              <a:ext uri="{FF2B5EF4-FFF2-40B4-BE49-F238E27FC236}">
                <a16:creationId xmlns:a16="http://schemas.microsoft.com/office/drawing/2014/main" id="{972B68A5-E51D-C457-451B-67F678FE9727}"/>
              </a:ext>
            </a:extLst>
          </p:cNvPr>
          <p:cNvSpPr txBox="1"/>
          <p:nvPr/>
        </p:nvSpPr>
        <p:spPr>
          <a:xfrm>
            <a:off x="2984090" y="4534228"/>
            <a:ext cx="59055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4000" dirty="0">
                <a:solidFill>
                  <a:srgbClr val="595959"/>
                </a:solidFill>
              </a:rPr>
              <a:t>4</a:t>
            </a:r>
          </a:p>
        </p:txBody>
      </p:sp>
      <p:sp>
        <p:nvSpPr>
          <p:cNvPr id="15" name="ZoneTexte 33">
            <a:extLst>
              <a:ext uri="{FF2B5EF4-FFF2-40B4-BE49-F238E27FC236}">
                <a16:creationId xmlns:a16="http://schemas.microsoft.com/office/drawing/2014/main" id="{FFCF779A-D0B8-43C8-F2CA-932A500D6745}"/>
              </a:ext>
            </a:extLst>
          </p:cNvPr>
          <p:cNvSpPr txBox="1"/>
          <p:nvPr/>
        </p:nvSpPr>
        <p:spPr>
          <a:xfrm>
            <a:off x="2485326" y="5607215"/>
            <a:ext cx="59055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4000" dirty="0">
                <a:solidFill>
                  <a:srgbClr val="595959"/>
                </a:solidFill>
              </a:rPr>
              <a:t>5</a:t>
            </a:r>
          </a:p>
        </p:txBody>
      </p:sp>
      <p:sp>
        <p:nvSpPr>
          <p:cNvPr id="16" name="ZoneTexte 19">
            <a:extLst>
              <a:ext uri="{FF2B5EF4-FFF2-40B4-BE49-F238E27FC236}">
                <a16:creationId xmlns:a16="http://schemas.microsoft.com/office/drawing/2014/main" id="{27E1DF3A-92D2-616E-7002-A6C9F6AB7AAA}"/>
              </a:ext>
            </a:extLst>
          </p:cNvPr>
          <p:cNvSpPr txBox="1"/>
          <p:nvPr/>
        </p:nvSpPr>
        <p:spPr>
          <a:xfrm>
            <a:off x="383117" y="339179"/>
            <a:ext cx="1769535"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4000" b="1" dirty="0">
                <a:solidFill>
                  <a:srgbClr val="595959"/>
                </a:solidFill>
                <a:latin typeface="Century Gothic" charset="0"/>
                <a:ea typeface="Century Gothic" charset="0"/>
                <a:cs typeface="Century Gothic" charset="0"/>
              </a:rPr>
              <a:t>PLAN</a:t>
            </a:r>
          </a:p>
        </p:txBody>
      </p:sp>
    </p:spTree>
    <p:extLst>
      <p:ext uri="{BB962C8B-B14F-4D97-AF65-F5344CB8AC3E}">
        <p14:creationId xmlns:p14="http://schemas.microsoft.com/office/powerpoint/2010/main" val="712633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3999" y="2829230"/>
            <a:ext cx="9144000" cy="837101"/>
          </a:xfrm>
        </p:spPr>
        <p:txBody>
          <a:bodyPr>
            <a:normAutofit/>
          </a:bodyPr>
          <a:lstStyle/>
          <a:p>
            <a:r>
              <a:rPr lang="en-US" sz="4800" dirty="0">
                <a:latin typeface="Century Gothic" panose="020B0502020202020204" pitchFamily="34" charset="0"/>
                <a:ea typeface="Century Schoolbook" charset="0"/>
                <a:cs typeface="Century Schoolbook" charset="0"/>
              </a:rPr>
              <a:t>Contexte Général</a:t>
            </a:r>
          </a:p>
        </p:txBody>
      </p:sp>
      <p:cxnSp>
        <p:nvCxnSpPr>
          <p:cNvPr id="7" name="Connecteur droit 6"/>
          <p:cNvCxnSpPr/>
          <p:nvPr/>
        </p:nvCxnSpPr>
        <p:spPr>
          <a:xfrm flipV="1">
            <a:off x="3276600" y="3955562"/>
            <a:ext cx="5703277" cy="6838"/>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9" name="Connecteur droit 8"/>
          <p:cNvCxnSpPr/>
          <p:nvPr/>
        </p:nvCxnSpPr>
        <p:spPr>
          <a:xfrm flipV="1">
            <a:off x="3244361" y="2533162"/>
            <a:ext cx="5703277" cy="6838"/>
          </a:xfrm>
          <a:prstGeom prst="line">
            <a:avLst/>
          </a:prstGeom>
          <a:ln/>
        </p:spPr>
        <p:style>
          <a:lnRef idx="1">
            <a:schemeClr val="accent5"/>
          </a:lnRef>
          <a:fillRef idx="0">
            <a:schemeClr val="accent5"/>
          </a:fillRef>
          <a:effectRef idx="0">
            <a:schemeClr val="accent5"/>
          </a:effectRef>
          <a:fontRef idx="minor">
            <a:schemeClr val="tx1"/>
          </a:fontRef>
        </p:style>
      </p:cxnSp>
      <p:sp>
        <p:nvSpPr>
          <p:cNvPr id="10" name="Rectangle à coins arrondis 9"/>
          <p:cNvSpPr/>
          <p:nvPr/>
        </p:nvSpPr>
        <p:spPr>
          <a:xfrm>
            <a:off x="4883085" y="2395728"/>
            <a:ext cx="2394408" cy="144272"/>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à coins arrondis 10"/>
          <p:cNvSpPr/>
          <p:nvPr/>
        </p:nvSpPr>
        <p:spPr>
          <a:xfrm>
            <a:off x="4883085" y="3962400"/>
            <a:ext cx="2394408" cy="152400"/>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Slide Number Placeholder 2">
            <a:extLst>
              <a:ext uri="{FF2B5EF4-FFF2-40B4-BE49-F238E27FC236}">
                <a16:creationId xmlns:a16="http://schemas.microsoft.com/office/drawing/2014/main" id="{DAEB7993-FCA7-DA12-22BA-62E461B41EBA}"/>
              </a:ext>
            </a:extLst>
          </p:cNvPr>
          <p:cNvSpPr>
            <a:spLocks noGrp="1"/>
          </p:cNvSpPr>
          <p:nvPr>
            <p:ph type="sldNum" sz="quarter" idx="12"/>
          </p:nvPr>
        </p:nvSpPr>
        <p:spPr/>
        <p:txBody>
          <a:bodyPr/>
          <a:lstStyle/>
          <a:p>
            <a:fld id="{6983841B-0DB4-4C99-B5E5-79625F01DBF7}" type="slidenum">
              <a:rPr lang="en-GB" smtClean="0"/>
              <a:t>3</a:t>
            </a:fld>
            <a:endParaRPr lang="en-GB" dirty="0"/>
          </a:p>
        </p:txBody>
      </p:sp>
    </p:spTree>
    <p:extLst>
      <p:ext uri="{BB962C8B-B14F-4D97-AF65-F5344CB8AC3E}">
        <p14:creationId xmlns:p14="http://schemas.microsoft.com/office/powerpoint/2010/main" val="2327702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p:cNvGraphicFramePr/>
          <p:nvPr>
            <p:extLst>
              <p:ext uri="{D42A27DB-BD31-4B8C-83A1-F6EECF244321}">
                <p14:modId xmlns:p14="http://schemas.microsoft.com/office/powerpoint/2010/main" val="2153987161"/>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Connecteur droit 6"/>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Ellipse 7"/>
          <p:cNvSpPr/>
          <p:nvPr/>
        </p:nvSpPr>
        <p:spPr>
          <a:xfrm flipH="1">
            <a:off x="316988"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4" name="Ellipse 13"/>
          <p:cNvSpPr/>
          <p:nvPr/>
        </p:nvSpPr>
        <p:spPr>
          <a:xfrm flipH="1">
            <a:off x="5453164" y="1103449"/>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ZoneTexte 16"/>
          <p:cNvSpPr txBox="1"/>
          <p:nvPr/>
        </p:nvSpPr>
        <p:spPr>
          <a:xfrm>
            <a:off x="163643" y="1283526"/>
            <a:ext cx="1925136" cy="307777"/>
          </a:xfrm>
          <a:prstGeom prst="rect">
            <a:avLst/>
          </a:prstGeom>
          <a:noFill/>
        </p:spPr>
        <p:txBody>
          <a:bodyPr wrap="square" rtlCol="0">
            <a:spAutoFit/>
          </a:bodyPr>
          <a:lstStyle/>
          <a:p>
            <a:r>
              <a:rPr lang="fr-MA" sz="1400" dirty="0">
                <a:solidFill>
                  <a:schemeClr val="bg1">
                    <a:lumMod val="50000"/>
                  </a:schemeClr>
                </a:solidFill>
                <a:latin typeface="Century Schoolbook" charset="0"/>
                <a:ea typeface="Century Schoolbook" charset="0"/>
                <a:cs typeface="Century Schoolbook" charset="0"/>
              </a:rPr>
              <a:t>Organisme d’accueil</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9" name="ZoneTexte 18"/>
          <p:cNvSpPr txBox="1"/>
          <p:nvPr/>
        </p:nvSpPr>
        <p:spPr>
          <a:xfrm>
            <a:off x="9463138" y="1283632"/>
            <a:ext cx="2136649" cy="307777"/>
          </a:xfrm>
          <a:prstGeom prst="rect">
            <a:avLst/>
          </a:prstGeom>
          <a:noFill/>
        </p:spPr>
        <p:txBody>
          <a:bodyPr wrap="square" rtlCol="0">
            <a:spAutoFit/>
          </a:bodyPr>
          <a:lstStyle/>
          <a:p>
            <a:pPr algn="ctr"/>
            <a:r>
              <a:rPr lang="fr-FR" sz="1400" dirty="0">
                <a:solidFill>
                  <a:schemeClr val="bg1">
                    <a:lumMod val="50000"/>
                  </a:schemeClr>
                </a:solidFill>
                <a:latin typeface="Century Schoolbook" charset="0"/>
                <a:ea typeface="Century Schoolbook" charset="0"/>
                <a:cs typeface="Century Schoolbook" charset="0"/>
              </a:rPr>
              <a:t>Gestion de projet</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0" name="ZoneTexte 17">
            <a:extLst>
              <a:ext uri="{FF2B5EF4-FFF2-40B4-BE49-F238E27FC236}">
                <a16:creationId xmlns:a16="http://schemas.microsoft.com/office/drawing/2014/main" id="{04B677FA-59DB-A557-48BC-5C05A6E087A3}"/>
              </a:ext>
            </a:extLst>
          </p:cNvPr>
          <p:cNvSpPr txBox="1"/>
          <p:nvPr/>
        </p:nvSpPr>
        <p:spPr>
          <a:xfrm>
            <a:off x="4522389" y="128352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Problématique</a:t>
            </a:r>
          </a:p>
        </p:txBody>
      </p:sp>
      <p:sp>
        <p:nvSpPr>
          <p:cNvPr id="22" name="ZoneTexte 17">
            <a:extLst>
              <a:ext uri="{FF2B5EF4-FFF2-40B4-BE49-F238E27FC236}">
                <a16:creationId xmlns:a16="http://schemas.microsoft.com/office/drawing/2014/main" id="{404430E3-472F-6A8A-3C89-4442D6BCE81D}"/>
              </a:ext>
            </a:extLst>
          </p:cNvPr>
          <p:cNvSpPr txBox="1"/>
          <p:nvPr/>
        </p:nvSpPr>
        <p:spPr>
          <a:xfrm>
            <a:off x="7172639" y="1294405"/>
            <a:ext cx="179719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L’architecture cible</a:t>
            </a:r>
          </a:p>
        </p:txBody>
      </p:sp>
      <p:sp>
        <p:nvSpPr>
          <p:cNvPr id="23" name="Ellipse 13">
            <a:extLst>
              <a:ext uri="{FF2B5EF4-FFF2-40B4-BE49-F238E27FC236}">
                <a16:creationId xmlns:a16="http://schemas.microsoft.com/office/drawing/2014/main" id="{D91A5573-447F-831A-35C9-078EC6C15800}"/>
              </a:ext>
            </a:extLst>
          </p:cNvPr>
          <p:cNvSpPr/>
          <p:nvPr/>
        </p:nvSpPr>
        <p:spPr>
          <a:xfrm flipH="1">
            <a:off x="7926459" y="10950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Ellipse 13">
            <a:extLst>
              <a:ext uri="{FF2B5EF4-FFF2-40B4-BE49-F238E27FC236}">
                <a16:creationId xmlns:a16="http://schemas.microsoft.com/office/drawing/2014/main" id="{863FBA09-104F-B7E3-5B30-649A1EFA317B}"/>
              </a:ext>
            </a:extLst>
          </p:cNvPr>
          <p:cNvSpPr/>
          <p:nvPr/>
        </p:nvSpPr>
        <p:spPr>
          <a:xfrm flipH="1">
            <a:off x="10451790" y="1088365"/>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TextBox 83">
            <a:extLst>
              <a:ext uri="{FF2B5EF4-FFF2-40B4-BE49-F238E27FC236}">
                <a16:creationId xmlns:a16="http://schemas.microsoft.com/office/drawing/2014/main" id="{5320DBED-C918-2142-ECE8-A15F655559AD}"/>
              </a:ext>
            </a:extLst>
          </p:cNvPr>
          <p:cNvSpPr txBox="1"/>
          <p:nvPr/>
        </p:nvSpPr>
        <p:spPr>
          <a:xfrm flipH="1">
            <a:off x="4412557" y="6357966"/>
            <a:ext cx="7551226" cy="400110"/>
          </a:xfrm>
          <a:prstGeom prst="rect">
            <a:avLst/>
          </a:prstGeom>
          <a:noFill/>
        </p:spPr>
        <p:txBody>
          <a:bodyPr wrap="square" rtlCol="0">
            <a:spAutoFit/>
          </a:bodyPr>
          <a:lstStyle>
            <a:defPPr>
              <a:defRPr lang="en-US"/>
            </a:defPPr>
            <a:lvl1pPr>
              <a:defRPr sz="2000" b="1">
                <a:solidFill>
                  <a:srgbClr val="4C7EB8"/>
                </a:solidFill>
                <a:latin typeface="Times New Roman" panose="02020603050405020304" pitchFamily="18" charset="0"/>
                <a:cs typeface="Times New Roman" panose="02020603050405020304" pitchFamily="18" charset="0"/>
              </a:defRPr>
            </a:lvl1pPr>
          </a:lstStyle>
          <a:p>
            <a:endParaRPr lang="en-US" dirty="0"/>
          </a:p>
        </p:txBody>
      </p:sp>
      <p:sp>
        <p:nvSpPr>
          <p:cNvPr id="29" name="Slide Number Placeholder 28">
            <a:extLst>
              <a:ext uri="{FF2B5EF4-FFF2-40B4-BE49-F238E27FC236}">
                <a16:creationId xmlns:a16="http://schemas.microsoft.com/office/drawing/2014/main" id="{B2E76EAD-58A3-19AA-D08C-8EE3710E7437}"/>
              </a:ext>
            </a:extLst>
          </p:cNvPr>
          <p:cNvSpPr>
            <a:spLocks noGrp="1"/>
          </p:cNvSpPr>
          <p:nvPr>
            <p:ph type="sldNum" sz="quarter" idx="12"/>
          </p:nvPr>
        </p:nvSpPr>
        <p:spPr/>
        <p:txBody>
          <a:bodyPr/>
          <a:lstStyle/>
          <a:p>
            <a:fld id="{6983841B-0DB4-4C99-B5E5-79625F01DBF7}" type="slidenum">
              <a:rPr lang="en-GB" smtClean="0"/>
              <a:t>4</a:t>
            </a:fld>
            <a:endParaRPr lang="en-GB" dirty="0"/>
          </a:p>
        </p:txBody>
      </p:sp>
      <p:sp>
        <p:nvSpPr>
          <p:cNvPr id="2" name="Ellipse 13">
            <a:extLst>
              <a:ext uri="{FF2B5EF4-FFF2-40B4-BE49-F238E27FC236}">
                <a16:creationId xmlns:a16="http://schemas.microsoft.com/office/drawing/2014/main" id="{D851BFC1-B377-A410-A5F3-1FEAC2F5EC17}"/>
              </a:ext>
            </a:extLst>
          </p:cNvPr>
          <p:cNvSpPr/>
          <p:nvPr/>
        </p:nvSpPr>
        <p:spPr>
          <a:xfrm flipH="1">
            <a:off x="3019554" y="10969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17">
            <a:extLst>
              <a:ext uri="{FF2B5EF4-FFF2-40B4-BE49-F238E27FC236}">
                <a16:creationId xmlns:a16="http://schemas.microsoft.com/office/drawing/2014/main" id="{966FAD22-C3CD-91F5-DF25-D9AD2D3FF176}"/>
              </a:ext>
            </a:extLst>
          </p:cNvPr>
          <p:cNvSpPr txBox="1"/>
          <p:nvPr/>
        </p:nvSpPr>
        <p:spPr>
          <a:xfrm>
            <a:off x="2088779" y="1276988"/>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Étude de l'état actuel</a:t>
            </a:r>
          </a:p>
        </p:txBody>
      </p:sp>
      <p:pic>
        <p:nvPicPr>
          <p:cNvPr id="6" name="Image 5" descr="Une image contenant Graphique, Police, logo, symbole&#10;&#10;Description générée automatiquement">
            <a:extLst>
              <a:ext uri="{FF2B5EF4-FFF2-40B4-BE49-F238E27FC236}">
                <a16:creationId xmlns:a16="http://schemas.microsoft.com/office/drawing/2014/main" id="{9142565C-DE48-2402-D260-56FE7D8062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3643" y="2968709"/>
            <a:ext cx="2868088" cy="1779277"/>
          </a:xfrm>
          <a:prstGeom prst="rect">
            <a:avLst/>
          </a:prstGeom>
        </p:spPr>
      </p:pic>
      <p:grpSp>
        <p:nvGrpSpPr>
          <p:cNvPr id="12" name="Group 18">
            <a:extLst>
              <a:ext uri="{FF2B5EF4-FFF2-40B4-BE49-F238E27FC236}">
                <a16:creationId xmlns:a16="http://schemas.microsoft.com/office/drawing/2014/main" id="{76549A7E-613A-53E0-6894-1700CB030C22}"/>
              </a:ext>
            </a:extLst>
          </p:cNvPr>
          <p:cNvGrpSpPr/>
          <p:nvPr/>
        </p:nvGrpSpPr>
        <p:grpSpPr>
          <a:xfrm>
            <a:off x="3392282" y="2616569"/>
            <a:ext cx="5654447" cy="371128"/>
            <a:chOff x="1168832" y="1374344"/>
            <a:chExt cx="6081183" cy="792000"/>
          </a:xfrm>
        </p:grpSpPr>
        <p:sp>
          <p:nvSpPr>
            <p:cNvPr id="13" name="Rectangle 9">
              <a:extLst>
                <a:ext uri="{FF2B5EF4-FFF2-40B4-BE49-F238E27FC236}">
                  <a16:creationId xmlns:a16="http://schemas.microsoft.com/office/drawing/2014/main" id="{1C85A23F-CB2C-B3B2-9CB2-4CF6B5ACA138}"/>
                </a:ext>
              </a:extLst>
            </p:cNvPr>
            <p:cNvSpPr>
              <a:spLocks noChangeArrowheads="1"/>
            </p:cNvSpPr>
            <p:nvPr/>
          </p:nvSpPr>
          <p:spPr bwMode="gray">
            <a:xfrm>
              <a:off x="2984364" y="1425119"/>
              <a:ext cx="4265651" cy="741221"/>
            </a:xfrm>
            <a:prstGeom prst="rect">
              <a:avLst/>
            </a:prstGeom>
            <a:solidFill>
              <a:srgbClr val="FFFFFF"/>
            </a:solidFill>
            <a:ln w="22225" algn="ctr">
              <a:solidFill>
                <a:srgbClr val="D2D2D2">
                  <a:alpha val="70000"/>
                </a:srgbClr>
              </a:solidFill>
              <a:miter lim="800000"/>
            </a:ln>
            <a:effectLst/>
          </p:spPr>
          <p:txBody>
            <a:bodyPr lIns="684000" tIns="0" rIns="64800" bIns="0" rtlCol="0" anchor="ctr" anchorCtr="0"/>
            <a:lstStyle/>
            <a:p>
              <a:pPr marR="0" lvl="0" algn="just" defTabSz="914400" eaLnBrk="1" fontAlgn="auto" latinLnBrk="0" hangingPunct="1">
                <a:lnSpc>
                  <a:spcPct val="50000"/>
                </a:lnSpc>
                <a:spcBef>
                  <a:spcPts val="0"/>
                </a:spcBef>
                <a:spcAft>
                  <a:spcPts val="600"/>
                </a:spcAft>
                <a:buClrTx/>
                <a:buSzTx/>
                <a:defRPr/>
              </a:pPr>
              <a:r>
                <a:rPr kumimoji="0" lang="fr-FR" sz="1600" b="0" i="0" u="none" strike="noStrike" kern="1200" cap="none" spc="0" normalizeH="0" baseline="0" noProof="0">
                  <a:ln>
                    <a:noFill/>
                  </a:ln>
                  <a:solidFill>
                    <a:sysClr val="windowText" lastClr="000000"/>
                  </a:solidFill>
                  <a:effectLst/>
                  <a:uLnTx/>
                  <a:uFillTx/>
                  <a:latin typeface="ADLaM Display" panose="02010000000000000000" pitchFamily="2" charset="0"/>
                  <a:ea typeface="ADLaM Display" panose="02010000000000000000" pitchFamily="2" charset="0"/>
                  <a:cs typeface="ADLaM Display" panose="02010000000000000000" pitchFamily="2" charset="0"/>
                </a:rPr>
                <a:t>Serge Godin </a:t>
              </a:r>
              <a:r>
                <a:rPr lang="fr-FR" sz="1600">
                  <a:solidFill>
                    <a:sysClr val="windowText" lastClr="000000"/>
                  </a:solidFill>
                  <a:latin typeface="ADLaM Display" panose="02010000000000000000" pitchFamily="2" charset="0"/>
                  <a:ea typeface="ADLaM Display" panose="02010000000000000000" pitchFamily="2" charset="0"/>
                  <a:cs typeface="ADLaM Display" panose="02010000000000000000" pitchFamily="2" charset="0"/>
                </a:rPr>
                <a:t>&amp;</a:t>
              </a:r>
              <a:r>
                <a:rPr kumimoji="0" lang="fr-FR" sz="1600" b="0" i="0" u="none" strike="noStrike" kern="1200" cap="none" spc="0" normalizeH="0" baseline="0" noProof="0">
                  <a:ln>
                    <a:noFill/>
                  </a:ln>
                  <a:solidFill>
                    <a:sysClr val="windowText" lastClr="000000"/>
                  </a:solidFill>
                  <a:effectLst/>
                  <a:uLnTx/>
                  <a:uFillTx/>
                  <a:latin typeface="ADLaM Display" panose="02010000000000000000" pitchFamily="2" charset="0"/>
                  <a:ea typeface="ADLaM Display" panose="02010000000000000000" pitchFamily="2" charset="0"/>
                  <a:cs typeface="ADLaM Display" panose="02010000000000000000" pitchFamily="2" charset="0"/>
                </a:rPr>
                <a:t> André </a:t>
              </a:r>
              <a:r>
                <a:rPr kumimoji="0" lang="fr-FR" sz="1600" b="0" i="0" u="none" strike="noStrike" kern="1200" cap="none" spc="0" normalizeH="0" baseline="0" noProof="0" err="1">
                  <a:ln>
                    <a:noFill/>
                  </a:ln>
                  <a:solidFill>
                    <a:sysClr val="windowText" lastClr="000000"/>
                  </a:solidFill>
                  <a:effectLst/>
                  <a:uLnTx/>
                  <a:uFillTx/>
                  <a:latin typeface="ADLaM Display" panose="02010000000000000000" pitchFamily="2" charset="0"/>
                  <a:ea typeface="ADLaM Display" panose="02010000000000000000" pitchFamily="2" charset="0"/>
                  <a:cs typeface="ADLaM Display" panose="02010000000000000000" pitchFamily="2" charset="0"/>
                </a:rPr>
                <a:t>Imbeau</a:t>
              </a:r>
              <a:endParaRPr kumimoji="0" lang="fr-FR" sz="1600" b="0" i="0" u="none" strike="noStrike" kern="1200" cap="none" spc="0" normalizeH="0" baseline="0" noProof="0">
                <a:ln>
                  <a:noFill/>
                </a:ln>
                <a:solidFill>
                  <a:sysClr val="windowText" lastClr="000000"/>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15" name="AutoShape 10">
              <a:extLst>
                <a:ext uri="{FF2B5EF4-FFF2-40B4-BE49-F238E27FC236}">
                  <a16:creationId xmlns:a16="http://schemas.microsoft.com/office/drawing/2014/main" id="{5C3C47A0-EDCF-BC72-5CC7-1F73D702D2F6}"/>
                </a:ext>
              </a:extLst>
            </p:cNvPr>
            <p:cNvSpPr>
              <a:spLocks noChangeArrowheads="1"/>
            </p:cNvSpPr>
            <p:nvPr/>
          </p:nvSpPr>
          <p:spPr bwMode="gray">
            <a:xfrm>
              <a:off x="1168832" y="1374344"/>
              <a:ext cx="2371019" cy="792000"/>
            </a:xfrm>
            <a:prstGeom prst="homePlate">
              <a:avLst>
                <a:gd name="adj" fmla="val 29950"/>
              </a:avLst>
            </a:prstGeom>
            <a:gradFill flip="none" rotWithShape="1">
              <a:gsLst>
                <a:gs pos="0">
                  <a:srgbClr val="E31937"/>
                </a:gs>
                <a:gs pos="60000">
                  <a:srgbClr val="A82465"/>
                </a:gs>
                <a:gs pos="100000">
                  <a:srgbClr val="5236AB"/>
                </a:gs>
              </a:gsLst>
              <a:lin ang="0" scaled="1"/>
              <a:tileRect/>
            </a:gradFill>
            <a:ln w="28575">
              <a:noFill/>
              <a:prstDash val="solid"/>
              <a:miter lim="800000"/>
            </a:ln>
            <a:effectLst/>
          </p:spPr>
          <p:txBody>
            <a:bodyPr lIns="182880" tIns="0" rIns="182880" bIns="0" anchor="ctr"/>
            <a:lstStyle/>
            <a:p>
              <a:pPr marL="0" marR="0" lvl="0" indent="0" algn="ctr" defTabSz="914400" eaLnBrk="1" fontAlgn="auto" latinLnBrk="0" hangingPunct="1">
                <a:lnSpc>
                  <a:spcPct val="100000"/>
                </a:lnSpc>
                <a:spcBef>
                  <a:spcPct val="0"/>
                </a:spcBef>
                <a:spcAft>
                  <a:spcPts val="0"/>
                </a:spcAft>
                <a:buClr>
                  <a:srgbClr val="FFFFFF"/>
                </a:buClr>
                <a:buSzPct val="90000"/>
                <a:buFontTx/>
                <a:buNone/>
                <a:defRPr/>
              </a:pPr>
              <a:r>
                <a:rPr lang="fr-FR" sz="1400" b="1" cap="small"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Fondé en 1976</a:t>
              </a:r>
              <a:endParaRPr kumimoji="0" lang="fr-FR" sz="1400" b="0" i="0" u="none" strike="noStrike" kern="0" cap="small" spc="0" normalizeH="0" noProof="0" dirty="0">
                <a:ln>
                  <a:noFill/>
                </a:ln>
                <a:solidFill>
                  <a:srgbClr val="FFFFFF"/>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grpSp>
      <p:grpSp>
        <p:nvGrpSpPr>
          <p:cNvPr id="16" name="Group 18">
            <a:extLst>
              <a:ext uri="{FF2B5EF4-FFF2-40B4-BE49-F238E27FC236}">
                <a16:creationId xmlns:a16="http://schemas.microsoft.com/office/drawing/2014/main" id="{0ED6636D-60F6-4CAA-702C-612B19374921}"/>
              </a:ext>
            </a:extLst>
          </p:cNvPr>
          <p:cNvGrpSpPr/>
          <p:nvPr/>
        </p:nvGrpSpPr>
        <p:grpSpPr>
          <a:xfrm>
            <a:off x="3392282" y="3106457"/>
            <a:ext cx="5654447" cy="371128"/>
            <a:chOff x="1168832" y="1374344"/>
            <a:chExt cx="6081183" cy="792000"/>
          </a:xfrm>
        </p:grpSpPr>
        <p:sp>
          <p:nvSpPr>
            <p:cNvPr id="18" name="Rectangle 9">
              <a:extLst>
                <a:ext uri="{FF2B5EF4-FFF2-40B4-BE49-F238E27FC236}">
                  <a16:creationId xmlns:a16="http://schemas.microsoft.com/office/drawing/2014/main" id="{AF296ABC-C5AF-BB59-B666-531DD3199AB2}"/>
                </a:ext>
              </a:extLst>
            </p:cNvPr>
            <p:cNvSpPr>
              <a:spLocks noChangeArrowheads="1"/>
            </p:cNvSpPr>
            <p:nvPr/>
          </p:nvSpPr>
          <p:spPr bwMode="gray">
            <a:xfrm>
              <a:off x="2984364" y="1425119"/>
              <a:ext cx="4265651" cy="741221"/>
            </a:xfrm>
            <a:prstGeom prst="rect">
              <a:avLst/>
            </a:prstGeom>
            <a:solidFill>
              <a:srgbClr val="FFFFFF"/>
            </a:solidFill>
            <a:ln w="22225" algn="ctr">
              <a:solidFill>
                <a:srgbClr val="D2D2D2">
                  <a:alpha val="70000"/>
                </a:srgbClr>
              </a:solidFill>
              <a:miter lim="800000"/>
            </a:ln>
            <a:effectLst/>
          </p:spPr>
          <p:txBody>
            <a:bodyPr lIns="684000" tIns="0" rIns="64800" bIns="0" rtlCol="0" anchor="ctr" anchorCtr="0"/>
            <a:lstStyle/>
            <a:p>
              <a:pPr algn="just">
                <a:lnSpc>
                  <a:spcPct val="50000"/>
                </a:lnSpc>
                <a:spcAft>
                  <a:spcPts val="600"/>
                </a:spcAft>
                <a:defRPr/>
              </a:pPr>
              <a:r>
                <a:rPr lang="fr-FR" sz="1600" dirty="0">
                  <a:solidFill>
                    <a:sysClr val="windowText" lastClr="000000"/>
                  </a:solidFill>
                  <a:latin typeface="ADLaM Display" panose="02010000000000000000" pitchFamily="2" charset="0"/>
                  <a:ea typeface="ADLaM Display" panose="02010000000000000000" pitchFamily="2" charset="0"/>
                  <a:cs typeface="ADLaM Display" panose="02010000000000000000" pitchFamily="2" charset="0"/>
                </a:rPr>
                <a:t>400 emplacements dans 40 pays</a:t>
              </a:r>
            </a:p>
          </p:txBody>
        </p:sp>
        <p:sp>
          <p:nvSpPr>
            <p:cNvPr id="26" name="AutoShape 10">
              <a:extLst>
                <a:ext uri="{FF2B5EF4-FFF2-40B4-BE49-F238E27FC236}">
                  <a16:creationId xmlns:a16="http://schemas.microsoft.com/office/drawing/2014/main" id="{4927ABA0-498D-C945-5A38-C826D851F97F}"/>
                </a:ext>
              </a:extLst>
            </p:cNvPr>
            <p:cNvSpPr>
              <a:spLocks noChangeArrowheads="1"/>
            </p:cNvSpPr>
            <p:nvPr/>
          </p:nvSpPr>
          <p:spPr bwMode="gray">
            <a:xfrm>
              <a:off x="1168832" y="1374344"/>
              <a:ext cx="2371019" cy="792000"/>
            </a:xfrm>
            <a:prstGeom prst="homePlate">
              <a:avLst>
                <a:gd name="adj" fmla="val 29950"/>
              </a:avLst>
            </a:prstGeom>
            <a:gradFill flip="none" rotWithShape="1">
              <a:gsLst>
                <a:gs pos="0">
                  <a:srgbClr val="E31937"/>
                </a:gs>
                <a:gs pos="60000">
                  <a:srgbClr val="A82465"/>
                </a:gs>
                <a:gs pos="100000">
                  <a:srgbClr val="5236AB"/>
                </a:gs>
              </a:gsLst>
              <a:lin ang="0" scaled="1"/>
              <a:tileRect/>
            </a:gradFill>
            <a:ln w="28575">
              <a:noFill/>
              <a:prstDash val="solid"/>
              <a:miter lim="800000"/>
            </a:ln>
            <a:effectLst/>
          </p:spPr>
          <p:txBody>
            <a:bodyPr lIns="182880" tIns="0" rIns="182880" bIns="0" anchor="ctr"/>
            <a:lstStyle/>
            <a:p>
              <a:pPr marL="0" marR="0" lvl="0" indent="0" defTabSz="914400" eaLnBrk="1" fontAlgn="auto" latinLnBrk="0" hangingPunct="1">
                <a:lnSpc>
                  <a:spcPct val="100000"/>
                </a:lnSpc>
                <a:spcBef>
                  <a:spcPct val="0"/>
                </a:spcBef>
                <a:spcAft>
                  <a:spcPts val="0"/>
                </a:spcAft>
                <a:buClr>
                  <a:srgbClr val="FFFFFF"/>
                </a:buClr>
                <a:buSzPct val="90000"/>
                <a:buFontTx/>
                <a:buNone/>
                <a:defRPr/>
              </a:pPr>
              <a:r>
                <a:rPr lang="fr-FR" sz="1400" b="1" cap="small">
                  <a:solidFill>
                    <a:srgbClr val="FFFFFF"/>
                  </a:solidFill>
                  <a:latin typeface="ADLaM Display" panose="02010000000000000000" pitchFamily="2" charset="0"/>
                  <a:ea typeface="ADLaM Display" panose="02010000000000000000" pitchFamily="2" charset="0"/>
                  <a:cs typeface="ADLaM Display" panose="02010000000000000000" pitchFamily="2" charset="0"/>
                </a:rPr>
                <a:t>90 000 consultants</a:t>
              </a:r>
            </a:p>
          </p:txBody>
        </p:sp>
      </p:grpSp>
      <p:grpSp>
        <p:nvGrpSpPr>
          <p:cNvPr id="27" name="Group 18">
            <a:extLst>
              <a:ext uri="{FF2B5EF4-FFF2-40B4-BE49-F238E27FC236}">
                <a16:creationId xmlns:a16="http://schemas.microsoft.com/office/drawing/2014/main" id="{FE2F712E-7C7E-BDF1-F42C-140C9CB8CBE0}"/>
              </a:ext>
            </a:extLst>
          </p:cNvPr>
          <p:cNvGrpSpPr/>
          <p:nvPr/>
        </p:nvGrpSpPr>
        <p:grpSpPr>
          <a:xfrm>
            <a:off x="3392282" y="3591433"/>
            <a:ext cx="5654447" cy="371128"/>
            <a:chOff x="1168832" y="1374344"/>
            <a:chExt cx="6081183" cy="792000"/>
          </a:xfrm>
        </p:grpSpPr>
        <p:sp>
          <p:nvSpPr>
            <p:cNvPr id="30" name="Rectangle 9">
              <a:extLst>
                <a:ext uri="{FF2B5EF4-FFF2-40B4-BE49-F238E27FC236}">
                  <a16:creationId xmlns:a16="http://schemas.microsoft.com/office/drawing/2014/main" id="{F138AD24-4E03-F975-218F-C3AD73E13BB6}"/>
                </a:ext>
              </a:extLst>
            </p:cNvPr>
            <p:cNvSpPr>
              <a:spLocks noChangeArrowheads="1"/>
            </p:cNvSpPr>
            <p:nvPr/>
          </p:nvSpPr>
          <p:spPr bwMode="gray">
            <a:xfrm>
              <a:off x="2984364" y="1439725"/>
              <a:ext cx="4265651" cy="726615"/>
            </a:xfrm>
            <a:prstGeom prst="rect">
              <a:avLst/>
            </a:prstGeom>
            <a:solidFill>
              <a:srgbClr val="FFFFFF"/>
            </a:solidFill>
            <a:ln w="22225" algn="ctr">
              <a:solidFill>
                <a:srgbClr val="D2D2D2">
                  <a:alpha val="70000"/>
                </a:srgbClr>
              </a:solidFill>
              <a:miter lim="800000"/>
            </a:ln>
            <a:effectLst/>
          </p:spPr>
          <p:txBody>
            <a:bodyPr lIns="684000" tIns="0" rIns="64800" bIns="0" rtlCol="0" anchor="ctr" anchorCtr="0"/>
            <a:lstStyle/>
            <a:p>
              <a:pPr algn="just">
                <a:lnSpc>
                  <a:spcPct val="50000"/>
                </a:lnSpc>
                <a:spcAft>
                  <a:spcPts val="600"/>
                </a:spcAft>
                <a:buClrTx/>
                <a:defRPr/>
              </a:pPr>
              <a:r>
                <a:rPr lang="fr-FR" sz="1600">
                  <a:solidFill>
                    <a:sysClr val="windowText" lastClr="000000"/>
                  </a:solidFill>
                  <a:latin typeface="ADLaM Display" panose="02010000000000000000" pitchFamily="2" charset="0"/>
                  <a:ea typeface="ADLaM Display" panose="02010000000000000000" pitchFamily="2" charset="0"/>
                  <a:cs typeface="ADLaM Display" panose="02010000000000000000" pitchFamily="2" charset="0"/>
                </a:rPr>
                <a:t>Rabat, Casablanca, Fès</a:t>
              </a:r>
            </a:p>
          </p:txBody>
        </p:sp>
        <p:sp>
          <p:nvSpPr>
            <p:cNvPr id="31" name="AutoShape 10">
              <a:extLst>
                <a:ext uri="{FF2B5EF4-FFF2-40B4-BE49-F238E27FC236}">
                  <a16:creationId xmlns:a16="http://schemas.microsoft.com/office/drawing/2014/main" id="{EC4FB043-801D-4744-1191-27B7D381EFA9}"/>
                </a:ext>
              </a:extLst>
            </p:cNvPr>
            <p:cNvSpPr>
              <a:spLocks noChangeArrowheads="1"/>
            </p:cNvSpPr>
            <p:nvPr/>
          </p:nvSpPr>
          <p:spPr bwMode="gray">
            <a:xfrm>
              <a:off x="1168832" y="1374344"/>
              <a:ext cx="2371019" cy="792000"/>
            </a:xfrm>
            <a:prstGeom prst="homePlate">
              <a:avLst>
                <a:gd name="adj" fmla="val 29950"/>
              </a:avLst>
            </a:prstGeom>
            <a:gradFill flip="none" rotWithShape="1">
              <a:gsLst>
                <a:gs pos="0">
                  <a:srgbClr val="E31937"/>
                </a:gs>
                <a:gs pos="60000">
                  <a:srgbClr val="A82465"/>
                </a:gs>
                <a:gs pos="100000">
                  <a:srgbClr val="5236AB"/>
                </a:gs>
              </a:gsLst>
              <a:lin ang="0" scaled="1"/>
              <a:tileRect/>
            </a:gradFill>
            <a:ln w="28575">
              <a:noFill/>
              <a:prstDash val="solid"/>
              <a:miter lim="800000"/>
            </a:ln>
            <a:effectLst/>
          </p:spPr>
          <p:txBody>
            <a:bodyPr lIns="182880" tIns="0" rIns="182880" bIns="0" anchor="ctr"/>
            <a:lstStyle/>
            <a:p>
              <a:pPr marL="0" marR="0" lvl="0" indent="0" defTabSz="914400" eaLnBrk="1" fontAlgn="auto" latinLnBrk="0" hangingPunct="1">
                <a:lnSpc>
                  <a:spcPct val="100000"/>
                </a:lnSpc>
                <a:spcBef>
                  <a:spcPct val="0"/>
                </a:spcBef>
                <a:spcAft>
                  <a:spcPts val="0"/>
                </a:spcAft>
                <a:buClr>
                  <a:srgbClr val="FFFFFF"/>
                </a:buClr>
                <a:buSzPct val="90000"/>
                <a:buFontTx/>
                <a:buNone/>
                <a:defRPr/>
              </a:pPr>
              <a:r>
                <a:rPr lang="fr-FR" sz="1400" b="1" cap="small">
                  <a:solidFill>
                    <a:srgbClr val="FFFFFF"/>
                  </a:solidFill>
                  <a:latin typeface="ADLaM Display" panose="02010000000000000000" pitchFamily="2" charset="0"/>
                  <a:ea typeface="ADLaM Display" panose="02010000000000000000" pitchFamily="2" charset="0"/>
                  <a:cs typeface="ADLaM Display" panose="02010000000000000000" pitchFamily="2" charset="0"/>
                </a:rPr>
                <a:t>Au Maroc depuis </a:t>
              </a:r>
              <a:r>
                <a:rPr lang="fr-FR" sz="1200" b="1" cap="small">
                  <a:solidFill>
                    <a:srgbClr val="FFFFFF"/>
                  </a:solidFill>
                  <a:latin typeface="ADLaM Display" panose="02010000000000000000" pitchFamily="2" charset="0"/>
                  <a:ea typeface="ADLaM Display" panose="02010000000000000000" pitchFamily="2" charset="0"/>
                  <a:cs typeface="ADLaM Display" panose="02010000000000000000" pitchFamily="2" charset="0"/>
                </a:rPr>
                <a:t>2004</a:t>
              </a:r>
              <a:endParaRPr lang="fr-FR" sz="1400" b="1" cap="small">
                <a:solidFill>
                  <a:srgbClr val="FFFFFF"/>
                </a:solidFill>
                <a:latin typeface="ADLaM Display" panose="02010000000000000000" pitchFamily="2" charset="0"/>
                <a:ea typeface="ADLaM Display" panose="02010000000000000000" pitchFamily="2" charset="0"/>
                <a:cs typeface="ADLaM Display" panose="02010000000000000000" pitchFamily="2" charset="0"/>
              </a:endParaRPr>
            </a:p>
          </p:txBody>
        </p:sp>
      </p:grpSp>
      <p:grpSp>
        <p:nvGrpSpPr>
          <p:cNvPr id="32" name="Groupe 31">
            <a:extLst>
              <a:ext uri="{FF2B5EF4-FFF2-40B4-BE49-F238E27FC236}">
                <a16:creationId xmlns:a16="http://schemas.microsoft.com/office/drawing/2014/main" id="{A554C094-1A09-4FEA-FC53-CC33C52E27BB}"/>
              </a:ext>
            </a:extLst>
          </p:cNvPr>
          <p:cNvGrpSpPr/>
          <p:nvPr/>
        </p:nvGrpSpPr>
        <p:grpSpPr>
          <a:xfrm>
            <a:off x="3393561" y="4073417"/>
            <a:ext cx="5225459" cy="442017"/>
            <a:chOff x="6532650" y="2550330"/>
            <a:chExt cx="5225459" cy="442017"/>
          </a:xfrm>
        </p:grpSpPr>
        <p:grpSp>
          <p:nvGrpSpPr>
            <p:cNvPr id="33" name="Groupe 32">
              <a:extLst>
                <a:ext uri="{FF2B5EF4-FFF2-40B4-BE49-F238E27FC236}">
                  <a16:creationId xmlns:a16="http://schemas.microsoft.com/office/drawing/2014/main" id="{060082E5-F103-E341-32E8-1236271200A8}"/>
                </a:ext>
              </a:extLst>
            </p:cNvPr>
            <p:cNvGrpSpPr/>
            <p:nvPr/>
          </p:nvGrpSpPr>
          <p:grpSpPr>
            <a:xfrm>
              <a:off x="6532650" y="2550330"/>
              <a:ext cx="4262784" cy="442017"/>
              <a:chOff x="6532650" y="2550330"/>
              <a:chExt cx="4262784" cy="442017"/>
            </a:xfrm>
          </p:grpSpPr>
          <p:sp>
            <p:nvSpPr>
              <p:cNvPr id="35" name="AutoShape 10">
                <a:extLst>
                  <a:ext uri="{FF2B5EF4-FFF2-40B4-BE49-F238E27FC236}">
                    <a16:creationId xmlns:a16="http://schemas.microsoft.com/office/drawing/2014/main" id="{6BDE35B1-A48D-A953-8B73-B010FB045A9B}"/>
                  </a:ext>
                </a:extLst>
              </p:cNvPr>
              <p:cNvSpPr>
                <a:spLocks noChangeArrowheads="1"/>
              </p:cNvSpPr>
              <p:nvPr/>
            </p:nvSpPr>
            <p:spPr bwMode="gray">
              <a:xfrm>
                <a:off x="6532650" y="2585775"/>
                <a:ext cx="2204637" cy="371128"/>
              </a:xfrm>
              <a:prstGeom prst="homePlate">
                <a:avLst>
                  <a:gd name="adj" fmla="val 29950"/>
                </a:avLst>
              </a:prstGeom>
              <a:gradFill flip="none" rotWithShape="1">
                <a:gsLst>
                  <a:gs pos="0">
                    <a:srgbClr val="E31937"/>
                  </a:gs>
                  <a:gs pos="60000">
                    <a:srgbClr val="A82465"/>
                  </a:gs>
                  <a:gs pos="100000">
                    <a:srgbClr val="5236AB"/>
                  </a:gs>
                </a:gsLst>
                <a:lin ang="0" scaled="1"/>
                <a:tileRect/>
              </a:gradFill>
              <a:ln w="28575">
                <a:noFill/>
                <a:prstDash val="solid"/>
                <a:miter lim="800000"/>
              </a:ln>
              <a:effectLst/>
            </p:spPr>
            <p:txBody>
              <a:bodyPr lIns="182880" tIns="0" rIns="182880" bIns="0" anchor="ctr"/>
              <a:lstStyle/>
              <a:p>
                <a:pPr>
                  <a:spcBef>
                    <a:spcPct val="0"/>
                  </a:spcBef>
                  <a:buClr>
                    <a:srgbClr val="FFFFFF"/>
                  </a:buClr>
                  <a:buSzPct val="90000"/>
                  <a:defRPr/>
                </a:pPr>
                <a:r>
                  <a:rPr lang="fr-FR" sz="1400" b="1" cap="small">
                    <a:solidFill>
                      <a:srgbClr val="FFFFFF"/>
                    </a:solidFill>
                    <a:latin typeface="ADLaM Display" panose="02010000000000000000" pitchFamily="2" charset="0"/>
                    <a:ea typeface="ADLaM Display" panose="02010000000000000000" pitchFamily="2" charset="0"/>
                    <a:cs typeface="ADLaM Display" panose="02010000000000000000" pitchFamily="2" charset="0"/>
                  </a:rPr>
                  <a:t>Qualité / Sécurité</a:t>
                </a:r>
              </a:p>
            </p:txBody>
          </p:sp>
          <p:pic>
            <p:nvPicPr>
              <p:cNvPr id="36" name="Image 35">
                <a:extLst>
                  <a:ext uri="{FF2B5EF4-FFF2-40B4-BE49-F238E27FC236}">
                    <a16:creationId xmlns:a16="http://schemas.microsoft.com/office/drawing/2014/main" id="{53402440-BC15-08FC-6E77-5693AA78FA02}"/>
                  </a:ext>
                </a:extLst>
              </p:cNvPr>
              <p:cNvPicPr>
                <a:picLocks noChangeAspect="1"/>
              </p:cNvPicPr>
              <p:nvPr/>
            </p:nvPicPr>
            <p:blipFill>
              <a:blip r:embed="rId9"/>
              <a:stretch>
                <a:fillRect/>
              </a:stretch>
            </p:blipFill>
            <p:spPr>
              <a:xfrm>
                <a:off x="10202660" y="2568209"/>
                <a:ext cx="592774" cy="414599"/>
              </a:xfrm>
              <a:prstGeom prst="rect">
                <a:avLst/>
              </a:prstGeom>
            </p:spPr>
          </p:pic>
          <p:pic>
            <p:nvPicPr>
              <p:cNvPr id="37" name="Image 36">
                <a:extLst>
                  <a:ext uri="{FF2B5EF4-FFF2-40B4-BE49-F238E27FC236}">
                    <a16:creationId xmlns:a16="http://schemas.microsoft.com/office/drawing/2014/main" id="{789F20B5-562D-916B-11B3-40F8A26609C6}"/>
                  </a:ext>
                </a:extLst>
              </p:cNvPr>
              <p:cNvPicPr>
                <a:picLocks noChangeAspect="1"/>
              </p:cNvPicPr>
              <p:nvPr/>
            </p:nvPicPr>
            <p:blipFill>
              <a:blip r:embed="rId10"/>
              <a:stretch>
                <a:fillRect/>
              </a:stretch>
            </p:blipFill>
            <p:spPr>
              <a:xfrm>
                <a:off x="9078334" y="2550330"/>
                <a:ext cx="783278" cy="442017"/>
              </a:xfrm>
              <a:prstGeom prst="rect">
                <a:avLst/>
              </a:prstGeom>
            </p:spPr>
          </p:pic>
        </p:grpSp>
        <p:pic>
          <p:nvPicPr>
            <p:cNvPr id="34" name="Picture 6" descr="ISO/IEC 27701 - index.impakter">
              <a:extLst>
                <a:ext uri="{FF2B5EF4-FFF2-40B4-BE49-F238E27FC236}">
                  <a16:creationId xmlns:a16="http://schemas.microsoft.com/office/drawing/2014/main" id="{DB04B355-6F27-093C-9F7A-666B793F161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323846" y="2574337"/>
              <a:ext cx="434263" cy="4133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9" name="Groupe 38">
            <a:extLst>
              <a:ext uri="{FF2B5EF4-FFF2-40B4-BE49-F238E27FC236}">
                <a16:creationId xmlns:a16="http://schemas.microsoft.com/office/drawing/2014/main" id="{2508F3A4-5F96-270F-DAFF-528A534F6BBB}"/>
              </a:ext>
            </a:extLst>
          </p:cNvPr>
          <p:cNvGrpSpPr/>
          <p:nvPr/>
        </p:nvGrpSpPr>
        <p:grpSpPr>
          <a:xfrm>
            <a:off x="3383749" y="4622421"/>
            <a:ext cx="5662980" cy="371128"/>
            <a:chOff x="6524118" y="3057872"/>
            <a:chExt cx="5662980" cy="371128"/>
          </a:xfrm>
        </p:grpSpPr>
        <p:sp>
          <p:nvSpPr>
            <p:cNvPr id="40" name="Rectangle 9">
              <a:extLst>
                <a:ext uri="{FF2B5EF4-FFF2-40B4-BE49-F238E27FC236}">
                  <a16:creationId xmlns:a16="http://schemas.microsoft.com/office/drawing/2014/main" id="{D65D8DE3-377B-BED2-C7FA-63C829F7A252}"/>
                </a:ext>
              </a:extLst>
            </p:cNvPr>
            <p:cNvSpPr>
              <a:spLocks noChangeArrowheads="1"/>
            </p:cNvSpPr>
            <p:nvPr/>
          </p:nvSpPr>
          <p:spPr bwMode="gray">
            <a:xfrm>
              <a:off x="8269089" y="3090888"/>
              <a:ext cx="3918009" cy="324459"/>
            </a:xfrm>
            <a:prstGeom prst="rect">
              <a:avLst/>
            </a:prstGeom>
            <a:solidFill>
              <a:srgbClr val="FFFFFF"/>
            </a:solidFill>
            <a:ln w="22225" algn="ctr">
              <a:solidFill>
                <a:srgbClr val="D2D2D2">
                  <a:alpha val="70000"/>
                </a:srgbClr>
              </a:solidFill>
              <a:miter lim="800000"/>
            </a:ln>
            <a:effectLst/>
          </p:spPr>
          <p:txBody>
            <a:bodyPr lIns="684000" tIns="0" rIns="64800" bIns="0" rtlCol="0" anchor="ctr" anchorCtr="0"/>
            <a:lstStyle/>
            <a:p>
              <a:pPr marR="0" lvl="0" algn="just" defTabSz="914400" eaLnBrk="1" fontAlgn="auto" latinLnBrk="0" hangingPunct="1">
                <a:lnSpc>
                  <a:spcPct val="50000"/>
                </a:lnSpc>
                <a:spcBef>
                  <a:spcPts val="0"/>
                </a:spcBef>
                <a:spcAft>
                  <a:spcPts val="600"/>
                </a:spcAft>
                <a:buClrTx/>
                <a:buSzTx/>
                <a:defRPr/>
              </a:pPr>
              <a:r>
                <a:rPr lang="fr-FR" sz="1600">
                  <a:solidFill>
                    <a:sysClr val="windowText" lastClr="000000"/>
                  </a:solidFill>
                  <a:latin typeface="ADLaM Display" panose="02010000000000000000" pitchFamily="2" charset="0"/>
                  <a:ea typeface="ADLaM Display" panose="02010000000000000000" pitchFamily="2" charset="0"/>
                  <a:cs typeface="ADLaM Display" panose="02010000000000000000" pitchFamily="2" charset="0"/>
                </a:rPr>
                <a:t>+ 40 clients au Maroc</a:t>
              </a:r>
            </a:p>
          </p:txBody>
        </p:sp>
        <p:sp>
          <p:nvSpPr>
            <p:cNvPr id="41" name="AutoShape 10">
              <a:extLst>
                <a:ext uri="{FF2B5EF4-FFF2-40B4-BE49-F238E27FC236}">
                  <a16:creationId xmlns:a16="http://schemas.microsoft.com/office/drawing/2014/main" id="{E48F8283-21A7-C8A7-00D0-88DBB07D784D}"/>
                </a:ext>
              </a:extLst>
            </p:cNvPr>
            <p:cNvSpPr>
              <a:spLocks noChangeArrowheads="1"/>
            </p:cNvSpPr>
            <p:nvPr/>
          </p:nvSpPr>
          <p:spPr bwMode="gray">
            <a:xfrm>
              <a:off x="6524118" y="3057872"/>
              <a:ext cx="2204637" cy="371128"/>
            </a:xfrm>
            <a:prstGeom prst="homePlate">
              <a:avLst>
                <a:gd name="adj" fmla="val 29950"/>
              </a:avLst>
            </a:prstGeom>
            <a:gradFill flip="none" rotWithShape="1">
              <a:gsLst>
                <a:gs pos="0">
                  <a:srgbClr val="E31937"/>
                </a:gs>
                <a:gs pos="60000">
                  <a:srgbClr val="A82465"/>
                </a:gs>
                <a:gs pos="100000">
                  <a:srgbClr val="5236AB"/>
                </a:gs>
              </a:gsLst>
              <a:lin ang="0" scaled="1"/>
              <a:tileRect/>
            </a:gradFill>
            <a:ln w="28575">
              <a:noFill/>
              <a:prstDash val="solid"/>
              <a:miter lim="800000"/>
            </a:ln>
            <a:effectLst/>
          </p:spPr>
          <p:txBody>
            <a:bodyPr lIns="182880" tIns="0" rIns="182880" bIns="0" anchor="ctr"/>
            <a:lstStyle/>
            <a:p>
              <a:pPr>
                <a:spcBef>
                  <a:spcPct val="0"/>
                </a:spcBef>
                <a:buClr>
                  <a:srgbClr val="FFFFFF"/>
                </a:buClr>
                <a:buSzPct val="90000"/>
                <a:defRPr/>
              </a:pPr>
              <a:r>
                <a:rPr lang="fr-FR" sz="1400" b="1" cap="small">
                  <a:solidFill>
                    <a:srgbClr val="FFFFFF"/>
                  </a:solidFill>
                  <a:latin typeface="ADLaM Display" panose="02010000000000000000" pitchFamily="2" charset="0"/>
                  <a:ea typeface="ADLaM Display" panose="02010000000000000000" pitchFamily="2" charset="0"/>
                  <a:cs typeface="ADLaM Display" panose="02010000000000000000" pitchFamily="2" charset="0"/>
                </a:rPr>
                <a:t>Secteurs d’activité</a:t>
              </a:r>
            </a:p>
          </p:txBody>
        </p:sp>
      </p:grpSp>
      <p:grpSp>
        <p:nvGrpSpPr>
          <p:cNvPr id="45" name="Groupe 44">
            <a:extLst>
              <a:ext uri="{FF2B5EF4-FFF2-40B4-BE49-F238E27FC236}">
                <a16:creationId xmlns:a16="http://schemas.microsoft.com/office/drawing/2014/main" id="{9AF0A451-9171-C9BD-E86D-D51C19E3DE63}"/>
              </a:ext>
            </a:extLst>
          </p:cNvPr>
          <p:cNvGrpSpPr/>
          <p:nvPr/>
        </p:nvGrpSpPr>
        <p:grpSpPr>
          <a:xfrm>
            <a:off x="3529830" y="5500706"/>
            <a:ext cx="5132339" cy="993592"/>
            <a:chOff x="2437039" y="4514001"/>
            <a:chExt cx="5132339" cy="993592"/>
          </a:xfrm>
        </p:grpSpPr>
        <p:grpSp>
          <p:nvGrpSpPr>
            <p:cNvPr id="46" name="Groupe 45">
              <a:extLst>
                <a:ext uri="{FF2B5EF4-FFF2-40B4-BE49-F238E27FC236}">
                  <a16:creationId xmlns:a16="http://schemas.microsoft.com/office/drawing/2014/main" id="{9E50ECCE-2E38-F831-2A4F-ACA8496E28B2}"/>
                </a:ext>
              </a:extLst>
            </p:cNvPr>
            <p:cNvGrpSpPr/>
            <p:nvPr/>
          </p:nvGrpSpPr>
          <p:grpSpPr>
            <a:xfrm>
              <a:off x="2437039" y="4567479"/>
              <a:ext cx="5132339" cy="940114"/>
              <a:chOff x="2437039" y="4567479"/>
              <a:chExt cx="5132339" cy="940114"/>
            </a:xfrm>
          </p:grpSpPr>
          <p:sp>
            <p:nvSpPr>
              <p:cNvPr id="54" name="Title 62">
                <a:extLst>
                  <a:ext uri="{FF2B5EF4-FFF2-40B4-BE49-F238E27FC236}">
                    <a16:creationId xmlns:a16="http://schemas.microsoft.com/office/drawing/2014/main" id="{68AF11E9-DDF3-EA3D-A7AE-7E5F755E2C9A}"/>
                  </a:ext>
                </a:extLst>
              </p:cNvPr>
              <p:cNvSpPr txBox="1"/>
              <p:nvPr/>
            </p:nvSpPr>
            <p:spPr>
              <a:xfrm>
                <a:off x="3991905" y="5104122"/>
                <a:ext cx="810952" cy="345428"/>
              </a:xfrm>
              <a:prstGeom prst="rect">
                <a:avLst/>
              </a:prstGeom>
            </p:spPr>
            <p:txBody>
              <a:bodyPr vert="horz" lIns="91440" tIns="45720" rIns="91440" bIns="45720" rtlCol="0" anchor="ctr" anchorCtr="0">
                <a:noAutofit/>
              </a:bodyPr>
              <a:lstStyle>
                <a:defPPr marR="0" lvl="0" algn="l" rtl="0">
                  <a:lnSpc>
                    <a:spcPct val="100000"/>
                  </a:lnSpc>
                  <a:spcBef>
                    <a:spcPts val="0"/>
                  </a:spcBef>
                  <a:spcAft>
                    <a:spcPts val="0"/>
                  </a:spcAft>
                  <a:defRPr/>
                </a:defPPr>
                <a:lvl1pPr algn="ctr" defTabSz="685800" eaLnBrk="1" latinLnBrk="0" hangingPunct="1">
                  <a:lnSpc>
                    <a:spcPts val="920"/>
                  </a:lnSpc>
                  <a:spcBef>
                    <a:spcPct val="0"/>
                  </a:spcBef>
                  <a:buClrTx/>
                  <a:buFontTx/>
                  <a:buNone/>
                  <a:defRPr sz="800" b="1" kern="1200">
                    <a:latin typeface="+mj-lt"/>
                    <a:ea typeface="Arial" panose="020B0604020202020204" pitchFamily="34" charset="0"/>
                    <a:cs typeface="Arial" panose="020B0604020202020204" pitchFamily="34" charset="0"/>
                  </a:defRPr>
                </a:lvl1pPr>
              </a:lstStyle>
              <a:p>
                <a:r>
                  <a:rPr lang="fr-CA" b="0">
                    <a:latin typeface="ADLaM Display" panose="02010000000000000000" pitchFamily="2" charset="0"/>
                    <a:ea typeface="ADLaM Display" panose="02010000000000000000" pitchFamily="2" charset="0"/>
                    <a:cs typeface="ADLaM Display" panose="02010000000000000000" pitchFamily="2" charset="0"/>
                  </a:rPr>
                  <a:t>INDUSTRIE</a:t>
                </a:r>
                <a:endParaRPr lang="en-US" b="0">
                  <a:latin typeface="ADLaM Display" panose="02010000000000000000" pitchFamily="2" charset="0"/>
                  <a:ea typeface="ADLaM Display" panose="02010000000000000000" pitchFamily="2" charset="0"/>
                  <a:cs typeface="ADLaM Display" panose="02010000000000000000" pitchFamily="2" charset="0"/>
                </a:endParaRPr>
              </a:p>
            </p:txBody>
          </p:sp>
          <p:sp>
            <p:nvSpPr>
              <p:cNvPr id="55" name="Title 62">
                <a:extLst>
                  <a:ext uri="{FF2B5EF4-FFF2-40B4-BE49-F238E27FC236}">
                    <a16:creationId xmlns:a16="http://schemas.microsoft.com/office/drawing/2014/main" id="{A082019D-AC14-51F6-DE01-43977978954D}"/>
                  </a:ext>
                </a:extLst>
              </p:cNvPr>
              <p:cNvSpPr txBox="1"/>
              <p:nvPr/>
            </p:nvSpPr>
            <p:spPr>
              <a:xfrm>
                <a:off x="6672796" y="5120159"/>
                <a:ext cx="896582" cy="345428"/>
              </a:xfrm>
              <a:prstGeom prst="rect">
                <a:avLst/>
              </a:prstGeom>
            </p:spPr>
            <p:txBody>
              <a:bodyPr vert="horz" lIns="91440" tIns="45720" rIns="91440" bIns="45720" rtlCol="0" anchor="ctr"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ts val="920"/>
                  </a:lnSpc>
                  <a:buClrTx/>
                </a:pPr>
                <a:r>
                  <a:rPr lang="fr-CA" sz="800">
                    <a:latin typeface="ADLaM Display" panose="02010000000000000000" pitchFamily="2" charset="0"/>
                    <a:ea typeface="ADLaM Display" panose="02010000000000000000" pitchFamily="2" charset="0"/>
                    <a:cs typeface="ADLaM Display" panose="02010000000000000000" pitchFamily="2" charset="0"/>
                  </a:rPr>
                  <a:t>TRANSPORT</a:t>
                </a:r>
                <a:endParaRPr lang="en-US" sz="800">
                  <a:latin typeface="ADLaM Display" panose="02010000000000000000" pitchFamily="2" charset="0"/>
                  <a:ea typeface="ADLaM Display" panose="02010000000000000000" pitchFamily="2" charset="0"/>
                  <a:cs typeface="ADLaM Display" panose="02010000000000000000" pitchFamily="2" charset="0"/>
                </a:endParaRPr>
              </a:p>
              <a:p>
                <a:pPr>
                  <a:lnSpc>
                    <a:spcPts val="920"/>
                  </a:lnSpc>
                </a:pPr>
                <a:r>
                  <a:rPr lang="fr-CA" sz="800">
                    <a:latin typeface="ADLaM Display" panose="02010000000000000000" pitchFamily="2" charset="0"/>
                    <a:ea typeface="ADLaM Display" panose="02010000000000000000" pitchFamily="2" charset="0"/>
                    <a:cs typeface="ADLaM Display" panose="02010000000000000000" pitchFamily="2" charset="0"/>
                  </a:rPr>
                  <a:t>POSTE</a:t>
                </a:r>
              </a:p>
              <a:p>
                <a:pPr>
                  <a:lnSpc>
                    <a:spcPts val="920"/>
                  </a:lnSpc>
                </a:pPr>
                <a:r>
                  <a:rPr lang="fr-CA" sz="800">
                    <a:latin typeface="ADLaM Display" panose="02010000000000000000" pitchFamily="2" charset="0"/>
                    <a:ea typeface="ADLaM Display" panose="02010000000000000000" pitchFamily="2" charset="0"/>
                    <a:cs typeface="ADLaM Display" panose="02010000000000000000" pitchFamily="2" charset="0"/>
                  </a:rPr>
                  <a:t>LOGISTIQUE</a:t>
                </a:r>
              </a:p>
            </p:txBody>
          </p:sp>
          <p:sp>
            <p:nvSpPr>
              <p:cNvPr id="56" name="Title 62">
                <a:extLst>
                  <a:ext uri="{FF2B5EF4-FFF2-40B4-BE49-F238E27FC236}">
                    <a16:creationId xmlns:a16="http://schemas.microsoft.com/office/drawing/2014/main" id="{0AC68CAE-B9C8-80AA-9E86-3467FCEE15E8}"/>
                  </a:ext>
                </a:extLst>
              </p:cNvPr>
              <p:cNvSpPr txBox="1"/>
              <p:nvPr/>
            </p:nvSpPr>
            <p:spPr>
              <a:xfrm>
                <a:off x="3300132" y="5162165"/>
                <a:ext cx="810638" cy="345428"/>
              </a:xfrm>
              <a:prstGeom prst="rect">
                <a:avLst/>
              </a:prstGeom>
            </p:spPr>
            <p:txBody>
              <a:bodyPr vert="horz" lIns="91440" tIns="45720" rIns="91440" bIns="45720" rtlCol="0" anchor="ctr" anchorCtr="0">
                <a:noAutofit/>
              </a:bodyPr>
              <a:lstStyle>
                <a:defPPr marR="0" lvl="0" algn="l" rtl="0">
                  <a:lnSpc>
                    <a:spcPct val="100000"/>
                  </a:lnSpc>
                  <a:spcBef>
                    <a:spcPts val="0"/>
                  </a:spcBef>
                  <a:spcAft>
                    <a:spcPts val="0"/>
                  </a:spcAft>
                  <a:defRPr/>
                </a:defPPr>
                <a:lvl1pPr algn="ctr" defTabSz="685800" eaLnBrk="1" latinLnBrk="0" hangingPunct="1">
                  <a:lnSpc>
                    <a:spcPts val="920"/>
                  </a:lnSpc>
                  <a:spcBef>
                    <a:spcPct val="0"/>
                  </a:spcBef>
                  <a:buClrTx/>
                  <a:buFontTx/>
                  <a:buNone/>
                  <a:defRPr sz="800" b="1" kern="1200">
                    <a:latin typeface="+mj-lt"/>
                    <a:ea typeface="Arial" panose="020B0604020202020204" pitchFamily="34" charset="0"/>
                    <a:cs typeface="Arial" panose="020B0604020202020204" pitchFamily="34" charset="0"/>
                  </a:defRPr>
                </a:lvl1pPr>
              </a:lstStyle>
              <a:p>
                <a:r>
                  <a:rPr lang="fr-CA" b="0">
                    <a:latin typeface="ADLaM Display" panose="02010000000000000000" pitchFamily="2" charset="0"/>
                    <a:ea typeface="ADLaM Display" panose="02010000000000000000" pitchFamily="2" charset="0"/>
                    <a:cs typeface="ADLaM Display" panose="02010000000000000000" pitchFamily="2" charset="0"/>
                  </a:rPr>
                  <a:t>ÉNERGIE </a:t>
                </a:r>
              </a:p>
              <a:p>
                <a:r>
                  <a:rPr lang="fr-CA" b="0">
                    <a:latin typeface="ADLaM Display" panose="02010000000000000000" pitchFamily="2" charset="0"/>
                    <a:ea typeface="ADLaM Display" panose="02010000000000000000" pitchFamily="2" charset="0"/>
                    <a:cs typeface="ADLaM Display" panose="02010000000000000000" pitchFamily="2" charset="0"/>
                  </a:rPr>
                  <a:t>&amp; UTILITÉS</a:t>
                </a:r>
                <a:endParaRPr lang="en-US" b="0">
                  <a:latin typeface="ADLaM Display" panose="02010000000000000000" pitchFamily="2" charset="0"/>
                  <a:ea typeface="ADLaM Display" panose="02010000000000000000" pitchFamily="2" charset="0"/>
                  <a:cs typeface="ADLaM Display" panose="02010000000000000000" pitchFamily="2" charset="0"/>
                </a:endParaRPr>
              </a:p>
            </p:txBody>
          </p:sp>
          <p:sp>
            <p:nvSpPr>
              <p:cNvPr id="57" name="Title 62">
                <a:extLst>
                  <a:ext uri="{FF2B5EF4-FFF2-40B4-BE49-F238E27FC236}">
                    <a16:creationId xmlns:a16="http://schemas.microsoft.com/office/drawing/2014/main" id="{6D5EC62B-5D7D-8CBD-3918-D42FFDA3B7BC}"/>
                  </a:ext>
                </a:extLst>
              </p:cNvPr>
              <p:cNvSpPr txBox="1"/>
              <p:nvPr/>
            </p:nvSpPr>
            <p:spPr>
              <a:xfrm>
                <a:off x="5242770" y="5146958"/>
                <a:ext cx="994232" cy="344598"/>
              </a:xfrm>
              <a:prstGeom prst="rect">
                <a:avLst/>
              </a:prstGeom>
            </p:spPr>
            <p:txBody>
              <a:bodyPr vert="horz" lIns="91440" tIns="45720" rIns="91440" bIns="45720" rtlCol="0" anchor="ctr" anchorCtr="0">
                <a:noAutofit/>
              </a:bodyPr>
              <a:lstStyle>
                <a:defPPr marR="0" lvl="0" algn="l" rtl="0">
                  <a:lnSpc>
                    <a:spcPct val="100000"/>
                  </a:lnSpc>
                  <a:spcBef>
                    <a:spcPts val="0"/>
                  </a:spcBef>
                  <a:spcAft>
                    <a:spcPts val="0"/>
                  </a:spcAft>
                </a:defPPr>
                <a:lvl1pPr algn="ctr" defTabSz="685800" eaLnBrk="1" latinLnBrk="0" hangingPunct="1">
                  <a:lnSpc>
                    <a:spcPts val="920"/>
                  </a:lnSpc>
                  <a:spcBef>
                    <a:spcPct val="0"/>
                  </a:spcBef>
                  <a:buClrTx/>
                  <a:buFontTx/>
                  <a:buNone/>
                  <a:defRPr sz="600" b="1" kern="1200">
                    <a:latin typeface="+mj-lt"/>
                    <a:ea typeface="Arial" panose="020B0604020202020204" pitchFamily="34" charset="0"/>
                    <a:cs typeface="Arial" panose="020B0604020202020204" pitchFamily="34" charset="0"/>
                  </a:defRPr>
                </a:lvl1pPr>
              </a:lstStyle>
              <a:p>
                <a:r>
                  <a:rPr lang="fr-CA" sz="800" b="0">
                    <a:latin typeface="ADLaM Display" panose="02010000000000000000" pitchFamily="2" charset="0"/>
                    <a:ea typeface="ADLaM Display" panose="02010000000000000000" pitchFamily="2" charset="0"/>
                    <a:cs typeface="ADLaM Display" panose="02010000000000000000" pitchFamily="2" charset="0"/>
                  </a:rPr>
                  <a:t>SERVICES FINANCIERS</a:t>
                </a:r>
                <a:endParaRPr lang="en-US" sz="800" b="0">
                  <a:latin typeface="ADLaM Display" panose="02010000000000000000" pitchFamily="2" charset="0"/>
                  <a:ea typeface="ADLaM Display" panose="02010000000000000000" pitchFamily="2" charset="0"/>
                  <a:cs typeface="ADLaM Display" panose="02010000000000000000" pitchFamily="2" charset="0"/>
                </a:endParaRPr>
              </a:p>
            </p:txBody>
          </p:sp>
          <p:sp>
            <p:nvSpPr>
              <p:cNvPr id="58" name="Title 62">
                <a:extLst>
                  <a:ext uri="{FF2B5EF4-FFF2-40B4-BE49-F238E27FC236}">
                    <a16:creationId xmlns:a16="http://schemas.microsoft.com/office/drawing/2014/main" id="{88680546-158E-114D-3D93-C613BB923048}"/>
                  </a:ext>
                </a:extLst>
              </p:cNvPr>
              <p:cNvSpPr txBox="1"/>
              <p:nvPr/>
            </p:nvSpPr>
            <p:spPr>
              <a:xfrm>
                <a:off x="2437039" y="5141761"/>
                <a:ext cx="1096456" cy="344598"/>
              </a:xfrm>
              <a:prstGeom prst="rect">
                <a:avLst/>
              </a:prstGeom>
            </p:spPr>
            <p:txBody>
              <a:bodyPr vert="horz" lIns="91440" tIns="45720" rIns="91440" bIns="45720" rtlCol="0" anchor="ctr" anchorCtr="0">
                <a:noAutofit/>
              </a:bodyPr>
              <a:lstStyle>
                <a:defPPr marR="0" lvl="0" algn="l" rtl="0">
                  <a:lnSpc>
                    <a:spcPct val="100000"/>
                  </a:lnSpc>
                  <a:spcBef>
                    <a:spcPts val="0"/>
                  </a:spcBef>
                  <a:spcAft>
                    <a:spcPts val="0"/>
                  </a:spcAft>
                </a:defPPr>
                <a:lvl1pPr algn="ctr" defTabSz="685800" eaLnBrk="1" latinLnBrk="0" hangingPunct="1">
                  <a:lnSpc>
                    <a:spcPts val="920"/>
                  </a:lnSpc>
                  <a:spcBef>
                    <a:spcPct val="0"/>
                  </a:spcBef>
                  <a:buClrTx/>
                  <a:buFontTx/>
                  <a:buNone/>
                  <a:defRPr sz="600" b="1" kern="1200">
                    <a:latin typeface="+mj-lt"/>
                    <a:ea typeface="Arial" panose="020B0604020202020204" pitchFamily="34" charset="0"/>
                    <a:cs typeface="Arial" panose="020B0604020202020204" pitchFamily="34" charset="0"/>
                  </a:defRPr>
                </a:lvl1pPr>
              </a:lstStyle>
              <a:p>
                <a:r>
                  <a:rPr lang="fr-CA" sz="800" b="0">
                    <a:latin typeface="ADLaM Display" panose="02010000000000000000" pitchFamily="2" charset="0"/>
                    <a:ea typeface="ADLaM Display" panose="02010000000000000000" pitchFamily="2" charset="0"/>
                    <a:cs typeface="ADLaM Display" panose="02010000000000000000" pitchFamily="2" charset="0"/>
                  </a:rPr>
                  <a:t>CPG, </a:t>
                </a:r>
                <a:br>
                  <a:rPr lang="fr-CA" sz="800" b="0">
                    <a:latin typeface="ADLaM Display" panose="02010000000000000000" pitchFamily="2" charset="0"/>
                    <a:ea typeface="ADLaM Display" panose="02010000000000000000" pitchFamily="2" charset="0"/>
                    <a:cs typeface="ADLaM Display" panose="02010000000000000000" pitchFamily="2" charset="0"/>
                  </a:rPr>
                </a:br>
                <a:r>
                  <a:rPr lang="fr-CA" sz="800" b="0">
                    <a:latin typeface="ADLaM Display" panose="02010000000000000000" pitchFamily="2" charset="0"/>
                    <a:ea typeface="ADLaM Display" panose="02010000000000000000" pitchFamily="2" charset="0"/>
                    <a:cs typeface="ADLaM Display" panose="02010000000000000000" pitchFamily="2" charset="0"/>
                  </a:rPr>
                  <a:t>RETAIL, LUXE</a:t>
                </a:r>
                <a:endParaRPr lang="en-US" sz="800" b="0">
                  <a:latin typeface="ADLaM Display" panose="02010000000000000000" pitchFamily="2" charset="0"/>
                  <a:ea typeface="ADLaM Display" panose="02010000000000000000" pitchFamily="2" charset="0"/>
                  <a:cs typeface="ADLaM Display" panose="02010000000000000000" pitchFamily="2" charset="0"/>
                </a:endParaRPr>
              </a:p>
            </p:txBody>
          </p:sp>
          <p:sp>
            <p:nvSpPr>
              <p:cNvPr id="59" name="Title 62">
                <a:extLst>
                  <a:ext uri="{FF2B5EF4-FFF2-40B4-BE49-F238E27FC236}">
                    <a16:creationId xmlns:a16="http://schemas.microsoft.com/office/drawing/2014/main" id="{26AE8FA2-D9CD-60CE-987C-2FBDF309F961}"/>
                  </a:ext>
                </a:extLst>
              </p:cNvPr>
              <p:cNvSpPr txBox="1"/>
              <p:nvPr/>
            </p:nvSpPr>
            <p:spPr>
              <a:xfrm>
                <a:off x="5944875" y="5145932"/>
                <a:ext cx="891416" cy="345428"/>
              </a:xfrm>
              <a:prstGeom prst="rect">
                <a:avLst/>
              </a:prstGeom>
            </p:spPr>
            <p:txBody>
              <a:bodyPr vert="horz" lIns="91440" tIns="45720" rIns="91440" bIns="45720" rtlCol="0" anchor="ctr" anchorCtr="0">
                <a:noAutofit/>
              </a:bodyPr>
              <a:lstStyle>
                <a:defPPr marR="0" lvl="0" algn="l" rtl="0">
                  <a:lnSpc>
                    <a:spcPct val="100000"/>
                  </a:lnSpc>
                  <a:spcBef>
                    <a:spcPts val="0"/>
                  </a:spcBef>
                  <a:spcAft>
                    <a:spcPts val="0"/>
                  </a:spcAft>
                  <a:defRPr/>
                </a:defPPr>
                <a:lvl1pPr algn="ctr" defTabSz="685800" eaLnBrk="1" latinLnBrk="0" hangingPunct="1">
                  <a:lnSpc>
                    <a:spcPts val="920"/>
                  </a:lnSpc>
                  <a:spcBef>
                    <a:spcPct val="0"/>
                  </a:spcBef>
                  <a:buClrTx/>
                  <a:buFontTx/>
                  <a:buNone/>
                  <a:defRPr sz="800" b="1" kern="1200">
                    <a:latin typeface="+mj-lt"/>
                    <a:ea typeface="Arial" panose="020B0604020202020204" pitchFamily="34" charset="0"/>
                    <a:cs typeface="Arial" panose="020B0604020202020204" pitchFamily="34" charset="0"/>
                  </a:defRPr>
                </a:lvl1pPr>
              </a:lstStyle>
              <a:p>
                <a:r>
                  <a:rPr lang="fr-CA" b="0">
                    <a:latin typeface="ADLaM Display" panose="02010000000000000000" pitchFamily="2" charset="0"/>
                    <a:ea typeface="ADLaM Display" panose="02010000000000000000" pitchFamily="2" charset="0"/>
                    <a:cs typeface="ADLaM Display" panose="02010000000000000000" pitchFamily="2" charset="0"/>
                  </a:rPr>
                  <a:t>TÉLÉCOM </a:t>
                </a:r>
                <a:br>
                  <a:rPr lang="fr-CA" b="0">
                    <a:latin typeface="ADLaM Display" panose="02010000000000000000" pitchFamily="2" charset="0"/>
                    <a:ea typeface="ADLaM Display" panose="02010000000000000000" pitchFamily="2" charset="0"/>
                    <a:cs typeface="ADLaM Display" panose="02010000000000000000" pitchFamily="2" charset="0"/>
                  </a:rPr>
                </a:br>
                <a:r>
                  <a:rPr lang="fr-CA" b="0">
                    <a:latin typeface="ADLaM Display" panose="02010000000000000000" pitchFamily="2" charset="0"/>
                    <a:ea typeface="ADLaM Display" panose="02010000000000000000" pitchFamily="2" charset="0"/>
                    <a:cs typeface="ADLaM Display" panose="02010000000000000000" pitchFamily="2" charset="0"/>
                  </a:rPr>
                  <a:t>&amp; MEDIAS</a:t>
                </a:r>
                <a:endParaRPr lang="en-US" b="0">
                  <a:latin typeface="ADLaM Display" panose="02010000000000000000" pitchFamily="2" charset="0"/>
                  <a:ea typeface="ADLaM Display" panose="02010000000000000000" pitchFamily="2" charset="0"/>
                  <a:cs typeface="ADLaM Display" panose="02010000000000000000" pitchFamily="2" charset="0"/>
                </a:endParaRPr>
              </a:p>
            </p:txBody>
          </p:sp>
          <p:sp>
            <p:nvSpPr>
              <p:cNvPr id="60" name="Title 62">
                <a:extLst>
                  <a:ext uri="{FF2B5EF4-FFF2-40B4-BE49-F238E27FC236}">
                    <a16:creationId xmlns:a16="http://schemas.microsoft.com/office/drawing/2014/main" id="{79C1949E-14C6-77A7-B0EB-D4600C52FECE}"/>
                  </a:ext>
                </a:extLst>
              </p:cNvPr>
              <p:cNvSpPr txBox="1"/>
              <p:nvPr/>
            </p:nvSpPr>
            <p:spPr>
              <a:xfrm>
                <a:off x="4734073" y="5139151"/>
                <a:ext cx="785284" cy="345428"/>
              </a:xfrm>
              <a:prstGeom prst="rect">
                <a:avLst/>
              </a:prstGeom>
            </p:spPr>
            <p:txBody>
              <a:bodyPr vert="horz" lIns="91440" tIns="45720" rIns="91440" bIns="45720" rtlCol="0" anchor="ctr" anchorCtr="0">
                <a:noAutofit/>
              </a:bodyPr>
              <a:lstStyle>
                <a:defPPr marR="0" lvl="0" algn="l" rtl="0">
                  <a:lnSpc>
                    <a:spcPct val="100000"/>
                  </a:lnSpc>
                  <a:spcBef>
                    <a:spcPts val="0"/>
                  </a:spcBef>
                  <a:spcAft>
                    <a:spcPts val="0"/>
                  </a:spcAft>
                  <a:defRPr/>
                </a:defPPr>
                <a:lvl1pPr algn="ctr" defTabSz="685800" eaLnBrk="1" latinLnBrk="0" hangingPunct="1">
                  <a:lnSpc>
                    <a:spcPts val="920"/>
                  </a:lnSpc>
                  <a:spcBef>
                    <a:spcPct val="0"/>
                  </a:spcBef>
                  <a:buClrTx/>
                  <a:buFontTx/>
                  <a:buNone/>
                  <a:defRPr sz="800" b="1" kern="1200">
                    <a:latin typeface="+mj-lt"/>
                    <a:ea typeface="Arial" panose="020B0604020202020204" pitchFamily="34" charset="0"/>
                    <a:cs typeface="Arial" panose="020B0604020202020204" pitchFamily="34" charset="0"/>
                  </a:defRPr>
                </a:lvl1pPr>
              </a:lstStyle>
              <a:p>
                <a:r>
                  <a:rPr lang="fr-CA" b="0">
                    <a:latin typeface="ADLaM Display" panose="02010000000000000000" pitchFamily="2" charset="0"/>
                    <a:ea typeface="ADLaM Display" panose="02010000000000000000" pitchFamily="2" charset="0"/>
                    <a:cs typeface="ADLaM Display" panose="02010000000000000000" pitchFamily="2" charset="0"/>
                  </a:rPr>
                  <a:t>PÉTROLE </a:t>
                </a:r>
                <a:br>
                  <a:rPr lang="fr-CA" b="0">
                    <a:latin typeface="ADLaM Display" panose="02010000000000000000" pitchFamily="2" charset="0"/>
                    <a:ea typeface="ADLaM Display" panose="02010000000000000000" pitchFamily="2" charset="0"/>
                    <a:cs typeface="ADLaM Display" panose="02010000000000000000" pitchFamily="2" charset="0"/>
                  </a:rPr>
                </a:br>
                <a:r>
                  <a:rPr lang="fr-CA" b="0">
                    <a:latin typeface="ADLaM Display" panose="02010000000000000000" pitchFamily="2" charset="0"/>
                    <a:ea typeface="ADLaM Display" panose="02010000000000000000" pitchFamily="2" charset="0"/>
                    <a:cs typeface="ADLaM Display" panose="02010000000000000000" pitchFamily="2" charset="0"/>
                  </a:rPr>
                  <a:t>&amp; GAZ</a:t>
                </a:r>
                <a:endParaRPr lang="en-US" b="0">
                  <a:latin typeface="ADLaM Display" panose="02010000000000000000" pitchFamily="2" charset="0"/>
                  <a:ea typeface="ADLaM Display" panose="02010000000000000000" pitchFamily="2" charset="0"/>
                  <a:cs typeface="ADLaM Display" panose="02010000000000000000" pitchFamily="2" charset="0"/>
                </a:endParaRPr>
              </a:p>
            </p:txBody>
          </p:sp>
          <p:grpSp>
            <p:nvGrpSpPr>
              <p:cNvPr id="61" name="Group 346">
                <a:extLst>
                  <a:ext uri="{FF2B5EF4-FFF2-40B4-BE49-F238E27FC236}">
                    <a16:creationId xmlns:a16="http://schemas.microsoft.com/office/drawing/2014/main" id="{482426BA-A86C-879D-93E9-8437719B77F5}"/>
                  </a:ext>
                </a:extLst>
              </p:cNvPr>
              <p:cNvGrpSpPr>
                <a:grpSpLocks noChangeAspect="1"/>
              </p:cNvGrpSpPr>
              <p:nvPr/>
            </p:nvGrpSpPr>
            <p:grpSpPr>
              <a:xfrm>
                <a:off x="2800552" y="4703069"/>
                <a:ext cx="321202" cy="250260"/>
                <a:chOff x="3861372" y="2656690"/>
                <a:chExt cx="289298" cy="225401"/>
              </a:xfrm>
            </p:grpSpPr>
            <p:sp>
              <p:nvSpPr>
                <p:cNvPr id="95" name="Freeform 60">
                  <a:extLst>
                    <a:ext uri="{FF2B5EF4-FFF2-40B4-BE49-F238E27FC236}">
                      <a16:creationId xmlns:a16="http://schemas.microsoft.com/office/drawing/2014/main" id="{063F2864-02D5-CB6E-CB33-4CB92B362A2B}"/>
                    </a:ext>
                  </a:extLst>
                </p:cNvPr>
                <p:cNvSpPr/>
                <p:nvPr/>
              </p:nvSpPr>
              <p:spPr>
                <a:xfrm>
                  <a:off x="3919974" y="2835800"/>
                  <a:ext cx="46394" cy="46291"/>
                </a:xfrm>
                <a:custGeom>
                  <a:avLst/>
                  <a:gdLst>
                    <a:gd name="connsiteX0" fmla="*/ 23201 w 46394"/>
                    <a:gd name="connsiteY0" fmla="*/ 0 h 46291"/>
                    <a:gd name="connsiteX1" fmla="*/ 0 w 46394"/>
                    <a:gd name="connsiteY1" fmla="*/ 23145 h 46291"/>
                    <a:gd name="connsiteX2" fmla="*/ 23201 w 46394"/>
                    <a:gd name="connsiteY2" fmla="*/ 46291 h 46291"/>
                    <a:gd name="connsiteX3" fmla="*/ 46395 w 46394"/>
                    <a:gd name="connsiteY3" fmla="*/ 23145 h 46291"/>
                    <a:gd name="connsiteX4" fmla="*/ 23201 w 46394"/>
                    <a:gd name="connsiteY4" fmla="*/ 0 h 46291"/>
                    <a:gd name="connsiteX5" fmla="*/ 23201 w 46394"/>
                    <a:gd name="connsiteY5" fmla="*/ 37522 h 46291"/>
                    <a:gd name="connsiteX6" fmla="*/ 8789 w 46394"/>
                    <a:gd name="connsiteY6" fmla="*/ 23144 h 46291"/>
                    <a:gd name="connsiteX7" fmla="*/ 23201 w 46394"/>
                    <a:gd name="connsiteY7" fmla="*/ 8769 h 46291"/>
                    <a:gd name="connsiteX8" fmla="*/ 37605 w 46394"/>
                    <a:gd name="connsiteY8" fmla="*/ 23145 h 46291"/>
                    <a:gd name="connsiteX9" fmla="*/ 23201 w 46394"/>
                    <a:gd name="connsiteY9" fmla="*/ 37522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394" h="46291">
                      <a:moveTo>
                        <a:pt x="23201" y="0"/>
                      </a:moveTo>
                      <a:cubicBezTo>
                        <a:pt x="10383" y="0"/>
                        <a:pt x="0" y="10362"/>
                        <a:pt x="0" y="23145"/>
                      </a:cubicBezTo>
                      <a:cubicBezTo>
                        <a:pt x="0" y="35928"/>
                        <a:pt x="10383" y="46291"/>
                        <a:pt x="23201" y="46291"/>
                      </a:cubicBezTo>
                      <a:cubicBezTo>
                        <a:pt x="36011" y="46291"/>
                        <a:pt x="46395" y="35928"/>
                        <a:pt x="46395" y="23145"/>
                      </a:cubicBezTo>
                      <a:cubicBezTo>
                        <a:pt x="46380" y="10368"/>
                        <a:pt x="36004" y="14"/>
                        <a:pt x="23201" y="0"/>
                      </a:cubicBezTo>
                      <a:close/>
                      <a:moveTo>
                        <a:pt x="23201" y="37522"/>
                      </a:moveTo>
                      <a:cubicBezTo>
                        <a:pt x="15238" y="37521"/>
                        <a:pt x="8789" y="31084"/>
                        <a:pt x="8789" y="23144"/>
                      </a:cubicBezTo>
                      <a:cubicBezTo>
                        <a:pt x="8789" y="15204"/>
                        <a:pt x="15245" y="8768"/>
                        <a:pt x="23201" y="8769"/>
                      </a:cubicBezTo>
                      <a:cubicBezTo>
                        <a:pt x="31157" y="8770"/>
                        <a:pt x="37605" y="15206"/>
                        <a:pt x="37605" y="23145"/>
                      </a:cubicBezTo>
                      <a:cubicBezTo>
                        <a:pt x="37598" y="31082"/>
                        <a:pt x="31149" y="37513"/>
                        <a:pt x="23201" y="37522"/>
                      </a:cubicBezTo>
                      <a:close/>
                    </a:path>
                  </a:pathLst>
                </a:custGeom>
                <a:solidFill>
                  <a:srgbClr val="000000"/>
                </a:solidFill>
                <a:ln w="72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6" name="Freeform 61">
                  <a:extLst>
                    <a:ext uri="{FF2B5EF4-FFF2-40B4-BE49-F238E27FC236}">
                      <a16:creationId xmlns:a16="http://schemas.microsoft.com/office/drawing/2014/main" id="{D0FDC465-6B65-4376-69F8-57BAFA6C6446}"/>
                    </a:ext>
                  </a:extLst>
                </p:cNvPr>
                <p:cNvSpPr/>
                <p:nvPr/>
              </p:nvSpPr>
              <p:spPr>
                <a:xfrm>
                  <a:off x="4029479" y="2835800"/>
                  <a:ext cx="46394" cy="46291"/>
                </a:xfrm>
                <a:custGeom>
                  <a:avLst/>
                  <a:gdLst>
                    <a:gd name="connsiteX0" fmla="*/ 23201 w 46394"/>
                    <a:gd name="connsiteY0" fmla="*/ 0 h 46291"/>
                    <a:gd name="connsiteX1" fmla="*/ 0 w 46394"/>
                    <a:gd name="connsiteY1" fmla="*/ 23145 h 46291"/>
                    <a:gd name="connsiteX2" fmla="*/ 23201 w 46394"/>
                    <a:gd name="connsiteY2" fmla="*/ 46291 h 46291"/>
                    <a:gd name="connsiteX3" fmla="*/ 46395 w 46394"/>
                    <a:gd name="connsiteY3" fmla="*/ 23145 h 46291"/>
                    <a:gd name="connsiteX4" fmla="*/ 23201 w 46394"/>
                    <a:gd name="connsiteY4" fmla="*/ 0 h 46291"/>
                    <a:gd name="connsiteX5" fmla="*/ 23201 w 46394"/>
                    <a:gd name="connsiteY5" fmla="*/ 37522 h 46291"/>
                    <a:gd name="connsiteX6" fmla="*/ 8789 w 46394"/>
                    <a:gd name="connsiteY6" fmla="*/ 23145 h 46291"/>
                    <a:gd name="connsiteX7" fmla="*/ 23201 w 46394"/>
                    <a:gd name="connsiteY7" fmla="*/ 8769 h 46291"/>
                    <a:gd name="connsiteX8" fmla="*/ 37606 w 46394"/>
                    <a:gd name="connsiteY8" fmla="*/ 23145 h 46291"/>
                    <a:gd name="connsiteX9" fmla="*/ 23201 w 46394"/>
                    <a:gd name="connsiteY9" fmla="*/ 37522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394" h="46291">
                      <a:moveTo>
                        <a:pt x="23201" y="0"/>
                      </a:moveTo>
                      <a:cubicBezTo>
                        <a:pt x="10383" y="0"/>
                        <a:pt x="0" y="10362"/>
                        <a:pt x="0" y="23145"/>
                      </a:cubicBezTo>
                      <a:cubicBezTo>
                        <a:pt x="0" y="35928"/>
                        <a:pt x="10383" y="46291"/>
                        <a:pt x="23201" y="46291"/>
                      </a:cubicBezTo>
                      <a:cubicBezTo>
                        <a:pt x="36011" y="46291"/>
                        <a:pt x="46395" y="35928"/>
                        <a:pt x="46395" y="23145"/>
                      </a:cubicBezTo>
                      <a:cubicBezTo>
                        <a:pt x="46380" y="10368"/>
                        <a:pt x="36004" y="14"/>
                        <a:pt x="23201" y="0"/>
                      </a:cubicBezTo>
                      <a:close/>
                      <a:moveTo>
                        <a:pt x="23201" y="37522"/>
                      </a:moveTo>
                      <a:cubicBezTo>
                        <a:pt x="15238" y="37522"/>
                        <a:pt x="8789" y="31086"/>
                        <a:pt x="8789" y="23145"/>
                      </a:cubicBezTo>
                      <a:cubicBezTo>
                        <a:pt x="8789" y="15206"/>
                        <a:pt x="15238" y="8769"/>
                        <a:pt x="23201" y="8769"/>
                      </a:cubicBezTo>
                      <a:cubicBezTo>
                        <a:pt x="31157" y="8769"/>
                        <a:pt x="37606" y="15206"/>
                        <a:pt x="37606" y="23145"/>
                      </a:cubicBezTo>
                      <a:cubicBezTo>
                        <a:pt x="37598" y="31082"/>
                        <a:pt x="31150" y="37514"/>
                        <a:pt x="23201" y="37522"/>
                      </a:cubicBezTo>
                      <a:close/>
                    </a:path>
                  </a:pathLst>
                </a:custGeom>
                <a:solidFill>
                  <a:srgbClr val="000000"/>
                </a:solidFill>
                <a:ln w="72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7" name="Freeform 62">
                  <a:extLst>
                    <a:ext uri="{FF2B5EF4-FFF2-40B4-BE49-F238E27FC236}">
                      <a16:creationId xmlns:a16="http://schemas.microsoft.com/office/drawing/2014/main" id="{217F8893-A26D-E2B3-66F3-398E7C405A36}"/>
                    </a:ext>
                  </a:extLst>
                </p:cNvPr>
                <p:cNvSpPr/>
                <p:nvPr/>
              </p:nvSpPr>
              <p:spPr>
                <a:xfrm>
                  <a:off x="3861372" y="2656690"/>
                  <a:ext cx="289298" cy="168630"/>
                </a:xfrm>
                <a:custGeom>
                  <a:avLst/>
                  <a:gdLst>
                    <a:gd name="connsiteX0" fmla="*/ 277672 w 289298"/>
                    <a:gd name="connsiteY0" fmla="*/ 159863 h 168630"/>
                    <a:gd name="connsiteX1" fmla="*/ 88333 w 289298"/>
                    <a:gd name="connsiteY1" fmla="*/ 159863 h 168630"/>
                    <a:gd name="connsiteX2" fmla="*/ 82507 w 289298"/>
                    <a:gd name="connsiteY2" fmla="*/ 132274 h 168630"/>
                    <a:gd name="connsiteX3" fmla="*/ 275259 w 289298"/>
                    <a:gd name="connsiteY3" fmla="*/ 132274 h 168630"/>
                    <a:gd name="connsiteX4" fmla="*/ 279628 w 289298"/>
                    <a:gd name="connsiteY4" fmla="*/ 128365 h 168630"/>
                    <a:gd name="connsiteX5" fmla="*/ 289272 w 289298"/>
                    <a:gd name="connsiteY5" fmla="*/ 40457 h 168630"/>
                    <a:gd name="connsiteX6" fmla="*/ 285382 w 289298"/>
                    <a:gd name="connsiteY6" fmla="*/ 35621 h 168630"/>
                    <a:gd name="connsiteX7" fmla="*/ 285142 w 289298"/>
                    <a:gd name="connsiteY7" fmla="*/ 35602 h 168630"/>
                    <a:gd name="connsiteX8" fmla="*/ 59524 w 289298"/>
                    <a:gd name="connsiteY8" fmla="*/ 23428 h 168630"/>
                    <a:gd name="connsiteX9" fmla="*/ 55307 w 289298"/>
                    <a:gd name="connsiteY9" fmla="*/ 3479 h 168630"/>
                    <a:gd name="connsiteX10" fmla="*/ 51010 w 289298"/>
                    <a:gd name="connsiteY10" fmla="*/ 0 h 168630"/>
                    <a:gd name="connsiteX11" fmla="*/ 4391 w 289298"/>
                    <a:gd name="connsiteY11" fmla="*/ 0 h 168630"/>
                    <a:gd name="connsiteX12" fmla="*/ 0 w 289298"/>
                    <a:gd name="connsiteY12" fmla="*/ 4384 h 168630"/>
                    <a:gd name="connsiteX13" fmla="*/ 4391 w 289298"/>
                    <a:gd name="connsiteY13" fmla="*/ 8769 h 168630"/>
                    <a:gd name="connsiteX14" fmla="*/ 47445 w 289298"/>
                    <a:gd name="connsiteY14" fmla="*/ 8769 h 168630"/>
                    <a:gd name="connsiteX15" fmla="*/ 80471 w 289298"/>
                    <a:gd name="connsiteY15" fmla="*/ 165150 h 168630"/>
                    <a:gd name="connsiteX16" fmla="*/ 84768 w 289298"/>
                    <a:gd name="connsiteY16" fmla="*/ 168631 h 168630"/>
                    <a:gd name="connsiteX17" fmla="*/ 277672 w 289298"/>
                    <a:gd name="connsiteY17" fmla="*/ 168631 h 168630"/>
                    <a:gd name="connsiteX18" fmla="*/ 282049 w 289298"/>
                    <a:gd name="connsiteY18" fmla="*/ 164229 h 168630"/>
                    <a:gd name="connsiteX19" fmla="*/ 277672 w 289298"/>
                    <a:gd name="connsiteY19" fmla="*/ 159863 h 168630"/>
                    <a:gd name="connsiteX20" fmla="*/ 71835 w 289298"/>
                    <a:gd name="connsiteY20" fmla="*/ 81730 h 168630"/>
                    <a:gd name="connsiteX21" fmla="*/ 113056 w 289298"/>
                    <a:gd name="connsiteY21" fmla="*/ 83111 h 168630"/>
                    <a:gd name="connsiteX22" fmla="*/ 116548 w 289298"/>
                    <a:gd name="connsiteY22" fmla="*/ 123505 h 168630"/>
                    <a:gd name="connsiteX23" fmla="*/ 80652 w 289298"/>
                    <a:gd name="connsiteY23" fmla="*/ 123505 h 168630"/>
                    <a:gd name="connsiteX24" fmla="*/ 179963 w 289298"/>
                    <a:gd name="connsiteY24" fmla="*/ 76578 h 168630"/>
                    <a:gd name="connsiteX25" fmla="*/ 179963 w 289298"/>
                    <a:gd name="connsiteY25" fmla="*/ 38706 h 168630"/>
                    <a:gd name="connsiteX26" fmla="*/ 228792 w 289298"/>
                    <a:gd name="connsiteY26" fmla="*/ 41342 h 168630"/>
                    <a:gd name="connsiteX27" fmla="*/ 226169 w 289298"/>
                    <a:gd name="connsiteY27" fmla="*/ 78124 h 168630"/>
                    <a:gd name="connsiteX28" fmla="*/ 225546 w 289298"/>
                    <a:gd name="connsiteY28" fmla="*/ 86877 h 168630"/>
                    <a:gd name="connsiteX29" fmla="*/ 222937 w 289298"/>
                    <a:gd name="connsiteY29" fmla="*/ 123505 h 168630"/>
                    <a:gd name="connsiteX30" fmla="*/ 179963 w 289298"/>
                    <a:gd name="connsiteY30" fmla="*/ 123505 h 168630"/>
                    <a:gd name="connsiteX31" fmla="*/ 179963 w 289298"/>
                    <a:gd name="connsiteY31" fmla="*/ 85350 h 168630"/>
                    <a:gd name="connsiteX32" fmla="*/ 171174 w 289298"/>
                    <a:gd name="connsiteY32" fmla="*/ 76284 h 168630"/>
                    <a:gd name="connsiteX33" fmla="*/ 121142 w 289298"/>
                    <a:gd name="connsiteY33" fmla="*/ 74608 h 168630"/>
                    <a:gd name="connsiteX34" fmla="*/ 117744 w 289298"/>
                    <a:gd name="connsiteY34" fmla="*/ 35349 h 168630"/>
                    <a:gd name="connsiteX35" fmla="*/ 171174 w 289298"/>
                    <a:gd name="connsiteY35" fmla="*/ 38232 h 168630"/>
                    <a:gd name="connsiteX36" fmla="*/ 171174 w 289298"/>
                    <a:gd name="connsiteY36" fmla="*/ 85055 h 168630"/>
                    <a:gd name="connsiteX37" fmla="*/ 171174 w 289298"/>
                    <a:gd name="connsiteY37" fmla="*/ 123505 h 168630"/>
                    <a:gd name="connsiteX38" fmla="*/ 125373 w 289298"/>
                    <a:gd name="connsiteY38" fmla="*/ 123505 h 168630"/>
                    <a:gd name="connsiteX39" fmla="*/ 121903 w 289298"/>
                    <a:gd name="connsiteY39" fmla="*/ 83407 h 168630"/>
                    <a:gd name="connsiteX40" fmla="*/ 231748 w 289298"/>
                    <a:gd name="connsiteY40" fmla="*/ 123505 h 168630"/>
                    <a:gd name="connsiteX41" fmla="*/ 234335 w 289298"/>
                    <a:gd name="connsiteY41" fmla="*/ 87170 h 168630"/>
                    <a:gd name="connsiteX42" fmla="*/ 275158 w 289298"/>
                    <a:gd name="connsiteY42" fmla="*/ 88538 h 168630"/>
                    <a:gd name="connsiteX43" fmla="*/ 271317 w 289298"/>
                    <a:gd name="connsiteY43" fmla="*/ 123505 h 168630"/>
                    <a:gd name="connsiteX44" fmla="*/ 276114 w 289298"/>
                    <a:gd name="connsiteY44" fmla="*/ 79796 h 168630"/>
                    <a:gd name="connsiteX45" fmla="*/ 234958 w 289298"/>
                    <a:gd name="connsiteY45" fmla="*/ 78419 h 168630"/>
                    <a:gd name="connsiteX46" fmla="*/ 237567 w 289298"/>
                    <a:gd name="connsiteY46" fmla="*/ 41815 h 168630"/>
                    <a:gd name="connsiteX47" fmla="*/ 280034 w 289298"/>
                    <a:gd name="connsiteY47" fmla="*/ 44106 h 168630"/>
                    <a:gd name="connsiteX48" fmla="*/ 108882 w 289298"/>
                    <a:gd name="connsiteY48" fmla="*/ 34871 h 168630"/>
                    <a:gd name="connsiteX49" fmla="*/ 112295 w 289298"/>
                    <a:gd name="connsiteY49" fmla="*/ 74312 h 168630"/>
                    <a:gd name="connsiteX50" fmla="*/ 69965 w 289298"/>
                    <a:gd name="connsiteY50" fmla="*/ 72895 h 168630"/>
                    <a:gd name="connsiteX51" fmla="*/ 61401 w 289298"/>
                    <a:gd name="connsiteY51" fmla="*/ 32308 h 1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89298" h="168630">
                      <a:moveTo>
                        <a:pt x="277672" y="159863"/>
                      </a:moveTo>
                      <a:lnTo>
                        <a:pt x="88333" y="159863"/>
                      </a:lnTo>
                      <a:lnTo>
                        <a:pt x="82507" y="132274"/>
                      </a:lnTo>
                      <a:lnTo>
                        <a:pt x="275259" y="132274"/>
                      </a:lnTo>
                      <a:cubicBezTo>
                        <a:pt x="277498" y="132272"/>
                        <a:pt x="279382" y="130588"/>
                        <a:pt x="279628" y="128365"/>
                      </a:cubicBezTo>
                      <a:lnTo>
                        <a:pt x="289272" y="40457"/>
                      </a:lnTo>
                      <a:cubicBezTo>
                        <a:pt x="289533" y="38049"/>
                        <a:pt x="287794" y="35884"/>
                        <a:pt x="285382" y="35621"/>
                      </a:cubicBezTo>
                      <a:cubicBezTo>
                        <a:pt x="285302" y="35612"/>
                        <a:pt x="285222" y="35606"/>
                        <a:pt x="285142" y="35602"/>
                      </a:cubicBezTo>
                      <a:lnTo>
                        <a:pt x="59524" y="23428"/>
                      </a:lnTo>
                      <a:lnTo>
                        <a:pt x="55307" y="3479"/>
                      </a:lnTo>
                      <a:cubicBezTo>
                        <a:pt x="54879" y="1452"/>
                        <a:pt x="53090" y="1"/>
                        <a:pt x="51010" y="0"/>
                      </a:cubicBezTo>
                      <a:lnTo>
                        <a:pt x="4391" y="0"/>
                      </a:lnTo>
                      <a:cubicBezTo>
                        <a:pt x="1964" y="0"/>
                        <a:pt x="0" y="1963"/>
                        <a:pt x="0" y="4384"/>
                      </a:cubicBezTo>
                      <a:cubicBezTo>
                        <a:pt x="0" y="6806"/>
                        <a:pt x="1964" y="8769"/>
                        <a:pt x="4391" y="8769"/>
                      </a:cubicBezTo>
                      <a:lnTo>
                        <a:pt x="47445" y="8769"/>
                      </a:lnTo>
                      <a:lnTo>
                        <a:pt x="80471" y="165150"/>
                      </a:lnTo>
                      <a:cubicBezTo>
                        <a:pt x="80899" y="167178"/>
                        <a:pt x="82689" y="168630"/>
                        <a:pt x="84768" y="168631"/>
                      </a:cubicBezTo>
                      <a:lnTo>
                        <a:pt x="277672" y="168631"/>
                      </a:lnTo>
                      <a:cubicBezTo>
                        <a:pt x="280099" y="168621"/>
                        <a:pt x="282056" y="166650"/>
                        <a:pt x="282049" y="164229"/>
                      </a:cubicBezTo>
                      <a:cubicBezTo>
                        <a:pt x="282034" y="161822"/>
                        <a:pt x="280085" y="159873"/>
                        <a:pt x="277672" y="159863"/>
                      </a:cubicBezTo>
                      <a:close/>
                      <a:moveTo>
                        <a:pt x="71835" y="81730"/>
                      </a:moveTo>
                      <a:lnTo>
                        <a:pt x="113056" y="83111"/>
                      </a:lnTo>
                      <a:lnTo>
                        <a:pt x="116548" y="123505"/>
                      </a:lnTo>
                      <a:lnTo>
                        <a:pt x="80652" y="123505"/>
                      </a:lnTo>
                      <a:close/>
                      <a:moveTo>
                        <a:pt x="179963" y="76578"/>
                      </a:moveTo>
                      <a:lnTo>
                        <a:pt x="179963" y="38706"/>
                      </a:lnTo>
                      <a:lnTo>
                        <a:pt x="228792" y="41342"/>
                      </a:lnTo>
                      <a:lnTo>
                        <a:pt x="226169" y="78124"/>
                      </a:lnTo>
                      <a:close/>
                      <a:moveTo>
                        <a:pt x="225546" y="86877"/>
                      </a:moveTo>
                      <a:lnTo>
                        <a:pt x="222937" y="123505"/>
                      </a:lnTo>
                      <a:lnTo>
                        <a:pt x="179963" y="123505"/>
                      </a:lnTo>
                      <a:lnTo>
                        <a:pt x="179963" y="85350"/>
                      </a:lnTo>
                      <a:close/>
                      <a:moveTo>
                        <a:pt x="171174" y="76284"/>
                      </a:moveTo>
                      <a:lnTo>
                        <a:pt x="121142" y="74608"/>
                      </a:lnTo>
                      <a:lnTo>
                        <a:pt x="117744" y="35349"/>
                      </a:lnTo>
                      <a:lnTo>
                        <a:pt x="171174" y="38232"/>
                      </a:lnTo>
                      <a:close/>
                      <a:moveTo>
                        <a:pt x="171174" y="85055"/>
                      </a:moveTo>
                      <a:lnTo>
                        <a:pt x="171174" y="123505"/>
                      </a:lnTo>
                      <a:lnTo>
                        <a:pt x="125373" y="123505"/>
                      </a:lnTo>
                      <a:lnTo>
                        <a:pt x="121903" y="83407"/>
                      </a:lnTo>
                      <a:close/>
                      <a:moveTo>
                        <a:pt x="231748" y="123505"/>
                      </a:moveTo>
                      <a:lnTo>
                        <a:pt x="234335" y="87170"/>
                      </a:lnTo>
                      <a:lnTo>
                        <a:pt x="275158" y="88538"/>
                      </a:lnTo>
                      <a:lnTo>
                        <a:pt x="271317" y="123505"/>
                      </a:lnTo>
                      <a:close/>
                      <a:moveTo>
                        <a:pt x="276114" y="79796"/>
                      </a:moveTo>
                      <a:lnTo>
                        <a:pt x="234958" y="78419"/>
                      </a:lnTo>
                      <a:lnTo>
                        <a:pt x="237567" y="41815"/>
                      </a:lnTo>
                      <a:lnTo>
                        <a:pt x="280034" y="44106"/>
                      </a:lnTo>
                      <a:close/>
                      <a:moveTo>
                        <a:pt x="108882" y="34871"/>
                      </a:moveTo>
                      <a:lnTo>
                        <a:pt x="112295" y="74312"/>
                      </a:lnTo>
                      <a:lnTo>
                        <a:pt x="69965" y="72895"/>
                      </a:lnTo>
                      <a:lnTo>
                        <a:pt x="61401" y="32308"/>
                      </a:lnTo>
                      <a:close/>
                    </a:path>
                  </a:pathLst>
                </a:custGeom>
                <a:solidFill>
                  <a:srgbClr val="000000"/>
                </a:solidFill>
                <a:ln w="72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62" name="Group 1135">
                <a:extLst>
                  <a:ext uri="{FF2B5EF4-FFF2-40B4-BE49-F238E27FC236}">
                    <a16:creationId xmlns:a16="http://schemas.microsoft.com/office/drawing/2014/main" id="{6BF0A745-095C-3C27-7C40-3E19D94C7FCF}"/>
                  </a:ext>
                </a:extLst>
              </p:cNvPr>
              <p:cNvGrpSpPr>
                <a:grpSpLocks noChangeAspect="1"/>
              </p:cNvGrpSpPr>
              <p:nvPr/>
            </p:nvGrpSpPr>
            <p:grpSpPr>
              <a:xfrm>
                <a:off x="3577362" y="4632995"/>
                <a:ext cx="220916" cy="279120"/>
                <a:chOff x="8663435" y="3328934"/>
                <a:chExt cx="206225" cy="260560"/>
              </a:xfrm>
            </p:grpSpPr>
            <p:sp>
              <p:nvSpPr>
                <p:cNvPr id="85" name="Freeform 1093">
                  <a:extLst>
                    <a:ext uri="{FF2B5EF4-FFF2-40B4-BE49-F238E27FC236}">
                      <a16:creationId xmlns:a16="http://schemas.microsoft.com/office/drawing/2014/main" id="{377AA662-15C2-D262-82AC-E5FAD0C51B7C}"/>
                    </a:ext>
                  </a:extLst>
                </p:cNvPr>
                <p:cNvSpPr/>
                <p:nvPr/>
              </p:nvSpPr>
              <p:spPr>
                <a:xfrm>
                  <a:off x="8663435" y="3342439"/>
                  <a:ext cx="183650" cy="247055"/>
                </a:xfrm>
                <a:custGeom>
                  <a:avLst/>
                  <a:gdLst>
                    <a:gd name="connsiteX0" fmla="*/ 179874 w 183650"/>
                    <a:gd name="connsiteY0" fmla="*/ 237083 h 247055"/>
                    <a:gd name="connsiteX1" fmla="*/ 108715 w 183650"/>
                    <a:gd name="connsiteY1" fmla="*/ 228885 h 247055"/>
                    <a:gd name="connsiteX2" fmla="*/ 108715 w 183650"/>
                    <a:gd name="connsiteY2" fmla="*/ 108193 h 247055"/>
                    <a:gd name="connsiteX3" fmla="*/ 143423 w 183650"/>
                    <a:gd name="connsiteY3" fmla="*/ 178504 h 247055"/>
                    <a:gd name="connsiteX4" fmla="*/ 150176 w 183650"/>
                    <a:gd name="connsiteY4" fmla="*/ 180821 h 247055"/>
                    <a:gd name="connsiteX5" fmla="*/ 152500 w 183650"/>
                    <a:gd name="connsiteY5" fmla="*/ 174036 h 247055"/>
                    <a:gd name="connsiteX6" fmla="*/ 116920 w 183650"/>
                    <a:gd name="connsiteY6" fmla="*/ 101784 h 247055"/>
                    <a:gd name="connsiteX7" fmla="*/ 121712 w 183650"/>
                    <a:gd name="connsiteY7" fmla="*/ 95730 h 247055"/>
                    <a:gd name="connsiteX8" fmla="*/ 118953 w 183650"/>
                    <a:gd name="connsiteY8" fmla="*/ 74714 h 247055"/>
                    <a:gd name="connsiteX9" fmla="*/ 163827 w 183650"/>
                    <a:gd name="connsiteY9" fmla="*/ 7892 h 247055"/>
                    <a:gd name="connsiteX10" fmla="*/ 162447 w 183650"/>
                    <a:gd name="connsiteY10" fmla="*/ 859 h 247055"/>
                    <a:gd name="connsiteX11" fmla="*/ 155404 w 183650"/>
                    <a:gd name="connsiteY11" fmla="*/ 2248 h 247055"/>
                    <a:gd name="connsiteX12" fmla="*/ 110530 w 183650"/>
                    <a:gd name="connsiteY12" fmla="*/ 69073 h 247055"/>
                    <a:gd name="connsiteX13" fmla="*/ 86713 w 183650"/>
                    <a:gd name="connsiteY13" fmla="*/ 78907 h 247055"/>
                    <a:gd name="connsiteX14" fmla="*/ 85915 w 183650"/>
                    <a:gd name="connsiteY14" fmla="*/ 81152 h 247055"/>
                    <a:gd name="connsiteX15" fmla="*/ 5461 w 183650"/>
                    <a:gd name="connsiteY15" fmla="*/ 75554 h 247055"/>
                    <a:gd name="connsiteX16" fmla="*/ 16 w 183650"/>
                    <a:gd name="connsiteY16" fmla="*/ 80240 h 247055"/>
                    <a:gd name="connsiteX17" fmla="*/ 4735 w 183650"/>
                    <a:gd name="connsiteY17" fmla="*/ 85671 h 247055"/>
                    <a:gd name="connsiteX18" fmla="*/ 4735 w 183650"/>
                    <a:gd name="connsiteY18" fmla="*/ 85671 h 247055"/>
                    <a:gd name="connsiteX19" fmla="*/ 85261 w 183650"/>
                    <a:gd name="connsiteY19" fmla="*/ 91269 h 247055"/>
                    <a:gd name="connsiteX20" fmla="*/ 98549 w 183650"/>
                    <a:gd name="connsiteY20" fmla="*/ 105738 h 247055"/>
                    <a:gd name="connsiteX21" fmla="*/ 98549 w 183650"/>
                    <a:gd name="connsiteY21" fmla="*/ 228885 h 247055"/>
                    <a:gd name="connsiteX22" fmla="*/ 27390 w 183650"/>
                    <a:gd name="connsiteY22" fmla="*/ 237083 h 247055"/>
                    <a:gd name="connsiteX23" fmla="*/ 23760 w 183650"/>
                    <a:gd name="connsiteY23" fmla="*/ 243289 h 247055"/>
                    <a:gd name="connsiteX24" fmla="*/ 30004 w 183650"/>
                    <a:gd name="connsiteY24" fmla="*/ 246889 h 247055"/>
                    <a:gd name="connsiteX25" fmla="*/ 177260 w 183650"/>
                    <a:gd name="connsiteY25" fmla="*/ 246889 h 247055"/>
                    <a:gd name="connsiteX26" fmla="*/ 178567 w 183650"/>
                    <a:gd name="connsiteY26" fmla="*/ 247055 h 247055"/>
                    <a:gd name="connsiteX27" fmla="*/ 183650 w 183650"/>
                    <a:gd name="connsiteY27" fmla="*/ 241979 h 247055"/>
                    <a:gd name="connsiteX28" fmla="*/ 179874 w 183650"/>
                    <a:gd name="connsiteY28" fmla="*/ 237083 h 247055"/>
                    <a:gd name="connsiteX29" fmla="*/ 95862 w 183650"/>
                    <a:gd name="connsiteY29" fmla="*/ 83310 h 247055"/>
                    <a:gd name="connsiteX30" fmla="*/ 104213 w 183650"/>
                    <a:gd name="connsiteY30" fmla="*/ 78074 h 247055"/>
                    <a:gd name="connsiteX31" fmla="*/ 108279 w 183650"/>
                    <a:gd name="connsiteY31" fmla="*/ 78987 h 247055"/>
                    <a:gd name="connsiteX32" fmla="*/ 112563 w 183650"/>
                    <a:gd name="connsiteY32" fmla="*/ 91327 h 247055"/>
                    <a:gd name="connsiteX33" fmla="*/ 100219 w 183650"/>
                    <a:gd name="connsiteY33" fmla="*/ 95650 h 247055"/>
                    <a:gd name="connsiteX34" fmla="*/ 95862 w 183650"/>
                    <a:gd name="connsiteY34" fmla="*/ 83310 h 24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3650" h="247055">
                      <a:moveTo>
                        <a:pt x="179874" y="237083"/>
                      </a:moveTo>
                      <a:cubicBezTo>
                        <a:pt x="156565" y="231550"/>
                        <a:pt x="132677" y="228799"/>
                        <a:pt x="108715" y="228885"/>
                      </a:cubicBezTo>
                      <a:lnTo>
                        <a:pt x="108715" y="108193"/>
                      </a:lnTo>
                      <a:lnTo>
                        <a:pt x="143423" y="178504"/>
                      </a:lnTo>
                      <a:cubicBezTo>
                        <a:pt x="144657" y="181017"/>
                        <a:pt x="147707" y="182053"/>
                        <a:pt x="150176" y="180821"/>
                      </a:cubicBezTo>
                      <a:cubicBezTo>
                        <a:pt x="152718" y="179583"/>
                        <a:pt x="153733" y="176549"/>
                        <a:pt x="152500" y="174036"/>
                      </a:cubicBezTo>
                      <a:lnTo>
                        <a:pt x="116920" y="101784"/>
                      </a:lnTo>
                      <a:cubicBezTo>
                        <a:pt x="118880" y="100119"/>
                        <a:pt x="120550" y="98055"/>
                        <a:pt x="121712" y="95730"/>
                      </a:cubicBezTo>
                      <a:cubicBezTo>
                        <a:pt x="125052" y="88792"/>
                        <a:pt x="123963" y="80551"/>
                        <a:pt x="118953" y="74714"/>
                      </a:cubicBezTo>
                      <a:lnTo>
                        <a:pt x="163827" y="7892"/>
                      </a:lnTo>
                      <a:cubicBezTo>
                        <a:pt x="165425" y="5566"/>
                        <a:pt x="164771" y="2417"/>
                        <a:pt x="162447" y="859"/>
                      </a:cubicBezTo>
                      <a:cubicBezTo>
                        <a:pt x="160123" y="-700"/>
                        <a:pt x="156929" y="-78"/>
                        <a:pt x="155404" y="2248"/>
                      </a:cubicBezTo>
                      <a:lnTo>
                        <a:pt x="110530" y="69073"/>
                      </a:lnTo>
                      <a:cubicBezTo>
                        <a:pt x="101235" y="65872"/>
                        <a:pt x="90998" y="70094"/>
                        <a:pt x="86713" y="78907"/>
                      </a:cubicBezTo>
                      <a:cubicBezTo>
                        <a:pt x="86423" y="79639"/>
                        <a:pt x="86133" y="80385"/>
                        <a:pt x="85915" y="81152"/>
                      </a:cubicBezTo>
                      <a:lnTo>
                        <a:pt x="5461" y="75554"/>
                      </a:lnTo>
                      <a:cubicBezTo>
                        <a:pt x="2702" y="75352"/>
                        <a:pt x="234" y="77452"/>
                        <a:pt x="16" y="80240"/>
                      </a:cubicBezTo>
                      <a:cubicBezTo>
                        <a:pt x="-203" y="83035"/>
                        <a:pt x="1903" y="85461"/>
                        <a:pt x="4735" y="85671"/>
                      </a:cubicBezTo>
                      <a:cubicBezTo>
                        <a:pt x="4735" y="85671"/>
                        <a:pt x="4735" y="85671"/>
                        <a:pt x="4735" y="85671"/>
                      </a:cubicBezTo>
                      <a:lnTo>
                        <a:pt x="85261" y="91269"/>
                      </a:lnTo>
                      <a:cubicBezTo>
                        <a:pt x="86423" y="98286"/>
                        <a:pt x="91651" y="103957"/>
                        <a:pt x="98549" y="105738"/>
                      </a:cubicBezTo>
                      <a:lnTo>
                        <a:pt x="98549" y="228885"/>
                      </a:lnTo>
                      <a:cubicBezTo>
                        <a:pt x="74588" y="228799"/>
                        <a:pt x="50698" y="231550"/>
                        <a:pt x="27390" y="237083"/>
                      </a:cubicBezTo>
                      <a:cubicBezTo>
                        <a:pt x="24631" y="237807"/>
                        <a:pt x="23033" y="240588"/>
                        <a:pt x="23760" y="243289"/>
                      </a:cubicBezTo>
                      <a:cubicBezTo>
                        <a:pt x="24558" y="245976"/>
                        <a:pt x="27317" y="247577"/>
                        <a:pt x="30004" y="246889"/>
                      </a:cubicBezTo>
                      <a:cubicBezTo>
                        <a:pt x="78508" y="236323"/>
                        <a:pt x="128756" y="236323"/>
                        <a:pt x="177260" y="246889"/>
                      </a:cubicBezTo>
                      <a:cubicBezTo>
                        <a:pt x="177696" y="246997"/>
                        <a:pt x="178132" y="247055"/>
                        <a:pt x="178567" y="247055"/>
                      </a:cubicBezTo>
                      <a:cubicBezTo>
                        <a:pt x="181399" y="247055"/>
                        <a:pt x="183650" y="244781"/>
                        <a:pt x="183650" y="241979"/>
                      </a:cubicBezTo>
                      <a:cubicBezTo>
                        <a:pt x="183650" y="239683"/>
                        <a:pt x="182125" y="237677"/>
                        <a:pt x="179874" y="237083"/>
                      </a:cubicBezTo>
                      <a:close/>
                      <a:moveTo>
                        <a:pt x="95862" y="83310"/>
                      </a:moveTo>
                      <a:cubicBezTo>
                        <a:pt x="97460" y="80102"/>
                        <a:pt x="100655" y="78074"/>
                        <a:pt x="104213" y="78074"/>
                      </a:cubicBezTo>
                      <a:cubicBezTo>
                        <a:pt x="105665" y="78074"/>
                        <a:pt x="106972" y="78386"/>
                        <a:pt x="108279" y="78987"/>
                      </a:cubicBezTo>
                      <a:cubicBezTo>
                        <a:pt x="112854" y="81203"/>
                        <a:pt x="114814" y="86728"/>
                        <a:pt x="112563" y="91327"/>
                      </a:cubicBezTo>
                      <a:cubicBezTo>
                        <a:pt x="110385" y="95926"/>
                        <a:pt x="104793" y="97866"/>
                        <a:pt x="100219" y="95650"/>
                      </a:cubicBezTo>
                      <a:cubicBezTo>
                        <a:pt x="95572" y="93434"/>
                        <a:pt x="93684" y="87909"/>
                        <a:pt x="95862" y="83310"/>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6" name="Freeform 1094">
                  <a:extLst>
                    <a:ext uri="{FF2B5EF4-FFF2-40B4-BE49-F238E27FC236}">
                      <a16:creationId xmlns:a16="http://schemas.microsoft.com/office/drawing/2014/main" id="{0BF92E85-D5F2-1742-0507-B2CB2DE7551C}"/>
                    </a:ext>
                  </a:extLst>
                </p:cNvPr>
                <p:cNvSpPr/>
                <p:nvPr/>
              </p:nvSpPr>
              <p:spPr>
                <a:xfrm>
                  <a:off x="8698122" y="3328934"/>
                  <a:ext cx="112337" cy="33136"/>
                </a:xfrm>
                <a:custGeom>
                  <a:avLst/>
                  <a:gdLst>
                    <a:gd name="connsiteX0" fmla="*/ 5119 w 112337"/>
                    <a:gd name="connsiteY0" fmla="*/ 33136 h 33136"/>
                    <a:gd name="connsiteX1" fmla="*/ 8386 w 112337"/>
                    <a:gd name="connsiteY1" fmla="*/ 31934 h 33136"/>
                    <a:gd name="connsiteX2" fmla="*/ 105251 w 112337"/>
                    <a:gd name="connsiteY2" fmla="*/ 17641 h 33136"/>
                    <a:gd name="connsiteX3" fmla="*/ 111930 w 112337"/>
                    <a:gd name="connsiteY3" fmla="*/ 15003 h 33136"/>
                    <a:gd name="connsiteX4" fmla="*/ 109244 w 112337"/>
                    <a:gd name="connsiteY4" fmla="*/ 8334 h 33136"/>
                    <a:gd name="connsiteX5" fmla="*/ 1779 w 112337"/>
                    <a:gd name="connsiteY5" fmla="*/ 24197 h 33136"/>
                    <a:gd name="connsiteX6" fmla="*/ 1198 w 112337"/>
                    <a:gd name="connsiteY6" fmla="*/ 31344 h 33136"/>
                    <a:gd name="connsiteX7" fmla="*/ 5119 w 112337"/>
                    <a:gd name="connsiteY7" fmla="*/ 33136 h 3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337" h="33136">
                      <a:moveTo>
                        <a:pt x="5119" y="33136"/>
                      </a:moveTo>
                      <a:cubicBezTo>
                        <a:pt x="6281" y="33137"/>
                        <a:pt x="7442" y="32710"/>
                        <a:pt x="8386" y="31934"/>
                      </a:cubicBezTo>
                      <a:cubicBezTo>
                        <a:pt x="35399" y="9350"/>
                        <a:pt x="72793" y="3824"/>
                        <a:pt x="105251" y="17641"/>
                      </a:cubicBezTo>
                      <a:cubicBezTo>
                        <a:pt x="107792" y="18754"/>
                        <a:pt x="110769" y="17573"/>
                        <a:pt x="111930" y="15003"/>
                      </a:cubicBezTo>
                      <a:cubicBezTo>
                        <a:pt x="113020" y="12434"/>
                        <a:pt x="111858" y="9448"/>
                        <a:pt x="109244" y="8334"/>
                      </a:cubicBezTo>
                      <a:cubicBezTo>
                        <a:pt x="73301" y="-7000"/>
                        <a:pt x="31768" y="-867"/>
                        <a:pt x="1779" y="24197"/>
                      </a:cubicBezTo>
                      <a:cubicBezTo>
                        <a:pt x="-327" y="26007"/>
                        <a:pt x="-617" y="29207"/>
                        <a:pt x="1198" y="31344"/>
                      </a:cubicBezTo>
                      <a:cubicBezTo>
                        <a:pt x="2142" y="32481"/>
                        <a:pt x="3595" y="33136"/>
                        <a:pt x="5119" y="33136"/>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7" name="Freeform 1095">
                  <a:extLst>
                    <a:ext uri="{FF2B5EF4-FFF2-40B4-BE49-F238E27FC236}">
                      <a16:creationId xmlns:a16="http://schemas.microsoft.com/office/drawing/2014/main" id="{69295153-88A8-6F9F-D1AB-121A75F48FEF}"/>
                    </a:ext>
                  </a:extLst>
                </p:cNvPr>
                <p:cNvSpPr/>
                <p:nvPr/>
              </p:nvSpPr>
              <p:spPr>
                <a:xfrm>
                  <a:off x="8727276" y="3351996"/>
                  <a:ext cx="69604" cy="20398"/>
                </a:xfrm>
                <a:custGeom>
                  <a:avLst/>
                  <a:gdLst>
                    <a:gd name="connsiteX0" fmla="*/ 69344 w 69604"/>
                    <a:gd name="connsiteY0" fmla="*/ 10342 h 20398"/>
                    <a:gd name="connsiteX1" fmla="*/ 66150 w 69604"/>
                    <a:gd name="connsiteY1" fmla="*/ 3928 h 20398"/>
                    <a:gd name="connsiteX2" fmla="*/ 2469 w 69604"/>
                    <a:gd name="connsiteY2" fmla="*/ 10993 h 20398"/>
                    <a:gd name="connsiteX3" fmla="*/ 727 w 69604"/>
                    <a:gd name="connsiteY3" fmla="*/ 17961 h 20398"/>
                    <a:gd name="connsiteX4" fmla="*/ 7697 w 69604"/>
                    <a:gd name="connsiteY4" fmla="*/ 19678 h 20398"/>
                    <a:gd name="connsiteX5" fmla="*/ 62954 w 69604"/>
                    <a:gd name="connsiteY5" fmla="*/ 13546 h 20398"/>
                    <a:gd name="connsiteX6" fmla="*/ 69344 w 69604"/>
                    <a:gd name="connsiteY6" fmla="*/ 10342 h 2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604" h="20398">
                      <a:moveTo>
                        <a:pt x="69344" y="10342"/>
                      </a:moveTo>
                      <a:cubicBezTo>
                        <a:pt x="70216" y="7687"/>
                        <a:pt x="68836" y="4817"/>
                        <a:pt x="66150" y="3928"/>
                      </a:cubicBezTo>
                      <a:cubicBezTo>
                        <a:pt x="44874" y="-3157"/>
                        <a:pt x="21639" y="-573"/>
                        <a:pt x="2469" y="10993"/>
                      </a:cubicBezTo>
                      <a:cubicBezTo>
                        <a:pt x="73" y="12448"/>
                        <a:pt x="-726" y="15569"/>
                        <a:pt x="727" y="17961"/>
                      </a:cubicBezTo>
                      <a:cubicBezTo>
                        <a:pt x="2179" y="20343"/>
                        <a:pt x="5301" y="21109"/>
                        <a:pt x="7697" y="19678"/>
                      </a:cubicBezTo>
                      <a:cubicBezTo>
                        <a:pt x="24325" y="9638"/>
                        <a:pt x="44511" y="7396"/>
                        <a:pt x="62954" y="13546"/>
                      </a:cubicBezTo>
                      <a:cubicBezTo>
                        <a:pt x="65568" y="14425"/>
                        <a:pt x="68473" y="12993"/>
                        <a:pt x="69344" y="10342"/>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8" name="Freeform 1096">
                  <a:extLst>
                    <a:ext uri="{FF2B5EF4-FFF2-40B4-BE49-F238E27FC236}">
                      <a16:creationId xmlns:a16="http://schemas.microsoft.com/office/drawing/2014/main" id="{9297EAEB-9155-7428-5563-7F862CAEF3F4}"/>
                    </a:ext>
                  </a:extLst>
                </p:cNvPr>
                <p:cNvSpPr/>
                <p:nvPr/>
              </p:nvSpPr>
              <p:spPr>
                <a:xfrm>
                  <a:off x="8759160" y="3375186"/>
                  <a:ext cx="24887" cy="10816"/>
                </a:xfrm>
                <a:custGeom>
                  <a:avLst/>
                  <a:gdLst>
                    <a:gd name="connsiteX0" fmla="*/ 4204 w 24887"/>
                    <a:gd name="connsiteY0" fmla="*/ 753 h 10816"/>
                    <a:gd name="connsiteX1" fmla="*/ 64 w 24887"/>
                    <a:gd name="connsiteY1" fmla="*/ 6627 h 10816"/>
                    <a:gd name="connsiteX2" fmla="*/ 5075 w 24887"/>
                    <a:gd name="connsiteY2" fmla="*/ 10816 h 10816"/>
                    <a:gd name="connsiteX3" fmla="*/ 5946 w 24887"/>
                    <a:gd name="connsiteY3" fmla="*/ 10739 h 10816"/>
                    <a:gd name="connsiteX4" fmla="*/ 19016 w 24887"/>
                    <a:gd name="connsiteY4" fmla="*/ 10618 h 10816"/>
                    <a:gd name="connsiteX5" fmla="*/ 24825 w 24887"/>
                    <a:gd name="connsiteY5" fmla="*/ 6418 h 10816"/>
                    <a:gd name="connsiteX6" fmla="*/ 20614 w 24887"/>
                    <a:gd name="connsiteY6" fmla="*/ 609 h 10816"/>
                    <a:gd name="connsiteX7" fmla="*/ 20614 w 24887"/>
                    <a:gd name="connsiteY7" fmla="*/ 604 h 10816"/>
                    <a:gd name="connsiteX8" fmla="*/ 4204 w 24887"/>
                    <a:gd name="connsiteY8" fmla="*/ 753 h 1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87" h="10816">
                      <a:moveTo>
                        <a:pt x="4204" y="753"/>
                      </a:moveTo>
                      <a:cubicBezTo>
                        <a:pt x="1444" y="1239"/>
                        <a:pt x="-371" y="3870"/>
                        <a:pt x="64" y="6627"/>
                      </a:cubicBezTo>
                      <a:cubicBezTo>
                        <a:pt x="500" y="9047"/>
                        <a:pt x="2606" y="10812"/>
                        <a:pt x="5075" y="10816"/>
                      </a:cubicBezTo>
                      <a:cubicBezTo>
                        <a:pt x="5365" y="10815"/>
                        <a:pt x="5656" y="10789"/>
                        <a:pt x="5946" y="10739"/>
                      </a:cubicBezTo>
                      <a:cubicBezTo>
                        <a:pt x="10303" y="9977"/>
                        <a:pt x="14659" y="9937"/>
                        <a:pt x="19016" y="10618"/>
                      </a:cubicBezTo>
                      <a:cubicBezTo>
                        <a:pt x="21775" y="11062"/>
                        <a:pt x="24390" y="9182"/>
                        <a:pt x="24825" y="6418"/>
                      </a:cubicBezTo>
                      <a:cubicBezTo>
                        <a:pt x="25261" y="3655"/>
                        <a:pt x="23373" y="1053"/>
                        <a:pt x="20614" y="609"/>
                      </a:cubicBezTo>
                      <a:cubicBezTo>
                        <a:pt x="20614" y="607"/>
                        <a:pt x="20614" y="606"/>
                        <a:pt x="20614" y="604"/>
                      </a:cubicBezTo>
                      <a:cubicBezTo>
                        <a:pt x="15168" y="-249"/>
                        <a:pt x="9650" y="-198"/>
                        <a:pt x="4204" y="753"/>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9" name="Freeform 1097">
                  <a:extLst>
                    <a:ext uri="{FF2B5EF4-FFF2-40B4-BE49-F238E27FC236}">
                      <a16:creationId xmlns:a16="http://schemas.microsoft.com/office/drawing/2014/main" id="{00FC6CFE-6C62-ADD2-5D38-28640F147227}"/>
                    </a:ext>
                  </a:extLst>
                </p:cNvPr>
                <p:cNvSpPr/>
                <p:nvPr/>
              </p:nvSpPr>
              <p:spPr>
                <a:xfrm>
                  <a:off x="8667475" y="3436057"/>
                  <a:ext cx="74324" cy="90824"/>
                </a:xfrm>
                <a:custGeom>
                  <a:avLst/>
                  <a:gdLst>
                    <a:gd name="connsiteX0" fmla="*/ 4471 w 74324"/>
                    <a:gd name="connsiteY0" fmla="*/ 27 h 90824"/>
                    <a:gd name="connsiteX1" fmla="*/ 42 w 74324"/>
                    <a:gd name="connsiteY1" fmla="*/ 5639 h 90824"/>
                    <a:gd name="connsiteX2" fmla="*/ 42 w 74324"/>
                    <a:gd name="connsiteY2" fmla="*/ 5647 h 90824"/>
                    <a:gd name="connsiteX3" fmla="*/ 67498 w 74324"/>
                    <a:gd name="connsiteY3" fmla="*/ 90528 h 90824"/>
                    <a:gd name="connsiteX4" fmla="*/ 69241 w 74324"/>
                    <a:gd name="connsiteY4" fmla="*/ 90825 h 90824"/>
                    <a:gd name="connsiteX5" fmla="*/ 74324 w 74324"/>
                    <a:gd name="connsiteY5" fmla="*/ 85748 h 90824"/>
                    <a:gd name="connsiteX6" fmla="*/ 70983 w 74324"/>
                    <a:gd name="connsiteY6" fmla="*/ 80976 h 90824"/>
                    <a:gd name="connsiteX7" fmla="*/ 10135 w 74324"/>
                    <a:gd name="connsiteY7" fmla="*/ 4488 h 90824"/>
                    <a:gd name="connsiteX8" fmla="*/ 4471 w 74324"/>
                    <a:gd name="connsiteY8" fmla="*/ 27 h 90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24" h="90824">
                      <a:moveTo>
                        <a:pt x="4471" y="27"/>
                      </a:moveTo>
                      <a:cubicBezTo>
                        <a:pt x="1713" y="345"/>
                        <a:pt x="-321" y="2858"/>
                        <a:pt x="42" y="5639"/>
                      </a:cubicBezTo>
                      <a:cubicBezTo>
                        <a:pt x="42" y="5639"/>
                        <a:pt x="42" y="5647"/>
                        <a:pt x="42" y="5647"/>
                      </a:cubicBezTo>
                      <a:cubicBezTo>
                        <a:pt x="4689" y="44361"/>
                        <a:pt x="30757" y="77181"/>
                        <a:pt x="67498" y="90528"/>
                      </a:cubicBezTo>
                      <a:cubicBezTo>
                        <a:pt x="68079" y="90716"/>
                        <a:pt x="68660" y="90818"/>
                        <a:pt x="69241" y="90825"/>
                      </a:cubicBezTo>
                      <a:cubicBezTo>
                        <a:pt x="72073" y="90818"/>
                        <a:pt x="74324" y="88544"/>
                        <a:pt x="74324" y="85748"/>
                      </a:cubicBezTo>
                      <a:cubicBezTo>
                        <a:pt x="74324" y="83605"/>
                        <a:pt x="72944" y="81700"/>
                        <a:pt x="70983" y="80976"/>
                      </a:cubicBezTo>
                      <a:cubicBezTo>
                        <a:pt x="37873" y="68955"/>
                        <a:pt x="14347" y="39379"/>
                        <a:pt x="10135" y="4488"/>
                      </a:cubicBezTo>
                      <a:cubicBezTo>
                        <a:pt x="9772" y="1721"/>
                        <a:pt x="7230" y="-256"/>
                        <a:pt x="4471" y="27"/>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0" name="Freeform 1098">
                  <a:extLst>
                    <a:ext uri="{FF2B5EF4-FFF2-40B4-BE49-F238E27FC236}">
                      <a16:creationId xmlns:a16="http://schemas.microsoft.com/office/drawing/2014/main" id="{3CF7CCA0-8CF7-5CEE-05EB-29146960E1D8}"/>
                    </a:ext>
                  </a:extLst>
                </p:cNvPr>
                <p:cNvSpPr/>
                <p:nvPr/>
              </p:nvSpPr>
              <p:spPr>
                <a:xfrm>
                  <a:off x="8690571" y="3438344"/>
                  <a:ext cx="45636" cy="58202"/>
                </a:xfrm>
                <a:custGeom>
                  <a:avLst/>
                  <a:gdLst>
                    <a:gd name="connsiteX0" fmla="*/ 4102 w 45636"/>
                    <a:gd name="connsiteY0" fmla="*/ 108 h 58202"/>
                    <a:gd name="connsiteX1" fmla="*/ 109 w 45636"/>
                    <a:gd name="connsiteY1" fmla="*/ 6075 h 58202"/>
                    <a:gd name="connsiteX2" fmla="*/ 109 w 45636"/>
                    <a:gd name="connsiteY2" fmla="*/ 6082 h 58202"/>
                    <a:gd name="connsiteX3" fmla="*/ 38084 w 45636"/>
                    <a:gd name="connsiteY3" fmla="*/ 57572 h 58202"/>
                    <a:gd name="connsiteX4" fmla="*/ 44982 w 45636"/>
                    <a:gd name="connsiteY4" fmla="*/ 55580 h 58202"/>
                    <a:gd name="connsiteX5" fmla="*/ 43022 w 45636"/>
                    <a:gd name="connsiteY5" fmla="*/ 48693 h 58202"/>
                    <a:gd name="connsiteX6" fmla="*/ 10056 w 45636"/>
                    <a:gd name="connsiteY6" fmla="*/ 4054 h 58202"/>
                    <a:gd name="connsiteX7" fmla="*/ 4102 w 45636"/>
                    <a:gd name="connsiteY7" fmla="*/ 100 h 58202"/>
                    <a:gd name="connsiteX8" fmla="*/ 4102 w 45636"/>
                    <a:gd name="connsiteY8" fmla="*/ 108 h 5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36" h="58202">
                      <a:moveTo>
                        <a:pt x="4102" y="108"/>
                      </a:moveTo>
                      <a:cubicBezTo>
                        <a:pt x="1342" y="658"/>
                        <a:pt x="-473" y="3338"/>
                        <a:pt x="109" y="6075"/>
                      </a:cubicBezTo>
                      <a:cubicBezTo>
                        <a:pt x="109" y="6075"/>
                        <a:pt x="109" y="6082"/>
                        <a:pt x="109" y="6082"/>
                      </a:cubicBezTo>
                      <a:cubicBezTo>
                        <a:pt x="4538" y="27974"/>
                        <a:pt x="18479" y="46803"/>
                        <a:pt x="38084" y="57572"/>
                      </a:cubicBezTo>
                      <a:cubicBezTo>
                        <a:pt x="40553" y="58926"/>
                        <a:pt x="43675" y="58028"/>
                        <a:pt x="44982" y="55580"/>
                      </a:cubicBezTo>
                      <a:cubicBezTo>
                        <a:pt x="46362" y="53125"/>
                        <a:pt x="45491" y="50040"/>
                        <a:pt x="43022" y="48693"/>
                      </a:cubicBezTo>
                      <a:cubicBezTo>
                        <a:pt x="25958" y="39358"/>
                        <a:pt x="13905" y="23035"/>
                        <a:pt x="10056" y="4054"/>
                      </a:cubicBezTo>
                      <a:cubicBezTo>
                        <a:pt x="9476" y="1317"/>
                        <a:pt x="6861" y="-450"/>
                        <a:pt x="4102" y="100"/>
                      </a:cubicBezTo>
                      <a:cubicBezTo>
                        <a:pt x="4102" y="100"/>
                        <a:pt x="4102" y="100"/>
                        <a:pt x="4102" y="108"/>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1" name="Freeform 1099">
                  <a:extLst>
                    <a:ext uri="{FF2B5EF4-FFF2-40B4-BE49-F238E27FC236}">
                      <a16:creationId xmlns:a16="http://schemas.microsoft.com/office/drawing/2014/main" id="{78684E88-0425-2098-027E-F8DD4C085808}"/>
                    </a:ext>
                  </a:extLst>
                </p:cNvPr>
                <p:cNvSpPr/>
                <p:nvPr/>
              </p:nvSpPr>
              <p:spPr>
                <a:xfrm>
                  <a:off x="8714442" y="3439408"/>
                  <a:ext cx="17626" cy="22775"/>
                </a:xfrm>
                <a:custGeom>
                  <a:avLst/>
                  <a:gdLst>
                    <a:gd name="connsiteX0" fmla="*/ 12544 w 17626"/>
                    <a:gd name="connsiteY0" fmla="*/ 22775 h 22775"/>
                    <a:gd name="connsiteX1" fmla="*/ 17627 w 17626"/>
                    <a:gd name="connsiteY1" fmla="*/ 17691 h 22775"/>
                    <a:gd name="connsiteX2" fmla="*/ 16393 w 17626"/>
                    <a:gd name="connsiteY2" fmla="*/ 14454 h 22775"/>
                    <a:gd name="connsiteX3" fmla="*/ 9785 w 17626"/>
                    <a:gd name="connsiteY3" fmla="*/ 3251 h 22775"/>
                    <a:gd name="connsiteX4" fmla="*/ 3250 w 17626"/>
                    <a:gd name="connsiteY4" fmla="*/ 340 h 22775"/>
                    <a:gd name="connsiteX5" fmla="*/ 345 w 17626"/>
                    <a:gd name="connsiteY5" fmla="*/ 6901 h 22775"/>
                    <a:gd name="connsiteX6" fmla="*/ 8623 w 17626"/>
                    <a:gd name="connsiteY6" fmla="*/ 20958 h 22775"/>
                    <a:gd name="connsiteX7" fmla="*/ 12544 w 17626"/>
                    <a:gd name="connsiteY7" fmla="*/ 22775 h 2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26" h="22775">
                      <a:moveTo>
                        <a:pt x="12544" y="22775"/>
                      </a:moveTo>
                      <a:cubicBezTo>
                        <a:pt x="15376" y="22768"/>
                        <a:pt x="17627" y="20494"/>
                        <a:pt x="17627" y="17691"/>
                      </a:cubicBezTo>
                      <a:cubicBezTo>
                        <a:pt x="17627" y="16511"/>
                        <a:pt x="17191" y="15360"/>
                        <a:pt x="16393" y="14454"/>
                      </a:cubicBezTo>
                      <a:cubicBezTo>
                        <a:pt x="13634" y="11109"/>
                        <a:pt x="11382" y="7321"/>
                        <a:pt x="9785" y="3251"/>
                      </a:cubicBezTo>
                      <a:cubicBezTo>
                        <a:pt x="8768" y="637"/>
                        <a:pt x="5864" y="-667"/>
                        <a:pt x="3250" y="340"/>
                      </a:cubicBezTo>
                      <a:cubicBezTo>
                        <a:pt x="636" y="1347"/>
                        <a:pt x="-672" y="4287"/>
                        <a:pt x="345" y="6901"/>
                      </a:cubicBezTo>
                      <a:cubicBezTo>
                        <a:pt x="2306" y="12014"/>
                        <a:pt x="5065" y="16765"/>
                        <a:pt x="8623" y="20958"/>
                      </a:cubicBezTo>
                      <a:cubicBezTo>
                        <a:pt x="9567" y="22109"/>
                        <a:pt x="11020" y="22775"/>
                        <a:pt x="12544" y="22775"/>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2" name="Freeform 1100">
                  <a:extLst>
                    <a:ext uri="{FF2B5EF4-FFF2-40B4-BE49-F238E27FC236}">
                      <a16:creationId xmlns:a16="http://schemas.microsoft.com/office/drawing/2014/main" id="{7CCB452F-D087-6CBD-2342-0B898112D52D}"/>
                    </a:ext>
                  </a:extLst>
                </p:cNvPr>
                <p:cNvSpPr/>
                <p:nvPr/>
              </p:nvSpPr>
              <p:spPr>
                <a:xfrm>
                  <a:off x="8820005" y="3405394"/>
                  <a:ext cx="49655" cy="105913"/>
                </a:xfrm>
                <a:custGeom>
                  <a:avLst/>
                  <a:gdLst>
                    <a:gd name="connsiteX0" fmla="*/ 2029 w 49655"/>
                    <a:gd name="connsiteY0" fmla="*/ 96764 h 105913"/>
                    <a:gd name="connsiteX1" fmla="*/ 1012 w 49655"/>
                    <a:gd name="connsiteY1" fmla="*/ 103861 h 105913"/>
                    <a:gd name="connsiteX2" fmla="*/ 8128 w 49655"/>
                    <a:gd name="connsiteY2" fmla="*/ 104911 h 105913"/>
                    <a:gd name="connsiteX3" fmla="*/ 48064 w 49655"/>
                    <a:gd name="connsiteY3" fmla="*/ 4170 h 105913"/>
                    <a:gd name="connsiteX4" fmla="*/ 42183 w 49655"/>
                    <a:gd name="connsiteY4" fmla="*/ 81 h 105913"/>
                    <a:gd name="connsiteX5" fmla="*/ 38044 w 49655"/>
                    <a:gd name="connsiteY5" fmla="*/ 5966 h 105913"/>
                    <a:gd name="connsiteX6" fmla="*/ 2029 w 49655"/>
                    <a:gd name="connsiteY6" fmla="*/ 96764 h 10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55" h="105913">
                      <a:moveTo>
                        <a:pt x="2029" y="96764"/>
                      </a:moveTo>
                      <a:cubicBezTo>
                        <a:pt x="-222" y="98437"/>
                        <a:pt x="-658" y="101609"/>
                        <a:pt x="1012" y="103861"/>
                      </a:cubicBezTo>
                      <a:cubicBezTo>
                        <a:pt x="2682" y="106114"/>
                        <a:pt x="5877" y="106584"/>
                        <a:pt x="8128" y="104911"/>
                      </a:cubicBezTo>
                      <a:cubicBezTo>
                        <a:pt x="39424" y="81528"/>
                        <a:pt x="54890" y="42581"/>
                        <a:pt x="48064" y="4170"/>
                      </a:cubicBezTo>
                      <a:cubicBezTo>
                        <a:pt x="47556" y="1417"/>
                        <a:pt x="44942" y="-414"/>
                        <a:pt x="42183" y="81"/>
                      </a:cubicBezTo>
                      <a:cubicBezTo>
                        <a:pt x="39424" y="577"/>
                        <a:pt x="37536" y="3214"/>
                        <a:pt x="38044" y="5966"/>
                      </a:cubicBezTo>
                      <a:cubicBezTo>
                        <a:pt x="44216" y="40582"/>
                        <a:pt x="30275" y="75691"/>
                        <a:pt x="2029" y="96764"/>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3" name="Freeform 1101">
                  <a:extLst>
                    <a:ext uri="{FF2B5EF4-FFF2-40B4-BE49-F238E27FC236}">
                      <a16:creationId xmlns:a16="http://schemas.microsoft.com/office/drawing/2014/main" id="{654C8121-EDFB-D05C-FAB6-5C7C166C7200}"/>
                    </a:ext>
                  </a:extLst>
                </p:cNvPr>
                <p:cNvSpPr/>
                <p:nvPr/>
              </p:nvSpPr>
              <p:spPr>
                <a:xfrm>
                  <a:off x="8810433" y="3425395"/>
                  <a:ext cx="34197" cy="64800"/>
                </a:xfrm>
                <a:custGeom>
                  <a:avLst/>
                  <a:gdLst>
                    <a:gd name="connsiteX0" fmla="*/ 1725 w 34197"/>
                    <a:gd name="connsiteY0" fmla="*/ 55929 h 64800"/>
                    <a:gd name="connsiteX1" fmla="*/ 1289 w 34197"/>
                    <a:gd name="connsiteY1" fmla="*/ 63091 h 64800"/>
                    <a:gd name="connsiteX2" fmla="*/ 8479 w 34197"/>
                    <a:gd name="connsiteY2" fmla="*/ 63525 h 64800"/>
                    <a:gd name="connsiteX3" fmla="*/ 34183 w 34197"/>
                    <a:gd name="connsiteY3" fmla="*/ 4968 h 64800"/>
                    <a:gd name="connsiteX4" fmla="*/ 29100 w 34197"/>
                    <a:gd name="connsiteY4" fmla="*/ 0 h 64800"/>
                    <a:gd name="connsiteX5" fmla="*/ 29027 w 34197"/>
                    <a:gd name="connsiteY5" fmla="*/ 0 h 64800"/>
                    <a:gd name="connsiteX6" fmla="*/ 24017 w 34197"/>
                    <a:gd name="connsiteY6" fmla="*/ 5163 h 64800"/>
                    <a:gd name="connsiteX7" fmla="*/ 24017 w 34197"/>
                    <a:gd name="connsiteY7" fmla="*/ 5171 h 64800"/>
                    <a:gd name="connsiteX8" fmla="*/ 1725 w 34197"/>
                    <a:gd name="connsiteY8" fmla="*/ 55929 h 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7" h="64800">
                      <a:moveTo>
                        <a:pt x="1725" y="55929"/>
                      </a:moveTo>
                      <a:cubicBezTo>
                        <a:pt x="-381" y="57790"/>
                        <a:pt x="-598" y="60991"/>
                        <a:pt x="1289" y="63091"/>
                      </a:cubicBezTo>
                      <a:cubicBezTo>
                        <a:pt x="3177" y="65184"/>
                        <a:pt x="6373" y="65386"/>
                        <a:pt x="8479" y="63525"/>
                      </a:cubicBezTo>
                      <a:cubicBezTo>
                        <a:pt x="25252" y="48723"/>
                        <a:pt x="34619" y="27309"/>
                        <a:pt x="34183" y="4968"/>
                      </a:cubicBezTo>
                      <a:cubicBezTo>
                        <a:pt x="34110" y="2209"/>
                        <a:pt x="31859" y="0"/>
                        <a:pt x="29100" y="0"/>
                      </a:cubicBezTo>
                      <a:lnTo>
                        <a:pt x="29027" y="0"/>
                      </a:lnTo>
                      <a:cubicBezTo>
                        <a:pt x="26195" y="51"/>
                        <a:pt x="23945" y="2368"/>
                        <a:pt x="24017" y="5163"/>
                      </a:cubicBezTo>
                      <a:cubicBezTo>
                        <a:pt x="24017" y="5171"/>
                        <a:pt x="24017" y="5171"/>
                        <a:pt x="24017" y="5171"/>
                      </a:cubicBezTo>
                      <a:cubicBezTo>
                        <a:pt x="24453" y="24535"/>
                        <a:pt x="16248" y="43096"/>
                        <a:pt x="1725" y="55929"/>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4" name="Freeform 1102">
                  <a:extLst>
                    <a:ext uri="{FF2B5EF4-FFF2-40B4-BE49-F238E27FC236}">
                      <a16:creationId xmlns:a16="http://schemas.microsoft.com/office/drawing/2014/main" id="{A690830E-4B7B-40DF-572E-48BF20C93A44}"/>
                    </a:ext>
                  </a:extLst>
                </p:cNvPr>
                <p:cNvSpPr/>
                <p:nvPr/>
              </p:nvSpPr>
              <p:spPr>
                <a:xfrm>
                  <a:off x="8799438" y="3446155"/>
                  <a:ext cx="17412" cy="22903"/>
                </a:xfrm>
                <a:custGeom>
                  <a:avLst/>
                  <a:gdLst>
                    <a:gd name="connsiteX0" fmla="*/ 14028 w 17412"/>
                    <a:gd name="connsiteY0" fmla="*/ 306 h 22903"/>
                    <a:gd name="connsiteX1" fmla="*/ 7566 w 17412"/>
                    <a:gd name="connsiteY1" fmla="*/ 3340 h 22903"/>
                    <a:gd name="connsiteX2" fmla="*/ 1103 w 17412"/>
                    <a:gd name="connsiteY2" fmla="*/ 14652 h 22903"/>
                    <a:gd name="connsiteX3" fmla="*/ 1902 w 17412"/>
                    <a:gd name="connsiteY3" fmla="*/ 21785 h 22903"/>
                    <a:gd name="connsiteX4" fmla="*/ 9018 w 17412"/>
                    <a:gd name="connsiteY4" fmla="*/ 21032 h 22903"/>
                    <a:gd name="connsiteX5" fmla="*/ 17077 w 17412"/>
                    <a:gd name="connsiteY5" fmla="*/ 6802 h 22903"/>
                    <a:gd name="connsiteX6" fmla="*/ 14028 w 17412"/>
                    <a:gd name="connsiteY6" fmla="*/ 306 h 22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12" h="22903">
                      <a:moveTo>
                        <a:pt x="14028" y="306"/>
                      </a:moveTo>
                      <a:cubicBezTo>
                        <a:pt x="11414" y="-650"/>
                        <a:pt x="8510" y="711"/>
                        <a:pt x="7566" y="3340"/>
                      </a:cubicBezTo>
                      <a:cubicBezTo>
                        <a:pt x="6040" y="7439"/>
                        <a:pt x="3863" y="11263"/>
                        <a:pt x="1103" y="14652"/>
                      </a:cubicBezTo>
                      <a:cubicBezTo>
                        <a:pt x="-639" y="16839"/>
                        <a:pt x="-277" y="20032"/>
                        <a:pt x="1902" y="21785"/>
                      </a:cubicBezTo>
                      <a:cubicBezTo>
                        <a:pt x="4081" y="23530"/>
                        <a:pt x="7275" y="23197"/>
                        <a:pt x="9018" y="21032"/>
                      </a:cubicBezTo>
                      <a:cubicBezTo>
                        <a:pt x="12503" y="16766"/>
                        <a:pt x="15189" y="11958"/>
                        <a:pt x="17077" y="6802"/>
                      </a:cubicBezTo>
                      <a:cubicBezTo>
                        <a:pt x="18094" y="4173"/>
                        <a:pt x="16715" y="1262"/>
                        <a:pt x="14028" y="306"/>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63" name="Group 1133">
                <a:extLst>
                  <a:ext uri="{FF2B5EF4-FFF2-40B4-BE49-F238E27FC236}">
                    <a16:creationId xmlns:a16="http://schemas.microsoft.com/office/drawing/2014/main" id="{16C49504-C985-C6A9-0024-5FCB176FB63D}"/>
                  </a:ext>
                </a:extLst>
              </p:cNvPr>
              <p:cNvGrpSpPr>
                <a:grpSpLocks noChangeAspect="1"/>
              </p:cNvGrpSpPr>
              <p:nvPr/>
            </p:nvGrpSpPr>
            <p:grpSpPr>
              <a:xfrm>
                <a:off x="4229792" y="4567479"/>
                <a:ext cx="328614" cy="389664"/>
                <a:chOff x="10788570" y="3321231"/>
                <a:chExt cx="232720" cy="275954"/>
              </a:xfrm>
            </p:grpSpPr>
            <p:sp>
              <p:nvSpPr>
                <p:cNvPr id="79" name="Freeform 513">
                  <a:extLst>
                    <a:ext uri="{FF2B5EF4-FFF2-40B4-BE49-F238E27FC236}">
                      <a16:creationId xmlns:a16="http://schemas.microsoft.com/office/drawing/2014/main" id="{062A7FFD-2F8B-D5A1-EDA6-F5299C910BB0}"/>
                    </a:ext>
                  </a:extLst>
                </p:cNvPr>
                <p:cNvSpPr/>
                <p:nvPr/>
              </p:nvSpPr>
              <p:spPr>
                <a:xfrm>
                  <a:off x="10788570" y="3396205"/>
                  <a:ext cx="232720" cy="200980"/>
                </a:xfrm>
                <a:custGeom>
                  <a:avLst/>
                  <a:gdLst>
                    <a:gd name="connsiteX0" fmla="*/ 230978 w 232720"/>
                    <a:gd name="connsiteY0" fmla="*/ 67933 h 200980"/>
                    <a:gd name="connsiteX1" fmla="*/ 227202 w 232720"/>
                    <a:gd name="connsiteY1" fmla="*/ 67166 h 200980"/>
                    <a:gd name="connsiteX2" fmla="*/ 156551 w 232720"/>
                    <a:gd name="connsiteY2" fmla="*/ 85698 h 200980"/>
                    <a:gd name="connsiteX3" fmla="*/ 156551 w 232720"/>
                    <a:gd name="connsiteY3" fmla="*/ 71417 h 200980"/>
                    <a:gd name="connsiteX4" fmla="*/ 152122 w 232720"/>
                    <a:gd name="connsiteY4" fmla="*/ 67021 h 200980"/>
                    <a:gd name="connsiteX5" fmla="*/ 151032 w 232720"/>
                    <a:gd name="connsiteY5" fmla="*/ 67166 h 200980"/>
                    <a:gd name="connsiteX6" fmla="*/ 101221 w 232720"/>
                    <a:gd name="connsiteY6" fmla="*/ 80223 h 200980"/>
                    <a:gd name="connsiteX7" fmla="*/ 97881 w 232720"/>
                    <a:gd name="connsiteY7" fmla="*/ 4197 h 200980"/>
                    <a:gd name="connsiteX8" fmla="*/ 93452 w 232720"/>
                    <a:gd name="connsiteY8" fmla="*/ 0 h 200980"/>
                    <a:gd name="connsiteX9" fmla="*/ 51409 w 232720"/>
                    <a:gd name="connsiteY9" fmla="*/ 0 h 200980"/>
                    <a:gd name="connsiteX10" fmla="*/ 47053 w 232720"/>
                    <a:gd name="connsiteY10" fmla="*/ 4197 h 200980"/>
                    <a:gd name="connsiteX11" fmla="*/ 42115 w 232720"/>
                    <a:gd name="connsiteY11" fmla="*/ 115498 h 200980"/>
                    <a:gd name="connsiteX12" fmla="*/ 5519 w 232720"/>
                    <a:gd name="connsiteY12" fmla="*/ 105895 h 200980"/>
                    <a:gd name="connsiteX13" fmla="*/ 145 w 232720"/>
                    <a:gd name="connsiteY13" fmla="*/ 109024 h 200980"/>
                    <a:gd name="connsiteX14" fmla="*/ 0 w 232720"/>
                    <a:gd name="connsiteY14" fmla="*/ 110146 h 200980"/>
                    <a:gd name="connsiteX15" fmla="*/ 0 w 232720"/>
                    <a:gd name="connsiteY15" fmla="*/ 196592 h 200980"/>
                    <a:gd name="connsiteX16" fmla="*/ 4430 w 232720"/>
                    <a:gd name="connsiteY16" fmla="*/ 200980 h 200980"/>
                    <a:gd name="connsiteX17" fmla="*/ 228291 w 232720"/>
                    <a:gd name="connsiteY17" fmla="*/ 200980 h 200980"/>
                    <a:gd name="connsiteX18" fmla="*/ 232720 w 232720"/>
                    <a:gd name="connsiteY18" fmla="*/ 196592 h 200980"/>
                    <a:gd name="connsiteX19" fmla="*/ 232720 w 232720"/>
                    <a:gd name="connsiteY19" fmla="*/ 71417 h 200980"/>
                    <a:gd name="connsiteX20" fmla="*/ 230978 w 232720"/>
                    <a:gd name="connsiteY20" fmla="*/ 67933 h 200980"/>
                    <a:gd name="connsiteX21" fmla="*/ 147692 w 232720"/>
                    <a:gd name="connsiteY21" fmla="*/ 91397 h 200980"/>
                    <a:gd name="connsiteX22" fmla="*/ 147692 w 232720"/>
                    <a:gd name="connsiteY22" fmla="*/ 192196 h 200980"/>
                    <a:gd name="connsiteX23" fmla="*/ 8787 w 232720"/>
                    <a:gd name="connsiteY23" fmla="*/ 192196 h 200980"/>
                    <a:gd name="connsiteX24" fmla="*/ 8787 w 232720"/>
                    <a:gd name="connsiteY24" fmla="*/ 115838 h 200980"/>
                    <a:gd name="connsiteX25" fmla="*/ 45165 w 232720"/>
                    <a:gd name="connsiteY25" fmla="*/ 125376 h 200980"/>
                    <a:gd name="connsiteX26" fmla="*/ 50538 w 232720"/>
                    <a:gd name="connsiteY26" fmla="*/ 122247 h 200980"/>
                    <a:gd name="connsiteX27" fmla="*/ 50684 w 232720"/>
                    <a:gd name="connsiteY27" fmla="*/ 121320 h 200980"/>
                    <a:gd name="connsiteX28" fmla="*/ 55693 w 232720"/>
                    <a:gd name="connsiteY28" fmla="*/ 8780 h 200980"/>
                    <a:gd name="connsiteX29" fmla="*/ 89240 w 232720"/>
                    <a:gd name="connsiteY29" fmla="*/ 8780 h 200980"/>
                    <a:gd name="connsiteX30" fmla="*/ 92652 w 232720"/>
                    <a:gd name="connsiteY30" fmla="*/ 86045 h 200980"/>
                    <a:gd name="connsiteX31" fmla="*/ 97227 w 232720"/>
                    <a:gd name="connsiteY31" fmla="*/ 90245 h 200980"/>
                    <a:gd name="connsiteX32" fmla="*/ 98171 w 232720"/>
                    <a:gd name="connsiteY32" fmla="*/ 90101 h 200980"/>
                    <a:gd name="connsiteX33" fmla="*/ 147692 w 232720"/>
                    <a:gd name="connsiteY33" fmla="*/ 77109 h 200980"/>
                    <a:gd name="connsiteX34" fmla="*/ 223934 w 232720"/>
                    <a:gd name="connsiteY34" fmla="*/ 192196 h 200980"/>
                    <a:gd name="connsiteX35" fmla="*/ 156551 w 232720"/>
                    <a:gd name="connsiteY35" fmla="*/ 192196 h 200980"/>
                    <a:gd name="connsiteX36" fmla="*/ 156551 w 232720"/>
                    <a:gd name="connsiteY36" fmla="*/ 94779 h 200980"/>
                    <a:gd name="connsiteX37" fmla="*/ 223934 w 232720"/>
                    <a:gd name="connsiteY37" fmla="*/ 77109 h 20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2720" h="200980">
                      <a:moveTo>
                        <a:pt x="230978" y="67933"/>
                      </a:moveTo>
                      <a:cubicBezTo>
                        <a:pt x="229888" y="67101"/>
                        <a:pt x="228509" y="66818"/>
                        <a:pt x="227202" y="67166"/>
                      </a:cubicBezTo>
                      <a:lnTo>
                        <a:pt x="156551" y="85698"/>
                      </a:lnTo>
                      <a:lnTo>
                        <a:pt x="156551" y="71417"/>
                      </a:lnTo>
                      <a:cubicBezTo>
                        <a:pt x="156551" y="68991"/>
                        <a:pt x="154517" y="67021"/>
                        <a:pt x="152122" y="67021"/>
                      </a:cubicBezTo>
                      <a:cubicBezTo>
                        <a:pt x="151758" y="67021"/>
                        <a:pt x="151396" y="67072"/>
                        <a:pt x="151032" y="67166"/>
                      </a:cubicBezTo>
                      <a:lnTo>
                        <a:pt x="101221" y="80223"/>
                      </a:lnTo>
                      <a:lnTo>
                        <a:pt x="97881" y="4197"/>
                      </a:lnTo>
                      <a:cubicBezTo>
                        <a:pt x="97736" y="1850"/>
                        <a:pt x="95848" y="1"/>
                        <a:pt x="93452" y="0"/>
                      </a:cubicBezTo>
                      <a:lnTo>
                        <a:pt x="51409" y="0"/>
                      </a:lnTo>
                      <a:cubicBezTo>
                        <a:pt x="49085" y="1"/>
                        <a:pt x="47126" y="1850"/>
                        <a:pt x="47053" y="4197"/>
                      </a:cubicBezTo>
                      <a:lnTo>
                        <a:pt x="42115" y="115498"/>
                      </a:lnTo>
                      <a:lnTo>
                        <a:pt x="5519" y="105895"/>
                      </a:lnTo>
                      <a:cubicBezTo>
                        <a:pt x="3195" y="105279"/>
                        <a:pt x="800" y="106677"/>
                        <a:pt x="145" y="109024"/>
                      </a:cubicBezTo>
                      <a:cubicBezTo>
                        <a:pt x="73" y="109386"/>
                        <a:pt x="0" y="109762"/>
                        <a:pt x="0" y="110146"/>
                      </a:cubicBezTo>
                      <a:lnTo>
                        <a:pt x="0" y="196592"/>
                      </a:lnTo>
                      <a:cubicBezTo>
                        <a:pt x="0" y="199018"/>
                        <a:pt x="1961" y="200980"/>
                        <a:pt x="4430" y="200980"/>
                      </a:cubicBezTo>
                      <a:lnTo>
                        <a:pt x="228291" y="200980"/>
                      </a:lnTo>
                      <a:cubicBezTo>
                        <a:pt x="230759" y="200980"/>
                        <a:pt x="232720" y="199018"/>
                        <a:pt x="232720" y="196592"/>
                      </a:cubicBezTo>
                      <a:lnTo>
                        <a:pt x="232720" y="71417"/>
                      </a:lnTo>
                      <a:cubicBezTo>
                        <a:pt x="232720" y="70048"/>
                        <a:pt x="232067" y="68766"/>
                        <a:pt x="230978" y="67933"/>
                      </a:cubicBezTo>
                      <a:close/>
                      <a:moveTo>
                        <a:pt x="147692" y="91397"/>
                      </a:moveTo>
                      <a:lnTo>
                        <a:pt x="147692" y="192196"/>
                      </a:lnTo>
                      <a:lnTo>
                        <a:pt x="8787" y="192196"/>
                      </a:lnTo>
                      <a:lnTo>
                        <a:pt x="8787" y="115838"/>
                      </a:lnTo>
                      <a:lnTo>
                        <a:pt x="45165" y="125376"/>
                      </a:lnTo>
                      <a:cubicBezTo>
                        <a:pt x="47561" y="125991"/>
                        <a:pt x="49957" y="124593"/>
                        <a:pt x="50538" y="122247"/>
                      </a:cubicBezTo>
                      <a:cubicBezTo>
                        <a:pt x="50611" y="121943"/>
                        <a:pt x="50684" y="121632"/>
                        <a:pt x="50684" y="121320"/>
                      </a:cubicBezTo>
                      <a:lnTo>
                        <a:pt x="55693" y="8780"/>
                      </a:lnTo>
                      <a:lnTo>
                        <a:pt x="89240" y="8780"/>
                      </a:lnTo>
                      <a:lnTo>
                        <a:pt x="92652" y="86045"/>
                      </a:lnTo>
                      <a:cubicBezTo>
                        <a:pt x="92725" y="88471"/>
                        <a:pt x="94831" y="90347"/>
                        <a:pt x="97227" y="90245"/>
                      </a:cubicBezTo>
                      <a:cubicBezTo>
                        <a:pt x="97590" y="90231"/>
                        <a:pt x="97881" y="90180"/>
                        <a:pt x="98171" y="90101"/>
                      </a:cubicBezTo>
                      <a:lnTo>
                        <a:pt x="147692" y="77109"/>
                      </a:lnTo>
                      <a:close/>
                      <a:moveTo>
                        <a:pt x="223934" y="192196"/>
                      </a:moveTo>
                      <a:lnTo>
                        <a:pt x="156551" y="192196"/>
                      </a:lnTo>
                      <a:lnTo>
                        <a:pt x="156551" y="94779"/>
                      </a:lnTo>
                      <a:lnTo>
                        <a:pt x="223934" y="77109"/>
                      </a:ln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0" name="Freeform 514">
                  <a:extLst>
                    <a:ext uri="{FF2B5EF4-FFF2-40B4-BE49-F238E27FC236}">
                      <a16:creationId xmlns:a16="http://schemas.microsoft.com/office/drawing/2014/main" id="{D8F15C1B-E898-413F-D5A0-DDDEB2CBC90E}"/>
                    </a:ext>
                  </a:extLst>
                </p:cNvPr>
                <p:cNvSpPr/>
                <p:nvPr/>
              </p:nvSpPr>
              <p:spPr>
                <a:xfrm>
                  <a:off x="10850414" y="3321231"/>
                  <a:ext cx="85053" cy="52848"/>
                </a:xfrm>
                <a:custGeom>
                  <a:avLst/>
                  <a:gdLst>
                    <a:gd name="connsiteX0" fmla="*/ 16359 w 85053"/>
                    <a:gd name="connsiteY0" fmla="*/ 52849 h 52848"/>
                    <a:gd name="connsiteX1" fmla="*/ 28340 w 85053"/>
                    <a:gd name="connsiteY1" fmla="*/ 47569 h 52848"/>
                    <a:gd name="connsiteX2" fmla="*/ 34875 w 85053"/>
                    <a:gd name="connsiteY2" fmla="*/ 45823 h 52848"/>
                    <a:gd name="connsiteX3" fmla="*/ 50849 w 85053"/>
                    <a:gd name="connsiteY3" fmla="*/ 41078 h 52848"/>
                    <a:gd name="connsiteX4" fmla="*/ 57312 w 85053"/>
                    <a:gd name="connsiteY4" fmla="*/ 39702 h 52848"/>
                    <a:gd name="connsiteX5" fmla="*/ 83742 w 85053"/>
                    <a:gd name="connsiteY5" fmla="*/ 27633 h 52848"/>
                    <a:gd name="connsiteX6" fmla="*/ 71689 w 85053"/>
                    <a:gd name="connsiteY6" fmla="*/ 1285 h 52848"/>
                    <a:gd name="connsiteX7" fmla="*/ 48671 w 85053"/>
                    <a:gd name="connsiteY7" fmla="*/ 7400 h 52848"/>
                    <a:gd name="connsiteX8" fmla="*/ 41845 w 85053"/>
                    <a:gd name="connsiteY8" fmla="*/ 9465 h 52848"/>
                    <a:gd name="connsiteX9" fmla="*/ 22676 w 85053"/>
                    <a:gd name="connsiteY9" fmla="*/ 17375 h 52848"/>
                    <a:gd name="connsiteX10" fmla="*/ 16649 w 85053"/>
                    <a:gd name="connsiteY10" fmla="*/ 20320 h 52848"/>
                    <a:gd name="connsiteX11" fmla="*/ 13164 w 85053"/>
                    <a:gd name="connsiteY11" fmla="*/ 20617 h 52848"/>
                    <a:gd name="connsiteX12" fmla="*/ 312 w 85053"/>
                    <a:gd name="connsiteY12" fmla="*/ 39745 h 52848"/>
                    <a:gd name="connsiteX13" fmla="*/ 16359 w 85053"/>
                    <a:gd name="connsiteY13" fmla="*/ 52849 h 52848"/>
                    <a:gd name="connsiteX14" fmla="*/ 14834 w 85053"/>
                    <a:gd name="connsiteY14" fmla="*/ 29245 h 52848"/>
                    <a:gd name="connsiteX15" fmla="*/ 16359 w 85053"/>
                    <a:gd name="connsiteY15" fmla="*/ 29101 h 52848"/>
                    <a:gd name="connsiteX16" fmla="*/ 16504 w 85053"/>
                    <a:gd name="connsiteY16" fmla="*/ 29101 h 52848"/>
                    <a:gd name="connsiteX17" fmla="*/ 30010 w 85053"/>
                    <a:gd name="connsiteY17" fmla="*/ 22237 h 52848"/>
                    <a:gd name="connsiteX18" fmla="*/ 40103 w 85053"/>
                    <a:gd name="connsiteY18" fmla="*/ 18075 h 52848"/>
                    <a:gd name="connsiteX19" fmla="*/ 55496 w 85053"/>
                    <a:gd name="connsiteY19" fmla="*/ 13008 h 52848"/>
                    <a:gd name="connsiteX20" fmla="*/ 65226 w 85053"/>
                    <a:gd name="connsiteY20" fmla="*/ 8804 h 52848"/>
                    <a:gd name="connsiteX21" fmla="*/ 76190 w 85053"/>
                    <a:gd name="connsiteY21" fmla="*/ 20144 h 52848"/>
                    <a:gd name="connsiteX22" fmla="*/ 72923 w 85053"/>
                    <a:gd name="connsiteY22" fmla="*/ 28645 h 52848"/>
                    <a:gd name="connsiteX23" fmla="*/ 60434 w 85053"/>
                    <a:gd name="connsiteY23" fmla="*/ 31466 h 52848"/>
                    <a:gd name="connsiteX24" fmla="*/ 44823 w 85053"/>
                    <a:gd name="connsiteY24" fmla="*/ 34691 h 52848"/>
                    <a:gd name="connsiteX25" fmla="*/ 36399 w 85053"/>
                    <a:gd name="connsiteY25" fmla="*/ 37181 h 52848"/>
                    <a:gd name="connsiteX26" fmla="*/ 21877 w 85053"/>
                    <a:gd name="connsiteY26" fmla="*/ 41636 h 52848"/>
                    <a:gd name="connsiteX27" fmla="*/ 10985 w 85053"/>
                    <a:gd name="connsiteY27" fmla="*/ 41785 h 52848"/>
                    <a:gd name="connsiteX28" fmla="*/ 10478 w 85053"/>
                    <a:gd name="connsiteY28" fmla="*/ 41300 h 52848"/>
                    <a:gd name="connsiteX29" fmla="*/ 11567 w 85053"/>
                    <a:gd name="connsiteY29" fmla="*/ 30781 h 52848"/>
                    <a:gd name="connsiteX30" fmla="*/ 14834 w 85053"/>
                    <a:gd name="connsiteY30" fmla="*/ 29246 h 5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053" h="52848">
                      <a:moveTo>
                        <a:pt x="16359" y="52849"/>
                      </a:moveTo>
                      <a:cubicBezTo>
                        <a:pt x="20933" y="52843"/>
                        <a:pt x="25290" y="50929"/>
                        <a:pt x="28340" y="47569"/>
                      </a:cubicBezTo>
                      <a:cubicBezTo>
                        <a:pt x="30082" y="45920"/>
                        <a:pt x="32551" y="45261"/>
                        <a:pt x="34875" y="45823"/>
                      </a:cubicBezTo>
                      <a:cubicBezTo>
                        <a:pt x="40611" y="46851"/>
                        <a:pt x="46565" y="45092"/>
                        <a:pt x="50849" y="41078"/>
                      </a:cubicBezTo>
                      <a:cubicBezTo>
                        <a:pt x="52592" y="39438"/>
                        <a:pt x="55134" y="38906"/>
                        <a:pt x="57312" y="39702"/>
                      </a:cubicBezTo>
                      <a:cubicBezTo>
                        <a:pt x="67985" y="43645"/>
                        <a:pt x="79821" y="38241"/>
                        <a:pt x="83742" y="27633"/>
                      </a:cubicBezTo>
                      <a:cubicBezTo>
                        <a:pt x="87736" y="17024"/>
                        <a:pt x="82290" y="5228"/>
                        <a:pt x="71689" y="1285"/>
                      </a:cubicBezTo>
                      <a:cubicBezTo>
                        <a:pt x="63483" y="-1748"/>
                        <a:pt x="54262" y="705"/>
                        <a:pt x="48671" y="7400"/>
                      </a:cubicBezTo>
                      <a:cubicBezTo>
                        <a:pt x="46929" y="9293"/>
                        <a:pt x="44315" y="10086"/>
                        <a:pt x="41845" y="9465"/>
                      </a:cubicBezTo>
                      <a:cubicBezTo>
                        <a:pt x="34439" y="7989"/>
                        <a:pt x="26888" y="11114"/>
                        <a:pt x="22676" y="17375"/>
                      </a:cubicBezTo>
                      <a:cubicBezTo>
                        <a:pt x="21297" y="19328"/>
                        <a:pt x="19045" y="20439"/>
                        <a:pt x="16649" y="20320"/>
                      </a:cubicBezTo>
                      <a:cubicBezTo>
                        <a:pt x="15487" y="20303"/>
                        <a:pt x="14326" y="20402"/>
                        <a:pt x="13164" y="20617"/>
                      </a:cubicBezTo>
                      <a:cubicBezTo>
                        <a:pt x="4306" y="22367"/>
                        <a:pt x="-1431" y="30931"/>
                        <a:pt x="312" y="39745"/>
                      </a:cubicBezTo>
                      <a:cubicBezTo>
                        <a:pt x="1836" y="47360"/>
                        <a:pt x="8517" y="52846"/>
                        <a:pt x="16359" y="52849"/>
                      </a:cubicBezTo>
                      <a:close/>
                      <a:moveTo>
                        <a:pt x="14834" y="29245"/>
                      </a:moveTo>
                      <a:cubicBezTo>
                        <a:pt x="15342" y="29150"/>
                        <a:pt x="15851" y="29102"/>
                        <a:pt x="16359" y="29101"/>
                      </a:cubicBezTo>
                      <a:lnTo>
                        <a:pt x="16504" y="29101"/>
                      </a:lnTo>
                      <a:cubicBezTo>
                        <a:pt x="21877" y="29273"/>
                        <a:pt x="26961" y="26685"/>
                        <a:pt x="30010" y="22237"/>
                      </a:cubicBezTo>
                      <a:cubicBezTo>
                        <a:pt x="32261" y="18969"/>
                        <a:pt x="36181" y="17332"/>
                        <a:pt x="40103" y="18075"/>
                      </a:cubicBezTo>
                      <a:cubicBezTo>
                        <a:pt x="45767" y="19339"/>
                        <a:pt x="51648" y="17393"/>
                        <a:pt x="55496" y="13008"/>
                      </a:cubicBezTo>
                      <a:cubicBezTo>
                        <a:pt x="57820" y="10124"/>
                        <a:pt x="61451" y="8559"/>
                        <a:pt x="65226" y="8804"/>
                      </a:cubicBezTo>
                      <a:cubicBezTo>
                        <a:pt x="71253" y="9272"/>
                        <a:pt x="75973" y="14135"/>
                        <a:pt x="76190" y="20144"/>
                      </a:cubicBezTo>
                      <a:cubicBezTo>
                        <a:pt x="76336" y="23309"/>
                        <a:pt x="75102" y="26379"/>
                        <a:pt x="72923" y="28645"/>
                      </a:cubicBezTo>
                      <a:cubicBezTo>
                        <a:pt x="69656" y="31931"/>
                        <a:pt x="64791" y="33032"/>
                        <a:pt x="60434" y="31466"/>
                      </a:cubicBezTo>
                      <a:cubicBezTo>
                        <a:pt x="55061" y="29523"/>
                        <a:pt x="49034" y="30770"/>
                        <a:pt x="44823" y="34691"/>
                      </a:cubicBezTo>
                      <a:cubicBezTo>
                        <a:pt x="42571" y="36796"/>
                        <a:pt x="39449" y="37717"/>
                        <a:pt x="36399" y="37181"/>
                      </a:cubicBezTo>
                      <a:cubicBezTo>
                        <a:pt x="31099" y="36069"/>
                        <a:pt x="25653" y="37753"/>
                        <a:pt x="21877" y="41636"/>
                      </a:cubicBezTo>
                      <a:cubicBezTo>
                        <a:pt x="18901" y="44678"/>
                        <a:pt x="14035" y="44744"/>
                        <a:pt x="10985" y="41785"/>
                      </a:cubicBezTo>
                      <a:cubicBezTo>
                        <a:pt x="10840" y="41630"/>
                        <a:pt x="10623" y="41469"/>
                        <a:pt x="10478" y="41300"/>
                      </a:cubicBezTo>
                      <a:cubicBezTo>
                        <a:pt x="7864" y="38103"/>
                        <a:pt x="8372" y="33393"/>
                        <a:pt x="11567" y="30781"/>
                      </a:cubicBezTo>
                      <a:cubicBezTo>
                        <a:pt x="12511" y="30015"/>
                        <a:pt x="13599" y="29488"/>
                        <a:pt x="14834" y="29246"/>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1" name="Freeform 515">
                  <a:extLst>
                    <a:ext uri="{FF2B5EF4-FFF2-40B4-BE49-F238E27FC236}">
                      <a16:creationId xmlns:a16="http://schemas.microsoft.com/office/drawing/2014/main" id="{06737657-895D-B5FE-4EFC-0706556AC9B3}"/>
                    </a:ext>
                  </a:extLst>
                </p:cNvPr>
                <p:cNvSpPr/>
                <p:nvPr/>
              </p:nvSpPr>
              <p:spPr>
                <a:xfrm>
                  <a:off x="10956376" y="3501188"/>
                  <a:ext cx="44800" cy="8784"/>
                </a:xfrm>
                <a:custGeom>
                  <a:avLst/>
                  <a:gdLst>
                    <a:gd name="connsiteX0" fmla="*/ 4357 w 44800"/>
                    <a:gd name="connsiteY0" fmla="*/ 8784 h 8784"/>
                    <a:gd name="connsiteX1" fmla="*/ 40372 w 44800"/>
                    <a:gd name="connsiteY1" fmla="*/ 8784 h 8784"/>
                    <a:gd name="connsiteX2" fmla="*/ 44801 w 44800"/>
                    <a:gd name="connsiteY2" fmla="*/ 4410 h 8784"/>
                    <a:gd name="connsiteX3" fmla="*/ 40372 w 44800"/>
                    <a:gd name="connsiteY3" fmla="*/ 0 h 8784"/>
                    <a:gd name="connsiteX4" fmla="*/ 40372 w 44800"/>
                    <a:gd name="connsiteY4" fmla="*/ 0 h 8784"/>
                    <a:gd name="connsiteX5" fmla="*/ 4357 w 44800"/>
                    <a:gd name="connsiteY5" fmla="*/ 0 h 8784"/>
                    <a:gd name="connsiteX6" fmla="*/ 0 w 44800"/>
                    <a:gd name="connsiteY6" fmla="*/ 4396 h 8784"/>
                    <a:gd name="connsiteX7" fmla="*/ 4357 w 44800"/>
                    <a:gd name="connsiteY7" fmla="*/ 8784 h 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800" h="8784">
                      <a:moveTo>
                        <a:pt x="4357" y="8784"/>
                      </a:moveTo>
                      <a:lnTo>
                        <a:pt x="40372" y="8784"/>
                      </a:lnTo>
                      <a:cubicBezTo>
                        <a:pt x="42767" y="8799"/>
                        <a:pt x="44801" y="6836"/>
                        <a:pt x="44801" y="4410"/>
                      </a:cubicBezTo>
                      <a:cubicBezTo>
                        <a:pt x="44801" y="1984"/>
                        <a:pt x="42840" y="15"/>
                        <a:pt x="40372" y="0"/>
                      </a:cubicBezTo>
                      <a:cubicBezTo>
                        <a:pt x="40372" y="0"/>
                        <a:pt x="40372" y="0"/>
                        <a:pt x="40372" y="0"/>
                      </a:cubicBezTo>
                      <a:lnTo>
                        <a:pt x="4357" y="0"/>
                      </a:lnTo>
                      <a:cubicBezTo>
                        <a:pt x="1960" y="0"/>
                        <a:pt x="0" y="1970"/>
                        <a:pt x="0" y="4396"/>
                      </a:cubicBezTo>
                      <a:cubicBezTo>
                        <a:pt x="0" y="6822"/>
                        <a:pt x="1960" y="8784"/>
                        <a:pt x="4357" y="8784"/>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2" name="Freeform 516">
                  <a:extLst>
                    <a:ext uri="{FF2B5EF4-FFF2-40B4-BE49-F238E27FC236}">
                      <a16:creationId xmlns:a16="http://schemas.microsoft.com/office/drawing/2014/main" id="{4CF715EC-DF5A-6C25-24DF-E2DCCE047E6F}"/>
                    </a:ext>
                  </a:extLst>
                </p:cNvPr>
                <p:cNvSpPr/>
                <p:nvPr/>
              </p:nvSpPr>
              <p:spPr>
                <a:xfrm>
                  <a:off x="10956376" y="3522297"/>
                  <a:ext cx="44800" cy="8784"/>
                </a:xfrm>
                <a:custGeom>
                  <a:avLst/>
                  <a:gdLst>
                    <a:gd name="connsiteX0" fmla="*/ 4357 w 44800"/>
                    <a:gd name="connsiteY0" fmla="*/ 8784 h 8784"/>
                    <a:gd name="connsiteX1" fmla="*/ 40372 w 44800"/>
                    <a:gd name="connsiteY1" fmla="*/ 8784 h 8784"/>
                    <a:gd name="connsiteX2" fmla="*/ 44801 w 44800"/>
                    <a:gd name="connsiteY2" fmla="*/ 4410 h 8784"/>
                    <a:gd name="connsiteX3" fmla="*/ 40372 w 44800"/>
                    <a:gd name="connsiteY3" fmla="*/ 0 h 8784"/>
                    <a:gd name="connsiteX4" fmla="*/ 40372 w 44800"/>
                    <a:gd name="connsiteY4" fmla="*/ 0 h 8784"/>
                    <a:gd name="connsiteX5" fmla="*/ 4357 w 44800"/>
                    <a:gd name="connsiteY5" fmla="*/ 0 h 8784"/>
                    <a:gd name="connsiteX6" fmla="*/ 0 w 44800"/>
                    <a:gd name="connsiteY6" fmla="*/ 4410 h 8784"/>
                    <a:gd name="connsiteX7" fmla="*/ 4357 w 44800"/>
                    <a:gd name="connsiteY7" fmla="*/ 8784 h 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800" h="8784">
                      <a:moveTo>
                        <a:pt x="4357" y="8784"/>
                      </a:moveTo>
                      <a:lnTo>
                        <a:pt x="40372" y="8784"/>
                      </a:lnTo>
                      <a:cubicBezTo>
                        <a:pt x="42767" y="8799"/>
                        <a:pt x="44801" y="6836"/>
                        <a:pt x="44801" y="4410"/>
                      </a:cubicBezTo>
                      <a:cubicBezTo>
                        <a:pt x="44801" y="1984"/>
                        <a:pt x="42840" y="14"/>
                        <a:pt x="40372" y="0"/>
                      </a:cubicBezTo>
                      <a:cubicBezTo>
                        <a:pt x="40372" y="0"/>
                        <a:pt x="40372" y="0"/>
                        <a:pt x="40372" y="0"/>
                      </a:cubicBezTo>
                      <a:lnTo>
                        <a:pt x="4357" y="0"/>
                      </a:lnTo>
                      <a:cubicBezTo>
                        <a:pt x="1960" y="14"/>
                        <a:pt x="0" y="1984"/>
                        <a:pt x="0" y="4410"/>
                      </a:cubicBezTo>
                      <a:cubicBezTo>
                        <a:pt x="0" y="6822"/>
                        <a:pt x="1960" y="8777"/>
                        <a:pt x="4357" y="8784"/>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3" name="Freeform 517">
                  <a:extLst>
                    <a:ext uri="{FF2B5EF4-FFF2-40B4-BE49-F238E27FC236}">
                      <a16:creationId xmlns:a16="http://schemas.microsoft.com/office/drawing/2014/main" id="{FE235AD6-715E-4785-FC57-22C80D919DA4}"/>
                    </a:ext>
                  </a:extLst>
                </p:cNvPr>
                <p:cNvSpPr/>
                <p:nvPr/>
              </p:nvSpPr>
              <p:spPr>
                <a:xfrm>
                  <a:off x="10956376" y="3543407"/>
                  <a:ext cx="44800" cy="8784"/>
                </a:xfrm>
                <a:custGeom>
                  <a:avLst/>
                  <a:gdLst>
                    <a:gd name="connsiteX0" fmla="*/ 4357 w 44800"/>
                    <a:gd name="connsiteY0" fmla="*/ 8784 h 8784"/>
                    <a:gd name="connsiteX1" fmla="*/ 40372 w 44800"/>
                    <a:gd name="connsiteY1" fmla="*/ 8784 h 8784"/>
                    <a:gd name="connsiteX2" fmla="*/ 44801 w 44800"/>
                    <a:gd name="connsiteY2" fmla="*/ 4410 h 8784"/>
                    <a:gd name="connsiteX3" fmla="*/ 40372 w 44800"/>
                    <a:gd name="connsiteY3" fmla="*/ 0 h 8784"/>
                    <a:gd name="connsiteX4" fmla="*/ 40372 w 44800"/>
                    <a:gd name="connsiteY4" fmla="*/ 0 h 8784"/>
                    <a:gd name="connsiteX5" fmla="*/ 4357 w 44800"/>
                    <a:gd name="connsiteY5" fmla="*/ 0 h 8784"/>
                    <a:gd name="connsiteX6" fmla="*/ 0 w 44800"/>
                    <a:gd name="connsiteY6" fmla="*/ 4410 h 8784"/>
                    <a:gd name="connsiteX7" fmla="*/ 4357 w 44800"/>
                    <a:gd name="connsiteY7" fmla="*/ 8784 h 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800" h="8784">
                      <a:moveTo>
                        <a:pt x="4357" y="8784"/>
                      </a:moveTo>
                      <a:lnTo>
                        <a:pt x="40372" y="8784"/>
                      </a:lnTo>
                      <a:cubicBezTo>
                        <a:pt x="42767" y="8799"/>
                        <a:pt x="44801" y="6836"/>
                        <a:pt x="44801" y="4410"/>
                      </a:cubicBezTo>
                      <a:cubicBezTo>
                        <a:pt x="44801" y="1984"/>
                        <a:pt x="42840" y="14"/>
                        <a:pt x="40372" y="0"/>
                      </a:cubicBezTo>
                      <a:cubicBezTo>
                        <a:pt x="40372" y="0"/>
                        <a:pt x="40372" y="0"/>
                        <a:pt x="40372" y="0"/>
                      </a:cubicBezTo>
                      <a:lnTo>
                        <a:pt x="4357" y="0"/>
                      </a:lnTo>
                      <a:cubicBezTo>
                        <a:pt x="1960" y="14"/>
                        <a:pt x="0" y="1984"/>
                        <a:pt x="0" y="4410"/>
                      </a:cubicBezTo>
                      <a:cubicBezTo>
                        <a:pt x="0" y="6822"/>
                        <a:pt x="1960" y="8777"/>
                        <a:pt x="4357" y="8784"/>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4" name="Freeform 518">
                  <a:extLst>
                    <a:ext uri="{FF2B5EF4-FFF2-40B4-BE49-F238E27FC236}">
                      <a16:creationId xmlns:a16="http://schemas.microsoft.com/office/drawing/2014/main" id="{671BFBC8-D2DA-4ACF-0F19-994E2BE78E85}"/>
                    </a:ext>
                  </a:extLst>
                </p:cNvPr>
                <p:cNvSpPr/>
                <p:nvPr/>
              </p:nvSpPr>
              <p:spPr>
                <a:xfrm>
                  <a:off x="10956376" y="3564517"/>
                  <a:ext cx="44800" cy="8784"/>
                </a:xfrm>
                <a:custGeom>
                  <a:avLst/>
                  <a:gdLst>
                    <a:gd name="connsiteX0" fmla="*/ 4357 w 44800"/>
                    <a:gd name="connsiteY0" fmla="*/ 8784 h 8784"/>
                    <a:gd name="connsiteX1" fmla="*/ 40372 w 44800"/>
                    <a:gd name="connsiteY1" fmla="*/ 8784 h 8784"/>
                    <a:gd name="connsiteX2" fmla="*/ 44801 w 44800"/>
                    <a:gd name="connsiteY2" fmla="*/ 4410 h 8784"/>
                    <a:gd name="connsiteX3" fmla="*/ 40372 w 44800"/>
                    <a:gd name="connsiteY3" fmla="*/ 0 h 8784"/>
                    <a:gd name="connsiteX4" fmla="*/ 40372 w 44800"/>
                    <a:gd name="connsiteY4" fmla="*/ 0 h 8784"/>
                    <a:gd name="connsiteX5" fmla="*/ 4357 w 44800"/>
                    <a:gd name="connsiteY5" fmla="*/ 0 h 8784"/>
                    <a:gd name="connsiteX6" fmla="*/ 0 w 44800"/>
                    <a:gd name="connsiteY6" fmla="*/ 4396 h 8784"/>
                    <a:gd name="connsiteX7" fmla="*/ 4357 w 44800"/>
                    <a:gd name="connsiteY7" fmla="*/ 8784 h 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800" h="8784">
                      <a:moveTo>
                        <a:pt x="4357" y="8784"/>
                      </a:moveTo>
                      <a:lnTo>
                        <a:pt x="40372" y="8784"/>
                      </a:lnTo>
                      <a:cubicBezTo>
                        <a:pt x="42767" y="8799"/>
                        <a:pt x="44801" y="6836"/>
                        <a:pt x="44801" y="4410"/>
                      </a:cubicBezTo>
                      <a:cubicBezTo>
                        <a:pt x="44801" y="1984"/>
                        <a:pt x="42840" y="14"/>
                        <a:pt x="40372" y="0"/>
                      </a:cubicBezTo>
                      <a:cubicBezTo>
                        <a:pt x="40372" y="0"/>
                        <a:pt x="40372" y="0"/>
                        <a:pt x="40372" y="0"/>
                      </a:cubicBezTo>
                      <a:lnTo>
                        <a:pt x="4357" y="0"/>
                      </a:lnTo>
                      <a:cubicBezTo>
                        <a:pt x="1960" y="0"/>
                        <a:pt x="0" y="1970"/>
                        <a:pt x="0" y="4396"/>
                      </a:cubicBezTo>
                      <a:cubicBezTo>
                        <a:pt x="0" y="6822"/>
                        <a:pt x="1960" y="8784"/>
                        <a:pt x="4357" y="8784"/>
                      </a:cubicBezTo>
                      <a:close/>
                    </a:path>
                  </a:pathLst>
                </a:custGeom>
                <a:solidFill>
                  <a:srgbClr val="000000"/>
                </a:solidFill>
                <a:ln w="72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64" name="Groupe 63">
                <a:extLst>
                  <a:ext uri="{FF2B5EF4-FFF2-40B4-BE49-F238E27FC236}">
                    <a16:creationId xmlns:a16="http://schemas.microsoft.com/office/drawing/2014/main" id="{6BB6F791-FA60-D893-4042-21D9BD72AC52}"/>
                  </a:ext>
                </a:extLst>
              </p:cNvPr>
              <p:cNvGrpSpPr/>
              <p:nvPr/>
            </p:nvGrpSpPr>
            <p:grpSpPr>
              <a:xfrm>
                <a:off x="5548903" y="4679865"/>
                <a:ext cx="308438" cy="271186"/>
                <a:chOff x="7978364" y="2448849"/>
                <a:chExt cx="167845" cy="142592"/>
              </a:xfrm>
            </p:grpSpPr>
            <p:sp>
              <p:nvSpPr>
                <p:cNvPr id="75" name="Freeform 515">
                  <a:extLst>
                    <a:ext uri="{FF2B5EF4-FFF2-40B4-BE49-F238E27FC236}">
                      <a16:creationId xmlns:a16="http://schemas.microsoft.com/office/drawing/2014/main" id="{CEA37E37-E987-CDF7-2303-1658AB743C45}"/>
                    </a:ext>
                  </a:extLst>
                </p:cNvPr>
                <p:cNvSpPr/>
                <p:nvPr/>
              </p:nvSpPr>
              <p:spPr>
                <a:xfrm>
                  <a:off x="7979515" y="2448849"/>
                  <a:ext cx="109410" cy="79532"/>
                </a:xfrm>
                <a:custGeom>
                  <a:avLst/>
                  <a:gdLst>
                    <a:gd name="connsiteX0" fmla="*/ 109341 w 109410"/>
                    <a:gd name="connsiteY0" fmla="*/ 8569 h 79532"/>
                    <a:gd name="connsiteX1" fmla="*/ 108718 w 109410"/>
                    <a:gd name="connsiteY1" fmla="*/ 7024 h 79532"/>
                    <a:gd name="connsiteX2" fmla="*/ 108703 w 109410"/>
                    <a:gd name="connsiteY2" fmla="*/ 6982 h 79532"/>
                    <a:gd name="connsiteX3" fmla="*/ 108638 w 109410"/>
                    <a:gd name="connsiteY3" fmla="*/ 6915 h 79532"/>
                    <a:gd name="connsiteX4" fmla="*/ 107501 w 109410"/>
                    <a:gd name="connsiteY4" fmla="*/ 5772 h 79532"/>
                    <a:gd name="connsiteX5" fmla="*/ 105923 w 109410"/>
                    <a:gd name="connsiteY5" fmla="*/ 5099 h 79532"/>
                    <a:gd name="connsiteX6" fmla="*/ 81833 w 109410"/>
                    <a:gd name="connsiteY6" fmla="*/ 92 h 79532"/>
                    <a:gd name="connsiteX7" fmla="*/ 76642 w 109410"/>
                    <a:gd name="connsiteY7" fmla="*/ 3493 h 79532"/>
                    <a:gd name="connsiteX8" fmla="*/ 80045 w 109410"/>
                    <a:gd name="connsiteY8" fmla="*/ 8667 h 79532"/>
                    <a:gd name="connsiteX9" fmla="*/ 93759 w 109410"/>
                    <a:gd name="connsiteY9" fmla="*/ 11517 h 79532"/>
                    <a:gd name="connsiteX10" fmla="*/ 1984 w 109410"/>
                    <a:gd name="connsiteY10" fmla="*/ 71490 h 79532"/>
                    <a:gd name="connsiteX11" fmla="*/ 716 w 109410"/>
                    <a:gd name="connsiteY11" fmla="*/ 77549 h 79532"/>
                    <a:gd name="connsiteX12" fmla="*/ 6798 w 109410"/>
                    <a:gd name="connsiteY12" fmla="*/ 78813 h 79532"/>
                    <a:gd name="connsiteX13" fmla="*/ 98574 w 109410"/>
                    <a:gd name="connsiteY13" fmla="*/ 18840 h 79532"/>
                    <a:gd name="connsiteX14" fmla="*/ 95714 w 109410"/>
                    <a:gd name="connsiteY14" fmla="*/ 32521 h 79532"/>
                    <a:gd name="connsiteX15" fmla="*/ 99117 w 109410"/>
                    <a:gd name="connsiteY15" fmla="*/ 37701 h 79532"/>
                    <a:gd name="connsiteX16" fmla="*/ 99124 w 109410"/>
                    <a:gd name="connsiteY16" fmla="*/ 37701 h 79532"/>
                    <a:gd name="connsiteX17" fmla="*/ 100022 w 109410"/>
                    <a:gd name="connsiteY17" fmla="*/ 37792 h 79532"/>
                    <a:gd name="connsiteX18" fmla="*/ 104316 w 109410"/>
                    <a:gd name="connsiteY18" fmla="*/ 34305 h 79532"/>
                    <a:gd name="connsiteX19" fmla="*/ 109333 w 109410"/>
                    <a:gd name="connsiteY19" fmla="*/ 10275 h 79532"/>
                    <a:gd name="connsiteX20" fmla="*/ 109333 w 109410"/>
                    <a:gd name="connsiteY20" fmla="*/ 10155 h 79532"/>
                    <a:gd name="connsiteX21" fmla="*/ 109341 w 109410"/>
                    <a:gd name="connsiteY21" fmla="*/ 8569 h 7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410" h="79532">
                      <a:moveTo>
                        <a:pt x="109341" y="8569"/>
                      </a:moveTo>
                      <a:cubicBezTo>
                        <a:pt x="109232" y="8019"/>
                        <a:pt x="109022" y="7495"/>
                        <a:pt x="108718" y="7024"/>
                      </a:cubicBezTo>
                      <a:lnTo>
                        <a:pt x="108703" y="6982"/>
                      </a:lnTo>
                      <a:lnTo>
                        <a:pt x="108638" y="6915"/>
                      </a:lnTo>
                      <a:cubicBezTo>
                        <a:pt x="108334" y="6468"/>
                        <a:pt x="107950" y="6080"/>
                        <a:pt x="107501" y="5772"/>
                      </a:cubicBezTo>
                      <a:cubicBezTo>
                        <a:pt x="107031" y="5445"/>
                        <a:pt x="106495" y="5216"/>
                        <a:pt x="105923" y="5099"/>
                      </a:cubicBezTo>
                      <a:lnTo>
                        <a:pt x="81833" y="92"/>
                      </a:lnTo>
                      <a:cubicBezTo>
                        <a:pt x="79458" y="-399"/>
                        <a:pt x="77134" y="1124"/>
                        <a:pt x="76642" y="3493"/>
                      </a:cubicBezTo>
                      <a:cubicBezTo>
                        <a:pt x="76157" y="5857"/>
                        <a:pt x="77677" y="8173"/>
                        <a:pt x="80045" y="8667"/>
                      </a:cubicBezTo>
                      <a:lnTo>
                        <a:pt x="93759" y="11517"/>
                      </a:lnTo>
                      <a:lnTo>
                        <a:pt x="1984" y="71490"/>
                      </a:lnTo>
                      <a:cubicBezTo>
                        <a:pt x="-44" y="72812"/>
                        <a:pt x="-609" y="75527"/>
                        <a:pt x="716" y="77549"/>
                      </a:cubicBezTo>
                      <a:cubicBezTo>
                        <a:pt x="2049" y="79578"/>
                        <a:pt x="4771" y="80141"/>
                        <a:pt x="6798" y="78813"/>
                      </a:cubicBezTo>
                      <a:lnTo>
                        <a:pt x="98574" y="18840"/>
                      </a:lnTo>
                      <a:lnTo>
                        <a:pt x="95714" y="32521"/>
                      </a:lnTo>
                      <a:cubicBezTo>
                        <a:pt x="95221" y="34889"/>
                        <a:pt x="96749" y="37208"/>
                        <a:pt x="99117" y="37701"/>
                      </a:cubicBezTo>
                      <a:cubicBezTo>
                        <a:pt x="99117" y="37701"/>
                        <a:pt x="99117" y="37701"/>
                        <a:pt x="99124" y="37701"/>
                      </a:cubicBezTo>
                      <a:cubicBezTo>
                        <a:pt x="99414" y="37761"/>
                        <a:pt x="99718" y="37792"/>
                        <a:pt x="100022" y="37792"/>
                      </a:cubicBezTo>
                      <a:cubicBezTo>
                        <a:pt x="102100" y="37789"/>
                        <a:pt x="103888" y="36334"/>
                        <a:pt x="104316" y="34305"/>
                      </a:cubicBezTo>
                      <a:lnTo>
                        <a:pt x="109333" y="10275"/>
                      </a:lnTo>
                      <a:cubicBezTo>
                        <a:pt x="109341" y="10236"/>
                        <a:pt x="109326" y="10197"/>
                        <a:pt x="109333" y="10155"/>
                      </a:cubicBezTo>
                      <a:cubicBezTo>
                        <a:pt x="109435" y="9631"/>
                        <a:pt x="109435" y="9094"/>
                        <a:pt x="109341" y="8569"/>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6" name="Freeform 516">
                  <a:extLst>
                    <a:ext uri="{FF2B5EF4-FFF2-40B4-BE49-F238E27FC236}">
                      <a16:creationId xmlns:a16="http://schemas.microsoft.com/office/drawing/2014/main" id="{CF89DD07-EF2B-E935-D779-CA0416E87A88}"/>
                    </a:ext>
                  </a:extLst>
                </p:cNvPr>
                <p:cNvSpPr/>
                <p:nvPr/>
              </p:nvSpPr>
              <p:spPr>
                <a:xfrm>
                  <a:off x="7978364" y="2543368"/>
                  <a:ext cx="48208" cy="48072"/>
                </a:xfrm>
                <a:custGeom>
                  <a:avLst/>
                  <a:gdLst>
                    <a:gd name="connsiteX0" fmla="*/ 43820 w 48208"/>
                    <a:gd name="connsiteY0" fmla="*/ 0 h 48072"/>
                    <a:gd name="connsiteX1" fmla="*/ 4395 w 48208"/>
                    <a:gd name="connsiteY1" fmla="*/ 0 h 48072"/>
                    <a:gd name="connsiteX2" fmla="*/ 0 w 48208"/>
                    <a:gd name="connsiteY2" fmla="*/ 4376 h 48072"/>
                    <a:gd name="connsiteX3" fmla="*/ 0 w 48208"/>
                    <a:gd name="connsiteY3" fmla="*/ 43696 h 48072"/>
                    <a:gd name="connsiteX4" fmla="*/ 4395 w 48208"/>
                    <a:gd name="connsiteY4" fmla="*/ 48073 h 48072"/>
                    <a:gd name="connsiteX5" fmla="*/ 43820 w 48208"/>
                    <a:gd name="connsiteY5" fmla="*/ 48073 h 48072"/>
                    <a:gd name="connsiteX6" fmla="*/ 48208 w 48208"/>
                    <a:gd name="connsiteY6" fmla="*/ 43696 h 48072"/>
                    <a:gd name="connsiteX7" fmla="*/ 48208 w 48208"/>
                    <a:gd name="connsiteY7" fmla="*/ 4376 h 48072"/>
                    <a:gd name="connsiteX8" fmla="*/ 43820 w 48208"/>
                    <a:gd name="connsiteY8" fmla="*/ 0 h 48072"/>
                    <a:gd name="connsiteX9" fmla="*/ 39425 w 48208"/>
                    <a:gd name="connsiteY9" fmla="*/ 39313 h 48072"/>
                    <a:gd name="connsiteX10" fmla="*/ 8783 w 48208"/>
                    <a:gd name="connsiteY10" fmla="*/ 39313 h 48072"/>
                    <a:gd name="connsiteX11" fmla="*/ 8783 w 48208"/>
                    <a:gd name="connsiteY11" fmla="*/ 8752 h 48072"/>
                    <a:gd name="connsiteX12" fmla="*/ 39425 w 48208"/>
                    <a:gd name="connsiteY12" fmla="*/ 8752 h 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48072">
                      <a:moveTo>
                        <a:pt x="43820" y="0"/>
                      </a:moveTo>
                      <a:lnTo>
                        <a:pt x="4395" y="0"/>
                      </a:lnTo>
                      <a:cubicBezTo>
                        <a:pt x="1969" y="0"/>
                        <a:pt x="0" y="1957"/>
                        <a:pt x="0" y="4376"/>
                      </a:cubicBezTo>
                      <a:lnTo>
                        <a:pt x="0" y="43696"/>
                      </a:lnTo>
                      <a:cubicBezTo>
                        <a:pt x="0" y="46116"/>
                        <a:pt x="1969" y="48073"/>
                        <a:pt x="4395" y="48073"/>
                      </a:cubicBezTo>
                      <a:lnTo>
                        <a:pt x="43820" y="48073"/>
                      </a:lnTo>
                      <a:cubicBezTo>
                        <a:pt x="46246" y="48073"/>
                        <a:pt x="48208" y="46116"/>
                        <a:pt x="48208" y="43696"/>
                      </a:cubicBezTo>
                      <a:lnTo>
                        <a:pt x="48208" y="4376"/>
                      </a:lnTo>
                      <a:cubicBezTo>
                        <a:pt x="48208" y="1957"/>
                        <a:pt x="46246" y="0"/>
                        <a:pt x="43820" y="0"/>
                      </a:cubicBezTo>
                      <a:close/>
                      <a:moveTo>
                        <a:pt x="39425" y="39313"/>
                      </a:moveTo>
                      <a:lnTo>
                        <a:pt x="8783" y="39313"/>
                      </a:lnTo>
                      <a:lnTo>
                        <a:pt x="8783" y="8752"/>
                      </a:lnTo>
                      <a:lnTo>
                        <a:pt x="39425" y="8752"/>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7" name="Freeform 517">
                  <a:extLst>
                    <a:ext uri="{FF2B5EF4-FFF2-40B4-BE49-F238E27FC236}">
                      <a16:creationId xmlns:a16="http://schemas.microsoft.com/office/drawing/2014/main" id="{CFF856E7-6CDC-4DE5-20A0-7148F96A8F02}"/>
                    </a:ext>
                  </a:extLst>
                </p:cNvPr>
                <p:cNvSpPr/>
                <p:nvPr/>
              </p:nvSpPr>
              <p:spPr>
                <a:xfrm>
                  <a:off x="8038186" y="2513219"/>
                  <a:ext cx="48208" cy="78221"/>
                </a:xfrm>
                <a:custGeom>
                  <a:avLst/>
                  <a:gdLst>
                    <a:gd name="connsiteX0" fmla="*/ 43820 w 48208"/>
                    <a:gd name="connsiteY0" fmla="*/ 0 h 78221"/>
                    <a:gd name="connsiteX1" fmla="*/ 4388 w 48208"/>
                    <a:gd name="connsiteY1" fmla="*/ 0 h 78221"/>
                    <a:gd name="connsiteX2" fmla="*/ 0 w 48208"/>
                    <a:gd name="connsiteY2" fmla="*/ 4376 h 78221"/>
                    <a:gd name="connsiteX3" fmla="*/ 0 w 48208"/>
                    <a:gd name="connsiteY3" fmla="*/ 73846 h 78221"/>
                    <a:gd name="connsiteX4" fmla="*/ 4388 w 48208"/>
                    <a:gd name="connsiteY4" fmla="*/ 78222 h 78221"/>
                    <a:gd name="connsiteX5" fmla="*/ 43820 w 48208"/>
                    <a:gd name="connsiteY5" fmla="*/ 78222 h 78221"/>
                    <a:gd name="connsiteX6" fmla="*/ 48208 w 48208"/>
                    <a:gd name="connsiteY6" fmla="*/ 73846 h 78221"/>
                    <a:gd name="connsiteX7" fmla="*/ 48208 w 48208"/>
                    <a:gd name="connsiteY7" fmla="*/ 4376 h 78221"/>
                    <a:gd name="connsiteX8" fmla="*/ 43820 w 48208"/>
                    <a:gd name="connsiteY8" fmla="*/ 0 h 78221"/>
                    <a:gd name="connsiteX9" fmla="*/ 39425 w 48208"/>
                    <a:gd name="connsiteY9" fmla="*/ 69462 h 78221"/>
                    <a:gd name="connsiteX10" fmla="*/ 8783 w 48208"/>
                    <a:gd name="connsiteY10" fmla="*/ 69462 h 78221"/>
                    <a:gd name="connsiteX11" fmla="*/ 8783 w 48208"/>
                    <a:gd name="connsiteY11" fmla="*/ 8759 h 78221"/>
                    <a:gd name="connsiteX12" fmla="*/ 39425 w 48208"/>
                    <a:gd name="connsiteY12" fmla="*/ 8759 h 7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78221">
                      <a:moveTo>
                        <a:pt x="43820" y="0"/>
                      </a:moveTo>
                      <a:lnTo>
                        <a:pt x="4388" y="0"/>
                      </a:lnTo>
                      <a:cubicBezTo>
                        <a:pt x="1962" y="0"/>
                        <a:pt x="0" y="1957"/>
                        <a:pt x="0" y="4376"/>
                      </a:cubicBezTo>
                      <a:lnTo>
                        <a:pt x="0" y="73846"/>
                      </a:lnTo>
                      <a:cubicBezTo>
                        <a:pt x="0" y="76265"/>
                        <a:pt x="1962" y="78222"/>
                        <a:pt x="4388" y="78222"/>
                      </a:cubicBezTo>
                      <a:lnTo>
                        <a:pt x="43820" y="78222"/>
                      </a:lnTo>
                      <a:cubicBezTo>
                        <a:pt x="46239" y="78222"/>
                        <a:pt x="48208" y="76265"/>
                        <a:pt x="48208" y="73846"/>
                      </a:cubicBezTo>
                      <a:lnTo>
                        <a:pt x="48208" y="4376"/>
                      </a:lnTo>
                      <a:cubicBezTo>
                        <a:pt x="48208" y="1957"/>
                        <a:pt x="46239" y="0"/>
                        <a:pt x="43820" y="0"/>
                      </a:cubicBezTo>
                      <a:close/>
                      <a:moveTo>
                        <a:pt x="39425" y="69462"/>
                      </a:moveTo>
                      <a:lnTo>
                        <a:pt x="8783" y="69462"/>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8" name="Freeform 518">
                  <a:extLst>
                    <a:ext uri="{FF2B5EF4-FFF2-40B4-BE49-F238E27FC236}">
                      <a16:creationId xmlns:a16="http://schemas.microsoft.com/office/drawing/2014/main" id="{B4A8DE73-F828-9C4C-08C9-08D8DC4FD995}"/>
                    </a:ext>
                  </a:extLst>
                </p:cNvPr>
                <p:cNvSpPr/>
                <p:nvPr/>
              </p:nvSpPr>
              <p:spPr>
                <a:xfrm>
                  <a:off x="8098001" y="2481124"/>
                  <a:ext cx="48208" cy="110317"/>
                </a:xfrm>
                <a:custGeom>
                  <a:avLst/>
                  <a:gdLst>
                    <a:gd name="connsiteX0" fmla="*/ 43820 w 48208"/>
                    <a:gd name="connsiteY0" fmla="*/ 0 h 110317"/>
                    <a:gd name="connsiteX1" fmla="*/ 4395 w 48208"/>
                    <a:gd name="connsiteY1" fmla="*/ 0 h 110317"/>
                    <a:gd name="connsiteX2" fmla="*/ 0 w 48208"/>
                    <a:gd name="connsiteY2" fmla="*/ 4379 h 110317"/>
                    <a:gd name="connsiteX3" fmla="*/ 0 w 48208"/>
                    <a:gd name="connsiteY3" fmla="*/ 105941 h 110317"/>
                    <a:gd name="connsiteX4" fmla="*/ 4395 w 48208"/>
                    <a:gd name="connsiteY4" fmla="*/ 110317 h 110317"/>
                    <a:gd name="connsiteX5" fmla="*/ 43820 w 48208"/>
                    <a:gd name="connsiteY5" fmla="*/ 110317 h 110317"/>
                    <a:gd name="connsiteX6" fmla="*/ 48208 w 48208"/>
                    <a:gd name="connsiteY6" fmla="*/ 105941 h 110317"/>
                    <a:gd name="connsiteX7" fmla="*/ 48208 w 48208"/>
                    <a:gd name="connsiteY7" fmla="*/ 4379 h 110317"/>
                    <a:gd name="connsiteX8" fmla="*/ 43820 w 48208"/>
                    <a:gd name="connsiteY8" fmla="*/ 0 h 110317"/>
                    <a:gd name="connsiteX9" fmla="*/ 39425 w 48208"/>
                    <a:gd name="connsiteY9" fmla="*/ 101558 h 110317"/>
                    <a:gd name="connsiteX10" fmla="*/ 8783 w 48208"/>
                    <a:gd name="connsiteY10" fmla="*/ 101558 h 110317"/>
                    <a:gd name="connsiteX11" fmla="*/ 8783 w 48208"/>
                    <a:gd name="connsiteY11" fmla="*/ 8759 h 110317"/>
                    <a:gd name="connsiteX12" fmla="*/ 39425 w 48208"/>
                    <a:gd name="connsiteY12" fmla="*/ 8759 h 11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110317">
                      <a:moveTo>
                        <a:pt x="43820" y="0"/>
                      </a:moveTo>
                      <a:lnTo>
                        <a:pt x="4395" y="0"/>
                      </a:lnTo>
                      <a:cubicBezTo>
                        <a:pt x="1969" y="-1"/>
                        <a:pt x="0" y="1961"/>
                        <a:pt x="0" y="4379"/>
                      </a:cubicBezTo>
                      <a:lnTo>
                        <a:pt x="0" y="105941"/>
                      </a:lnTo>
                      <a:cubicBezTo>
                        <a:pt x="0" y="108360"/>
                        <a:pt x="1969" y="110317"/>
                        <a:pt x="4395" y="110317"/>
                      </a:cubicBezTo>
                      <a:lnTo>
                        <a:pt x="43820" y="110317"/>
                      </a:lnTo>
                      <a:cubicBezTo>
                        <a:pt x="46239" y="110317"/>
                        <a:pt x="48208" y="108360"/>
                        <a:pt x="48208" y="105941"/>
                      </a:cubicBezTo>
                      <a:lnTo>
                        <a:pt x="48208" y="4379"/>
                      </a:lnTo>
                      <a:cubicBezTo>
                        <a:pt x="48208" y="1961"/>
                        <a:pt x="46246" y="1"/>
                        <a:pt x="43820" y="0"/>
                      </a:cubicBezTo>
                      <a:close/>
                      <a:moveTo>
                        <a:pt x="39425" y="101558"/>
                      </a:moveTo>
                      <a:lnTo>
                        <a:pt x="8783" y="101558"/>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65" name="Group 1174">
                <a:extLst>
                  <a:ext uri="{FF2B5EF4-FFF2-40B4-BE49-F238E27FC236}">
                    <a16:creationId xmlns:a16="http://schemas.microsoft.com/office/drawing/2014/main" id="{F54CBC4B-189A-524F-DBA1-2A3B71665030}"/>
                  </a:ext>
                </a:extLst>
              </p:cNvPr>
              <p:cNvGrpSpPr>
                <a:grpSpLocks noChangeAspect="1"/>
              </p:cNvGrpSpPr>
              <p:nvPr/>
            </p:nvGrpSpPr>
            <p:grpSpPr>
              <a:xfrm>
                <a:off x="6284017" y="4661476"/>
                <a:ext cx="222838" cy="325198"/>
                <a:chOff x="9558770" y="4715910"/>
                <a:chExt cx="187053" cy="272976"/>
              </a:xfrm>
            </p:grpSpPr>
            <p:sp>
              <p:nvSpPr>
                <p:cNvPr id="72" name="Freeform 1118">
                  <a:extLst>
                    <a:ext uri="{FF2B5EF4-FFF2-40B4-BE49-F238E27FC236}">
                      <a16:creationId xmlns:a16="http://schemas.microsoft.com/office/drawing/2014/main" id="{C8A59433-8B6C-F9A6-69D0-2EC6B23E4C1C}"/>
                    </a:ext>
                  </a:extLst>
                </p:cNvPr>
                <p:cNvSpPr/>
                <p:nvPr/>
              </p:nvSpPr>
              <p:spPr>
                <a:xfrm>
                  <a:off x="9558770" y="4715910"/>
                  <a:ext cx="187053" cy="166021"/>
                </a:xfrm>
                <a:custGeom>
                  <a:avLst/>
                  <a:gdLst>
                    <a:gd name="connsiteX0" fmla="*/ 150900 w 187053"/>
                    <a:gd name="connsiteY0" fmla="*/ 166021 h 166021"/>
                    <a:gd name="connsiteX1" fmla="*/ 153971 w 187053"/>
                    <a:gd name="connsiteY1" fmla="*/ 164880 h 166021"/>
                    <a:gd name="connsiteX2" fmla="*/ 164868 w 187053"/>
                    <a:gd name="connsiteY2" fmla="*/ 33048 h 166021"/>
                    <a:gd name="connsiteX3" fmla="*/ 33016 w 187053"/>
                    <a:gd name="connsiteY3" fmla="*/ 22194 h 166021"/>
                    <a:gd name="connsiteX4" fmla="*/ 22193 w 187053"/>
                    <a:gd name="connsiteY4" fmla="*/ 154033 h 166021"/>
                    <a:gd name="connsiteX5" fmla="*/ 33016 w 187053"/>
                    <a:gd name="connsiteY5" fmla="*/ 164880 h 166021"/>
                    <a:gd name="connsiteX6" fmla="*/ 39816 w 187053"/>
                    <a:gd name="connsiteY6" fmla="*/ 164310 h 166021"/>
                    <a:gd name="connsiteX7" fmla="*/ 39232 w 187053"/>
                    <a:gd name="connsiteY7" fmla="*/ 157573 h 166021"/>
                    <a:gd name="connsiteX8" fmla="*/ 29506 w 187053"/>
                    <a:gd name="connsiteY8" fmla="*/ 39237 h 166021"/>
                    <a:gd name="connsiteX9" fmla="*/ 147828 w 187053"/>
                    <a:gd name="connsiteY9" fmla="*/ 29486 h 166021"/>
                    <a:gd name="connsiteX10" fmla="*/ 157555 w 187053"/>
                    <a:gd name="connsiteY10" fmla="*/ 147830 h 166021"/>
                    <a:gd name="connsiteX11" fmla="*/ 147828 w 187053"/>
                    <a:gd name="connsiteY11" fmla="*/ 157587 h 166021"/>
                    <a:gd name="connsiteX12" fmla="*/ 147243 w 187053"/>
                    <a:gd name="connsiteY12" fmla="*/ 164339 h 166021"/>
                    <a:gd name="connsiteX13" fmla="*/ 150900 w 187053"/>
                    <a:gd name="connsiteY13" fmla="*/ 166021 h 16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053" h="166021">
                      <a:moveTo>
                        <a:pt x="150900" y="166021"/>
                      </a:moveTo>
                      <a:cubicBezTo>
                        <a:pt x="152070" y="166021"/>
                        <a:pt x="153166" y="165619"/>
                        <a:pt x="153971" y="164880"/>
                      </a:cubicBezTo>
                      <a:cubicBezTo>
                        <a:pt x="193387" y="131474"/>
                        <a:pt x="198287" y="72452"/>
                        <a:pt x="164868" y="33048"/>
                      </a:cubicBezTo>
                      <a:cubicBezTo>
                        <a:pt x="131447" y="-6356"/>
                        <a:pt x="72432" y="-11212"/>
                        <a:pt x="33016" y="22194"/>
                      </a:cubicBezTo>
                      <a:cubicBezTo>
                        <a:pt x="-6328" y="55607"/>
                        <a:pt x="-11228" y="114629"/>
                        <a:pt x="22193" y="154033"/>
                      </a:cubicBezTo>
                      <a:cubicBezTo>
                        <a:pt x="25483" y="157939"/>
                        <a:pt x="29140" y="161567"/>
                        <a:pt x="33016" y="164880"/>
                      </a:cubicBezTo>
                      <a:cubicBezTo>
                        <a:pt x="35064" y="166592"/>
                        <a:pt x="38061" y="166329"/>
                        <a:pt x="39816" y="164310"/>
                      </a:cubicBezTo>
                      <a:cubicBezTo>
                        <a:pt x="41498" y="162298"/>
                        <a:pt x="41279" y="159284"/>
                        <a:pt x="39232" y="157573"/>
                      </a:cubicBezTo>
                      <a:cubicBezTo>
                        <a:pt x="3911" y="127590"/>
                        <a:pt x="-478" y="74610"/>
                        <a:pt x="29506" y="39237"/>
                      </a:cubicBezTo>
                      <a:cubicBezTo>
                        <a:pt x="59489" y="3870"/>
                        <a:pt x="112434" y="-497"/>
                        <a:pt x="147828" y="29486"/>
                      </a:cubicBezTo>
                      <a:cubicBezTo>
                        <a:pt x="183150" y="59476"/>
                        <a:pt x="187537" y="112456"/>
                        <a:pt x="157555" y="147830"/>
                      </a:cubicBezTo>
                      <a:cubicBezTo>
                        <a:pt x="154556" y="151341"/>
                        <a:pt x="151338" y="154603"/>
                        <a:pt x="147828" y="157587"/>
                      </a:cubicBezTo>
                      <a:cubicBezTo>
                        <a:pt x="145780" y="159299"/>
                        <a:pt x="145561" y="162320"/>
                        <a:pt x="147243" y="164339"/>
                      </a:cubicBezTo>
                      <a:cubicBezTo>
                        <a:pt x="148194" y="165407"/>
                        <a:pt x="149510" y="166021"/>
                        <a:pt x="150900" y="166021"/>
                      </a:cubicBezTo>
                      <a:close/>
                    </a:path>
                  </a:pathLst>
                </a:custGeom>
                <a:solidFill>
                  <a:srgbClr val="000000"/>
                </a:solidFill>
                <a:ln w="731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3" name="Freeform 1119">
                  <a:extLst>
                    <a:ext uri="{FF2B5EF4-FFF2-40B4-BE49-F238E27FC236}">
                      <a16:creationId xmlns:a16="http://schemas.microsoft.com/office/drawing/2014/main" id="{58490B08-F6D0-95E8-C989-52E003D12E26}"/>
                    </a:ext>
                  </a:extLst>
                </p:cNvPr>
                <p:cNvSpPr/>
                <p:nvPr/>
              </p:nvSpPr>
              <p:spPr>
                <a:xfrm>
                  <a:off x="9593614" y="4750824"/>
                  <a:ext cx="117357" cy="99525"/>
                </a:xfrm>
                <a:custGeom>
                  <a:avLst/>
                  <a:gdLst>
                    <a:gd name="connsiteX0" fmla="*/ 58650 w 117357"/>
                    <a:gd name="connsiteY0" fmla="*/ 0 h 99525"/>
                    <a:gd name="connsiteX1" fmla="*/ 0 w 117357"/>
                    <a:gd name="connsiteY1" fmla="*/ 58685 h 99525"/>
                    <a:gd name="connsiteX2" fmla="*/ 15137 w 117357"/>
                    <a:gd name="connsiteY2" fmla="*/ 98016 h 99525"/>
                    <a:gd name="connsiteX3" fmla="*/ 21939 w 117357"/>
                    <a:gd name="connsiteY3" fmla="*/ 98353 h 99525"/>
                    <a:gd name="connsiteX4" fmla="*/ 22231 w 117357"/>
                    <a:gd name="connsiteY4" fmla="*/ 91587 h 99525"/>
                    <a:gd name="connsiteX5" fmla="*/ 25742 w 117357"/>
                    <a:gd name="connsiteY5" fmla="*/ 22244 h 99525"/>
                    <a:gd name="connsiteX6" fmla="*/ 95068 w 117357"/>
                    <a:gd name="connsiteY6" fmla="*/ 25747 h 99525"/>
                    <a:gd name="connsiteX7" fmla="*/ 95068 w 117357"/>
                    <a:gd name="connsiteY7" fmla="*/ 91587 h 99525"/>
                    <a:gd name="connsiteX8" fmla="*/ 95433 w 117357"/>
                    <a:gd name="connsiteY8" fmla="*/ 98353 h 99525"/>
                    <a:gd name="connsiteX9" fmla="*/ 102234 w 117357"/>
                    <a:gd name="connsiteY9" fmla="*/ 98009 h 99525"/>
                    <a:gd name="connsiteX10" fmla="*/ 97993 w 117357"/>
                    <a:gd name="connsiteY10" fmla="*/ 15141 h 99525"/>
                    <a:gd name="connsiteX11" fmla="*/ 58650 w 117357"/>
                    <a:gd name="connsiteY11" fmla="*/ 0 h 9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357" h="99525">
                      <a:moveTo>
                        <a:pt x="58650" y="0"/>
                      </a:moveTo>
                      <a:cubicBezTo>
                        <a:pt x="26253" y="7"/>
                        <a:pt x="0" y="26274"/>
                        <a:pt x="0" y="58685"/>
                      </a:cubicBezTo>
                      <a:cubicBezTo>
                        <a:pt x="0" y="73220"/>
                        <a:pt x="5411" y="87234"/>
                        <a:pt x="15137" y="98016"/>
                      </a:cubicBezTo>
                      <a:cubicBezTo>
                        <a:pt x="16966" y="99889"/>
                        <a:pt x="19964" y="100035"/>
                        <a:pt x="21939" y="98353"/>
                      </a:cubicBezTo>
                      <a:cubicBezTo>
                        <a:pt x="23913" y="96583"/>
                        <a:pt x="24059" y="93554"/>
                        <a:pt x="22231" y="91587"/>
                      </a:cubicBezTo>
                      <a:cubicBezTo>
                        <a:pt x="4095" y="71471"/>
                        <a:pt x="5631" y="40421"/>
                        <a:pt x="25742" y="22244"/>
                      </a:cubicBezTo>
                      <a:cubicBezTo>
                        <a:pt x="45852" y="4060"/>
                        <a:pt x="76932" y="5632"/>
                        <a:pt x="95068" y="25747"/>
                      </a:cubicBezTo>
                      <a:cubicBezTo>
                        <a:pt x="111960" y="44444"/>
                        <a:pt x="111960" y="72890"/>
                        <a:pt x="95068" y="91587"/>
                      </a:cubicBezTo>
                      <a:cubicBezTo>
                        <a:pt x="93313" y="93554"/>
                        <a:pt x="93459" y="96583"/>
                        <a:pt x="95433" y="98353"/>
                      </a:cubicBezTo>
                      <a:cubicBezTo>
                        <a:pt x="97407" y="100042"/>
                        <a:pt x="100406" y="99889"/>
                        <a:pt x="102234" y="98009"/>
                      </a:cubicBezTo>
                      <a:cubicBezTo>
                        <a:pt x="123953" y="73966"/>
                        <a:pt x="122052" y="36866"/>
                        <a:pt x="97993" y="15141"/>
                      </a:cubicBezTo>
                      <a:cubicBezTo>
                        <a:pt x="87242" y="5398"/>
                        <a:pt x="73202" y="0"/>
                        <a:pt x="58650" y="0"/>
                      </a:cubicBezTo>
                      <a:close/>
                    </a:path>
                  </a:pathLst>
                </a:custGeom>
                <a:solidFill>
                  <a:srgbClr val="000000"/>
                </a:solidFill>
                <a:ln w="731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 name="Freeform 1120">
                  <a:extLst>
                    <a:ext uri="{FF2B5EF4-FFF2-40B4-BE49-F238E27FC236}">
                      <a16:creationId xmlns:a16="http://schemas.microsoft.com/office/drawing/2014/main" id="{8C45557B-9250-5BC4-BA42-15A0DA47A3AA}"/>
                    </a:ext>
                  </a:extLst>
                </p:cNvPr>
                <p:cNvSpPr/>
                <p:nvPr/>
              </p:nvSpPr>
              <p:spPr>
                <a:xfrm>
                  <a:off x="9579683" y="4784549"/>
                  <a:ext cx="145225" cy="204337"/>
                </a:xfrm>
                <a:custGeom>
                  <a:avLst/>
                  <a:gdLst>
                    <a:gd name="connsiteX0" fmla="*/ 144832 w 145225"/>
                    <a:gd name="connsiteY0" fmla="*/ 201477 h 204337"/>
                    <a:gd name="connsiteX1" fmla="*/ 144905 w 145225"/>
                    <a:gd name="connsiteY1" fmla="*/ 197819 h 204337"/>
                    <a:gd name="connsiteX2" fmla="*/ 85963 w 145225"/>
                    <a:gd name="connsiteY2" fmla="*/ 46004 h 204337"/>
                    <a:gd name="connsiteX3" fmla="*/ 86329 w 145225"/>
                    <a:gd name="connsiteY3" fmla="*/ 45741 h 204337"/>
                    <a:gd name="connsiteX4" fmla="*/ 93423 w 145225"/>
                    <a:gd name="connsiteY4" fmla="*/ 11216 h 204337"/>
                    <a:gd name="connsiteX5" fmla="*/ 58906 w 145225"/>
                    <a:gd name="connsiteY5" fmla="*/ 4113 h 204337"/>
                    <a:gd name="connsiteX6" fmla="*/ 51812 w 145225"/>
                    <a:gd name="connsiteY6" fmla="*/ 38646 h 204337"/>
                    <a:gd name="connsiteX7" fmla="*/ 58906 w 145225"/>
                    <a:gd name="connsiteY7" fmla="*/ 45741 h 204337"/>
                    <a:gd name="connsiteX8" fmla="*/ 59271 w 145225"/>
                    <a:gd name="connsiteY8" fmla="*/ 46004 h 204337"/>
                    <a:gd name="connsiteX9" fmla="*/ 59125 w 145225"/>
                    <a:gd name="connsiteY9" fmla="*/ 46443 h 204337"/>
                    <a:gd name="connsiteX10" fmla="*/ 329 w 145225"/>
                    <a:gd name="connsiteY10" fmla="*/ 197819 h 204337"/>
                    <a:gd name="connsiteX11" fmla="*/ 3035 w 145225"/>
                    <a:gd name="connsiteY11" fmla="*/ 204008 h 204337"/>
                    <a:gd name="connsiteX12" fmla="*/ 3035 w 145225"/>
                    <a:gd name="connsiteY12" fmla="*/ 204008 h 204337"/>
                    <a:gd name="connsiteX13" fmla="*/ 4790 w 145225"/>
                    <a:gd name="connsiteY13" fmla="*/ 204337 h 204337"/>
                    <a:gd name="connsiteX14" fmla="*/ 9251 w 145225"/>
                    <a:gd name="connsiteY14" fmla="*/ 201287 h 204337"/>
                    <a:gd name="connsiteX15" fmla="*/ 22853 w 145225"/>
                    <a:gd name="connsiteY15" fmla="*/ 166220 h 204337"/>
                    <a:gd name="connsiteX16" fmla="*/ 122381 w 145225"/>
                    <a:gd name="connsiteY16" fmla="*/ 166220 h 204337"/>
                    <a:gd name="connsiteX17" fmla="*/ 135983 w 145225"/>
                    <a:gd name="connsiteY17" fmla="*/ 201287 h 204337"/>
                    <a:gd name="connsiteX18" fmla="*/ 142199 w 145225"/>
                    <a:gd name="connsiteY18" fmla="*/ 204015 h 204337"/>
                    <a:gd name="connsiteX19" fmla="*/ 144832 w 145225"/>
                    <a:gd name="connsiteY19" fmla="*/ 201477 h 204337"/>
                    <a:gd name="connsiteX20" fmla="*/ 57296 w 145225"/>
                    <a:gd name="connsiteY20" fmla="*/ 24945 h 204337"/>
                    <a:gd name="connsiteX21" fmla="*/ 72581 w 145225"/>
                    <a:gd name="connsiteY21" fmla="*/ 9592 h 204337"/>
                    <a:gd name="connsiteX22" fmla="*/ 87938 w 145225"/>
                    <a:gd name="connsiteY22" fmla="*/ 24945 h 204337"/>
                    <a:gd name="connsiteX23" fmla="*/ 72581 w 145225"/>
                    <a:gd name="connsiteY23" fmla="*/ 40299 h 204337"/>
                    <a:gd name="connsiteX24" fmla="*/ 57296 w 145225"/>
                    <a:gd name="connsiteY24" fmla="*/ 24945 h 204337"/>
                    <a:gd name="connsiteX25" fmla="*/ 47204 w 145225"/>
                    <a:gd name="connsiteY25" fmla="*/ 103512 h 204337"/>
                    <a:gd name="connsiteX26" fmla="*/ 68192 w 145225"/>
                    <a:gd name="connsiteY26" fmla="*/ 49464 h 204337"/>
                    <a:gd name="connsiteX27" fmla="*/ 68705 w 145225"/>
                    <a:gd name="connsiteY27" fmla="*/ 49530 h 204337"/>
                    <a:gd name="connsiteX28" fmla="*/ 76529 w 145225"/>
                    <a:gd name="connsiteY28" fmla="*/ 49530 h 204337"/>
                    <a:gd name="connsiteX29" fmla="*/ 76968 w 145225"/>
                    <a:gd name="connsiteY29" fmla="*/ 49464 h 204337"/>
                    <a:gd name="connsiteX30" fmla="*/ 77188 w 145225"/>
                    <a:gd name="connsiteY30" fmla="*/ 49903 h 204337"/>
                    <a:gd name="connsiteX31" fmla="*/ 98322 w 145225"/>
                    <a:gd name="connsiteY31" fmla="*/ 104317 h 204337"/>
                    <a:gd name="connsiteX32" fmla="*/ 46913 w 145225"/>
                    <a:gd name="connsiteY32" fmla="*/ 104317 h 204337"/>
                    <a:gd name="connsiteX33" fmla="*/ 26582 w 145225"/>
                    <a:gd name="connsiteY33" fmla="*/ 156726 h 204337"/>
                    <a:gd name="connsiteX34" fmla="*/ 26875 w 145225"/>
                    <a:gd name="connsiteY34" fmla="*/ 155921 h 204337"/>
                    <a:gd name="connsiteX35" fmla="*/ 43256 w 145225"/>
                    <a:gd name="connsiteY35" fmla="*/ 113796 h 204337"/>
                    <a:gd name="connsiteX36" fmla="*/ 101978 w 145225"/>
                    <a:gd name="connsiteY36" fmla="*/ 113796 h 204337"/>
                    <a:gd name="connsiteX37" fmla="*/ 118652 w 145225"/>
                    <a:gd name="connsiteY37" fmla="*/ 156726 h 204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5225" h="204337">
                      <a:moveTo>
                        <a:pt x="144832" y="201477"/>
                      </a:moveTo>
                      <a:cubicBezTo>
                        <a:pt x="145344" y="200321"/>
                        <a:pt x="145344" y="198997"/>
                        <a:pt x="144905" y="197819"/>
                      </a:cubicBezTo>
                      <a:lnTo>
                        <a:pt x="85963" y="46004"/>
                      </a:lnTo>
                      <a:lnTo>
                        <a:pt x="86329" y="45741"/>
                      </a:lnTo>
                      <a:cubicBezTo>
                        <a:pt x="97810" y="38170"/>
                        <a:pt x="101027" y="22707"/>
                        <a:pt x="93423" y="11216"/>
                      </a:cubicBezTo>
                      <a:cubicBezTo>
                        <a:pt x="85817" y="-283"/>
                        <a:pt x="70387" y="-3457"/>
                        <a:pt x="58906" y="4113"/>
                      </a:cubicBezTo>
                      <a:cubicBezTo>
                        <a:pt x="47424" y="11691"/>
                        <a:pt x="44207" y="27147"/>
                        <a:pt x="51812" y="38646"/>
                      </a:cubicBezTo>
                      <a:cubicBezTo>
                        <a:pt x="53640" y="41469"/>
                        <a:pt x="56054" y="43883"/>
                        <a:pt x="58906" y="45741"/>
                      </a:cubicBezTo>
                      <a:lnTo>
                        <a:pt x="59271" y="46004"/>
                      </a:lnTo>
                      <a:lnTo>
                        <a:pt x="59125" y="46443"/>
                      </a:lnTo>
                      <a:lnTo>
                        <a:pt x="329" y="197819"/>
                      </a:lnTo>
                      <a:cubicBezTo>
                        <a:pt x="-621" y="200277"/>
                        <a:pt x="548" y="203049"/>
                        <a:pt x="3035" y="204008"/>
                      </a:cubicBezTo>
                      <a:cubicBezTo>
                        <a:pt x="3035" y="204008"/>
                        <a:pt x="3035" y="204008"/>
                        <a:pt x="3035" y="204008"/>
                      </a:cubicBezTo>
                      <a:cubicBezTo>
                        <a:pt x="3620" y="204227"/>
                        <a:pt x="4205" y="204337"/>
                        <a:pt x="4790" y="204337"/>
                      </a:cubicBezTo>
                      <a:cubicBezTo>
                        <a:pt x="6765" y="204330"/>
                        <a:pt x="8520" y="203123"/>
                        <a:pt x="9251" y="201287"/>
                      </a:cubicBezTo>
                      <a:lnTo>
                        <a:pt x="22853" y="166220"/>
                      </a:lnTo>
                      <a:lnTo>
                        <a:pt x="122381" y="166220"/>
                      </a:lnTo>
                      <a:lnTo>
                        <a:pt x="135983" y="201287"/>
                      </a:lnTo>
                      <a:cubicBezTo>
                        <a:pt x="136934" y="203744"/>
                        <a:pt x="139713" y="204966"/>
                        <a:pt x="142199" y="204015"/>
                      </a:cubicBezTo>
                      <a:cubicBezTo>
                        <a:pt x="143369" y="203561"/>
                        <a:pt x="144320" y="202647"/>
                        <a:pt x="144832" y="201477"/>
                      </a:cubicBezTo>
                      <a:close/>
                      <a:moveTo>
                        <a:pt x="57296" y="24945"/>
                      </a:moveTo>
                      <a:cubicBezTo>
                        <a:pt x="57296" y="16468"/>
                        <a:pt x="64171" y="9592"/>
                        <a:pt x="72581" y="9592"/>
                      </a:cubicBezTo>
                      <a:cubicBezTo>
                        <a:pt x="81063" y="9592"/>
                        <a:pt x="87938" y="16468"/>
                        <a:pt x="87938" y="24945"/>
                      </a:cubicBezTo>
                      <a:cubicBezTo>
                        <a:pt x="87938" y="33430"/>
                        <a:pt x="81063" y="40299"/>
                        <a:pt x="72581" y="40299"/>
                      </a:cubicBezTo>
                      <a:cubicBezTo>
                        <a:pt x="64171" y="40284"/>
                        <a:pt x="57296" y="33423"/>
                        <a:pt x="57296" y="24945"/>
                      </a:cubicBezTo>
                      <a:close/>
                      <a:moveTo>
                        <a:pt x="47204" y="103512"/>
                      </a:moveTo>
                      <a:lnTo>
                        <a:pt x="68192" y="49464"/>
                      </a:lnTo>
                      <a:lnTo>
                        <a:pt x="68705" y="49530"/>
                      </a:lnTo>
                      <a:cubicBezTo>
                        <a:pt x="71264" y="50005"/>
                        <a:pt x="73970" y="50005"/>
                        <a:pt x="76529" y="49530"/>
                      </a:cubicBezTo>
                      <a:lnTo>
                        <a:pt x="76968" y="49464"/>
                      </a:lnTo>
                      <a:lnTo>
                        <a:pt x="77188" y="49903"/>
                      </a:lnTo>
                      <a:lnTo>
                        <a:pt x="98322" y="104317"/>
                      </a:lnTo>
                      <a:lnTo>
                        <a:pt x="46913" y="104317"/>
                      </a:lnTo>
                      <a:close/>
                      <a:moveTo>
                        <a:pt x="26582" y="156726"/>
                      </a:moveTo>
                      <a:lnTo>
                        <a:pt x="26875" y="155921"/>
                      </a:lnTo>
                      <a:lnTo>
                        <a:pt x="43256" y="113796"/>
                      </a:lnTo>
                      <a:lnTo>
                        <a:pt x="101978" y="113796"/>
                      </a:lnTo>
                      <a:lnTo>
                        <a:pt x="118652" y="156726"/>
                      </a:lnTo>
                      <a:close/>
                    </a:path>
                  </a:pathLst>
                </a:custGeom>
                <a:solidFill>
                  <a:srgbClr val="000000"/>
                </a:solidFill>
                <a:ln w="731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66" name="Group 363">
                <a:extLst>
                  <a:ext uri="{FF2B5EF4-FFF2-40B4-BE49-F238E27FC236}">
                    <a16:creationId xmlns:a16="http://schemas.microsoft.com/office/drawing/2014/main" id="{85199BCC-6444-BD81-40DA-22BE45026C06}"/>
                  </a:ext>
                </a:extLst>
              </p:cNvPr>
              <p:cNvGrpSpPr>
                <a:grpSpLocks noChangeAspect="1"/>
              </p:cNvGrpSpPr>
              <p:nvPr/>
            </p:nvGrpSpPr>
            <p:grpSpPr>
              <a:xfrm>
                <a:off x="6929527" y="4715624"/>
                <a:ext cx="294606" cy="299578"/>
                <a:chOff x="3829293" y="3244156"/>
                <a:chExt cx="257982" cy="262336"/>
              </a:xfrm>
            </p:grpSpPr>
            <p:sp>
              <p:nvSpPr>
                <p:cNvPr id="70" name="Freeform 1024">
                  <a:extLst>
                    <a:ext uri="{FF2B5EF4-FFF2-40B4-BE49-F238E27FC236}">
                      <a16:creationId xmlns:a16="http://schemas.microsoft.com/office/drawing/2014/main" id="{FB3D8050-2708-8C73-1F7D-839E21FDFEDE}"/>
                    </a:ext>
                  </a:extLst>
                </p:cNvPr>
                <p:cNvSpPr/>
                <p:nvPr/>
              </p:nvSpPr>
              <p:spPr>
                <a:xfrm>
                  <a:off x="3829293" y="3271094"/>
                  <a:ext cx="257982" cy="235398"/>
                </a:xfrm>
                <a:custGeom>
                  <a:avLst/>
                  <a:gdLst>
                    <a:gd name="connsiteX0" fmla="*/ 257732 w 257982"/>
                    <a:gd name="connsiteY0" fmla="*/ 159223 h 235398"/>
                    <a:gd name="connsiteX1" fmla="*/ 252124 w 257982"/>
                    <a:gd name="connsiteY1" fmla="*/ 156548 h 235398"/>
                    <a:gd name="connsiteX2" fmla="*/ 252124 w 257982"/>
                    <a:gd name="connsiteY2" fmla="*/ 156548 h 235398"/>
                    <a:gd name="connsiteX3" fmla="*/ 147176 w 257982"/>
                    <a:gd name="connsiteY3" fmla="*/ 193622 h 235398"/>
                    <a:gd name="connsiteX4" fmla="*/ 118881 w 257982"/>
                    <a:gd name="connsiteY4" fmla="*/ 180717 h 235398"/>
                    <a:gd name="connsiteX5" fmla="*/ 55930 w 257982"/>
                    <a:gd name="connsiteY5" fmla="*/ 2924 h 235398"/>
                    <a:gd name="connsiteX6" fmla="*/ 51786 w 257982"/>
                    <a:gd name="connsiteY6" fmla="*/ 0 h 235398"/>
                    <a:gd name="connsiteX7" fmla="*/ 4376 w 257982"/>
                    <a:gd name="connsiteY7" fmla="*/ 0 h 235398"/>
                    <a:gd name="connsiteX8" fmla="*/ 0 w 257982"/>
                    <a:gd name="connsiteY8" fmla="*/ 4402 h 235398"/>
                    <a:gd name="connsiteX9" fmla="*/ 4376 w 257982"/>
                    <a:gd name="connsiteY9" fmla="*/ 8769 h 235398"/>
                    <a:gd name="connsiteX10" fmla="*/ 48677 w 257982"/>
                    <a:gd name="connsiteY10" fmla="*/ 8769 h 235398"/>
                    <a:gd name="connsiteX11" fmla="*/ 110607 w 257982"/>
                    <a:gd name="connsiteY11" fmla="*/ 183666 h 235398"/>
                    <a:gd name="connsiteX12" fmla="*/ 99354 w 257982"/>
                    <a:gd name="connsiteY12" fmla="*/ 220900 h 235398"/>
                    <a:gd name="connsiteX13" fmla="*/ 136670 w 257982"/>
                    <a:gd name="connsiteY13" fmla="*/ 232120 h 235398"/>
                    <a:gd name="connsiteX14" fmla="*/ 150502 w 257982"/>
                    <a:gd name="connsiteY14" fmla="*/ 201748 h 235398"/>
                    <a:gd name="connsiteX15" fmla="*/ 255051 w 257982"/>
                    <a:gd name="connsiteY15" fmla="*/ 164818 h 235398"/>
                    <a:gd name="connsiteX16" fmla="*/ 257732 w 257982"/>
                    <a:gd name="connsiteY16" fmla="*/ 159223 h 235398"/>
                    <a:gd name="connsiteX17" fmla="*/ 257732 w 257982"/>
                    <a:gd name="connsiteY17" fmla="*/ 159223 h 235398"/>
                    <a:gd name="connsiteX18" fmla="*/ 123656 w 257982"/>
                    <a:gd name="connsiteY18" fmla="*/ 226431 h 235398"/>
                    <a:gd name="connsiteX19" fmla="*/ 104897 w 257982"/>
                    <a:gd name="connsiteY19" fmla="*/ 207713 h 235398"/>
                    <a:gd name="connsiteX20" fmla="*/ 123656 w 257982"/>
                    <a:gd name="connsiteY20" fmla="*/ 189002 h 235398"/>
                    <a:gd name="connsiteX21" fmla="*/ 142408 w 257982"/>
                    <a:gd name="connsiteY21" fmla="*/ 207713 h 235398"/>
                    <a:gd name="connsiteX22" fmla="*/ 123656 w 257982"/>
                    <a:gd name="connsiteY22" fmla="*/ 226431 h 235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7982" h="235398">
                      <a:moveTo>
                        <a:pt x="257732" y="159223"/>
                      </a:moveTo>
                      <a:cubicBezTo>
                        <a:pt x="256920" y="156938"/>
                        <a:pt x="254413" y="155745"/>
                        <a:pt x="252124" y="156548"/>
                      </a:cubicBezTo>
                      <a:cubicBezTo>
                        <a:pt x="252124" y="156548"/>
                        <a:pt x="252124" y="156548"/>
                        <a:pt x="252124" y="156548"/>
                      </a:cubicBezTo>
                      <a:lnTo>
                        <a:pt x="147176" y="193622"/>
                      </a:lnTo>
                      <a:cubicBezTo>
                        <a:pt x="141466" y="183739"/>
                        <a:pt x="130105" y="178555"/>
                        <a:pt x="118881" y="180717"/>
                      </a:cubicBezTo>
                      <a:lnTo>
                        <a:pt x="55930" y="2924"/>
                      </a:lnTo>
                      <a:cubicBezTo>
                        <a:pt x="55307" y="1173"/>
                        <a:pt x="53648" y="1"/>
                        <a:pt x="51786" y="0"/>
                      </a:cubicBezTo>
                      <a:lnTo>
                        <a:pt x="4376" y="0"/>
                      </a:lnTo>
                      <a:cubicBezTo>
                        <a:pt x="1949" y="9"/>
                        <a:pt x="-7" y="1980"/>
                        <a:pt x="0" y="4402"/>
                      </a:cubicBezTo>
                      <a:cubicBezTo>
                        <a:pt x="7" y="6810"/>
                        <a:pt x="1964" y="8759"/>
                        <a:pt x="4376" y="8769"/>
                      </a:cubicBezTo>
                      <a:lnTo>
                        <a:pt x="48677" y="8769"/>
                      </a:lnTo>
                      <a:lnTo>
                        <a:pt x="110607" y="183666"/>
                      </a:lnTo>
                      <a:cubicBezTo>
                        <a:pt x="97195" y="190846"/>
                        <a:pt x="92159" y="207518"/>
                        <a:pt x="99354" y="220900"/>
                      </a:cubicBezTo>
                      <a:cubicBezTo>
                        <a:pt x="106556" y="234282"/>
                        <a:pt x="123258" y="239307"/>
                        <a:pt x="136670" y="232120"/>
                      </a:cubicBezTo>
                      <a:cubicBezTo>
                        <a:pt x="147618" y="226264"/>
                        <a:pt x="153277" y="213822"/>
                        <a:pt x="150502" y="201748"/>
                      </a:cubicBezTo>
                      <a:lnTo>
                        <a:pt x="255051" y="164818"/>
                      </a:lnTo>
                      <a:cubicBezTo>
                        <a:pt x="257340" y="164009"/>
                        <a:pt x="258536" y="161507"/>
                        <a:pt x="257732" y="159223"/>
                      </a:cubicBezTo>
                      <a:cubicBezTo>
                        <a:pt x="257732" y="159223"/>
                        <a:pt x="257732" y="159223"/>
                        <a:pt x="257732" y="159223"/>
                      </a:cubicBezTo>
                      <a:close/>
                      <a:moveTo>
                        <a:pt x="123656" y="226431"/>
                      </a:moveTo>
                      <a:cubicBezTo>
                        <a:pt x="113295" y="226431"/>
                        <a:pt x="104897" y="218051"/>
                        <a:pt x="104897" y="207713"/>
                      </a:cubicBezTo>
                      <a:cubicBezTo>
                        <a:pt x="104897" y="197381"/>
                        <a:pt x="113295" y="189002"/>
                        <a:pt x="123656" y="189002"/>
                      </a:cubicBezTo>
                      <a:cubicBezTo>
                        <a:pt x="134010" y="189002"/>
                        <a:pt x="142408" y="197381"/>
                        <a:pt x="142408" y="207713"/>
                      </a:cubicBezTo>
                      <a:cubicBezTo>
                        <a:pt x="142401" y="218044"/>
                        <a:pt x="134010" y="226416"/>
                        <a:pt x="123656" y="226431"/>
                      </a:cubicBezTo>
                      <a:close/>
                    </a:path>
                  </a:pathLst>
                </a:custGeom>
                <a:solidFill>
                  <a:srgbClr val="000000"/>
                </a:solidFill>
                <a:ln w="72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1" name="Freeform 1025">
                  <a:extLst>
                    <a:ext uri="{FF2B5EF4-FFF2-40B4-BE49-F238E27FC236}">
                      <a16:creationId xmlns:a16="http://schemas.microsoft.com/office/drawing/2014/main" id="{2F109FDB-EF5D-67BD-CF9F-897B742C58AA}"/>
                    </a:ext>
                  </a:extLst>
                </p:cNvPr>
                <p:cNvSpPr/>
                <p:nvPr/>
              </p:nvSpPr>
              <p:spPr>
                <a:xfrm>
                  <a:off x="3912626" y="3244156"/>
                  <a:ext cx="159129" cy="199170"/>
                </a:xfrm>
                <a:custGeom>
                  <a:avLst/>
                  <a:gdLst>
                    <a:gd name="connsiteX0" fmla="*/ 27947 w 159129"/>
                    <a:gd name="connsiteY0" fmla="*/ 118092 h 199170"/>
                    <a:gd name="connsiteX1" fmla="*/ 28034 w 159129"/>
                    <a:gd name="connsiteY1" fmla="*/ 118244 h 199170"/>
                    <a:gd name="connsiteX2" fmla="*/ 55699 w 159129"/>
                    <a:gd name="connsiteY2" fmla="*/ 196246 h 199170"/>
                    <a:gd name="connsiteX3" fmla="*/ 61307 w 159129"/>
                    <a:gd name="connsiteY3" fmla="*/ 198921 h 199170"/>
                    <a:gd name="connsiteX4" fmla="*/ 156205 w 159129"/>
                    <a:gd name="connsiteY4" fmla="*/ 164775 h 199170"/>
                    <a:gd name="connsiteX5" fmla="*/ 158878 w 159129"/>
                    <a:gd name="connsiteY5" fmla="*/ 159179 h 199170"/>
                    <a:gd name="connsiteX6" fmla="*/ 131178 w 159129"/>
                    <a:gd name="connsiteY6" fmla="*/ 81079 h 199170"/>
                    <a:gd name="connsiteX7" fmla="*/ 131105 w 159129"/>
                    <a:gd name="connsiteY7" fmla="*/ 80961 h 199170"/>
                    <a:gd name="connsiteX8" fmla="*/ 103434 w 159129"/>
                    <a:gd name="connsiteY8" fmla="*/ 2922 h 199170"/>
                    <a:gd name="connsiteX9" fmla="*/ 97826 w 159129"/>
                    <a:gd name="connsiteY9" fmla="*/ 253 h 199170"/>
                    <a:gd name="connsiteX10" fmla="*/ 97818 w 159129"/>
                    <a:gd name="connsiteY10" fmla="*/ 253 h 199170"/>
                    <a:gd name="connsiteX11" fmla="*/ 2928 w 159129"/>
                    <a:gd name="connsiteY11" fmla="*/ 34395 h 199170"/>
                    <a:gd name="connsiteX12" fmla="*/ 254 w 159129"/>
                    <a:gd name="connsiteY12" fmla="*/ 39992 h 199170"/>
                    <a:gd name="connsiteX13" fmla="*/ 62517 w 159129"/>
                    <a:gd name="connsiteY13" fmla="*/ 189190 h 199170"/>
                    <a:gd name="connsiteX14" fmla="*/ 37751 w 159129"/>
                    <a:gd name="connsiteY14" fmla="*/ 119357 h 199170"/>
                    <a:gd name="connsiteX15" fmla="*/ 124360 w 159129"/>
                    <a:gd name="connsiteY15" fmla="*/ 88139 h 199170"/>
                    <a:gd name="connsiteX16" fmla="*/ 149126 w 159129"/>
                    <a:gd name="connsiteY16" fmla="*/ 157972 h 199170"/>
                    <a:gd name="connsiteX17" fmla="*/ 96608 w 159129"/>
                    <a:gd name="connsiteY17" fmla="*/ 9980 h 199170"/>
                    <a:gd name="connsiteX18" fmla="*/ 121382 w 159129"/>
                    <a:gd name="connsiteY18" fmla="*/ 79814 h 199170"/>
                    <a:gd name="connsiteX19" fmla="*/ 34766 w 159129"/>
                    <a:gd name="connsiteY19" fmla="*/ 111029 h 199170"/>
                    <a:gd name="connsiteX20" fmla="*/ 10000 w 159129"/>
                    <a:gd name="connsiteY20" fmla="*/ 41199 h 19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9129" h="199170">
                      <a:moveTo>
                        <a:pt x="27947" y="118092"/>
                      </a:moveTo>
                      <a:cubicBezTo>
                        <a:pt x="27969" y="118150"/>
                        <a:pt x="28013" y="118186"/>
                        <a:pt x="28034" y="118244"/>
                      </a:cubicBezTo>
                      <a:lnTo>
                        <a:pt x="55699" y="196246"/>
                      </a:lnTo>
                      <a:cubicBezTo>
                        <a:pt x="56503" y="198531"/>
                        <a:pt x="59017" y="199723"/>
                        <a:pt x="61307" y="198921"/>
                      </a:cubicBezTo>
                      <a:lnTo>
                        <a:pt x="156205" y="164775"/>
                      </a:lnTo>
                      <a:cubicBezTo>
                        <a:pt x="158487" y="163965"/>
                        <a:pt x="159683" y="161464"/>
                        <a:pt x="158878" y="159179"/>
                      </a:cubicBezTo>
                      <a:lnTo>
                        <a:pt x="131178" y="81079"/>
                      </a:lnTo>
                      <a:cubicBezTo>
                        <a:pt x="131163" y="81035"/>
                        <a:pt x="131127" y="81003"/>
                        <a:pt x="131105" y="80961"/>
                      </a:cubicBezTo>
                      <a:lnTo>
                        <a:pt x="103434" y="2922"/>
                      </a:lnTo>
                      <a:cubicBezTo>
                        <a:pt x="102622" y="639"/>
                        <a:pt x="100108" y="-556"/>
                        <a:pt x="97826" y="253"/>
                      </a:cubicBezTo>
                      <a:cubicBezTo>
                        <a:pt x="97826" y="253"/>
                        <a:pt x="97826" y="253"/>
                        <a:pt x="97818" y="253"/>
                      </a:cubicBezTo>
                      <a:lnTo>
                        <a:pt x="2928" y="34395"/>
                      </a:lnTo>
                      <a:cubicBezTo>
                        <a:pt x="638" y="35204"/>
                        <a:pt x="-557" y="37709"/>
                        <a:pt x="254" y="39992"/>
                      </a:cubicBezTo>
                      <a:close/>
                      <a:moveTo>
                        <a:pt x="62517" y="189190"/>
                      </a:moveTo>
                      <a:lnTo>
                        <a:pt x="37751" y="119357"/>
                      </a:lnTo>
                      <a:lnTo>
                        <a:pt x="124360" y="88139"/>
                      </a:lnTo>
                      <a:lnTo>
                        <a:pt x="149126" y="157972"/>
                      </a:lnTo>
                      <a:close/>
                      <a:moveTo>
                        <a:pt x="96608" y="9980"/>
                      </a:moveTo>
                      <a:lnTo>
                        <a:pt x="121382" y="79814"/>
                      </a:lnTo>
                      <a:lnTo>
                        <a:pt x="34766" y="111029"/>
                      </a:lnTo>
                      <a:lnTo>
                        <a:pt x="10000" y="41199"/>
                      </a:lnTo>
                      <a:close/>
                    </a:path>
                  </a:pathLst>
                </a:custGeom>
                <a:solidFill>
                  <a:srgbClr val="000000"/>
                </a:solidFill>
                <a:ln w="72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67" name="Group 1171">
                <a:extLst>
                  <a:ext uri="{FF2B5EF4-FFF2-40B4-BE49-F238E27FC236}">
                    <a16:creationId xmlns:a16="http://schemas.microsoft.com/office/drawing/2014/main" id="{9C8C6A6B-BA79-1E0B-CF9D-BF0A4B7CADA5}"/>
                  </a:ext>
                </a:extLst>
              </p:cNvPr>
              <p:cNvGrpSpPr>
                <a:grpSpLocks noChangeAspect="1"/>
              </p:cNvGrpSpPr>
              <p:nvPr/>
            </p:nvGrpSpPr>
            <p:grpSpPr>
              <a:xfrm>
                <a:off x="4948360" y="4662318"/>
                <a:ext cx="284356" cy="287404"/>
                <a:chOff x="5958078" y="4056373"/>
                <a:chExt cx="244474" cy="247095"/>
              </a:xfrm>
            </p:grpSpPr>
            <p:sp>
              <p:nvSpPr>
                <p:cNvPr id="68" name="Freeform 1097">
                  <a:extLst>
                    <a:ext uri="{FF2B5EF4-FFF2-40B4-BE49-F238E27FC236}">
                      <a16:creationId xmlns:a16="http://schemas.microsoft.com/office/drawing/2014/main" id="{7B1A7DF8-02C2-DA82-0E27-9EEB87D55A08}"/>
                    </a:ext>
                  </a:extLst>
                </p:cNvPr>
                <p:cNvSpPr/>
                <p:nvPr/>
              </p:nvSpPr>
              <p:spPr>
                <a:xfrm>
                  <a:off x="5958078" y="4056373"/>
                  <a:ext cx="244474" cy="247095"/>
                </a:xfrm>
                <a:custGeom>
                  <a:avLst/>
                  <a:gdLst>
                    <a:gd name="connsiteX0" fmla="*/ 243359 w 244474"/>
                    <a:gd name="connsiteY0" fmla="*/ 99450 h 247095"/>
                    <a:gd name="connsiteX1" fmla="*/ 233422 w 244474"/>
                    <a:gd name="connsiteY1" fmla="*/ 79123 h 247095"/>
                    <a:gd name="connsiteX2" fmla="*/ 180692 w 244474"/>
                    <a:gd name="connsiteY2" fmla="*/ 27303 h 247095"/>
                    <a:gd name="connsiteX3" fmla="*/ 161121 w 244474"/>
                    <a:gd name="connsiteY3" fmla="*/ 27468 h 247095"/>
                    <a:gd name="connsiteX4" fmla="*/ 160546 w 244474"/>
                    <a:gd name="connsiteY4" fmla="*/ 28171 h 247095"/>
                    <a:gd name="connsiteX5" fmla="*/ 126224 w 244474"/>
                    <a:gd name="connsiteY5" fmla="*/ 0 h 247095"/>
                    <a:gd name="connsiteX6" fmla="*/ 50186 w 244474"/>
                    <a:gd name="connsiteY6" fmla="*/ 0 h 247095"/>
                    <a:gd name="connsiteX7" fmla="*/ 15174 w 244474"/>
                    <a:gd name="connsiteY7" fmla="*/ 34968 h 247095"/>
                    <a:gd name="connsiteX8" fmla="*/ 15174 w 244474"/>
                    <a:gd name="connsiteY8" fmla="*/ 237413 h 247095"/>
                    <a:gd name="connsiteX9" fmla="*/ 4872 w 244474"/>
                    <a:gd name="connsiteY9" fmla="*/ 237413 h 247095"/>
                    <a:gd name="connsiteX10" fmla="*/ 0 w 244474"/>
                    <a:gd name="connsiteY10" fmla="*/ 242236 h 247095"/>
                    <a:gd name="connsiteX11" fmla="*/ 4828 w 244474"/>
                    <a:gd name="connsiteY11" fmla="*/ 247095 h 247095"/>
                    <a:gd name="connsiteX12" fmla="*/ 4864 w 244474"/>
                    <a:gd name="connsiteY12" fmla="*/ 247095 h 247095"/>
                    <a:gd name="connsiteX13" fmla="*/ 171539 w 244474"/>
                    <a:gd name="connsiteY13" fmla="*/ 247095 h 247095"/>
                    <a:gd name="connsiteX14" fmla="*/ 176411 w 244474"/>
                    <a:gd name="connsiteY14" fmla="*/ 242272 h 247095"/>
                    <a:gd name="connsiteX15" fmla="*/ 171582 w 244474"/>
                    <a:gd name="connsiteY15" fmla="*/ 237413 h 247095"/>
                    <a:gd name="connsiteX16" fmla="*/ 171539 w 244474"/>
                    <a:gd name="connsiteY16" fmla="*/ 237413 h 247095"/>
                    <a:gd name="connsiteX17" fmla="*/ 161236 w 244474"/>
                    <a:gd name="connsiteY17" fmla="*/ 237413 h 247095"/>
                    <a:gd name="connsiteX18" fmla="*/ 161236 w 244474"/>
                    <a:gd name="connsiteY18" fmla="*/ 152088 h 247095"/>
                    <a:gd name="connsiteX19" fmla="*/ 173127 w 244474"/>
                    <a:gd name="connsiteY19" fmla="*/ 152074 h 247095"/>
                    <a:gd name="connsiteX20" fmla="*/ 175282 w 244474"/>
                    <a:gd name="connsiteY20" fmla="*/ 153567 h 247095"/>
                    <a:gd name="connsiteX21" fmla="*/ 176590 w 244474"/>
                    <a:gd name="connsiteY21" fmla="*/ 154938 h 247095"/>
                    <a:gd name="connsiteX22" fmla="*/ 176590 w 244474"/>
                    <a:gd name="connsiteY22" fmla="*/ 196129 h 247095"/>
                    <a:gd name="connsiteX23" fmla="*/ 189034 w 244474"/>
                    <a:gd name="connsiteY23" fmla="*/ 221565 h 247095"/>
                    <a:gd name="connsiteX24" fmla="*/ 210251 w 244474"/>
                    <a:gd name="connsiteY24" fmla="*/ 229834 h 247095"/>
                    <a:gd name="connsiteX25" fmla="*/ 232510 w 244474"/>
                    <a:gd name="connsiteY25" fmla="*/ 221242 h 247095"/>
                    <a:gd name="connsiteX26" fmla="*/ 244444 w 244474"/>
                    <a:gd name="connsiteY26" fmla="*/ 195196 h 247095"/>
                    <a:gd name="connsiteX27" fmla="*/ 244444 w 244474"/>
                    <a:gd name="connsiteY27" fmla="*/ 116826 h 247095"/>
                    <a:gd name="connsiteX28" fmla="*/ 243359 w 244474"/>
                    <a:gd name="connsiteY28" fmla="*/ 99450 h 247095"/>
                    <a:gd name="connsiteX29" fmla="*/ 24874 w 244474"/>
                    <a:gd name="connsiteY29" fmla="*/ 237413 h 247095"/>
                    <a:gd name="connsiteX30" fmla="*/ 24874 w 244474"/>
                    <a:gd name="connsiteY30" fmla="*/ 34968 h 247095"/>
                    <a:gd name="connsiteX31" fmla="*/ 50186 w 244474"/>
                    <a:gd name="connsiteY31" fmla="*/ 9682 h 247095"/>
                    <a:gd name="connsiteX32" fmla="*/ 126224 w 244474"/>
                    <a:gd name="connsiteY32" fmla="*/ 9682 h 247095"/>
                    <a:gd name="connsiteX33" fmla="*/ 151536 w 244474"/>
                    <a:gd name="connsiteY33" fmla="*/ 34968 h 247095"/>
                    <a:gd name="connsiteX34" fmla="*/ 151536 w 244474"/>
                    <a:gd name="connsiteY34" fmla="*/ 237413 h 247095"/>
                    <a:gd name="connsiteX35" fmla="*/ 234752 w 244474"/>
                    <a:gd name="connsiteY35" fmla="*/ 195196 h 247095"/>
                    <a:gd name="connsiteX36" fmla="*/ 225928 w 244474"/>
                    <a:gd name="connsiteY36" fmla="*/ 214130 h 247095"/>
                    <a:gd name="connsiteX37" fmla="*/ 210654 w 244474"/>
                    <a:gd name="connsiteY37" fmla="*/ 220144 h 247095"/>
                    <a:gd name="connsiteX38" fmla="*/ 209906 w 244474"/>
                    <a:gd name="connsiteY38" fmla="*/ 220144 h 247095"/>
                    <a:gd name="connsiteX39" fmla="*/ 195573 w 244474"/>
                    <a:gd name="connsiteY39" fmla="*/ 214409 h 247095"/>
                    <a:gd name="connsiteX40" fmla="*/ 186290 w 244474"/>
                    <a:gd name="connsiteY40" fmla="*/ 196050 h 247095"/>
                    <a:gd name="connsiteX41" fmla="*/ 186290 w 244474"/>
                    <a:gd name="connsiteY41" fmla="*/ 154938 h 247095"/>
                    <a:gd name="connsiteX42" fmla="*/ 182057 w 244474"/>
                    <a:gd name="connsiteY42" fmla="*/ 146626 h 247095"/>
                    <a:gd name="connsiteX43" fmla="*/ 173314 w 244474"/>
                    <a:gd name="connsiteY43" fmla="*/ 142399 h 247095"/>
                    <a:gd name="connsiteX44" fmla="*/ 161236 w 244474"/>
                    <a:gd name="connsiteY44" fmla="*/ 142399 h 247095"/>
                    <a:gd name="connsiteX45" fmla="*/ 161236 w 244474"/>
                    <a:gd name="connsiteY45" fmla="*/ 46969 h 247095"/>
                    <a:gd name="connsiteX46" fmla="*/ 161286 w 244474"/>
                    <a:gd name="connsiteY46" fmla="*/ 47026 h 247095"/>
                    <a:gd name="connsiteX47" fmla="*/ 185413 w 244474"/>
                    <a:gd name="connsiteY47" fmla="*/ 70740 h 247095"/>
                    <a:gd name="connsiteX48" fmla="*/ 185413 w 244474"/>
                    <a:gd name="connsiteY48" fmla="*/ 88963 h 247095"/>
                    <a:gd name="connsiteX49" fmla="*/ 196083 w 244474"/>
                    <a:gd name="connsiteY49" fmla="*/ 122977 h 247095"/>
                    <a:gd name="connsiteX50" fmla="*/ 233616 w 244474"/>
                    <a:gd name="connsiteY50" fmla="*/ 129480 h 247095"/>
                    <a:gd name="connsiteX51" fmla="*/ 234752 w 244474"/>
                    <a:gd name="connsiteY51" fmla="*/ 129243 h 247095"/>
                    <a:gd name="connsiteX52" fmla="*/ 234752 w 244474"/>
                    <a:gd name="connsiteY52" fmla="*/ 120063 h 247095"/>
                    <a:gd name="connsiteX53" fmla="*/ 232754 w 244474"/>
                    <a:gd name="connsiteY53" fmla="*/ 119833 h 247095"/>
                    <a:gd name="connsiteX54" fmla="*/ 202499 w 244474"/>
                    <a:gd name="connsiteY54" fmla="*/ 115721 h 247095"/>
                    <a:gd name="connsiteX55" fmla="*/ 195113 w 244474"/>
                    <a:gd name="connsiteY55" fmla="*/ 88798 h 247095"/>
                    <a:gd name="connsiteX56" fmla="*/ 195113 w 244474"/>
                    <a:gd name="connsiteY56" fmla="*/ 68709 h 247095"/>
                    <a:gd name="connsiteX57" fmla="*/ 193661 w 244474"/>
                    <a:gd name="connsiteY57" fmla="*/ 65249 h 247095"/>
                    <a:gd name="connsiteX58" fmla="*/ 168083 w 244474"/>
                    <a:gd name="connsiteY58" fmla="*/ 40114 h 247095"/>
                    <a:gd name="connsiteX59" fmla="*/ 168033 w 244474"/>
                    <a:gd name="connsiteY59" fmla="*/ 34265 h 247095"/>
                    <a:gd name="connsiteX60" fmla="*/ 173889 w 244474"/>
                    <a:gd name="connsiteY60" fmla="*/ 34214 h 247095"/>
                    <a:gd name="connsiteX61" fmla="*/ 226625 w 244474"/>
                    <a:gd name="connsiteY61" fmla="*/ 86035 h 247095"/>
                    <a:gd name="connsiteX62" fmla="*/ 233803 w 244474"/>
                    <a:gd name="connsiteY62" fmla="*/ 101115 h 247095"/>
                    <a:gd name="connsiteX63" fmla="*/ 234752 w 244474"/>
                    <a:gd name="connsiteY63" fmla="*/ 116826 h 24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44474" h="247095">
                      <a:moveTo>
                        <a:pt x="243359" y="99450"/>
                      </a:moveTo>
                      <a:cubicBezTo>
                        <a:pt x="242317" y="91784"/>
                        <a:pt x="238833" y="84657"/>
                        <a:pt x="233422" y="79123"/>
                      </a:cubicBezTo>
                      <a:lnTo>
                        <a:pt x="180692" y="27303"/>
                      </a:lnTo>
                      <a:cubicBezTo>
                        <a:pt x="175232" y="21963"/>
                        <a:pt x="166488" y="22042"/>
                        <a:pt x="161121" y="27468"/>
                      </a:cubicBezTo>
                      <a:cubicBezTo>
                        <a:pt x="160905" y="27683"/>
                        <a:pt x="160747" y="27942"/>
                        <a:pt x="160546" y="28171"/>
                      </a:cubicBezTo>
                      <a:cubicBezTo>
                        <a:pt x="157284" y="11814"/>
                        <a:pt x="142922" y="22"/>
                        <a:pt x="126224" y="0"/>
                      </a:cubicBezTo>
                      <a:lnTo>
                        <a:pt x="50186" y="0"/>
                      </a:lnTo>
                      <a:cubicBezTo>
                        <a:pt x="30859" y="14"/>
                        <a:pt x="15196" y="15661"/>
                        <a:pt x="15174" y="34968"/>
                      </a:cubicBezTo>
                      <a:lnTo>
                        <a:pt x="15174" y="237413"/>
                      </a:lnTo>
                      <a:lnTo>
                        <a:pt x="4872" y="237413"/>
                      </a:lnTo>
                      <a:cubicBezTo>
                        <a:pt x="2191" y="237399"/>
                        <a:pt x="14" y="239559"/>
                        <a:pt x="0" y="242236"/>
                      </a:cubicBezTo>
                      <a:cubicBezTo>
                        <a:pt x="-7" y="244913"/>
                        <a:pt x="2155" y="247088"/>
                        <a:pt x="4828" y="247095"/>
                      </a:cubicBezTo>
                      <a:cubicBezTo>
                        <a:pt x="4843" y="247095"/>
                        <a:pt x="4857" y="247095"/>
                        <a:pt x="4864" y="247095"/>
                      </a:cubicBezTo>
                      <a:lnTo>
                        <a:pt x="171539" y="247095"/>
                      </a:lnTo>
                      <a:cubicBezTo>
                        <a:pt x="174219" y="247110"/>
                        <a:pt x="176396" y="244949"/>
                        <a:pt x="176411" y="242272"/>
                      </a:cubicBezTo>
                      <a:cubicBezTo>
                        <a:pt x="176418" y="239595"/>
                        <a:pt x="174255" y="237420"/>
                        <a:pt x="171582" y="237413"/>
                      </a:cubicBezTo>
                      <a:cubicBezTo>
                        <a:pt x="171568" y="237413"/>
                        <a:pt x="171553" y="237413"/>
                        <a:pt x="171539" y="237413"/>
                      </a:cubicBezTo>
                      <a:lnTo>
                        <a:pt x="161236" y="237413"/>
                      </a:lnTo>
                      <a:lnTo>
                        <a:pt x="161236" y="152088"/>
                      </a:lnTo>
                      <a:lnTo>
                        <a:pt x="173127" y="152074"/>
                      </a:lnTo>
                      <a:cubicBezTo>
                        <a:pt x="173953" y="152404"/>
                        <a:pt x="174686" y="152914"/>
                        <a:pt x="175282" y="153567"/>
                      </a:cubicBezTo>
                      <a:cubicBezTo>
                        <a:pt x="176216" y="154486"/>
                        <a:pt x="176554" y="155124"/>
                        <a:pt x="176590" y="154938"/>
                      </a:cubicBezTo>
                      <a:lnTo>
                        <a:pt x="176590" y="196129"/>
                      </a:lnTo>
                      <a:cubicBezTo>
                        <a:pt x="177201" y="205919"/>
                        <a:pt x="181677" y="215063"/>
                        <a:pt x="189034" y="221565"/>
                      </a:cubicBezTo>
                      <a:cubicBezTo>
                        <a:pt x="194696" y="227078"/>
                        <a:pt x="202355" y="230063"/>
                        <a:pt x="210251" y="229834"/>
                      </a:cubicBezTo>
                      <a:cubicBezTo>
                        <a:pt x="218542" y="230157"/>
                        <a:pt x="226597" y="227049"/>
                        <a:pt x="232510" y="221242"/>
                      </a:cubicBezTo>
                      <a:cubicBezTo>
                        <a:pt x="239889" y="214553"/>
                        <a:pt x="244200" y="205144"/>
                        <a:pt x="244444" y="195196"/>
                      </a:cubicBezTo>
                      <a:lnTo>
                        <a:pt x="244444" y="116826"/>
                      </a:lnTo>
                      <a:cubicBezTo>
                        <a:pt x="244587" y="111012"/>
                        <a:pt x="244228" y="105199"/>
                        <a:pt x="243359" y="99450"/>
                      </a:cubicBezTo>
                      <a:close/>
                      <a:moveTo>
                        <a:pt x="24874" y="237413"/>
                      </a:moveTo>
                      <a:lnTo>
                        <a:pt x="24874" y="34968"/>
                      </a:lnTo>
                      <a:cubicBezTo>
                        <a:pt x="24888" y="21008"/>
                        <a:pt x="36212" y="9697"/>
                        <a:pt x="50186" y="9682"/>
                      </a:cubicBezTo>
                      <a:lnTo>
                        <a:pt x="126224" y="9682"/>
                      </a:lnTo>
                      <a:cubicBezTo>
                        <a:pt x="140198" y="9697"/>
                        <a:pt x="151522" y="21008"/>
                        <a:pt x="151536" y="34968"/>
                      </a:cubicBezTo>
                      <a:lnTo>
                        <a:pt x="151536" y="237413"/>
                      </a:lnTo>
                      <a:close/>
                      <a:moveTo>
                        <a:pt x="234752" y="195196"/>
                      </a:moveTo>
                      <a:cubicBezTo>
                        <a:pt x="234521" y="202445"/>
                        <a:pt x="231339" y="209285"/>
                        <a:pt x="225928" y="214130"/>
                      </a:cubicBezTo>
                      <a:cubicBezTo>
                        <a:pt x="221919" y="218206"/>
                        <a:pt x="216365" y="220395"/>
                        <a:pt x="210654" y="220144"/>
                      </a:cubicBezTo>
                      <a:cubicBezTo>
                        <a:pt x="210402" y="220130"/>
                        <a:pt x="210158" y="220130"/>
                        <a:pt x="209906" y="220144"/>
                      </a:cubicBezTo>
                      <a:cubicBezTo>
                        <a:pt x="204539" y="220288"/>
                        <a:pt x="199359" y="218206"/>
                        <a:pt x="195573" y="214409"/>
                      </a:cubicBezTo>
                      <a:cubicBezTo>
                        <a:pt x="190248" y="209694"/>
                        <a:pt x="186929" y="203127"/>
                        <a:pt x="186290" y="196050"/>
                      </a:cubicBezTo>
                      <a:lnTo>
                        <a:pt x="186290" y="154938"/>
                      </a:lnTo>
                      <a:cubicBezTo>
                        <a:pt x="185995" y="151730"/>
                        <a:pt x="184479" y="148758"/>
                        <a:pt x="182057" y="146626"/>
                      </a:cubicBezTo>
                      <a:cubicBezTo>
                        <a:pt x="179766" y="144186"/>
                        <a:pt x="176647" y="142679"/>
                        <a:pt x="173314" y="142399"/>
                      </a:cubicBezTo>
                      <a:lnTo>
                        <a:pt x="161236" y="142399"/>
                      </a:lnTo>
                      <a:lnTo>
                        <a:pt x="161236" y="46969"/>
                      </a:lnTo>
                      <a:lnTo>
                        <a:pt x="161286" y="47026"/>
                      </a:lnTo>
                      <a:lnTo>
                        <a:pt x="185413" y="70740"/>
                      </a:lnTo>
                      <a:lnTo>
                        <a:pt x="185413" y="88963"/>
                      </a:lnTo>
                      <a:cubicBezTo>
                        <a:pt x="186045" y="107000"/>
                        <a:pt x="189135" y="116855"/>
                        <a:pt x="196083" y="122977"/>
                      </a:cubicBezTo>
                      <a:cubicBezTo>
                        <a:pt x="203289" y="129343"/>
                        <a:pt x="214174" y="131245"/>
                        <a:pt x="233616" y="129480"/>
                      </a:cubicBezTo>
                      <a:cubicBezTo>
                        <a:pt x="234004" y="129444"/>
                        <a:pt x="234385" y="129365"/>
                        <a:pt x="234752" y="129243"/>
                      </a:cubicBezTo>
                      <a:close/>
                      <a:moveTo>
                        <a:pt x="234752" y="120063"/>
                      </a:moveTo>
                      <a:cubicBezTo>
                        <a:pt x="234105" y="119862"/>
                        <a:pt x="233429" y="119783"/>
                        <a:pt x="232754" y="119833"/>
                      </a:cubicBezTo>
                      <a:cubicBezTo>
                        <a:pt x="216466" y="121283"/>
                        <a:pt x="207420" y="120063"/>
                        <a:pt x="202499" y="115721"/>
                      </a:cubicBezTo>
                      <a:cubicBezTo>
                        <a:pt x="197836" y="111608"/>
                        <a:pt x="195630" y="103505"/>
                        <a:pt x="195113" y="88798"/>
                      </a:cubicBezTo>
                      <a:lnTo>
                        <a:pt x="195113" y="68709"/>
                      </a:lnTo>
                      <a:cubicBezTo>
                        <a:pt x="195113" y="67410"/>
                        <a:pt x="194588" y="66161"/>
                        <a:pt x="193661" y="65249"/>
                      </a:cubicBezTo>
                      <a:lnTo>
                        <a:pt x="168083" y="40114"/>
                      </a:lnTo>
                      <a:cubicBezTo>
                        <a:pt x="166452" y="38514"/>
                        <a:pt x="166430" y="35894"/>
                        <a:pt x="168033" y="34265"/>
                      </a:cubicBezTo>
                      <a:cubicBezTo>
                        <a:pt x="169642" y="32636"/>
                        <a:pt x="172258" y="32614"/>
                        <a:pt x="173889" y="34214"/>
                      </a:cubicBezTo>
                      <a:lnTo>
                        <a:pt x="226625" y="86035"/>
                      </a:lnTo>
                      <a:cubicBezTo>
                        <a:pt x="230563" y="90169"/>
                        <a:pt x="233085" y="95452"/>
                        <a:pt x="233803" y="101115"/>
                      </a:cubicBezTo>
                      <a:cubicBezTo>
                        <a:pt x="234572" y="106318"/>
                        <a:pt x="234888" y="111572"/>
                        <a:pt x="234752" y="116826"/>
                      </a:cubicBezTo>
                      <a:close/>
                    </a:path>
                  </a:pathLst>
                </a:custGeom>
                <a:solidFill>
                  <a:srgbClr val="000000"/>
                </a:solidFill>
                <a:ln w="718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9" name="Freeform 1098">
                  <a:extLst>
                    <a:ext uri="{FF2B5EF4-FFF2-40B4-BE49-F238E27FC236}">
                      <a16:creationId xmlns:a16="http://schemas.microsoft.com/office/drawing/2014/main" id="{427BEE22-6A70-7881-6569-5361861E5280}"/>
                    </a:ext>
                  </a:extLst>
                </p:cNvPr>
                <p:cNvSpPr/>
                <p:nvPr/>
              </p:nvSpPr>
              <p:spPr>
                <a:xfrm>
                  <a:off x="5995871" y="4080582"/>
                  <a:ext cx="100825" cy="77953"/>
                </a:xfrm>
                <a:custGeom>
                  <a:avLst/>
                  <a:gdLst>
                    <a:gd name="connsiteX0" fmla="*/ 82691 w 100825"/>
                    <a:gd name="connsiteY0" fmla="*/ 0 h 77953"/>
                    <a:gd name="connsiteX1" fmla="*/ 18135 w 100825"/>
                    <a:gd name="connsiteY1" fmla="*/ 0 h 77953"/>
                    <a:gd name="connsiteX2" fmla="*/ 0 w 100825"/>
                    <a:gd name="connsiteY2" fmla="*/ 18116 h 77953"/>
                    <a:gd name="connsiteX3" fmla="*/ 0 w 100825"/>
                    <a:gd name="connsiteY3" fmla="*/ 59831 h 77953"/>
                    <a:gd name="connsiteX4" fmla="*/ 18135 w 100825"/>
                    <a:gd name="connsiteY4" fmla="*/ 77953 h 77953"/>
                    <a:gd name="connsiteX5" fmla="*/ 82691 w 100825"/>
                    <a:gd name="connsiteY5" fmla="*/ 77953 h 77953"/>
                    <a:gd name="connsiteX6" fmla="*/ 100825 w 100825"/>
                    <a:gd name="connsiteY6" fmla="*/ 59831 h 77953"/>
                    <a:gd name="connsiteX7" fmla="*/ 100825 w 100825"/>
                    <a:gd name="connsiteY7" fmla="*/ 18116 h 77953"/>
                    <a:gd name="connsiteX8" fmla="*/ 82691 w 100825"/>
                    <a:gd name="connsiteY8" fmla="*/ 0 h 77953"/>
                    <a:gd name="connsiteX9" fmla="*/ 91126 w 100825"/>
                    <a:gd name="connsiteY9" fmla="*/ 59831 h 77953"/>
                    <a:gd name="connsiteX10" fmla="*/ 82691 w 100825"/>
                    <a:gd name="connsiteY10" fmla="*/ 68264 h 77953"/>
                    <a:gd name="connsiteX11" fmla="*/ 18135 w 100825"/>
                    <a:gd name="connsiteY11" fmla="*/ 68264 h 77953"/>
                    <a:gd name="connsiteX12" fmla="*/ 9699 w 100825"/>
                    <a:gd name="connsiteY12" fmla="*/ 59831 h 77953"/>
                    <a:gd name="connsiteX13" fmla="*/ 9699 w 100825"/>
                    <a:gd name="connsiteY13" fmla="*/ 18116 h 77953"/>
                    <a:gd name="connsiteX14" fmla="*/ 18135 w 100825"/>
                    <a:gd name="connsiteY14" fmla="*/ 9682 h 77953"/>
                    <a:gd name="connsiteX15" fmla="*/ 82691 w 100825"/>
                    <a:gd name="connsiteY15" fmla="*/ 9682 h 77953"/>
                    <a:gd name="connsiteX16" fmla="*/ 91126 w 100825"/>
                    <a:gd name="connsiteY16" fmla="*/ 18116 h 77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825" h="77953">
                      <a:moveTo>
                        <a:pt x="82691" y="0"/>
                      </a:moveTo>
                      <a:lnTo>
                        <a:pt x="18135" y="0"/>
                      </a:lnTo>
                      <a:cubicBezTo>
                        <a:pt x="8126" y="7"/>
                        <a:pt x="14" y="8118"/>
                        <a:pt x="0" y="18116"/>
                      </a:cubicBezTo>
                      <a:lnTo>
                        <a:pt x="0" y="59831"/>
                      </a:lnTo>
                      <a:cubicBezTo>
                        <a:pt x="14" y="69836"/>
                        <a:pt x="8126" y="77939"/>
                        <a:pt x="18135" y="77953"/>
                      </a:cubicBezTo>
                      <a:lnTo>
                        <a:pt x="82691" y="77953"/>
                      </a:lnTo>
                      <a:cubicBezTo>
                        <a:pt x="92699" y="77939"/>
                        <a:pt x="100811" y="69836"/>
                        <a:pt x="100825" y="59831"/>
                      </a:cubicBezTo>
                      <a:lnTo>
                        <a:pt x="100825" y="18116"/>
                      </a:lnTo>
                      <a:cubicBezTo>
                        <a:pt x="100811" y="8118"/>
                        <a:pt x="92699" y="7"/>
                        <a:pt x="82691" y="0"/>
                      </a:cubicBezTo>
                      <a:close/>
                      <a:moveTo>
                        <a:pt x="91126" y="59831"/>
                      </a:moveTo>
                      <a:cubicBezTo>
                        <a:pt x="91119" y="64489"/>
                        <a:pt x="87346" y="68257"/>
                        <a:pt x="82691" y="68264"/>
                      </a:cubicBezTo>
                      <a:lnTo>
                        <a:pt x="18135" y="68264"/>
                      </a:lnTo>
                      <a:cubicBezTo>
                        <a:pt x="13479" y="68257"/>
                        <a:pt x="9699" y="64489"/>
                        <a:pt x="9699" y="59831"/>
                      </a:cubicBezTo>
                      <a:lnTo>
                        <a:pt x="9699" y="18116"/>
                      </a:lnTo>
                      <a:cubicBezTo>
                        <a:pt x="9699" y="13465"/>
                        <a:pt x="13479" y="9689"/>
                        <a:pt x="18135" y="9682"/>
                      </a:cubicBezTo>
                      <a:lnTo>
                        <a:pt x="82691" y="9682"/>
                      </a:lnTo>
                      <a:cubicBezTo>
                        <a:pt x="87346" y="9689"/>
                        <a:pt x="91119" y="13465"/>
                        <a:pt x="91126" y="18116"/>
                      </a:cubicBezTo>
                      <a:close/>
                    </a:path>
                  </a:pathLst>
                </a:custGeom>
                <a:solidFill>
                  <a:srgbClr val="000000"/>
                </a:solidFill>
                <a:ln w="718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sp>
          <p:nvSpPr>
            <p:cNvPr id="47" name="Ellipse 46">
              <a:extLst>
                <a:ext uri="{FF2B5EF4-FFF2-40B4-BE49-F238E27FC236}">
                  <a16:creationId xmlns:a16="http://schemas.microsoft.com/office/drawing/2014/main" id="{82E970EE-517C-D134-8B1E-20E895AC0D9D}"/>
                </a:ext>
              </a:extLst>
            </p:cNvPr>
            <p:cNvSpPr/>
            <p:nvPr/>
          </p:nvSpPr>
          <p:spPr bwMode="gray">
            <a:xfrm>
              <a:off x="2687678" y="4519479"/>
              <a:ext cx="601028" cy="574176"/>
            </a:xfrm>
            <a:prstGeom prst="ellipse">
              <a:avLst/>
            </a:prstGeom>
            <a:noFill/>
            <a:ln w="28575" algn="ctr">
              <a:gradFill>
                <a:gsLst>
                  <a:gs pos="0">
                    <a:srgbClr val="E31937"/>
                  </a:gs>
                  <a:gs pos="60000">
                    <a:srgbClr val="A82465"/>
                  </a:gs>
                  <a:gs pos="100000">
                    <a:srgbClr val="5236AB"/>
                  </a:gs>
                </a:gsLst>
                <a:lin ang="0" scaled="0"/>
              </a:gradFill>
              <a:miter lim="800000"/>
            </a:ln>
            <a:effectLst/>
          </p:spPr>
          <p:txBody>
            <a:bodyPr wrap="none" lIns="0" tIns="0" rIns="0" bIns="36000" rtlCol="0" anchor="ctr"/>
            <a:lstStyle/>
            <a:p>
              <a:pPr marL="0" marR="0" lvl="0" indent="0" algn="ctr" defTabSz="914400" eaLnBrk="1" fontAlgn="auto" latinLnBrk="0" hangingPunct="1">
                <a:lnSpc>
                  <a:spcPct val="100000"/>
                </a:lnSpc>
                <a:spcBef>
                  <a:spcPct val="0"/>
                </a:spcBef>
                <a:spcAft>
                  <a:spcPts val="0"/>
                </a:spcAft>
                <a:buClrTx/>
                <a:buSzPct val="90000"/>
                <a:buFontTx/>
                <a:buNone/>
                <a:defRPr/>
              </a:pP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48" name="Ellipse 47">
              <a:extLst>
                <a:ext uri="{FF2B5EF4-FFF2-40B4-BE49-F238E27FC236}">
                  <a16:creationId xmlns:a16="http://schemas.microsoft.com/office/drawing/2014/main" id="{E7B43D36-3B4E-ADAA-AA2D-165560E0EFAC}"/>
                </a:ext>
              </a:extLst>
            </p:cNvPr>
            <p:cNvSpPr/>
            <p:nvPr/>
          </p:nvSpPr>
          <p:spPr bwMode="gray">
            <a:xfrm>
              <a:off x="4068160" y="4524493"/>
              <a:ext cx="601028" cy="574176"/>
            </a:xfrm>
            <a:prstGeom prst="ellipse">
              <a:avLst/>
            </a:prstGeom>
            <a:noFill/>
            <a:ln w="28575" algn="ctr">
              <a:gradFill>
                <a:gsLst>
                  <a:gs pos="0">
                    <a:srgbClr val="E31937"/>
                  </a:gs>
                  <a:gs pos="60000">
                    <a:srgbClr val="A82465"/>
                  </a:gs>
                  <a:gs pos="100000">
                    <a:srgbClr val="5236AB"/>
                  </a:gs>
                </a:gsLst>
                <a:lin ang="0" scaled="0"/>
              </a:gradFill>
              <a:miter lim="800000"/>
            </a:ln>
            <a:effectLst/>
          </p:spPr>
          <p:txBody>
            <a:bodyPr wrap="none" lIns="0" tIns="0" rIns="0" bIns="36000" rtlCol="0" anchor="ctr"/>
            <a:lstStyle/>
            <a:p>
              <a:pPr marL="0" marR="0" lvl="0" indent="0" algn="ctr" defTabSz="914400" eaLnBrk="1" fontAlgn="auto" latinLnBrk="0" hangingPunct="1">
                <a:lnSpc>
                  <a:spcPct val="100000"/>
                </a:lnSpc>
                <a:spcBef>
                  <a:spcPct val="0"/>
                </a:spcBef>
                <a:spcAft>
                  <a:spcPts val="0"/>
                </a:spcAft>
                <a:buClrTx/>
                <a:buSzPct val="90000"/>
                <a:buFontTx/>
                <a:buNone/>
                <a:defRPr/>
              </a:pP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49" name="Ellipse 48">
              <a:extLst>
                <a:ext uri="{FF2B5EF4-FFF2-40B4-BE49-F238E27FC236}">
                  <a16:creationId xmlns:a16="http://schemas.microsoft.com/office/drawing/2014/main" id="{ABE6C73F-204E-380A-A864-1F0D7D864C2A}"/>
                </a:ext>
              </a:extLst>
            </p:cNvPr>
            <p:cNvSpPr/>
            <p:nvPr/>
          </p:nvSpPr>
          <p:spPr bwMode="gray">
            <a:xfrm>
              <a:off x="4747311" y="4514001"/>
              <a:ext cx="601028" cy="574176"/>
            </a:xfrm>
            <a:prstGeom prst="ellipse">
              <a:avLst/>
            </a:prstGeom>
            <a:noFill/>
            <a:ln w="28575" algn="ctr">
              <a:gradFill>
                <a:gsLst>
                  <a:gs pos="0">
                    <a:srgbClr val="E31937"/>
                  </a:gs>
                  <a:gs pos="60000">
                    <a:srgbClr val="A82465"/>
                  </a:gs>
                  <a:gs pos="100000">
                    <a:srgbClr val="5236AB"/>
                  </a:gs>
                </a:gsLst>
                <a:lin ang="0" scaled="0"/>
              </a:gradFill>
              <a:miter lim="800000"/>
            </a:ln>
            <a:effectLst/>
          </p:spPr>
          <p:txBody>
            <a:bodyPr wrap="none" lIns="0" tIns="0" rIns="0" bIns="36000" rtlCol="0" anchor="ctr"/>
            <a:lstStyle/>
            <a:p>
              <a:pPr marL="0" marR="0" lvl="0" indent="0" algn="ctr" defTabSz="914400" eaLnBrk="1" fontAlgn="auto" latinLnBrk="0" hangingPunct="1">
                <a:lnSpc>
                  <a:spcPct val="100000"/>
                </a:lnSpc>
                <a:spcBef>
                  <a:spcPct val="0"/>
                </a:spcBef>
                <a:spcAft>
                  <a:spcPts val="0"/>
                </a:spcAft>
                <a:buClrTx/>
                <a:buSzPct val="90000"/>
                <a:buFontTx/>
                <a:buNone/>
                <a:defRPr/>
              </a:pP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50" name="Ellipse 49">
              <a:extLst>
                <a:ext uri="{FF2B5EF4-FFF2-40B4-BE49-F238E27FC236}">
                  <a16:creationId xmlns:a16="http://schemas.microsoft.com/office/drawing/2014/main" id="{5F63F5BE-9A80-9045-C3DB-8CE9CD904C41}"/>
                </a:ext>
              </a:extLst>
            </p:cNvPr>
            <p:cNvSpPr/>
            <p:nvPr/>
          </p:nvSpPr>
          <p:spPr bwMode="gray">
            <a:xfrm>
              <a:off x="5412792" y="4520157"/>
              <a:ext cx="601028" cy="574176"/>
            </a:xfrm>
            <a:prstGeom prst="ellipse">
              <a:avLst/>
            </a:prstGeom>
            <a:noFill/>
            <a:ln w="28575" algn="ctr">
              <a:gradFill>
                <a:gsLst>
                  <a:gs pos="0">
                    <a:srgbClr val="E31937"/>
                  </a:gs>
                  <a:gs pos="60000">
                    <a:srgbClr val="A82465"/>
                  </a:gs>
                  <a:gs pos="100000">
                    <a:srgbClr val="5236AB"/>
                  </a:gs>
                </a:gsLst>
                <a:lin ang="0" scaled="0"/>
              </a:gradFill>
              <a:miter lim="800000"/>
            </a:ln>
            <a:effectLst/>
          </p:spPr>
          <p:txBody>
            <a:bodyPr wrap="none" lIns="0" tIns="0" rIns="0" bIns="36000" rtlCol="0" anchor="ctr"/>
            <a:lstStyle/>
            <a:p>
              <a:pPr marL="0" marR="0" lvl="0" indent="0" algn="ctr" defTabSz="914400" eaLnBrk="1" fontAlgn="auto" latinLnBrk="0" hangingPunct="1">
                <a:lnSpc>
                  <a:spcPct val="100000"/>
                </a:lnSpc>
                <a:spcBef>
                  <a:spcPct val="0"/>
                </a:spcBef>
                <a:spcAft>
                  <a:spcPts val="0"/>
                </a:spcAft>
                <a:buClrTx/>
                <a:buSzPct val="90000"/>
                <a:buFontTx/>
                <a:buNone/>
                <a:defRPr/>
              </a:pP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51" name="Ellipse 50">
              <a:extLst>
                <a:ext uri="{FF2B5EF4-FFF2-40B4-BE49-F238E27FC236}">
                  <a16:creationId xmlns:a16="http://schemas.microsoft.com/office/drawing/2014/main" id="{B1366BBC-75F1-2ACF-BE52-D54D90EA9274}"/>
                </a:ext>
              </a:extLst>
            </p:cNvPr>
            <p:cNvSpPr/>
            <p:nvPr/>
          </p:nvSpPr>
          <p:spPr bwMode="gray">
            <a:xfrm>
              <a:off x="6085349" y="4528203"/>
              <a:ext cx="601028" cy="574176"/>
            </a:xfrm>
            <a:prstGeom prst="ellipse">
              <a:avLst/>
            </a:prstGeom>
            <a:noFill/>
            <a:ln w="28575" algn="ctr">
              <a:gradFill>
                <a:gsLst>
                  <a:gs pos="0">
                    <a:srgbClr val="E31937"/>
                  </a:gs>
                  <a:gs pos="60000">
                    <a:srgbClr val="A82465"/>
                  </a:gs>
                  <a:gs pos="100000">
                    <a:srgbClr val="5236AB"/>
                  </a:gs>
                </a:gsLst>
                <a:lin ang="0" scaled="0"/>
              </a:gradFill>
              <a:miter lim="800000"/>
            </a:ln>
            <a:effectLst/>
          </p:spPr>
          <p:txBody>
            <a:bodyPr wrap="none" lIns="0" tIns="0" rIns="0" bIns="36000" rtlCol="0" anchor="ctr"/>
            <a:lstStyle/>
            <a:p>
              <a:pPr marL="0" marR="0" lvl="0" indent="0" algn="ctr" defTabSz="914400" eaLnBrk="1" fontAlgn="auto" latinLnBrk="0" hangingPunct="1">
                <a:lnSpc>
                  <a:spcPct val="100000"/>
                </a:lnSpc>
                <a:spcBef>
                  <a:spcPct val="0"/>
                </a:spcBef>
                <a:spcAft>
                  <a:spcPts val="0"/>
                </a:spcAft>
                <a:buClrTx/>
                <a:buSzPct val="90000"/>
                <a:buFontTx/>
                <a:buNone/>
                <a:defRPr/>
              </a:pP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52" name="Ellipse 51">
              <a:extLst>
                <a:ext uri="{FF2B5EF4-FFF2-40B4-BE49-F238E27FC236}">
                  <a16:creationId xmlns:a16="http://schemas.microsoft.com/office/drawing/2014/main" id="{29C135C3-01A2-BF69-535F-A4871815128E}"/>
                </a:ext>
              </a:extLst>
            </p:cNvPr>
            <p:cNvSpPr/>
            <p:nvPr/>
          </p:nvSpPr>
          <p:spPr bwMode="gray">
            <a:xfrm>
              <a:off x="6751334" y="4521480"/>
              <a:ext cx="601028" cy="574176"/>
            </a:xfrm>
            <a:prstGeom prst="ellipse">
              <a:avLst/>
            </a:prstGeom>
            <a:noFill/>
            <a:ln w="28575" algn="ctr">
              <a:gradFill>
                <a:gsLst>
                  <a:gs pos="0">
                    <a:srgbClr val="E31937"/>
                  </a:gs>
                  <a:gs pos="60000">
                    <a:srgbClr val="A82465"/>
                  </a:gs>
                  <a:gs pos="100000">
                    <a:srgbClr val="5236AB"/>
                  </a:gs>
                </a:gsLst>
                <a:lin ang="0" scaled="0"/>
              </a:gradFill>
              <a:miter lim="800000"/>
            </a:ln>
            <a:effectLst/>
          </p:spPr>
          <p:txBody>
            <a:bodyPr wrap="none" lIns="0" tIns="0" rIns="0" bIns="36000" rtlCol="0" anchor="ctr"/>
            <a:lstStyle/>
            <a:p>
              <a:pPr marL="0" marR="0" lvl="0" indent="0" algn="ctr" defTabSz="914400" eaLnBrk="1" fontAlgn="auto" latinLnBrk="0" hangingPunct="1">
                <a:lnSpc>
                  <a:spcPct val="100000"/>
                </a:lnSpc>
                <a:spcBef>
                  <a:spcPct val="0"/>
                </a:spcBef>
                <a:spcAft>
                  <a:spcPts val="0"/>
                </a:spcAft>
                <a:buClrTx/>
                <a:buSzPct val="90000"/>
                <a:buFontTx/>
                <a:buNone/>
                <a:defRPr/>
              </a:pP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53" name="Ellipse 52">
              <a:extLst>
                <a:ext uri="{FF2B5EF4-FFF2-40B4-BE49-F238E27FC236}">
                  <a16:creationId xmlns:a16="http://schemas.microsoft.com/office/drawing/2014/main" id="{F712226F-B95B-8A1D-6643-F68676F72AF7}"/>
                </a:ext>
              </a:extLst>
            </p:cNvPr>
            <p:cNvSpPr/>
            <p:nvPr/>
          </p:nvSpPr>
          <p:spPr bwMode="gray">
            <a:xfrm>
              <a:off x="3384494" y="4515297"/>
              <a:ext cx="601028" cy="574176"/>
            </a:xfrm>
            <a:prstGeom prst="ellipse">
              <a:avLst/>
            </a:prstGeom>
            <a:noFill/>
            <a:ln w="28575" algn="ctr">
              <a:gradFill>
                <a:gsLst>
                  <a:gs pos="0">
                    <a:srgbClr val="E31937"/>
                  </a:gs>
                  <a:gs pos="60000">
                    <a:srgbClr val="A82465"/>
                  </a:gs>
                  <a:gs pos="100000">
                    <a:srgbClr val="5236AB"/>
                  </a:gs>
                </a:gsLst>
                <a:lin ang="0" scaled="0"/>
              </a:gradFill>
              <a:miter lim="800000"/>
            </a:ln>
            <a:effectLst/>
          </p:spPr>
          <p:txBody>
            <a:bodyPr wrap="none" lIns="0" tIns="0" rIns="0" bIns="36000" rtlCol="0" anchor="ctr"/>
            <a:lstStyle/>
            <a:p>
              <a:pPr marL="0" marR="0" lvl="0" indent="0" algn="ctr" defTabSz="914400" eaLnBrk="1" fontAlgn="auto" latinLnBrk="0" hangingPunct="1">
                <a:lnSpc>
                  <a:spcPct val="100000"/>
                </a:lnSpc>
                <a:spcBef>
                  <a:spcPct val="0"/>
                </a:spcBef>
                <a:spcAft>
                  <a:spcPts val="0"/>
                </a:spcAft>
                <a:buClrTx/>
                <a:buSzPct val="90000"/>
                <a:buFontTx/>
                <a:buNone/>
                <a:defRPr/>
              </a:pP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grpSp>
      <mc:AlternateContent xmlns:mc="http://schemas.openxmlformats.org/markup-compatibility/2006" xmlns:p14="http://schemas.microsoft.com/office/powerpoint/2010/main">
        <mc:Choice Requires="p14">
          <p:contentPart p14:bwMode="auto" r:id="rId12">
            <p14:nvContentPartPr>
              <p14:cNvPr id="98" name="Encre 97">
                <a:extLst>
                  <a:ext uri="{FF2B5EF4-FFF2-40B4-BE49-F238E27FC236}">
                    <a16:creationId xmlns:a16="http://schemas.microsoft.com/office/drawing/2014/main" id="{25575343-43CC-79A5-72A8-D94C452C222E}"/>
                  </a:ext>
                </a:extLst>
              </p14:cNvPr>
              <p14:cNvContentPartPr/>
              <p14:nvPr/>
            </p14:nvContentPartPr>
            <p14:xfrm>
              <a:off x="10994331" y="4321406"/>
              <a:ext cx="360" cy="360"/>
            </p14:xfrm>
          </p:contentPart>
        </mc:Choice>
        <mc:Fallback xmlns="">
          <p:pic>
            <p:nvPicPr>
              <p:cNvPr id="98" name="Encre 97">
                <a:extLst>
                  <a:ext uri="{FF2B5EF4-FFF2-40B4-BE49-F238E27FC236}">
                    <a16:creationId xmlns:a16="http://schemas.microsoft.com/office/drawing/2014/main" id="{25575343-43CC-79A5-72A8-D94C452C222E}"/>
                  </a:ext>
                </a:extLst>
              </p:cNvPr>
              <p:cNvPicPr/>
              <p:nvPr/>
            </p:nvPicPr>
            <p:blipFill>
              <a:blip r:embed="rId13"/>
              <a:stretch>
                <a:fillRect/>
              </a:stretch>
            </p:blipFill>
            <p:spPr>
              <a:xfrm>
                <a:off x="10988211" y="4315286"/>
                <a:ext cx="12600" cy="12600"/>
              </a:xfrm>
              <a:prstGeom prst="rect">
                <a:avLst/>
              </a:prstGeom>
            </p:spPr>
          </p:pic>
        </mc:Fallback>
      </mc:AlternateContent>
      <p:graphicFrame>
        <p:nvGraphicFramePr>
          <p:cNvPr id="99" name="Graphique 98">
            <a:extLst>
              <a:ext uri="{FF2B5EF4-FFF2-40B4-BE49-F238E27FC236}">
                <a16:creationId xmlns:a16="http://schemas.microsoft.com/office/drawing/2014/main" id="{92DAD928-20DD-3CE7-B696-D4110A4E1828}"/>
              </a:ext>
            </a:extLst>
          </p:cNvPr>
          <p:cNvGraphicFramePr/>
          <p:nvPr>
            <p:extLst>
              <p:ext uri="{D42A27DB-BD31-4B8C-83A1-F6EECF244321}">
                <p14:modId xmlns:p14="http://schemas.microsoft.com/office/powerpoint/2010/main" val="2515607171"/>
              </p:ext>
            </p:extLst>
          </p:nvPr>
        </p:nvGraphicFramePr>
        <p:xfrm>
          <a:off x="8809837" y="2744702"/>
          <a:ext cx="3196953" cy="2050528"/>
        </p:xfrm>
        <a:graphic>
          <a:graphicData uri="http://schemas.openxmlformats.org/drawingml/2006/chart">
            <c:chart xmlns:c="http://schemas.openxmlformats.org/drawingml/2006/chart" xmlns:r="http://schemas.openxmlformats.org/officeDocument/2006/relationships" r:id="rId14"/>
          </a:graphicData>
        </a:graphic>
      </p:graphicFrame>
    </p:spTree>
    <p:extLst>
      <p:ext uri="{BB962C8B-B14F-4D97-AF65-F5344CB8AC3E}">
        <p14:creationId xmlns:p14="http://schemas.microsoft.com/office/powerpoint/2010/main" val="1351797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ppt_x"/>
                                          </p:val>
                                        </p:tav>
                                        <p:tav tm="100000">
                                          <p:val>
                                            <p:strVal val="#ppt_x"/>
                                          </p:val>
                                        </p:tav>
                                      </p:tavLst>
                                    </p:anim>
                                    <p:anim calcmode="lin" valueType="num">
                                      <p:cBhvr additive="base">
                                        <p:cTn id="13" dur="500" fill="hold"/>
                                        <p:tgtEl>
                                          <p:spTgt spid="1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ppt_x"/>
                                          </p:val>
                                        </p:tav>
                                        <p:tav tm="100000">
                                          <p:val>
                                            <p:strVal val="#ppt_x"/>
                                          </p:val>
                                        </p:tav>
                                      </p:tavLst>
                                    </p:anim>
                                    <p:anim calcmode="lin" valueType="num">
                                      <p:cBhvr additive="base">
                                        <p:cTn id="23" dur="500" fill="hold"/>
                                        <p:tgtEl>
                                          <p:spTgt spid="3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additive="base">
                                        <p:cTn id="27" dur="500" fill="hold"/>
                                        <p:tgtEl>
                                          <p:spTgt spid="39"/>
                                        </p:tgtEl>
                                        <p:attrNameLst>
                                          <p:attrName>ppt_x</p:attrName>
                                        </p:attrNameLst>
                                      </p:cBhvr>
                                      <p:tavLst>
                                        <p:tav tm="0">
                                          <p:val>
                                            <p:strVal val="#ppt_x"/>
                                          </p:val>
                                        </p:tav>
                                        <p:tav tm="100000">
                                          <p:val>
                                            <p:strVal val="#ppt_x"/>
                                          </p:val>
                                        </p:tav>
                                      </p:tavLst>
                                    </p:anim>
                                    <p:anim calcmode="lin" valueType="num">
                                      <p:cBhvr additive="base">
                                        <p:cTn id="28" dur="500" fill="hold"/>
                                        <p:tgtEl>
                                          <p:spTgt spid="3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45"/>
                                        </p:tgtEl>
                                        <p:attrNameLst>
                                          <p:attrName>style.visibility</p:attrName>
                                        </p:attrNameLst>
                                      </p:cBhvr>
                                      <p:to>
                                        <p:strVal val="visible"/>
                                      </p:to>
                                    </p:set>
                                    <p:anim calcmode="lin" valueType="num">
                                      <p:cBhvr additive="base">
                                        <p:cTn id="32" dur="500" fill="hold"/>
                                        <p:tgtEl>
                                          <p:spTgt spid="45"/>
                                        </p:tgtEl>
                                        <p:attrNameLst>
                                          <p:attrName>ppt_x</p:attrName>
                                        </p:attrNameLst>
                                      </p:cBhvr>
                                      <p:tavLst>
                                        <p:tav tm="0">
                                          <p:val>
                                            <p:strVal val="#ppt_x"/>
                                          </p:val>
                                        </p:tav>
                                        <p:tav tm="100000">
                                          <p:val>
                                            <p:strVal val="#ppt_x"/>
                                          </p:val>
                                        </p:tav>
                                      </p:tavLst>
                                    </p:anim>
                                    <p:anim calcmode="lin" valueType="num">
                                      <p:cBhvr additive="base">
                                        <p:cTn id="33" dur="500" fill="hold"/>
                                        <p:tgtEl>
                                          <p:spTgt spid="45"/>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2" fill="hold" grpId="0" nodeType="afterEffect">
                                  <p:stCondLst>
                                    <p:cond delay="0"/>
                                  </p:stCondLst>
                                  <p:childTnLst>
                                    <p:set>
                                      <p:cBhvr>
                                        <p:cTn id="36" dur="1" fill="hold">
                                          <p:stCondLst>
                                            <p:cond delay="0"/>
                                          </p:stCondLst>
                                        </p:cTn>
                                        <p:tgtEl>
                                          <p:spTgt spid="99"/>
                                        </p:tgtEl>
                                        <p:attrNameLst>
                                          <p:attrName>style.visibility</p:attrName>
                                        </p:attrNameLst>
                                      </p:cBhvr>
                                      <p:to>
                                        <p:strVal val="visible"/>
                                      </p:to>
                                    </p:set>
                                    <p:anim calcmode="lin" valueType="num">
                                      <p:cBhvr additive="base">
                                        <p:cTn id="37" dur="500" fill="hold"/>
                                        <p:tgtEl>
                                          <p:spTgt spid="99"/>
                                        </p:tgtEl>
                                        <p:attrNameLst>
                                          <p:attrName>ppt_x</p:attrName>
                                        </p:attrNameLst>
                                      </p:cBhvr>
                                      <p:tavLst>
                                        <p:tav tm="0">
                                          <p:val>
                                            <p:strVal val="1+#ppt_w/2"/>
                                          </p:val>
                                        </p:tav>
                                        <p:tav tm="100000">
                                          <p:val>
                                            <p:strVal val="#ppt_x"/>
                                          </p:val>
                                        </p:tav>
                                      </p:tavLst>
                                    </p:anim>
                                    <p:anim calcmode="lin" valueType="num">
                                      <p:cBhvr additive="base">
                                        <p:cTn id="38"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9"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necteur droit 6"/>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Ellipse 7"/>
          <p:cNvSpPr/>
          <p:nvPr/>
        </p:nvSpPr>
        <p:spPr>
          <a:xfrm flipH="1">
            <a:off x="316988"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4" name="Ellipse 13"/>
          <p:cNvSpPr/>
          <p:nvPr/>
        </p:nvSpPr>
        <p:spPr>
          <a:xfrm flipH="1">
            <a:off x="5453164" y="1103449"/>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Ellipse 13">
            <a:extLst>
              <a:ext uri="{FF2B5EF4-FFF2-40B4-BE49-F238E27FC236}">
                <a16:creationId xmlns:a16="http://schemas.microsoft.com/office/drawing/2014/main" id="{D91A5573-447F-831A-35C9-078EC6C15800}"/>
              </a:ext>
            </a:extLst>
          </p:cNvPr>
          <p:cNvSpPr/>
          <p:nvPr/>
        </p:nvSpPr>
        <p:spPr>
          <a:xfrm flipH="1">
            <a:off x="7926459" y="10950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Ellipse 13">
            <a:extLst>
              <a:ext uri="{FF2B5EF4-FFF2-40B4-BE49-F238E27FC236}">
                <a16:creationId xmlns:a16="http://schemas.microsoft.com/office/drawing/2014/main" id="{863FBA09-104F-B7E3-5B30-649A1EFA317B}"/>
              </a:ext>
            </a:extLst>
          </p:cNvPr>
          <p:cNvSpPr/>
          <p:nvPr/>
        </p:nvSpPr>
        <p:spPr>
          <a:xfrm flipH="1">
            <a:off x="10451790" y="1088365"/>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TextBox 83">
            <a:extLst>
              <a:ext uri="{FF2B5EF4-FFF2-40B4-BE49-F238E27FC236}">
                <a16:creationId xmlns:a16="http://schemas.microsoft.com/office/drawing/2014/main" id="{5320DBED-C918-2142-ECE8-A15F655559AD}"/>
              </a:ext>
            </a:extLst>
          </p:cNvPr>
          <p:cNvSpPr txBox="1"/>
          <p:nvPr/>
        </p:nvSpPr>
        <p:spPr>
          <a:xfrm flipH="1">
            <a:off x="4412557" y="6357966"/>
            <a:ext cx="7551226" cy="400110"/>
          </a:xfrm>
          <a:prstGeom prst="rect">
            <a:avLst/>
          </a:prstGeom>
          <a:noFill/>
        </p:spPr>
        <p:txBody>
          <a:bodyPr wrap="square" rtlCol="0">
            <a:spAutoFit/>
          </a:bodyPr>
          <a:lstStyle>
            <a:defPPr>
              <a:defRPr lang="en-US"/>
            </a:defPPr>
            <a:lvl1pPr>
              <a:defRPr sz="2000" b="1">
                <a:solidFill>
                  <a:srgbClr val="4C7EB8"/>
                </a:solidFill>
                <a:latin typeface="Times New Roman" panose="02020603050405020304" pitchFamily="18" charset="0"/>
                <a:cs typeface="Times New Roman" panose="02020603050405020304" pitchFamily="18" charset="0"/>
              </a:defRPr>
            </a:lvl1pPr>
          </a:lstStyle>
          <a:p>
            <a:endParaRPr lang="en-US" dirty="0"/>
          </a:p>
        </p:txBody>
      </p:sp>
      <p:sp>
        <p:nvSpPr>
          <p:cNvPr id="29" name="Slide Number Placeholder 28">
            <a:extLst>
              <a:ext uri="{FF2B5EF4-FFF2-40B4-BE49-F238E27FC236}">
                <a16:creationId xmlns:a16="http://schemas.microsoft.com/office/drawing/2014/main" id="{B2E76EAD-58A3-19AA-D08C-8EE3710E7437}"/>
              </a:ext>
            </a:extLst>
          </p:cNvPr>
          <p:cNvSpPr>
            <a:spLocks noGrp="1"/>
          </p:cNvSpPr>
          <p:nvPr>
            <p:ph type="sldNum" sz="quarter" idx="12"/>
          </p:nvPr>
        </p:nvSpPr>
        <p:spPr/>
        <p:txBody>
          <a:bodyPr/>
          <a:lstStyle/>
          <a:p>
            <a:fld id="{6983841B-0DB4-4C99-B5E5-79625F01DBF7}" type="slidenum">
              <a:rPr lang="en-GB" smtClean="0"/>
              <a:t>5</a:t>
            </a:fld>
            <a:endParaRPr lang="en-GB" dirty="0"/>
          </a:p>
        </p:txBody>
      </p:sp>
      <p:sp>
        <p:nvSpPr>
          <p:cNvPr id="2" name="Ellipse 13">
            <a:extLst>
              <a:ext uri="{FF2B5EF4-FFF2-40B4-BE49-F238E27FC236}">
                <a16:creationId xmlns:a16="http://schemas.microsoft.com/office/drawing/2014/main" id="{D851BFC1-B377-A410-A5F3-1FEAC2F5EC17}"/>
              </a:ext>
            </a:extLst>
          </p:cNvPr>
          <p:cNvSpPr/>
          <p:nvPr/>
        </p:nvSpPr>
        <p:spPr>
          <a:xfrm flipH="1">
            <a:off x="3019554" y="10969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mc:AlternateContent xmlns:mc="http://schemas.openxmlformats.org/markup-compatibility/2006" xmlns:p14="http://schemas.microsoft.com/office/powerpoint/2010/main">
        <mc:Choice Requires="p14">
          <p:contentPart p14:bwMode="auto" r:id="rId3">
            <p14:nvContentPartPr>
              <p14:cNvPr id="98" name="Encre 97">
                <a:extLst>
                  <a:ext uri="{FF2B5EF4-FFF2-40B4-BE49-F238E27FC236}">
                    <a16:creationId xmlns:a16="http://schemas.microsoft.com/office/drawing/2014/main" id="{25575343-43CC-79A5-72A8-D94C452C222E}"/>
                  </a:ext>
                </a:extLst>
              </p14:cNvPr>
              <p14:cNvContentPartPr/>
              <p14:nvPr/>
            </p14:nvContentPartPr>
            <p14:xfrm>
              <a:off x="10994331" y="4321406"/>
              <a:ext cx="360" cy="360"/>
            </p14:xfrm>
          </p:contentPart>
        </mc:Choice>
        <mc:Fallback xmlns="">
          <p:pic>
            <p:nvPicPr>
              <p:cNvPr id="98" name="Encre 97">
                <a:extLst>
                  <a:ext uri="{FF2B5EF4-FFF2-40B4-BE49-F238E27FC236}">
                    <a16:creationId xmlns:a16="http://schemas.microsoft.com/office/drawing/2014/main" id="{25575343-43CC-79A5-72A8-D94C452C222E}"/>
                  </a:ext>
                </a:extLst>
              </p:cNvPr>
              <p:cNvPicPr/>
              <p:nvPr/>
            </p:nvPicPr>
            <p:blipFill>
              <a:blip r:embed="rId8"/>
              <a:stretch>
                <a:fillRect/>
              </a:stretch>
            </p:blipFill>
            <p:spPr>
              <a:xfrm>
                <a:off x="10988211" y="4315286"/>
                <a:ext cx="12600" cy="12600"/>
              </a:xfrm>
              <a:prstGeom prst="rect">
                <a:avLst/>
              </a:prstGeom>
            </p:spPr>
          </p:pic>
        </mc:Fallback>
      </mc:AlternateContent>
      <p:sp>
        <p:nvSpPr>
          <p:cNvPr id="10" name="ZoneTexte 9">
            <a:extLst>
              <a:ext uri="{FF2B5EF4-FFF2-40B4-BE49-F238E27FC236}">
                <a16:creationId xmlns:a16="http://schemas.microsoft.com/office/drawing/2014/main" id="{9B82BB14-C916-14FB-0EDB-4E93118A8124}"/>
              </a:ext>
            </a:extLst>
          </p:cNvPr>
          <p:cNvSpPr txBox="1"/>
          <p:nvPr/>
        </p:nvSpPr>
        <p:spPr>
          <a:xfrm>
            <a:off x="163643" y="1699420"/>
            <a:ext cx="6094070" cy="369332"/>
          </a:xfrm>
          <a:prstGeom prst="rect">
            <a:avLst/>
          </a:prstGeom>
          <a:noFill/>
        </p:spPr>
        <p:txBody>
          <a:bodyPr wrap="square">
            <a:spAutoFit/>
          </a:bodyPr>
          <a:lstStyle/>
          <a:p>
            <a:r>
              <a:rPr lang="en-US" dirty="0">
                <a:solidFill>
                  <a:schemeClr val="tx1">
                    <a:lumMod val="50000"/>
                    <a:lumOff val="50000"/>
                  </a:schemeClr>
                </a:solidFill>
                <a:latin typeface="Century Gothic" charset="0"/>
                <a:ea typeface="Century Gothic" charset="0"/>
                <a:cs typeface="Century Gothic" charset="0"/>
              </a:rPr>
              <a:t>Equipe MCM BI :</a:t>
            </a:r>
            <a:endParaRPr lang="en-US" sz="1800" dirty="0">
              <a:solidFill>
                <a:schemeClr val="tx1">
                  <a:lumMod val="50000"/>
                  <a:lumOff val="50000"/>
                </a:schemeClr>
              </a:solidFill>
              <a:latin typeface="Century Gothic" charset="0"/>
              <a:ea typeface="Century Gothic" charset="0"/>
              <a:cs typeface="Century Gothic" charset="0"/>
            </a:endParaRPr>
          </a:p>
        </p:txBody>
      </p:sp>
      <p:graphicFrame>
        <p:nvGraphicFramePr>
          <p:cNvPr id="6" name="Diagramme 5">
            <a:extLst>
              <a:ext uri="{FF2B5EF4-FFF2-40B4-BE49-F238E27FC236}">
                <a16:creationId xmlns:a16="http://schemas.microsoft.com/office/drawing/2014/main" id="{F59AF84B-F769-4040-8989-2067C52AE407}"/>
              </a:ext>
            </a:extLst>
          </p:cNvPr>
          <p:cNvGraphicFramePr/>
          <p:nvPr>
            <p:extLst>
              <p:ext uri="{D42A27DB-BD31-4B8C-83A1-F6EECF244321}">
                <p14:modId xmlns:p14="http://schemas.microsoft.com/office/powerpoint/2010/main" val="2265585095"/>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9" name="ZoneTexte 8">
            <a:extLst>
              <a:ext uri="{FF2B5EF4-FFF2-40B4-BE49-F238E27FC236}">
                <a16:creationId xmlns:a16="http://schemas.microsoft.com/office/drawing/2014/main" id="{B9C89D62-6348-905B-489C-FA42CB6AEEDE}"/>
              </a:ext>
            </a:extLst>
          </p:cNvPr>
          <p:cNvSpPr txBox="1"/>
          <p:nvPr/>
        </p:nvSpPr>
        <p:spPr>
          <a:xfrm>
            <a:off x="163643" y="1283526"/>
            <a:ext cx="1925136" cy="307777"/>
          </a:xfrm>
          <a:prstGeom prst="rect">
            <a:avLst/>
          </a:prstGeom>
          <a:noFill/>
        </p:spPr>
        <p:txBody>
          <a:bodyPr wrap="square" rtlCol="0">
            <a:spAutoFit/>
          </a:bodyPr>
          <a:lstStyle/>
          <a:p>
            <a:r>
              <a:rPr lang="fr-MA" sz="1400" dirty="0">
                <a:solidFill>
                  <a:schemeClr val="bg1">
                    <a:lumMod val="50000"/>
                  </a:schemeClr>
                </a:solidFill>
                <a:latin typeface="Century Schoolbook" charset="0"/>
                <a:ea typeface="Century Schoolbook" charset="0"/>
                <a:cs typeface="Century Schoolbook" charset="0"/>
              </a:rPr>
              <a:t>Organisme d’accueil</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1" name="ZoneTexte 10">
            <a:extLst>
              <a:ext uri="{FF2B5EF4-FFF2-40B4-BE49-F238E27FC236}">
                <a16:creationId xmlns:a16="http://schemas.microsoft.com/office/drawing/2014/main" id="{F4075767-063A-B6F5-EE6D-9BF53C8FB5C9}"/>
              </a:ext>
            </a:extLst>
          </p:cNvPr>
          <p:cNvSpPr txBox="1"/>
          <p:nvPr/>
        </p:nvSpPr>
        <p:spPr>
          <a:xfrm>
            <a:off x="9463138" y="1283632"/>
            <a:ext cx="2136649" cy="307777"/>
          </a:xfrm>
          <a:prstGeom prst="rect">
            <a:avLst/>
          </a:prstGeom>
          <a:noFill/>
        </p:spPr>
        <p:txBody>
          <a:bodyPr wrap="square" rtlCol="0">
            <a:spAutoFit/>
          </a:bodyPr>
          <a:lstStyle/>
          <a:p>
            <a:pPr algn="ctr"/>
            <a:r>
              <a:rPr lang="fr-FR" sz="1400" dirty="0">
                <a:solidFill>
                  <a:schemeClr val="bg1">
                    <a:lumMod val="50000"/>
                  </a:schemeClr>
                </a:solidFill>
                <a:latin typeface="Century Schoolbook" charset="0"/>
                <a:ea typeface="Century Schoolbook" charset="0"/>
                <a:cs typeface="Century Schoolbook" charset="0"/>
              </a:rPr>
              <a:t>Gestion de projet</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2" name="ZoneTexte 17">
            <a:extLst>
              <a:ext uri="{FF2B5EF4-FFF2-40B4-BE49-F238E27FC236}">
                <a16:creationId xmlns:a16="http://schemas.microsoft.com/office/drawing/2014/main" id="{AB452369-3F9D-6EAE-FCDC-F8CF1693B330}"/>
              </a:ext>
            </a:extLst>
          </p:cNvPr>
          <p:cNvSpPr txBox="1"/>
          <p:nvPr/>
        </p:nvSpPr>
        <p:spPr>
          <a:xfrm>
            <a:off x="4522389" y="128352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Problématique</a:t>
            </a:r>
          </a:p>
        </p:txBody>
      </p:sp>
      <p:sp>
        <p:nvSpPr>
          <p:cNvPr id="13" name="ZoneTexte 17">
            <a:extLst>
              <a:ext uri="{FF2B5EF4-FFF2-40B4-BE49-F238E27FC236}">
                <a16:creationId xmlns:a16="http://schemas.microsoft.com/office/drawing/2014/main" id="{B6B344F9-7E52-F482-798B-217430F32BC7}"/>
              </a:ext>
            </a:extLst>
          </p:cNvPr>
          <p:cNvSpPr txBox="1"/>
          <p:nvPr/>
        </p:nvSpPr>
        <p:spPr>
          <a:xfrm>
            <a:off x="7172639" y="1294405"/>
            <a:ext cx="179719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L’architecture cible</a:t>
            </a:r>
          </a:p>
        </p:txBody>
      </p:sp>
      <p:sp>
        <p:nvSpPr>
          <p:cNvPr id="15" name="ZoneTexte 17">
            <a:extLst>
              <a:ext uri="{FF2B5EF4-FFF2-40B4-BE49-F238E27FC236}">
                <a16:creationId xmlns:a16="http://schemas.microsoft.com/office/drawing/2014/main" id="{76A10E37-2FB5-4429-B066-2AF89F8D2CB2}"/>
              </a:ext>
            </a:extLst>
          </p:cNvPr>
          <p:cNvSpPr txBox="1"/>
          <p:nvPr/>
        </p:nvSpPr>
        <p:spPr>
          <a:xfrm>
            <a:off x="2088779" y="1276988"/>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Étude de l'état actuel</a:t>
            </a:r>
          </a:p>
        </p:txBody>
      </p:sp>
      <p:pic>
        <p:nvPicPr>
          <p:cNvPr id="4" name="Image 3">
            <a:extLst>
              <a:ext uri="{FF2B5EF4-FFF2-40B4-BE49-F238E27FC236}">
                <a16:creationId xmlns:a16="http://schemas.microsoft.com/office/drawing/2014/main" id="{4AFD204E-C54A-1FF2-0A38-7FECDA111A85}"/>
              </a:ext>
            </a:extLst>
          </p:cNvPr>
          <p:cNvPicPr>
            <a:picLocks noChangeAspect="1"/>
          </p:cNvPicPr>
          <p:nvPr/>
        </p:nvPicPr>
        <p:blipFill>
          <a:blip r:embed="rId14"/>
          <a:srcRect t="10041"/>
          <a:stretch>
            <a:fillRect/>
          </a:stretch>
        </p:blipFill>
        <p:spPr>
          <a:xfrm>
            <a:off x="1126211" y="2068752"/>
            <a:ext cx="9800357" cy="4751978"/>
          </a:xfrm>
          <a:prstGeom prst="rect">
            <a:avLst/>
          </a:prstGeom>
        </p:spPr>
      </p:pic>
    </p:spTree>
    <p:extLst>
      <p:ext uri="{BB962C8B-B14F-4D97-AF65-F5344CB8AC3E}">
        <p14:creationId xmlns:p14="http://schemas.microsoft.com/office/powerpoint/2010/main" val="3402618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83">
            <a:extLst>
              <a:ext uri="{FF2B5EF4-FFF2-40B4-BE49-F238E27FC236}">
                <a16:creationId xmlns:a16="http://schemas.microsoft.com/office/drawing/2014/main" id="{5320DBED-C918-2142-ECE8-A15F655559AD}"/>
              </a:ext>
            </a:extLst>
          </p:cNvPr>
          <p:cNvSpPr txBox="1"/>
          <p:nvPr/>
        </p:nvSpPr>
        <p:spPr>
          <a:xfrm flipH="1">
            <a:off x="4412557" y="6357966"/>
            <a:ext cx="7551226" cy="400110"/>
          </a:xfrm>
          <a:prstGeom prst="rect">
            <a:avLst/>
          </a:prstGeom>
          <a:noFill/>
        </p:spPr>
        <p:txBody>
          <a:bodyPr wrap="square" rtlCol="0">
            <a:spAutoFit/>
          </a:bodyPr>
          <a:lstStyle>
            <a:defPPr>
              <a:defRPr lang="en-US"/>
            </a:defPPr>
            <a:lvl1pPr>
              <a:defRPr sz="2000" b="1">
                <a:solidFill>
                  <a:srgbClr val="4C7EB8"/>
                </a:solidFill>
                <a:latin typeface="Times New Roman" panose="02020603050405020304" pitchFamily="18" charset="0"/>
                <a:cs typeface="Times New Roman" panose="02020603050405020304" pitchFamily="18" charset="0"/>
              </a:defRPr>
            </a:lvl1pPr>
          </a:lstStyle>
          <a:p>
            <a:endParaRPr lang="en-US" dirty="0"/>
          </a:p>
        </p:txBody>
      </p:sp>
      <p:sp>
        <p:nvSpPr>
          <p:cNvPr id="29" name="Slide Number Placeholder 28">
            <a:extLst>
              <a:ext uri="{FF2B5EF4-FFF2-40B4-BE49-F238E27FC236}">
                <a16:creationId xmlns:a16="http://schemas.microsoft.com/office/drawing/2014/main" id="{B2E76EAD-58A3-19AA-D08C-8EE3710E7437}"/>
              </a:ext>
            </a:extLst>
          </p:cNvPr>
          <p:cNvSpPr>
            <a:spLocks noGrp="1"/>
          </p:cNvSpPr>
          <p:nvPr>
            <p:ph type="sldNum" sz="quarter" idx="12"/>
          </p:nvPr>
        </p:nvSpPr>
        <p:spPr/>
        <p:txBody>
          <a:bodyPr/>
          <a:lstStyle/>
          <a:p>
            <a:fld id="{6983841B-0DB4-4C99-B5E5-79625F01DBF7}" type="slidenum">
              <a:rPr lang="en-GB" smtClean="0"/>
              <a:t>6</a:t>
            </a:fld>
            <a:endParaRPr lang="en-GB" dirty="0"/>
          </a:p>
        </p:txBody>
      </p:sp>
      <p:cxnSp>
        <p:nvCxnSpPr>
          <p:cNvPr id="2" name="Connecteur droit 6">
            <a:extLst>
              <a:ext uri="{FF2B5EF4-FFF2-40B4-BE49-F238E27FC236}">
                <a16:creationId xmlns:a16="http://schemas.microsoft.com/office/drawing/2014/main" id="{69F7EDC8-E3A8-7078-DAF2-FC77C8603121}"/>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4" name="Ellipse 7">
            <a:extLst>
              <a:ext uri="{FF2B5EF4-FFF2-40B4-BE49-F238E27FC236}">
                <a16:creationId xmlns:a16="http://schemas.microsoft.com/office/drawing/2014/main" id="{65189BAF-3345-65AA-FE79-9FAD71CCDC07}"/>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Ellipse 13">
            <a:extLst>
              <a:ext uri="{FF2B5EF4-FFF2-40B4-BE49-F238E27FC236}">
                <a16:creationId xmlns:a16="http://schemas.microsoft.com/office/drawing/2014/main" id="{8E0F5352-536A-39B1-1218-51277E746CFD}"/>
              </a:ext>
            </a:extLst>
          </p:cNvPr>
          <p:cNvSpPr/>
          <p:nvPr/>
        </p:nvSpPr>
        <p:spPr>
          <a:xfrm flipH="1">
            <a:off x="5453164" y="1103449"/>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Ellipse 13">
            <a:extLst>
              <a:ext uri="{FF2B5EF4-FFF2-40B4-BE49-F238E27FC236}">
                <a16:creationId xmlns:a16="http://schemas.microsoft.com/office/drawing/2014/main" id="{FB648BEE-2A5F-A9CF-34ED-B157A127EC0B}"/>
              </a:ext>
            </a:extLst>
          </p:cNvPr>
          <p:cNvSpPr/>
          <p:nvPr/>
        </p:nvSpPr>
        <p:spPr>
          <a:xfrm flipH="1">
            <a:off x="7926459" y="10950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Ellipse 13">
            <a:extLst>
              <a:ext uri="{FF2B5EF4-FFF2-40B4-BE49-F238E27FC236}">
                <a16:creationId xmlns:a16="http://schemas.microsoft.com/office/drawing/2014/main" id="{8283FE27-FFA8-6DFB-8E02-83170D2182A4}"/>
              </a:ext>
            </a:extLst>
          </p:cNvPr>
          <p:cNvSpPr/>
          <p:nvPr/>
        </p:nvSpPr>
        <p:spPr>
          <a:xfrm flipH="1">
            <a:off x="10451790" y="1088365"/>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Ellipse 13">
            <a:extLst>
              <a:ext uri="{FF2B5EF4-FFF2-40B4-BE49-F238E27FC236}">
                <a16:creationId xmlns:a16="http://schemas.microsoft.com/office/drawing/2014/main" id="{0B9D756B-4848-E3DC-E628-26DFAC87A764}"/>
              </a:ext>
            </a:extLst>
          </p:cNvPr>
          <p:cNvSpPr/>
          <p:nvPr/>
        </p:nvSpPr>
        <p:spPr>
          <a:xfrm flipH="1">
            <a:off x="3019554" y="1096911"/>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graphicFrame>
        <p:nvGraphicFramePr>
          <p:cNvPr id="7" name="Diagramme 6">
            <a:extLst>
              <a:ext uri="{FF2B5EF4-FFF2-40B4-BE49-F238E27FC236}">
                <a16:creationId xmlns:a16="http://schemas.microsoft.com/office/drawing/2014/main" id="{74341F83-6940-7553-89DB-EA1445D00FB5}"/>
              </a:ext>
            </a:extLst>
          </p:cNvPr>
          <p:cNvGraphicFramePr/>
          <p:nvPr>
            <p:extLst>
              <p:ext uri="{D42A27DB-BD31-4B8C-83A1-F6EECF244321}">
                <p14:modId xmlns:p14="http://schemas.microsoft.com/office/powerpoint/2010/main" val="152889067"/>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ZoneTexte 9">
            <a:extLst>
              <a:ext uri="{FF2B5EF4-FFF2-40B4-BE49-F238E27FC236}">
                <a16:creationId xmlns:a16="http://schemas.microsoft.com/office/drawing/2014/main" id="{F1E9F072-AF29-18B7-D7D5-2F6F6A0A38AF}"/>
              </a:ext>
            </a:extLst>
          </p:cNvPr>
          <p:cNvSpPr txBox="1"/>
          <p:nvPr/>
        </p:nvSpPr>
        <p:spPr>
          <a:xfrm>
            <a:off x="163643" y="1283526"/>
            <a:ext cx="1925136" cy="307777"/>
          </a:xfrm>
          <a:prstGeom prst="rect">
            <a:avLst/>
          </a:prstGeom>
          <a:noFill/>
        </p:spPr>
        <p:txBody>
          <a:bodyPr wrap="square" rtlCol="0">
            <a:spAutoFit/>
          </a:bodyPr>
          <a:lstStyle/>
          <a:p>
            <a:r>
              <a:rPr lang="fr-MA" sz="1400" dirty="0">
                <a:solidFill>
                  <a:schemeClr val="bg1">
                    <a:lumMod val="50000"/>
                  </a:schemeClr>
                </a:solidFill>
                <a:latin typeface="Century Schoolbook" charset="0"/>
                <a:ea typeface="Century Schoolbook" charset="0"/>
                <a:cs typeface="Century Schoolbook" charset="0"/>
              </a:rPr>
              <a:t>Organisme d’accueil</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2" name="ZoneTexte 11">
            <a:extLst>
              <a:ext uri="{FF2B5EF4-FFF2-40B4-BE49-F238E27FC236}">
                <a16:creationId xmlns:a16="http://schemas.microsoft.com/office/drawing/2014/main" id="{DBDFFD5B-5FDC-6ADC-1D21-B6FA8F3CE3F0}"/>
              </a:ext>
            </a:extLst>
          </p:cNvPr>
          <p:cNvSpPr txBox="1"/>
          <p:nvPr/>
        </p:nvSpPr>
        <p:spPr>
          <a:xfrm>
            <a:off x="9463138" y="1283632"/>
            <a:ext cx="2136649" cy="307777"/>
          </a:xfrm>
          <a:prstGeom prst="rect">
            <a:avLst/>
          </a:prstGeom>
          <a:noFill/>
        </p:spPr>
        <p:txBody>
          <a:bodyPr wrap="square" rtlCol="0">
            <a:spAutoFit/>
          </a:bodyPr>
          <a:lstStyle/>
          <a:p>
            <a:pPr algn="ctr"/>
            <a:r>
              <a:rPr lang="fr-FR" sz="1400" dirty="0">
                <a:solidFill>
                  <a:schemeClr val="bg1">
                    <a:lumMod val="50000"/>
                  </a:schemeClr>
                </a:solidFill>
                <a:latin typeface="Century Schoolbook" charset="0"/>
                <a:ea typeface="Century Schoolbook" charset="0"/>
                <a:cs typeface="Century Schoolbook" charset="0"/>
              </a:rPr>
              <a:t>Gestion de projet</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4" name="ZoneTexte 17">
            <a:extLst>
              <a:ext uri="{FF2B5EF4-FFF2-40B4-BE49-F238E27FC236}">
                <a16:creationId xmlns:a16="http://schemas.microsoft.com/office/drawing/2014/main" id="{F178FBC9-4A57-023D-3F95-A1ECE20438A8}"/>
              </a:ext>
            </a:extLst>
          </p:cNvPr>
          <p:cNvSpPr txBox="1"/>
          <p:nvPr/>
        </p:nvSpPr>
        <p:spPr>
          <a:xfrm>
            <a:off x="4522389" y="128352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Problématique</a:t>
            </a:r>
          </a:p>
        </p:txBody>
      </p:sp>
      <p:sp>
        <p:nvSpPr>
          <p:cNvPr id="17" name="ZoneTexte 17">
            <a:extLst>
              <a:ext uri="{FF2B5EF4-FFF2-40B4-BE49-F238E27FC236}">
                <a16:creationId xmlns:a16="http://schemas.microsoft.com/office/drawing/2014/main" id="{04686510-C811-13F4-E4C2-24EBC1C2B1B3}"/>
              </a:ext>
            </a:extLst>
          </p:cNvPr>
          <p:cNvSpPr txBox="1"/>
          <p:nvPr/>
        </p:nvSpPr>
        <p:spPr>
          <a:xfrm>
            <a:off x="7172639" y="1294405"/>
            <a:ext cx="179719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L’architecture cible</a:t>
            </a:r>
          </a:p>
        </p:txBody>
      </p:sp>
      <p:sp>
        <p:nvSpPr>
          <p:cNvPr id="18" name="ZoneTexte 17">
            <a:extLst>
              <a:ext uri="{FF2B5EF4-FFF2-40B4-BE49-F238E27FC236}">
                <a16:creationId xmlns:a16="http://schemas.microsoft.com/office/drawing/2014/main" id="{94A9A2E4-F57B-9704-07F9-3641441C614F}"/>
              </a:ext>
            </a:extLst>
          </p:cNvPr>
          <p:cNvSpPr txBox="1"/>
          <p:nvPr/>
        </p:nvSpPr>
        <p:spPr>
          <a:xfrm>
            <a:off x="2088779" y="1276988"/>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Étude de l'état actuel</a:t>
            </a:r>
          </a:p>
        </p:txBody>
      </p:sp>
      <p:pic>
        <p:nvPicPr>
          <p:cNvPr id="6" name="Image 5">
            <a:extLst>
              <a:ext uri="{FF2B5EF4-FFF2-40B4-BE49-F238E27FC236}">
                <a16:creationId xmlns:a16="http://schemas.microsoft.com/office/drawing/2014/main" id="{A64AEA7B-6D23-550D-916D-353B406E7FCB}"/>
              </a:ext>
            </a:extLst>
          </p:cNvPr>
          <p:cNvPicPr>
            <a:picLocks noChangeAspect="1"/>
          </p:cNvPicPr>
          <p:nvPr/>
        </p:nvPicPr>
        <p:blipFill>
          <a:blip r:embed="rId8"/>
          <a:stretch>
            <a:fillRect/>
          </a:stretch>
        </p:blipFill>
        <p:spPr>
          <a:xfrm>
            <a:off x="1394505" y="1858530"/>
            <a:ext cx="9402989" cy="4497714"/>
          </a:xfrm>
          <a:prstGeom prst="rect">
            <a:avLst/>
          </a:prstGeom>
        </p:spPr>
      </p:pic>
    </p:spTree>
    <p:extLst>
      <p:ext uri="{BB962C8B-B14F-4D97-AF65-F5344CB8AC3E}">
        <p14:creationId xmlns:p14="http://schemas.microsoft.com/office/powerpoint/2010/main" val="221029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necteur droit 6"/>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29" name="Slide Number Placeholder 28">
            <a:extLst>
              <a:ext uri="{FF2B5EF4-FFF2-40B4-BE49-F238E27FC236}">
                <a16:creationId xmlns:a16="http://schemas.microsoft.com/office/drawing/2014/main" id="{B2E76EAD-58A3-19AA-D08C-8EE3710E7437}"/>
              </a:ext>
            </a:extLst>
          </p:cNvPr>
          <p:cNvSpPr>
            <a:spLocks noGrp="1"/>
          </p:cNvSpPr>
          <p:nvPr>
            <p:ph type="sldNum" sz="quarter" idx="12"/>
          </p:nvPr>
        </p:nvSpPr>
        <p:spPr/>
        <p:txBody>
          <a:bodyPr/>
          <a:lstStyle/>
          <a:p>
            <a:fld id="{6983841B-0DB4-4C99-B5E5-79625F01DBF7}" type="slidenum">
              <a:rPr lang="en-GB" smtClean="0"/>
              <a:t>7</a:t>
            </a:fld>
            <a:endParaRPr lang="en-GB" dirty="0"/>
          </a:p>
        </p:txBody>
      </p:sp>
      <p:grpSp>
        <p:nvGrpSpPr>
          <p:cNvPr id="35" name="Group 34">
            <a:extLst>
              <a:ext uri="{FF2B5EF4-FFF2-40B4-BE49-F238E27FC236}">
                <a16:creationId xmlns:a16="http://schemas.microsoft.com/office/drawing/2014/main" id="{E08BF870-3331-79E4-7AB1-BB0AD05731EE}"/>
              </a:ext>
            </a:extLst>
          </p:cNvPr>
          <p:cNvGrpSpPr/>
          <p:nvPr/>
        </p:nvGrpSpPr>
        <p:grpSpPr>
          <a:xfrm>
            <a:off x="557463" y="2410514"/>
            <a:ext cx="2799821" cy="3145982"/>
            <a:chOff x="578465" y="1887297"/>
            <a:chExt cx="2799821" cy="3145982"/>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grpSpPr>
        <p:sp>
          <p:nvSpPr>
            <p:cNvPr id="2" name="Rectangle 1">
              <a:extLst>
                <a:ext uri="{FF2B5EF4-FFF2-40B4-BE49-F238E27FC236}">
                  <a16:creationId xmlns:a16="http://schemas.microsoft.com/office/drawing/2014/main" id="{951C7188-A0C6-4B0B-B999-8586F6FD4537}"/>
                </a:ext>
              </a:extLst>
            </p:cNvPr>
            <p:cNvSpPr/>
            <p:nvPr/>
          </p:nvSpPr>
          <p:spPr>
            <a:xfrm>
              <a:off x="578465" y="1887297"/>
              <a:ext cx="2799821" cy="3145982"/>
            </a:xfrm>
            <a:prstGeom prst="roundRect">
              <a:avLst/>
            </a:prstGeom>
            <a:grp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solidFill>
                  <a:schemeClr val="lt1"/>
                </a:solidFill>
              </a:endParaRPr>
            </a:p>
          </p:txBody>
        </p:sp>
        <p:sp>
          <p:nvSpPr>
            <p:cNvPr id="9" name="TextBox 8">
              <a:extLst>
                <a:ext uri="{FF2B5EF4-FFF2-40B4-BE49-F238E27FC236}">
                  <a16:creationId xmlns:a16="http://schemas.microsoft.com/office/drawing/2014/main" id="{83B84B0D-6BA3-C110-39CC-2DD58C472F6A}"/>
                </a:ext>
              </a:extLst>
            </p:cNvPr>
            <p:cNvSpPr txBox="1"/>
            <p:nvPr/>
          </p:nvSpPr>
          <p:spPr>
            <a:xfrm>
              <a:off x="578465" y="3781233"/>
              <a:ext cx="2781608" cy="797160"/>
            </a:xfrm>
            <a:prstGeom prst="roundRect">
              <a:avLst/>
            </a:prstGeom>
            <a:grpFill/>
          </p:spPr>
          <p:txBody>
            <a:bodyPr wrap="square" rtlCol="0">
              <a:spAutoFit/>
            </a:bodyPr>
            <a:lstStyle/>
            <a:p>
              <a:pPr lvl="0" eaLnBrk="0" fontAlgn="base" hangingPunct="0">
                <a:spcBef>
                  <a:spcPct val="0"/>
                </a:spcBef>
                <a:spcAft>
                  <a:spcPct val="0"/>
                </a:spcAft>
              </a:pPr>
              <a:r>
                <a:rPr lang="fr-FR" altLang="fr-FR" sz="2000" dirty="0">
                  <a:latin typeface="Century Gothic" panose="020B0502020202020204" pitchFamily="34" charset="0"/>
                </a:rPr>
                <a:t>Multiplicité des flux (formats, sources)</a:t>
              </a:r>
            </a:p>
          </p:txBody>
        </p:sp>
      </p:grpSp>
      <p:sp>
        <p:nvSpPr>
          <p:cNvPr id="15" name="Rectangle: Rounded Corners 14">
            <a:extLst>
              <a:ext uri="{FF2B5EF4-FFF2-40B4-BE49-F238E27FC236}">
                <a16:creationId xmlns:a16="http://schemas.microsoft.com/office/drawing/2014/main" id="{1616C306-DB85-4C70-F76E-56D99BA2D5DF}"/>
              </a:ext>
            </a:extLst>
          </p:cNvPr>
          <p:cNvSpPr/>
          <p:nvPr/>
        </p:nvSpPr>
        <p:spPr>
          <a:xfrm>
            <a:off x="4824830" y="2410514"/>
            <a:ext cx="2799821" cy="3145982"/>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solidFill>
                <a:schemeClr val="lt1"/>
              </a:solidFill>
            </a:endParaRPr>
          </a:p>
        </p:txBody>
      </p:sp>
      <p:sp>
        <p:nvSpPr>
          <p:cNvPr id="21" name="TextBox 20">
            <a:extLst>
              <a:ext uri="{FF2B5EF4-FFF2-40B4-BE49-F238E27FC236}">
                <a16:creationId xmlns:a16="http://schemas.microsoft.com/office/drawing/2014/main" id="{F180CDB9-A25E-2B54-D9E6-7D159247E256}"/>
              </a:ext>
            </a:extLst>
          </p:cNvPr>
          <p:cNvSpPr txBox="1"/>
          <p:nvPr/>
        </p:nvSpPr>
        <p:spPr>
          <a:xfrm>
            <a:off x="4750890" y="4354959"/>
            <a:ext cx="2966358" cy="1015663"/>
          </a:xfrm>
          <a:prstGeom prst="rect">
            <a:avLst/>
          </a:prstGeom>
          <a:noFill/>
        </p:spPr>
        <p:txBody>
          <a:bodyPr wrap="square" rtlCol="0">
            <a:spAutoFit/>
          </a:bodyPr>
          <a:lstStyle/>
          <a:p>
            <a:pPr algn="ctr"/>
            <a:r>
              <a:rPr lang="fr-FR" altLang="fr-FR" sz="2000" dirty="0">
                <a:latin typeface="Century Gothic" panose="020B0502020202020204" pitchFamily="34" charset="0"/>
              </a:rPr>
              <a:t>Absence de visibilité sur les erreurs</a:t>
            </a:r>
          </a:p>
          <a:p>
            <a:pPr algn="ctr"/>
            <a:endParaRPr lang="en-US" sz="2000" dirty="0">
              <a:latin typeface="Century Gothic" panose="020B0502020202020204" pitchFamily="34" charset="0"/>
            </a:endParaRPr>
          </a:p>
        </p:txBody>
      </p:sp>
      <p:sp>
        <p:nvSpPr>
          <p:cNvPr id="32" name="Rectangle: Rounded Corners 31">
            <a:extLst>
              <a:ext uri="{FF2B5EF4-FFF2-40B4-BE49-F238E27FC236}">
                <a16:creationId xmlns:a16="http://schemas.microsoft.com/office/drawing/2014/main" id="{A2DC455C-0DCC-3A6F-CE34-BCA0FC46877D}"/>
              </a:ext>
            </a:extLst>
          </p:cNvPr>
          <p:cNvSpPr/>
          <p:nvPr/>
        </p:nvSpPr>
        <p:spPr>
          <a:xfrm>
            <a:off x="8953416" y="2410514"/>
            <a:ext cx="2799821" cy="3145979"/>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81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solidFill>
                <a:schemeClr val="lt1"/>
              </a:solidFill>
            </a:endParaRPr>
          </a:p>
        </p:txBody>
      </p:sp>
      <p:sp>
        <p:nvSpPr>
          <p:cNvPr id="33" name="TextBox 32">
            <a:extLst>
              <a:ext uri="{FF2B5EF4-FFF2-40B4-BE49-F238E27FC236}">
                <a16:creationId xmlns:a16="http://schemas.microsoft.com/office/drawing/2014/main" id="{ABF2AD3A-1F45-BC97-36EE-9B17C7AB241A}"/>
              </a:ext>
            </a:extLst>
          </p:cNvPr>
          <p:cNvSpPr txBox="1"/>
          <p:nvPr/>
        </p:nvSpPr>
        <p:spPr>
          <a:xfrm>
            <a:off x="8888368" y="4315418"/>
            <a:ext cx="2929916" cy="1015663"/>
          </a:xfrm>
          <a:prstGeom prst="rect">
            <a:avLst/>
          </a:prstGeom>
          <a:noFill/>
        </p:spPr>
        <p:txBody>
          <a:bodyPr wrap="square" rtlCol="0">
            <a:spAutoFit/>
          </a:bodyPr>
          <a:lstStyle/>
          <a:p>
            <a:pPr algn="ctr"/>
            <a:r>
              <a:rPr lang="fr-FR" altLang="fr-FR" sz="2000" dirty="0">
                <a:latin typeface="Century Gothic" panose="020B0502020202020204" pitchFamily="34" charset="0"/>
              </a:rPr>
              <a:t>Manque d’autonomie des utilisateurs métiers</a:t>
            </a:r>
          </a:p>
          <a:p>
            <a:pPr algn="ctr"/>
            <a:endParaRPr lang="en-US" sz="2000" dirty="0">
              <a:latin typeface="Century Gothic" panose="020B0502020202020204" pitchFamily="34" charset="0"/>
            </a:endParaRPr>
          </a:p>
        </p:txBody>
      </p:sp>
      <p:cxnSp>
        <p:nvCxnSpPr>
          <p:cNvPr id="4" name="Connecteur droit 6">
            <a:extLst>
              <a:ext uri="{FF2B5EF4-FFF2-40B4-BE49-F238E27FC236}">
                <a16:creationId xmlns:a16="http://schemas.microsoft.com/office/drawing/2014/main" id="{0C2FFD84-EBD8-C5AC-13A9-42144AE20B28}"/>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7">
            <a:extLst>
              <a:ext uri="{FF2B5EF4-FFF2-40B4-BE49-F238E27FC236}">
                <a16:creationId xmlns:a16="http://schemas.microsoft.com/office/drawing/2014/main" id="{FF81631D-BA4D-662C-2BAC-1075C7FB8506}"/>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Ellipse 13">
            <a:extLst>
              <a:ext uri="{FF2B5EF4-FFF2-40B4-BE49-F238E27FC236}">
                <a16:creationId xmlns:a16="http://schemas.microsoft.com/office/drawing/2014/main" id="{2B1563BE-951B-3D33-6499-2ECAA27DBF4F}"/>
              </a:ext>
            </a:extLst>
          </p:cNvPr>
          <p:cNvSpPr/>
          <p:nvPr/>
        </p:nvSpPr>
        <p:spPr>
          <a:xfrm flipH="1">
            <a:off x="5453164" y="1103449"/>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25" name="Ellipse 13">
            <a:extLst>
              <a:ext uri="{FF2B5EF4-FFF2-40B4-BE49-F238E27FC236}">
                <a16:creationId xmlns:a16="http://schemas.microsoft.com/office/drawing/2014/main" id="{4AFB5EE2-FEF8-BD06-93C8-F4172E029046}"/>
              </a:ext>
            </a:extLst>
          </p:cNvPr>
          <p:cNvSpPr/>
          <p:nvPr/>
        </p:nvSpPr>
        <p:spPr>
          <a:xfrm flipH="1">
            <a:off x="7926459" y="10950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Ellipse 13">
            <a:extLst>
              <a:ext uri="{FF2B5EF4-FFF2-40B4-BE49-F238E27FC236}">
                <a16:creationId xmlns:a16="http://schemas.microsoft.com/office/drawing/2014/main" id="{C62A70CC-F511-04B6-A927-94F329581945}"/>
              </a:ext>
            </a:extLst>
          </p:cNvPr>
          <p:cNvSpPr/>
          <p:nvPr/>
        </p:nvSpPr>
        <p:spPr>
          <a:xfrm flipH="1">
            <a:off x="10451790" y="1088365"/>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7" name="Ellipse 13">
            <a:extLst>
              <a:ext uri="{FF2B5EF4-FFF2-40B4-BE49-F238E27FC236}">
                <a16:creationId xmlns:a16="http://schemas.microsoft.com/office/drawing/2014/main" id="{94459D86-27A4-3843-BB5F-5A9840A63959}"/>
              </a:ext>
            </a:extLst>
          </p:cNvPr>
          <p:cNvSpPr/>
          <p:nvPr/>
        </p:nvSpPr>
        <p:spPr>
          <a:xfrm flipH="1">
            <a:off x="3019554" y="10969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aphicFrame>
        <p:nvGraphicFramePr>
          <p:cNvPr id="8" name="Diagramme 7">
            <a:extLst>
              <a:ext uri="{FF2B5EF4-FFF2-40B4-BE49-F238E27FC236}">
                <a16:creationId xmlns:a16="http://schemas.microsoft.com/office/drawing/2014/main" id="{4367D803-D3A5-5C39-69FF-057A933CF10D}"/>
              </a:ext>
            </a:extLst>
          </p:cNvPr>
          <p:cNvGraphicFramePr/>
          <p:nvPr>
            <p:extLst>
              <p:ext uri="{D42A27DB-BD31-4B8C-83A1-F6EECF244321}">
                <p14:modId xmlns:p14="http://schemas.microsoft.com/office/powerpoint/2010/main" val="1632109323"/>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 name="ZoneTexte 23">
            <a:extLst>
              <a:ext uri="{FF2B5EF4-FFF2-40B4-BE49-F238E27FC236}">
                <a16:creationId xmlns:a16="http://schemas.microsoft.com/office/drawing/2014/main" id="{5BEC4773-5851-CB28-34A3-87534240FB54}"/>
              </a:ext>
            </a:extLst>
          </p:cNvPr>
          <p:cNvSpPr txBox="1"/>
          <p:nvPr/>
        </p:nvSpPr>
        <p:spPr>
          <a:xfrm>
            <a:off x="163643" y="1283526"/>
            <a:ext cx="1925136" cy="307777"/>
          </a:xfrm>
          <a:prstGeom prst="rect">
            <a:avLst/>
          </a:prstGeom>
          <a:noFill/>
        </p:spPr>
        <p:txBody>
          <a:bodyPr wrap="square" rtlCol="0">
            <a:spAutoFit/>
          </a:bodyPr>
          <a:lstStyle/>
          <a:p>
            <a:r>
              <a:rPr lang="fr-MA" sz="1400" dirty="0">
                <a:solidFill>
                  <a:schemeClr val="bg1">
                    <a:lumMod val="50000"/>
                  </a:schemeClr>
                </a:solidFill>
                <a:latin typeface="Century Schoolbook" charset="0"/>
                <a:ea typeface="Century Schoolbook" charset="0"/>
                <a:cs typeface="Century Schoolbook" charset="0"/>
              </a:rPr>
              <a:t>Organisme d’accueil</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30" name="ZoneTexte 29">
            <a:extLst>
              <a:ext uri="{FF2B5EF4-FFF2-40B4-BE49-F238E27FC236}">
                <a16:creationId xmlns:a16="http://schemas.microsoft.com/office/drawing/2014/main" id="{5D5291E4-38AA-6700-0980-3743AE66D711}"/>
              </a:ext>
            </a:extLst>
          </p:cNvPr>
          <p:cNvSpPr txBox="1"/>
          <p:nvPr/>
        </p:nvSpPr>
        <p:spPr>
          <a:xfrm>
            <a:off x="9463138" y="1283632"/>
            <a:ext cx="2136649" cy="307777"/>
          </a:xfrm>
          <a:prstGeom prst="rect">
            <a:avLst/>
          </a:prstGeom>
          <a:noFill/>
        </p:spPr>
        <p:txBody>
          <a:bodyPr wrap="square" rtlCol="0">
            <a:spAutoFit/>
          </a:bodyPr>
          <a:lstStyle/>
          <a:p>
            <a:pPr algn="ctr"/>
            <a:r>
              <a:rPr lang="fr-FR" sz="1400" dirty="0">
                <a:solidFill>
                  <a:schemeClr val="bg1">
                    <a:lumMod val="50000"/>
                  </a:schemeClr>
                </a:solidFill>
                <a:latin typeface="Century Schoolbook" charset="0"/>
                <a:ea typeface="Century Schoolbook" charset="0"/>
                <a:cs typeface="Century Schoolbook" charset="0"/>
              </a:rPr>
              <a:t>Gestion de projet</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31" name="ZoneTexte 17">
            <a:extLst>
              <a:ext uri="{FF2B5EF4-FFF2-40B4-BE49-F238E27FC236}">
                <a16:creationId xmlns:a16="http://schemas.microsoft.com/office/drawing/2014/main" id="{9F8DC9FE-937C-9C19-09D7-DC45F2877925}"/>
              </a:ext>
            </a:extLst>
          </p:cNvPr>
          <p:cNvSpPr txBox="1"/>
          <p:nvPr/>
        </p:nvSpPr>
        <p:spPr>
          <a:xfrm>
            <a:off x="4522389" y="128352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Problématique</a:t>
            </a:r>
          </a:p>
        </p:txBody>
      </p:sp>
      <p:sp>
        <p:nvSpPr>
          <p:cNvPr id="34" name="ZoneTexte 17">
            <a:extLst>
              <a:ext uri="{FF2B5EF4-FFF2-40B4-BE49-F238E27FC236}">
                <a16:creationId xmlns:a16="http://schemas.microsoft.com/office/drawing/2014/main" id="{2CEDCAE1-30D6-2184-FE93-BC388530D439}"/>
              </a:ext>
            </a:extLst>
          </p:cNvPr>
          <p:cNvSpPr txBox="1"/>
          <p:nvPr/>
        </p:nvSpPr>
        <p:spPr>
          <a:xfrm>
            <a:off x="7172639" y="1294405"/>
            <a:ext cx="179719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L’architecture cible</a:t>
            </a:r>
          </a:p>
        </p:txBody>
      </p:sp>
      <p:sp>
        <p:nvSpPr>
          <p:cNvPr id="36" name="ZoneTexte 17">
            <a:extLst>
              <a:ext uri="{FF2B5EF4-FFF2-40B4-BE49-F238E27FC236}">
                <a16:creationId xmlns:a16="http://schemas.microsoft.com/office/drawing/2014/main" id="{65705F04-BDE4-9467-455F-4E8E594AA265}"/>
              </a:ext>
            </a:extLst>
          </p:cNvPr>
          <p:cNvSpPr txBox="1"/>
          <p:nvPr/>
        </p:nvSpPr>
        <p:spPr>
          <a:xfrm>
            <a:off x="2088779" y="1276988"/>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Étude de l'état actuel</a:t>
            </a:r>
          </a:p>
        </p:txBody>
      </p:sp>
      <p:pic>
        <p:nvPicPr>
          <p:cNvPr id="11" name="Image 10" descr="Une image contenant Graphique, logo, symbole, Police&#10;&#10;Le contenu généré par l’IA peut être incorrect.">
            <a:extLst>
              <a:ext uri="{FF2B5EF4-FFF2-40B4-BE49-F238E27FC236}">
                <a16:creationId xmlns:a16="http://schemas.microsoft.com/office/drawing/2014/main" id="{F12E427E-18C0-EAF3-471D-FF78E2ADDEEA}"/>
              </a:ext>
            </a:extLst>
          </p:cNvPr>
          <p:cNvPicPr>
            <a:picLocks noChangeAspect="1"/>
          </p:cNvPicPr>
          <p:nvPr/>
        </p:nvPicPr>
        <p:blipFill>
          <a:blip r:embed="rId8"/>
          <a:stretch>
            <a:fillRect/>
          </a:stretch>
        </p:blipFill>
        <p:spPr>
          <a:xfrm>
            <a:off x="1052743" y="2503039"/>
            <a:ext cx="1772836" cy="1772836"/>
          </a:xfrm>
          <a:prstGeom prst="rect">
            <a:avLst/>
          </a:prstGeom>
        </p:spPr>
      </p:pic>
      <p:pic>
        <p:nvPicPr>
          <p:cNvPr id="20" name="Image 19" descr="Une image contenant cercle, Graphique, clipart, dessin humoristique&#10;&#10;Le contenu généré par l’IA peut être incorrect.">
            <a:extLst>
              <a:ext uri="{FF2B5EF4-FFF2-40B4-BE49-F238E27FC236}">
                <a16:creationId xmlns:a16="http://schemas.microsoft.com/office/drawing/2014/main" id="{C4E9354E-500F-7896-D2CE-768E2149D196}"/>
              </a:ext>
            </a:extLst>
          </p:cNvPr>
          <p:cNvPicPr>
            <a:picLocks noChangeAspect="1"/>
          </p:cNvPicPr>
          <p:nvPr/>
        </p:nvPicPr>
        <p:blipFill>
          <a:blip r:embed="rId9"/>
          <a:stretch>
            <a:fillRect/>
          </a:stretch>
        </p:blipFill>
        <p:spPr>
          <a:xfrm>
            <a:off x="5347651" y="2542581"/>
            <a:ext cx="1772837" cy="1772837"/>
          </a:xfrm>
          <a:prstGeom prst="rect">
            <a:avLst/>
          </a:prstGeom>
        </p:spPr>
      </p:pic>
      <p:pic>
        <p:nvPicPr>
          <p:cNvPr id="47" name="Image 46" descr="Une image contenant dessin humoristique, Graphique, Visage humain, clipart&#10;&#10;Le contenu généré par l’IA peut être incorrect.">
            <a:extLst>
              <a:ext uri="{FF2B5EF4-FFF2-40B4-BE49-F238E27FC236}">
                <a16:creationId xmlns:a16="http://schemas.microsoft.com/office/drawing/2014/main" id="{3CAF6E04-7885-E86D-BCEA-668A38F2618D}"/>
              </a:ext>
            </a:extLst>
          </p:cNvPr>
          <p:cNvPicPr>
            <a:picLocks noChangeAspect="1"/>
          </p:cNvPicPr>
          <p:nvPr/>
        </p:nvPicPr>
        <p:blipFill>
          <a:blip r:embed="rId10"/>
          <a:stretch>
            <a:fillRect/>
          </a:stretch>
        </p:blipFill>
        <p:spPr>
          <a:xfrm>
            <a:off x="9452695" y="2485217"/>
            <a:ext cx="1900018" cy="1900018"/>
          </a:xfrm>
          <a:prstGeom prst="rect">
            <a:avLst/>
          </a:prstGeom>
        </p:spPr>
      </p:pic>
    </p:spTree>
    <p:extLst>
      <p:ext uri="{BB962C8B-B14F-4D97-AF65-F5344CB8AC3E}">
        <p14:creationId xmlns:p14="http://schemas.microsoft.com/office/powerpoint/2010/main" val="3831418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 calcmode="lin" valueType="num">
                                      <p:cBhvr additive="base">
                                        <p:cTn id="35" dur="500" fill="hold"/>
                                        <p:tgtEl>
                                          <p:spTgt spid="33"/>
                                        </p:tgtEl>
                                        <p:attrNameLst>
                                          <p:attrName>ppt_x</p:attrName>
                                        </p:attrNameLst>
                                      </p:cBhvr>
                                      <p:tavLst>
                                        <p:tav tm="0">
                                          <p:val>
                                            <p:strVal val="#ppt_x"/>
                                          </p:val>
                                        </p:tav>
                                        <p:tav tm="100000">
                                          <p:val>
                                            <p:strVal val="#ppt_x"/>
                                          </p:val>
                                        </p:tav>
                                      </p:tavLst>
                                    </p:anim>
                                    <p:anim calcmode="lin" valueType="num">
                                      <p:cBhvr additive="base">
                                        <p:cTn id="36" dur="500" fill="hold"/>
                                        <p:tgtEl>
                                          <p:spTgt spid="3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anim calcmode="lin" valueType="num">
                                      <p:cBhvr additive="base">
                                        <p:cTn id="39" dur="500" fill="hold"/>
                                        <p:tgtEl>
                                          <p:spTgt spid="47"/>
                                        </p:tgtEl>
                                        <p:attrNameLst>
                                          <p:attrName>ppt_x</p:attrName>
                                        </p:attrNameLst>
                                      </p:cBhvr>
                                      <p:tavLst>
                                        <p:tav tm="0">
                                          <p:val>
                                            <p:strVal val="#ppt_x"/>
                                          </p:val>
                                        </p:tav>
                                        <p:tav tm="100000">
                                          <p:val>
                                            <p:strVal val="#ppt_x"/>
                                          </p:val>
                                        </p:tav>
                                      </p:tavLst>
                                    </p:anim>
                                    <p:anim calcmode="lin" valueType="num">
                                      <p:cBhvr additive="base">
                                        <p:cTn id="4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p:bldP spid="32" grpId="0" animBg="1"/>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a:extLst>
              <a:ext uri="{FF2B5EF4-FFF2-40B4-BE49-F238E27FC236}">
                <a16:creationId xmlns:a16="http://schemas.microsoft.com/office/drawing/2014/main" id="{B2E76EAD-58A3-19AA-D08C-8EE3710E7437}"/>
              </a:ext>
            </a:extLst>
          </p:cNvPr>
          <p:cNvSpPr>
            <a:spLocks noGrp="1"/>
          </p:cNvSpPr>
          <p:nvPr>
            <p:ph type="sldNum" sz="quarter" idx="12"/>
          </p:nvPr>
        </p:nvSpPr>
        <p:spPr/>
        <p:txBody>
          <a:bodyPr/>
          <a:lstStyle/>
          <a:p>
            <a:fld id="{6983841B-0DB4-4C99-B5E5-79625F01DBF7}" type="slidenum">
              <a:rPr lang="en-GB" smtClean="0"/>
              <a:t>8</a:t>
            </a:fld>
            <a:endParaRPr lang="en-GB" dirty="0"/>
          </a:p>
        </p:txBody>
      </p:sp>
      <p:cxnSp>
        <p:nvCxnSpPr>
          <p:cNvPr id="4" name="Connecteur droit 6">
            <a:extLst>
              <a:ext uri="{FF2B5EF4-FFF2-40B4-BE49-F238E27FC236}">
                <a16:creationId xmlns:a16="http://schemas.microsoft.com/office/drawing/2014/main" id="{3497A1A2-EB52-CB47-024C-391E67196D3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7">
            <a:extLst>
              <a:ext uri="{FF2B5EF4-FFF2-40B4-BE49-F238E27FC236}">
                <a16:creationId xmlns:a16="http://schemas.microsoft.com/office/drawing/2014/main" id="{C7D84A5C-80E7-C2EE-7471-4592A447E452}"/>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Ellipse 13">
            <a:extLst>
              <a:ext uri="{FF2B5EF4-FFF2-40B4-BE49-F238E27FC236}">
                <a16:creationId xmlns:a16="http://schemas.microsoft.com/office/drawing/2014/main" id="{E027942A-609A-8BA9-1287-D2A4DC3FAB91}"/>
              </a:ext>
            </a:extLst>
          </p:cNvPr>
          <p:cNvSpPr/>
          <p:nvPr/>
        </p:nvSpPr>
        <p:spPr>
          <a:xfrm flipH="1">
            <a:off x="5453164"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5" name="Ellipse 13">
            <a:extLst>
              <a:ext uri="{FF2B5EF4-FFF2-40B4-BE49-F238E27FC236}">
                <a16:creationId xmlns:a16="http://schemas.microsoft.com/office/drawing/2014/main" id="{B81A4FC2-0470-897C-128A-0EE955AB1685}"/>
              </a:ext>
            </a:extLst>
          </p:cNvPr>
          <p:cNvSpPr/>
          <p:nvPr/>
        </p:nvSpPr>
        <p:spPr>
          <a:xfrm flipH="1">
            <a:off x="7926459" y="1095011"/>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26" name="Ellipse 13">
            <a:extLst>
              <a:ext uri="{FF2B5EF4-FFF2-40B4-BE49-F238E27FC236}">
                <a16:creationId xmlns:a16="http://schemas.microsoft.com/office/drawing/2014/main" id="{F06ADD67-C764-ED3E-D04C-D224D8DE95A5}"/>
              </a:ext>
            </a:extLst>
          </p:cNvPr>
          <p:cNvSpPr/>
          <p:nvPr/>
        </p:nvSpPr>
        <p:spPr>
          <a:xfrm flipH="1">
            <a:off x="10451790" y="1088365"/>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7" name="Ellipse 13">
            <a:extLst>
              <a:ext uri="{FF2B5EF4-FFF2-40B4-BE49-F238E27FC236}">
                <a16:creationId xmlns:a16="http://schemas.microsoft.com/office/drawing/2014/main" id="{E02C2E61-7C32-0B1B-EE16-9A49E805BC93}"/>
              </a:ext>
            </a:extLst>
          </p:cNvPr>
          <p:cNvSpPr/>
          <p:nvPr/>
        </p:nvSpPr>
        <p:spPr>
          <a:xfrm flipH="1">
            <a:off x="3019554" y="10969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3" name="Groupe 22">
            <a:extLst>
              <a:ext uri="{FF2B5EF4-FFF2-40B4-BE49-F238E27FC236}">
                <a16:creationId xmlns:a16="http://schemas.microsoft.com/office/drawing/2014/main" id="{00B38410-2957-91A0-120D-748D2B36FEC6}"/>
              </a:ext>
            </a:extLst>
          </p:cNvPr>
          <p:cNvGrpSpPr/>
          <p:nvPr/>
        </p:nvGrpSpPr>
        <p:grpSpPr>
          <a:xfrm>
            <a:off x="4128393" y="6510862"/>
            <a:ext cx="84600" cy="97560"/>
            <a:chOff x="4128393" y="6510862"/>
            <a:chExt cx="84600" cy="97560"/>
          </a:xfrm>
        </p:grpSpPr>
        <mc:AlternateContent xmlns:mc="http://schemas.openxmlformats.org/markup-compatibility/2006" xmlns:p14="http://schemas.microsoft.com/office/powerpoint/2010/main">
          <mc:Choice Requires="p14">
            <p:contentPart p14:bwMode="auto" r:id="rId3">
              <p14:nvContentPartPr>
                <p14:cNvPr id="8" name="Encre 7">
                  <a:extLst>
                    <a:ext uri="{FF2B5EF4-FFF2-40B4-BE49-F238E27FC236}">
                      <a16:creationId xmlns:a16="http://schemas.microsoft.com/office/drawing/2014/main" id="{949DBC21-D13D-FEEF-27D9-0FEB412A0A5D}"/>
                    </a:ext>
                  </a:extLst>
                </p14:cNvPr>
                <p14:cNvContentPartPr/>
                <p14:nvPr/>
              </p14:nvContentPartPr>
              <p14:xfrm>
                <a:off x="4148553" y="6510862"/>
                <a:ext cx="64440" cy="20520"/>
              </p14:xfrm>
            </p:contentPart>
          </mc:Choice>
          <mc:Fallback xmlns="">
            <p:pic>
              <p:nvPicPr>
                <p:cNvPr id="8" name="Encre 7">
                  <a:extLst>
                    <a:ext uri="{FF2B5EF4-FFF2-40B4-BE49-F238E27FC236}">
                      <a16:creationId xmlns:a16="http://schemas.microsoft.com/office/drawing/2014/main" id="{949DBC21-D13D-FEEF-27D9-0FEB412A0A5D}"/>
                    </a:ext>
                  </a:extLst>
                </p:cNvPr>
                <p:cNvPicPr/>
                <p:nvPr/>
              </p:nvPicPr>
              <p:blipFill>
                <a:blip r:embed="rId10"/>
                <a:stretch>
                  <a:fillRect/>
                </a:stretch>
              </p:blipFill>
              <p:spPr>
                <a:xfrm>
                  <a:off x="4142433" y="6504742"/>
                  <a:ext cx="766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Encre 8">
                  <a:extLst>
                    <a:ext uri="{FF2B5EF4-FFF2-40B4-BE49-F238E27FC236}">
                      <a16:creationId xmlns:a16="http://schemas.microsoft.com/office/drawing/2014/main" id="{DA278C47-58B6-36FC-A162-793ED559EB06}"/>
                    </a:ext>
                  </a:extLst>
                </p14:cNvPr>
                <p14:cNvContentPartPr/>
                <p14:nvPr/>
              </p14:nvContentPartPr>
              <p14:xfrm>
                <a:off x="4156113" y="6538942"/>
                <a:ext cx="9000" cy="6120"/>
              </p14:xfrm>
            </p:contentPart>
          </mc:Choice>
          <mc:Fallback xmlns="">
            <p:pic>
              <p:nvPicPr>
                <p:cNvPr id="9" name="Encre 8">
                  <a:extLst>
                    <a:ext uri="{FF2B5EF4-FFF2-40B4-BE49-F238E27FC236}">
                      <a16:creationId xmlns:a16="http://schemas.microsoft.com/office/drawing/2014/main" id="{DA278C47-58B6-36FC-A162-793ED559EB06}"/>
                    </a:ext>
                  </a:extLst>
                </p:cNvPr>
                <p:cNvPicPr/>
                <p:nvPr/>
              </p:nvPicPr>
              <p:blipFill>
                <a:blip r:embed="rId12"/>
                <a:stretch>
                  <a:fillRect/>
                </a:stretch>
              </p:blipFill>
              <p:spPr>
                <a:xfrm>
                  <a:off x="4149993" y="6532822"/>
                  <a:ext cx="212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Encre 13">
                  <a:extLst>
                    <a:ext uri="{FF2B5EF4-FFF2-40B4-BE49-F238E27FC236}">
                      <a16:creationId xmlns:a16="http://schemas.microsoft.com/office/drawing/2014/main" id="{03DE0A30-FAA3-1C37-0113-1BADBB5451F6}"/>
                    </a:ext>
                  </a:extLst>
                </p14:cNvPr>
                <p14:cNvContentPartPr/>
                <p14:nvPr/>
              </p14:nvContentPartPr>
              <p14:xfrm>
                <a:off x="4128393" y="6538942"/>
                <a:ext cx="360" cy="51480"/>
              </p14:xfrm>
            </p:contentPart>
          </mc:Choice>
          <mc:Fallback xmlns="">
            <p:pic>
              <p:nvPicPr>
                <p:cNvPr id="14" name="Encre 13">
                  <a:extLst>
                    <a:ext uri="{FF2B5EF4-FFF2-40B4-BE49-F238E27FC236}">
                      <a16:creationId xmlns:a16="http://schemas.microsoft.com/office/drawing/2014/main" id="{03DE0A30-FAA3-1C37-0113-1BADBB5451F6}"/>
                    </a:ext>
                  </a:extLst>
                </p:cNvPr>
                <p:cNvPicPr/>
                <p:nvPr/>
              </p:nvPicPr>
              <p:blipFill>
                <a:blip r:embed="rId14"/>
                <a:stretch>
                  <a:fillRect/>
                </a:stretch>
              </p:blipFill>
              <p:spPr>
                <a:xfrm>
                  <a:off x="4122273" y="6532822"/>
                  <a:ext cx="126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Encre 14">
                  <a:extLst>
                    <a:ext uri="{FF2B5EF4-FFF2-40B4-BE49-F238E27FC236}">
                      <a16:creationId xmlns:a16="http://schemas.microsoft.com/office/drawing/2014/main" id="{40ECC8C0-01EE-F63D-08BA-CDABA885939A}"/>
                    </a:ext>
                  </a:extLst>
                </p14:cNvPr>
                <p14:cNvContentPartPr/>
                <p14:nvPr/>
              </p14:nvContentPartPr>
              <p14:xfrm>
                <a:off x="4128393" y="6575302"/>
                <a:ext cx="360" cy="33120"/>
              </p14:xfrm>
            </p:contentPart>
          </mc:Choice>
          <mc:Fallback xmlns="">
            <p:pic>
              <p:nvPicPr>
                <p:cNvPr id="15" name="Encre 14">
                  <a:extLst>
                    <a:ext uri="{FF2B5EF4-FFF2-40B4-BE49-F238E27FC236}">
                      <a16:creationId xmlns:a16="http://schemas.microsoft.com/office/drawing/2014/main" id="{40ECC8C0-01EE-F63D-08BA-CDABA885939A}"/>
                    </a:ext>
                  </a:extLst>
                </p:cNvPr>
                <p:cNvPicPr/>
                <p:nvPr/>
              </p:nvPicPr>
              <p:blipFill>
                <a:blip r:embed="rId16"/>
                <a:stretch>
                  <a:fillRect/>
                </a:stretch>
              </p:blipFill>
              <p:spPr>
                <a:xfrm>
                  <a:off x="4122273" y="6569182"/>
                  <a:ext cx="126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Encre 16">
                  <a:extLst>
                    <a:ext uri="{FF2B5EF4-FFF2-40B4-BE49-F238E27FC236}">
                      <a16:creationId xmlns:a16="http://schemas.microsoft.com/office/drawing/2014/main" id="{4A7AE722-8BCE-713F-163D-68AB1156486C}"/>
                    </a:ext>
                  </a:extLst>
                </p14:cNvPr>
                <p14:cNvContentPartPr/>
                <p14:nvPr/>
              </p14:nvContentPartPr>
              <p14:xfrm>
                <a:off x="4128393" y="6567382"/>
                <a:ext cx="14400" cy="33120"/>
              </p14:xfrm>
            </p:contentPart>
          </mc:Choice>
          <mc:Fallback xmlns="">
            <p:pic>
              <p:nvPicPr>
                <p:cNvPr id="17" name="Encre 16">
                  <a:extLst>
                    <a:ext uri="{FF2B5EF4-FFF2-40B4-BE49-F238E27FC236}">
                      <a16:creationId xmlns:a16="http://schemas.microsoft.com/office/drawing/2014/main" id="{4A7AE722-8BCE-713F-163D-68AB1156486C}"/>
                    </a:ext>
                  </a:extLst>
                </p:cNvPr>
                <p:cNvPicPr/>
                <p:nvPr/>
              </p:nvPicPr>
              <p:blipFill>
                <a:blip r:embed="rId18"/>
                <a:stretch>
                  <a:fillRect/>
                </a:stretch>
              </p:blipFill>
              <p:spPr>
                <a:xfrm>
                  <a:off x="4122273" y="6561262"/>
                  <a:ext cx="266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Encre 17">
                  <a:extLst>
                    <a:ext uri="{FF2B5EF4-FFF2-40B4-BE49-F238E27FC236}">
                      <a16:creationId xmlns:a16="http://schemas.microsoft.com/office/drawing/2014/main" id="{09869CA2-BFC0-4267-75E8-D39CC2A1AF99}"/>
                    </a:ext>
                  </a:extLst>
                </p14:cNvPr>
                <p14:cNvContentPartPr/>
                <p14:nvPr/>
              </p14:nvContentPartPr>
              <p14:xfrm>
                <a:off x="4183473" y="6608062"/>
                <a:ext cx="360" cy="360"/>
              </p14:xfrm>
            </p:contentPart>
          </mc:Choice>
          <mc:Fallback xmlns="">
            <p:pic>
              <p:nvPicPr>
                <p:cNvPr id="18" name="Encre 17">
                  <a:extLst>
                    <a:ext uri="{FF2B5EF4-FFF2-40B4-BE49-F238E27FC236}">
                      <a16:creationId xmlns:a16="http://schemas.microsoft.com/office/drawing/2014/main" id="{09869CA2-BFC0-4267-75E8-D39CC2A1AF99}"/>
                    </a:ext>
                  </a:extLst>
                </p:cNvPr>
                <p:cNvPicPr/>
                <p:nvPr/>
              </p:nvPicPr>
              <p:blipFill>
                <a:blip r:embed="rId20"/>
                <a:stretch>
                  <a:fillRect/>
                </a:stretch>
              </p:blipFill>
              <p:spPr>
                <a:xfrm>
                  <a:off x="4177353" y="660194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Encre 19">
                  <a:extLst>
                    <a:ext uri="{FF2B5EF4-FFF2-40B4-BE49-F238E27FC236}">
                      <a16:creationId xmlns:a16="http://schemas.microsoft.com/office/drawing/2014/main" id="{E2FCE89F-D6B7-172A-9D5D-E63B73BDD315}"/>
                    </a:ext>
                  </a:extLst>
                </p14:cNvPr>
                <p14:cNvContentPartPr/>
                <p14:nvPr/>
              </p14:nvContentPartPr>
              <p14:xfrm>
                <a:off x="4171960" y="6559500"/>
                <a:ext cx="360" cy="360"/>
              </p14:xfrm>
            </p:contentPart>
          </mc:Choice>
          <mc:Fallback xmlns="">
            <p:pic>
              <p:nvPicPr>
                <p:cNvPr id="20" name="Encre 19">
                  <a:extLst>
                    <a:ext uri="{FF2B5EF4-FFF2-40B4-BE49-F238E27FC236}">
                      <a16:creationId xmlns:a16="http://schemas.microsoft.com/office/drawing/2014/main" id="{E2FCE89F-D6B7-172A-9D5D-E63B73BDD315}"/>
                    </a:ext>
                  </a:extLst>
                </p:cNvPr>
                <p:cNvPicPr/>
                <p:nvPr/>
              </p:nvPicPr>
              <p:blipFill>
                <a:blip r:embed="rId20"/>
                <a:stretch>
                  <a:fillRect/>
                </a:stretch>
              </p:blipFill>
              <p:spPr>
                <a:xfrm>
                  <a:off x="4165840" y="65533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Encre 20">
                  <a:extLst>
                    <a:ext uri="{FF2B5EF4-FFF2-40B4-BE49-F238E27FC236}">
                      <a16:creationId xmlns:a16="http://schemas.microsoft.com/office/drawing/2014/main" id="{024082C5-1635-B12B-4F19-919E18B9E70B}"/>
                    </a:ext>
                  </a:extLst>
                </p14:cNvPr>
                <p14:cNvContentPartPr/>
                <p14:nvPr/>
              </p14:nvContentPartPr>
              <p14:xfrm>
                <a:off x="4134520" y="6559500"/>
                <a:ext cx="42840" cy="7200"/>
              </p14:xfrm>
            </p:contentPart>
          </mc:Choice>
          <mc:Fallback xmlns="">
            <p:pic>
              <p:nvPicPr>
                <p:cNvPr id="21" name="Encre 20">
                  <a:extLst>
                    <a:ext uri="{FF2B5EF4-FFF2-40B4-BE49-F238E27FC236}">
                      <a16:creationId xmlns:a16="http://schemas.microsoft.com/office/drawing/2014/main" id="{024082C5-1635-B12B-4F19-919E18B9E70B}"/>
                    </a:ext>
                  </a:extLst>
                </p:cNvPr>
                <p:cNvPicPr/>
                <p:nvPr/>
              </p:nvPicPr>
              <p:blipFill>
                <a:blip r:embed="rId23"/>
                <a:stretch>
                  <a:fillRect/>
                </a:stretch>
              </p:blipFill>
              <p:spPr>
                <a:xfrm>
                  <a:off x="4128400" y="6553380"/>
                  <a:ext cx="550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Encre 21">
                  <a:extLst>
                    <a:ext uri="{FF2B5EF4-FFF2-40B4-BE49-F238E27FC236}">
                      <a16:creationId xmlns:a16="http://schemas.microsoft.com/office/drawing/2014/main" id="{59AA7F9F-D694-F2F2-82D2-255990DA89B2}"/>
                    </a:ext>
                  </a:extLst>
                </p14:cNvPr>
                <p14:cNvContentPartPr/>
                <p14:nvPr/>
              </p14:nvContentPartPr>
              <p14:xfrm>
                <a:off x="4152520" y="6559500"/>
                <a:ext cx="57600" cy="26640"/>
              </p14:xfrm>
            </p:contentPart>
          </mc:Choice>
          <mc:Fallback xmlns="">
            <p:pic>
              <p:nvPicPr>
                <p:cNvPr id="22" name="Encre 21">
                  <a:extLst>
                    <a:ext uri="{FF2B5EF4-FFF2-40B4-BE49-F238E27FC236}">
                      <a16:creationId xmlns:a16="http://schemas.microsoft.com/office/drawing/2014/main" id="{59AA7F9F-D694-F2F2-82D2-255990DA89B2}"/>
                    </a:ext>
                  </a:extLst>
                </p:cNvPr>
                <p:cNvPicPr/>
                <p:nvPr/>
              </p:nvPicPr>
              <p:blipFill>
                <a:blip r:embed="rId25"/>
                <a:stretch>
                  <a:fillRect/>
                </a:stretch>
              </p:blipFill>
              <p:spPr>
                <a:xfrm>
                  <a:off x="4146400" y="6553380"/>
                  <a:ext cx="69840" cy="38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4" name="Encre 23">
                <a:extLst>
                  <a:ext uri="{FF2B5EF4-FFF2-40B4-BE49-F238E27FC236}">
                    <a16:creationId xmlns:a16="http://schemas.microsoft.com/office/drawing/2014/main" id="{AC8D16FC-1657-ED78-2D45-9B6130EAE839}"/>
                  </a:ext>
                </a:extLst>
              </p14:cNvPr>
              <p14:cNvContentPartPr/>
              <p14:nvPr/>
            </p14:nvContentPartPr>
            <p14:xfrm>
              <a:off x="12855891" y="5051126"/>
              <a:ext cx="360" cy="360"/>
            </p14:xfrm>
          </p:contentPart>
        </mc:Choice>
        <mc:Fallback xmlns="">
          <p:pic>
            <p:nvPicPr>
              <p:cNvPr id="24" name="Encre 23">
                <a:extLst>
                  <a:ext uri="{FF2B5EF4-FFF2-40B4-BE49-F238E27FC236}">
                    <a16:creationId xmlns:a16="http://schemas.microsoft.com/office/drawing/2014/main" id="{AC8D16FC-1657-ED78-2D45-9B6130EAE839}"/>
                  </a:ext>
                </a:extLst>
              </p:cNvPr>
              <p:cNvPicPr/>
              <p:nvPr/>
            </p:nvPicPr>
            <p:blipFill>
              <a:blip r:embed="rId20"/>
              <a:stretch>
                <a:fillRect/>
              </a:stretch>
            </p:blipFill>
            <p:spPr>
              <a:xfrm>
                <a:off x="12849771" y="5045006"/>
                <a:ext cx="12600" cy="12600"/>
              </a:xfrm>
              <a:prstGeom prst="rect">
                <a:avLst/>
              </a:prstGeom>
            </p:spPr>
          </p:pic>
        </mc:Fallback>
      </mc:AlternateContent>
      <p:graphicFrame>
        <p:nvGraphicFramePr>
          <p:cNvPr id="2" name="Diagramme 1">
            <a:extLst>
              <a:ext uri="{FF2B5EF4-FFF2-40B4-BE49-F238E27FC236}">
                <a16:creationId xmlns:a16="http://schemas.microsoft.com/office/drawing/2014/main" id="{C3421414-43CA-83EA-323A-79F4FBF96492}"/>
              </a:ext>
            </a:extLst>
          </p:cNvPr>
          <p:cNvGraphicFramePr/>
          <p:nvPr>
            <p:extLst>
              <p:ext uri="{D42A27DB-BD31-4B8C-83A1-F6EECF244321}">
                <p14:modId xmlns:p14="http://schemas.microsoft.com/office/powerpoint/2010/main" val="3058965114"/>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12" name="ZoneTexte 11">
            <a:extLst>
              <a:ext uri="{FF2B5EF4-FFF2-40B4-BE49-F238E27FC236}">
                <a16:creationId xmlns:a16="http://schemas.microsoft.com/office/drawing/2014/main" id="{6A2F6FD0-BAB1-73EB-CA80-5BC5521BAA54}"/>
              </a:ext>
            </a:extLst>
          </p:cNvPr>
          <p:cNvSpPr txBox="1"/>
          <p:nvPr/>
        </p:nvSpPr>
        <p:spPr>
          <a:xfrm>
            <a:off x="163643" y="1283526"/>
            <a:ext cx="1925136" cy="307777"/>
          </a:xfrm>
          <a:prstGeom prst="rect">
            <a:avLst/>
          </a:prstGeom>
          <a:noFill/>
        </p:spPr>
        <p:txBody>
          <a:bodyPr wrap="square" rtlCol="0">
            <a:spAutoFit/>
          </a:bodyPr>
          <a:lstStyle/>
          <a:p>
            <a:r>
              <a:rPr lang="fr-MA" sz="1400" dirty="0">
                <a:solidFill>
                  <a:schemeClr val="bg1">
                    <a:lumMod val="50000"/>
                  </a:schemeClr>
                </a:solidFill>
                <a:latin typeface="Century Schoolbook" charset="0"/>
                <a:ea typeface="Century Schoolbook" charset="0"/>
                <a:cs typeface="Century Schoolbook" charset="0"/>
              </a:rPr>
              <a:t>Organisme d’accueil</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9" name="ZoneTexte 18">
            <a:extLst>
              <a:ext uri="{FF2B5EF4-FFF2-40B4-BE49-F238E27FC236}">
                <a16:creationId xmlns:a16="http://schemas.microsoft.com/office/drawing/2014/main" id="{6556003C-5081-AE95-0595-F4010AD67BDF}"/>
              </a:ext>
            </a:extLst>
          </p:cNvPr>
          <p:cNvSpPr txBox="1"/>
          <p:nvPr/>
        </p:nvSpPr>
        <p:spPr>
          <a:xfrm>
            <a:off x="9463138" y="1283632"/>
            <a:ext cx="2136649" cy="307777"/>
          </a:xfrm>
          <a:prstGeom prst="rect">
            <a:avLst/>
          </a:prstGeom>
          <a:noFill/>
        </p:spPr>
        <p:txBody>
          <a:bodyPr wrap="square" rtlCol="0">
            <a:spAutoFit/>
          </a:bodyPr>
          <a:lstStyle/>
          <a:p>
            <a:pPr algn="ctr"/>
            <a:r>
              <a:rPr lang="fr-FR" sz="1400" dirty="0">
                <a:solidFill>
                  <a:schemeClr val="bg1">
                    <a:lumMod val="50000"/>
                  </a:schemeClr>
                </a:solidFill>
                <a:latin typeface="Century Schoolbook" charset="0"/>
                <a:ea typeface="Century Schoolbook" charset="0"/>
                <a:cs typeface="Century Schoolbook" charset="0"/>
              </a:rPr>
              <a:t>Gestion de projet</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30" name="ZoneTexte 17">
            <a:extLst>
              <a:ext uri="{FF2B5EF4-FFF2-40B4-BE49-F238E27FC236}">
                <a16:creationId xmlns:a16="http://schemas.microsoft.com/office/drawing/2014/main" id="{159B797F-8E2F-114C-11E4-26B035F6B771}"/>
              </a:ext>
            </a:extLst>
          </p:cNvPr>
          <p:cNvSpPr txBox="1"/>
          <p:nvPr/>
        </p:nvSpPr>
        <p:spPr>
          <a:xfrm>
            <a:off x="4522389" y="128352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Problématique</a:t>
            </a:r>
          </a:p>
        </p:txBody>
      </p:sp>
      <p:sp>
        <p:nvSpPr>
          <p:cNvPr id="31" name="ZoneTexte 17">
            <a:extLst>
              <a:ext uri="{FF2B5EF4-FFF2-40B4-BE49-F238E27FC236}">
                <a16:creationId xmlns:a16="http://schemas.microsoft.com/office/drawing/2014/main" id="{5710A385-4EA8-F1BB-DBCE-9C676F5CAC1B}"/>
              </a:ext>
            </a:extLst>
          </p:cNvPr>
          <p:cNvSpPr txBox="1"/>
          <p:nvPr/>
        </p:nvSpPr>
        <p:spPr>
          <a:xfrm>
            <a:off x="7172639" y="1294405"/>
            <a:ext cx="179719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L’architecture cible</a:t>
            </a:r>
          </a:p>
        </p:txBody>
      </p:sp>
      <p:sp>
        <p:nvSpPr>
          <p:cNvPr id="32" name="ZoneTexte 17">
            <a:extLst>
              <a:ext uri="{FF2B5EF4-FFF2-40B4-BE49-F238E27FC236}">
                <a16:creationId xmlns:a16="http://schemas.microsoft.com/office/drawing/2014/main" id="{42319B29-8426-2ED5-0352-153FAB9AF31E}"/>
              </a:ext>
            </a:extLst>
          </p:cNvPr>
          <p:cNvSpPr txBox="1"/>
          <p:nvPr/>
        </p:nvSpPr>
        <p:spPr>
          <a:xfrm>
            <a:off x="2088779" y="1276988"/>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Étude de l'état actuel</a:t>
            </a:r>
          </a:p>
        </p:txBody>
      </p:sp>
      <p:pic>
        <p:nvPicPr>
          <p:cNvPr id="10" name="Image 9">
            <a:extLst>
              <a:ext uri="{FF2B5EF4-FFF2-40B4-BE49-F238E27FC236}">
                <a16:creationId xmlns:a16="http://schemas.microsoft.com/office/drawing/2014/main" id="{5FC767C8-F6C7-54E2-2AE1-91C370338E29}"/>
              </a:ext>
            </a:extLst>
          </p:cNvPr>
          <p:cNvPicPr>
            <a:picLocks noChangeAspect="1"/>
          </p:cNvPicPr>
          <p:nvPr/>
        </p:nvPicPr>
        <p:blipFill>
          <a:blip r:embed="rId32"/>
          <a:stretch>
            <a:fillRect/>
          </a:stretch>
        </p:blipFill>
        <p:spPr>
          <a:xfrm>
            <a:off x="1552315" y="1618805"/>
            <a:ext cx="9634723" cy="4918773"/>
          </a:xfrm>
          <a:prstGeom prst="rect">
            <a:avLst/>
          </a:prstGeom>
        </p:spPr>
      </p:pic>
    </p:spTree>
    <p:extLst>
      <p:ext uri="{BB962C8B-B14F-4D97-AF65-F5344CB8AC3E}">
        <p14:creationId xmlns:p14="http://schemas.microsoft.com/office/powerpoint/2010/main" val="1028167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a:extLst>
              <a:ext uri="{FF2B5EF4-FFF2-40B4-BE49-F238E27FC236}">
                <a16:creationId xmlns:a16="http://schemas.microsoft.com/office/drawing/2014/main" id="{B2E76EAD-58A3-19AA-D08C-8EE3710E7437}"/>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9</a:t>
            </a:fld>
            <a:endParaRPr lang="en-GB" dirty="0"/>
          </a:p>
        </p:txBody>
      </p:sp>
      <p:cxnSp>
        <p:nvCxnSpPr>
          <p:cNvPr id="4" name="Connecteur droit 6">
            <a:extLst>
              <a:ext uri="{FF2B5EF4-FFF2-40B4-BE49-F238E27FC236}">
                <a16:creationId xmlns:a16="http://schemas.microsoft.com/office/drawing/2014/main" id="{3497A1A2-EB52-CB47-024C-391E67196D3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7">
            <a:extLst>
              <a:ext uri="{FF2B5EF4-FFF2-40B4-BE49-F238E27FC236}">
                <a16:creationId xmlns:a16="http://schemas.microsoft.com/office/drawing/2014/main" id="{C7D84A5C-80E7-C2EE-7471-4592A447E452}"/>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Ellipse 13">
            <a:extLst>
              <a:ext uri="{FF2B5EF4-FFF2-40B4-BE49-F238E27FC236}">
                <a16:creationId xmlns:a16="http://schemas.microsoft.com/office/drawing/2014/main" id="{E027942A-609A-8BA9-1287-D2A4DC3FAB91}"/>
              </a:ext>
            </a:extLst>
          </p:cNvPr>
          <p:cNvSpPr/>
          <p:nvPr/>
        </p:nvSpPr>
        <p:spPr>
          <a:xfrm flipH="1">
            <a:off x="5453164"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5" name="Ellipse 13">
            <a:extLst>
              <a:ext uri="{FF2B5EF4-FFF2-40B4-BE49-F238E27FC236}">
                <a16:creationId xmlns:a16="http://schemas.microsoft.com/office/drawing/2014/main" id="{B81A4FC2-0470-897C-128A-0EE955AB1685}"/>
              </a:ext>
            </a:extLst>
          </p:cNvPr>
          <p:cNvSpPr/>
          <p:nvPr/>
        </p:nvSpPr>
        <p:spPr>
          <a:xfrm flipH="1">
            <a:off x="7926459" y="10950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Ellipse 13">
            <a:extLst>
              <a:ext uri="{FF2B5EF4-FFF2-40B4-BE49-F238E27FC236}">
                <a16:creationId xmlns:a16="http://schemas.microsoft.com/office/drawing/2014/main" id="{F06ADD67-C764-ED3E-D04C-D224D8DE95A5}"/>
              </a:ext>
            </a:extLst>
          </p:cNvPr>
          <p:cNvSpPr/>
          <p:nvPr/>
        </p:nvSpPr>
        <p:spPr>
          <a:xfrm flipH="1">
            <a:off x="10451790" y="1088365"/>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27" name="Ellipse 13">
            <a:extLst>
              <a:ext uri="{FF2B5EF4-FFF2-40B4-BE49-F238E27FC236}">
                <a16:creationId xmlns:a16="http://schemas.microsoft.com/office/drawing/2014/main" id="{E02C2E61-7C32-0B1B-EE16-9A49E805BC93}"/>
              </a:ext>
            </a:extLst>
          </p:cNvPr>
          <p:cNvSpPr/>
          <p:nvPr/>
        </p:nvSpPr>
        <p:spPr>
          <a:xfrm flipH="1">
            <a:off x="3019554" y="10969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8" name="Image 7" descr="Une image contenant texte, capture d’écran, Police, Graphique&#10;&#10;Description générée automatiquement">
            <a:extLst>
              <a:ext uri="{FF2B5EF4-FFF2-40B4-BE49-F238E27FC236}">
                <a16:creationId xmlns:a16="http://schemas.microsoft.com/office/drawing/2014/main" id="{4BBD7D30-E9A5-9666-6B4A-DF8CA156D7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9594" y="1869995"/>
            <a:ext cx="8860971" cy="4629858"/>
          </a:xfrm>
          <a:prstGeom prst="rect">
            <a:avLst/>
          </a:prstGeom>
        </p:spPr>
      </p:pic>
      <p:graphicFrame>
        <p:nvGraphicFramePr>
          <p:cNvPr id="2" name="Diagramme 1">
            <a:extLst>
              <a:ext uri="{FF2B5EF4-FFF2-40B4-BE49-F238E27FC236}">
                <a16:creationId xmlns:a16="http://schemas.microsoft.com/office/drawing/2014/main" id="{92E0776A-A77E-4237-46D0-936728B731FF}"/>
              </a:ext>
            </a:extLst>
          </p:cNvPr>
          <p:cNvGraphicFramePr/>
          <p:nvPr>
            <p:extLst>
              <p:ext uri="{D42A27DB-BD31-4B8C-83A1-F6EECF244321}">
                <p14:modId xmlns:p14="http://schemas.microsoft.com/office/powerpoint/2010/main" val="2909137164"/>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ZoneTexte 6">
            <a:extLst>
              <a:ext uri="{FF2B5EF4-FFF2-40B4-BE49-F238E27FC236}">
                <a16:creationId xmlns:a16="http://schemas.microsoft.com/office/drawing/2014/main" id="{7DC5B388-FE24-3FF8-14C3-8FB01FECC6EC}"/>
              </a:ext>
            </a:extLst>
          </p:cNvPr>
          <p:cNvSpPr txBox="1"/>
          <p:nvPr/>
        </p:nvSpPr>
        <p:spPr>
          <a:xfrm>
            <a:off x="163643" y="1283526"/>
            <a:ext cx="1925136" cy="307777"/>
          </a:xfrm>
          <a:prstGeom prst="rect">
            <a:avLst/>
          </a:prstGeom>
          <a:noFill/>
        </p:spPr>
        <p:txBody>
          <a:bodyPr wrap="square" rtlCol="0">
            <a:spAutoFit/>
          </a:bodyPr>
          <a:lstStyle/>
          <a:p>
            <a:r>
              <a:rPr lang="fr-MA" sz="1400" dirty="0">
                <a:solidFill>
                  <a:schemeClr val="bg1">
                    <a:lumMod val="50000"/>
                  </a:schemeClr>
                </a:solidFill>
                <a:latin typeface="Century Schoolbook" charset="0"/>
                <a:ea typeface="Century Schoolbook" charset="0"/>
                <a:cs typeface="Century Schoolbook" charset="0"/>
              </a:rPr>
              <a:t>Organisme d’accueil</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9" name="ZoneTexte 8">
            <a:extLst>
              <a:ext uri="{FF2B5EF4-FFF2-40B4-BE49-F238E27FC236}">
                <a16:creationId xmlns:a16="http://schemas.microsoft.com/office/drawing/2014/main" id="{3AE20271-3163-D5F7-1674-EB899AC4EFBA}"/>
              </a:ext>
            </a:extLst>
          </p:cNvPr>
          <p:cNvSpPr txBox="1"/>
          <p:nvPr/>
        </p:nvSpPr>
        <p:spPr>
          <a:xfrm>
            <a:off x="9463138" y="1283632"/>
            <a:ext cx="2136649" cy="307777"/>
          </a:xfrm>
          <a:prstGeom prst="rect">
            <a:avLst/>
          </a:prstGeom>
          <a:noFill/>
        </p:spPr>
        <p:txBody>
          <a:bodyPr wrap="square" rtlCol="0">
            <a:spAutoFit/>
          </a:bodyPr>
          <a:lstStyle/>
          <a:p>
            <a:pPr algn="ctr"/>
            <a:r>
              <a:rPr lang="fr-FR" sz="1400" dirty="0">
                <a:solidFill>
                  <a:schemeClr val="bg1">
                    <a:lumMod val="50000"/>
                  </a:schemeClr>
                </a:solidFill>
                <a:latin typeface="Century Schoolbook" charset="0"/>
                <a:ea typeface="Century Schoolbook" charset="0"/>
                <a:cs typeface="Century Schoolbook" charset="0"/>
              </a:rPr>
              <a:t>Gestion de projet</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2" name="ZoneTexte 17">
            <a:extLst>
              <a:ext uri="{FF2B5EF4-FFF2-40B4-BE49-F238E27FC236}">
                <a16:creationId xmlns:a16="http://schemas.microsoft.com/office/drawing/2014/main" id="{0BED02A1-CA0D-90AA-D88D-45D1DCD6013A}"/>
              </a:ext>
            </a:extLst>
          </p:cNvPr>
          <p:cNvSpPr txBox="1"/>
          <p:nvPr/>
        </p:nvSpPr>
        <p:spPr>
          <a:xfrm>
            <a:off x="4522389" y="128352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Problématique</a:t>
            </a:r>
          </a:p>
        </p:txBody>
      </p:sp>
      <p:sp>
        <p:nvSpPr>
          <p:cNvPr id="14" name="ZoneTexte 17">
            <a:extLst>
              <a:ext uri="{FF2B5EF4-FFF2-40B4-BE49-F238E27FC236}">
                <a16:creationId xmlns:a16="http://schemas.microsoft.com/office/drawing/2014/main" id="{BFD63E07-A72C-B73C-997C-8DC61325B68A}"/>
              </a:ext>
            </a:extLst>
          </p:cNvPr>
          <p:cNvSpPr txBox="1"/>
          <p:nvPr/>
        </p:nvSpPr>
        <p:spPr>
          <a:xfrm>
            <a:off x="7172639" y="1294405"/>
            <a:ext cx="179719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L’architecture cible</a:t>
            </a:r>
          </a:p>
        </p:txBody>
      </p:sp>
      <p:sp>
        <p:nvSpPr>
          <p:cNvPr id="15" name="ZoneTexte 17">
            <a:extLst>
              <a:ext uri="{FF2B5EF4-FFF2-40B4-BE49-F238E27FC236}">
                <a16:creationId xmlns:a16="http://schemas.microsoft.com/office/drawing/2014/main" id="{E74B3E73-E73D-5EEF-2237-456F56B423C6}"/>
              </a:ext>
            </a:extLst>
          </p:cNvPr>
          <p:cNvSpPr txBox="1"/>
          <p:nvPr/>
        </p:nvSpPr>
        <p:spPr>
          <a:xfrm>
            <a:off x="2088779" y="1276988"/>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Étude de l'état actuel</a:t>
            </a:r>
          </a:p>
        </p:txBody>
      </p:sp>
    </p:spTree>
    <p:extLst>
      <p:ext uri="{BB962C8B-B14F-4D97-AF65-F5344CB8AC3E}">
        <p14:creationId xmlns:p14="http://schemas.microsoft.com/office/powerpoint/2010/main" val="1920821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a:extLst>
              <a:ext uri="{FF2B5EF4-FFF2-40B4-BE49-F238E27FC236}">
                <a16:creationId xmlns:a16="http://schemas.microsoft.com/office/drawing/2014/main" id="{B2E76EAD-58A3-19AA-D08C-8EE3710E7437}"/>
              </a:ext>
            </a:extLst>
          </p:cNvPr>
          <p:cNvSpPr>
            <a:spLocks noGrp="1"/>
          </p:cNvSpPr>
          <p:nvPr>
            <p:ph type="sldNum" sz="quarter" idx="12"/>
          </p:nvPr>
        </p:nvSpPr>
        <p:spPr/>
        <p:txBody>
          <a:bodyPr/>
          <a:lstStyle/>
          <a:p>
            <a:fld id="{6983841B-0DB4-4C99-B5E5-79625F01DBF7}" type="slidenum">
              <a:rPr lang="en-GB" smtClean="0"/>
              <a:t>10</a:t>
            </a:fld>
            <a:endParaRPr lang="en-GB" dirty="0"/>
          </a:p>
        </p:txBody>
      </p:sp>
      <p:cxnSp>
        <p:nvCxnSpPr>
          <p:cNvPr id="4" name="Connecteur droit 6">
            <a:extLst>
              <a:ext uri="{FF2B5EF4-FFF2-40B4-BE49-F238E27FC236}">
                <a16:creationId xmlns:a16="http://schemas.microsoft.com/office/drawing/2014/main" id="{3497A1A2-EB52-CB47-024C-391E67196D3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7">
            <a:extLst>
              <a:ext uri="{FF2B5EF4-FFF2-40B4-BE49-F238E27FC236}">
                <a16:creationId xmlns:a16="http://schemas.microsoft.com/office/drawing/2014/main" id="{C7D84A5C-80E7-C2EE-7471-4592A447E452}"/>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Ellipse 13">
            <a:extLst>
              <a:ext uri="{FF2B5EF4-FFF2-40B4-BE49-F238E27FC236}">
                <a16:creationId xmlns:a16="http://schemas.microsoft.com/office/drawing/2014/main" id="{E027942A-609A-8BA9-1287-D2A4DC3FAB91}"/>
              </a:ext>
            </a:extLst>
          </p:cNvPr>
          <p:cNvSpPr/>
          <p:nvPr/>
        </p:nvSpPr>
        <p:spPr>
          <a:xfrm flipH="1">
            <a:off x="5453164"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5" name="Ellipse 13">
            <a:extLst>
              <a:ext uri="{FF2B5EF4-FFF2-40B4-BE49-F238E27FC236}">
                <a16:creationId xmlns:a16="http://schemas.microsoft.com/office/drawing/2014/main" id="{B81A4FC2-0470-897C-128A-0EE955AB1685}"/>
              </a:ext>
            </a:extLst>
          </p:cNvPr>
          <p:cNvSpPr/>
          <p:nvPr/>
        </p:nvSpPr>
        <p:spPr>
          <a:xfrm flipH="1">
            <a:off x="7926459" y="10950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Ellipse 13">
            <a:extLst>
              <a:ext uri="{FF2B5EF4-FFF2-40B4-BE49-F238E27FC236}">
                <a16:creationId xmlns:a16="http://schemas.microsoft.com/office/drawing/2014/main" id="{F06ADD67-C764-ED3E-D04C-D224D8DE95A5}"/>
              </a:ext>
            </a:extLst>
          </p:cNvPr>
          <p:cNvSpPr/>
          <p:nvPr/>
        </p:nvSpPr>
        <p:spPr>
          <a:xfrm flipH="1">
            <a:off x="10451790" y="1088365"/>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27" name="Ellipse 13">
            <a:extLst>
              <a:ext uri="{FF2B5EF4-FFF2-40B4-BE49-F238E27FC236}">
                <a16:creationId xmlns:a16="http://schemas.microsoft.com/office/drawing/2014/main" id="{E02C2E61-7C32-0B1B-EE16-9A49E805BC93}"/>
              </a:ext>
            </a:extLst>
          </p:cNvPr>
          <p:cNvSpPr/>
          <p:nvPr/>
        </p:nvSpPr>
        <p:spPr>
          <a:xfrm flipH="1">
            <a:off x="3019554" y="109691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aphicFrame>
        <p:nvGraphicFramePr>
          <p:cNvPr id="2" name="Diagramme 1">
            <a:extLst>
              <a:ext uri="{FF2B5EF4-FFF2-40B4-BE49-F238E27FC236}">
                <a16:creationId xmlns:a16="http://schemas.microsoft.com/office/drawing/2014/main" id="{C5951DBE-ED6F-BF9F-E3A8-8D4E4FD25385}"/>
              </a:ext>
            </a:extLst>
          </p:cNvPr>
          <p:cNvGraphicFramePr/>
          <p:nvPr>
            <p:extLst>
              <p:ext uri="{D42A27DB-BD31-4B8C-83A1-F6EECF244321}">
                <p14:modId xmlns:p14="http://schemas.microsoft.com/office/powerpoint/2010/main" val="1768924226"/>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ZoneTexte 7">
            <a:extLst>
              <a:ext uri="{FF2B5EF4-FFF2-40B4-BE49-F238E27FC236}">
                <a16:creationId xmlns:a16="http://schemas.microsoft.com/office/drawing/2014/main" id="{83091F03-7904-8458-7B62-CB7B3B8DB4B0}"/>
              </a:ext>
            </a:extLst>
          </p:cNvPr>
          <p:cNvSpPr txBox="1"/>
          <p:nvPr/>
        </p:nvSpPr>
        <p:spPr>
          <a:xfrm>
            <a:off x="163643" y="1283526"/>
            <a:ext cx="1925136" cy="307777"/>
          </a:xfrm>
          <a:prstGeom prst="rect">
            <a:avLst/>
          </a:prstGeom>
          <a:noFill/>
        </p:spPr>
        <p:txBody>
          <a:bodyPr wrap="square" rtlCol="0">
            <a:spAutoFit/>
          </a:bodyPr>
          <a:lstStyle/>
          <a:p>
            <a:r>
              <a:rPr lang="fr-MA" sz="1400" dirty="0">
                <a:solidFill>
                  <a:schemeClr val="bg1">
                    <a:lumMod val="50000"/>
                  </a:schemeClr>
                </a:solidFill>
                <a:latin typeface="Century Schoolbook" charset="0"/>
                <a:ea typeface="Century Schoolbook" charset="0"/>
                <a:cs typeface="Century Schoolbook" charset="0"/>
              </a:rPr>
              <a:t>Organisme d’accueil</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9" name="ZoneTexte 8">
            <a:extLst>
              <a:ext uri="{FF2B5EF4-FFF2-40B4-BE49-F238E27FC236}">
                <a16:creationId xmlns:a16="http://schemas.microsoft.com/office/drawing/2014/main" id="{81532D87-8CE2-9212-2D8F-EC6A3AAFE012}"/>
              </a:ext>
            </a:extLst>
          </p:cNvPr>
          <p:cNvSpPr txBox="1"/>
          <p:nvPr/>
        </p:nvSpPr>
        <p:spPr>
          <a:xfrm>
            <a:off x="9463138" y="1283632"/>
            <a:ext cx="2136649" cy="307777"/>
          </a:xfrm>
          <a:prstGeom prst="rect">
            <a:avLst/>
          </a:prstGeom>
          <a:noFill/>
        </p:spPr>
        <p:txBody>
          <a:bodyPr wrap="square" rtlCol="0">
            <a:spAutoFit/>
          </a:bodyPr>
          <a:lstStyle/>
          <a:p>
            <a:pPr algn="ctr"/>
            <a:r>
              <a:rPr lang="fr-FR" sz="1400" dirty="0">
                <a:solidFill>
                  <a:schemeClr val="bg1">
                    <a:lumMod val="50000"/>
                  </a:schemeClr>
                </a:solidFill>
                <a:latin typeface="Century Schoolbook" charset="0"/>
                <a:ea typeface="Century Schoolbook" charset="0"/>
                <a:cs typeface="Century Schoolbook" charset="0"/>
              </a:rPr>
              <a:t>Gestion de projet</a:t>
            </a:r>
          </a:p>
        </p:txBody>
      </p:sp>
      <p:sp>
        <p:nvSpPr>
          <p:cNvPr id="12" name="ZoneTexte 17">
            <a:extLst>
              <a:ext uri="{FF2B5EF4-FFF2-40B4-BE49-F238E27FC236}">
                <a16:creationId xmlns:a16="http://schemas.microsoft.com/office/drawing/2014/main" id="{7FE9F41E-CEC6-136A-981D-3297C45DA0BC}"/>
              </a:ext>
            </a:extLst>
          </p:cNvPr>
          <p:cNvSpPr txBox="1"/>
          <p:nvPr/>
        </p:nvSpPr>
        <p:spPr>
          <a:xfrm>
            <a:off x="4522389" y="128352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Problématique</a:t>
            </a:r>
          </a:p>
        </p:txBody>
      </p:sp>
      <p:sp>
        <p:nvSpPr>
          <p:cNvPr id="14" name="ZoneTexte 17">
            <a:extLst>
              <a:ext uri="{FF2B5EF4-FFF2-40B4-BE49-F238E27FC236}">
                <a16:creationId xmlns:a16="http://schemas.microsoft.com/office/drawing/2014/main" id="{80B085AE-12CB-9FAC-787A-3A0467603ED6}"/>
              </a:ext>
            </a:extLst>
          </p:cNvPr>
          <p:cNvSpPr txBox="1"/>
          <p:nvPr/>
        </p:nvSpPr>
        <p:spPr>
          <a:xfrm>
            <a:off x="7172639" y="1294405"/>
            <a:ext cx="179719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L’architecture cible</a:t>
            </a:r>
          </a:p>
        </p:txBody>
      </p:sp>
      <p:sp>
        <p:nvSpPr>
          <p:cNvPr id="15" name="ZoneTexte 17">
            <a:extLst>
              <a:ext uri="{FF2B5EF4-FFF2-40B4-BE49-F238E27FC236}">
                <a16:creationId xmlns:a16="http://schemas.microsoft.com/office/drawing/2014/main" id="{0042A2A7-068A-6952-4B41-6B66D4A7C20C}"/>
              </a:ext>
            </a:extLst>
          </p:cNvPr>
          <p:cNvSpPr txBox="1"/>
          <p:nvPr/>
        </p:nvSpPr>
        <p:spPr>
          <a:xfrm>
            <a:off x="2088779" y="1276988"/>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Étude de l'état actuel</a:t>
            </a:r>
          </a:p>
        </p:txBody>
      </p:sp>
      <p:pic>
        <p:nvPicPr>
          <p:cNvPr id="10" name="Image 9">
            <a:extLst>
              <a:ext uri="{FF2B5EF4-FFF2-40B4-BE49-F238E27FC236}">
                <a16:creationId xmlns:a16="http://schemas.microsoft.com/office/drawing/2014/main" id="{8C0D7441-DFDF-EE2D-F54A-62D45F76493D}"/>
              </a:ext>
            </a:extLst>
          </p:cNvPr>
          <p:cNvPicPr>
            <a:picLocks noChangeAspect="1"/>
          </p:cNvPicPr>
          <p:nvPr/>
        </p:nvPicPr>
        <p:blipFill>
          <a:blip r:embed="rId8"/>
          <a:stretch>
            <a:fillRect/>
          </a:stretch>
        </p:blipFill>
        <p:spPr>
          <a:xfrm>
            <a:off x="798515" y="1710212"/>
            <a:ext cx="10594969" cy="4628721"/>
          </a:xfrm>
          <a:prstGeom prst="rect">
            <a:avLst/>
          </a:prstGeom>
        </p:spPr>
      </p:pic>
    </p:spTree>
    <p:extLst>
      <p:ext uri="{BB962C8B-B14F-4D97-AF65-F5344CB8AC3E}">
        <p14:creationId xmlns:p14="http://schemas.microsoft.com/office/powerpoint/2010/main" val="1611173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3999" y="2829230"/>
            <a:ext cx="9144000" cy="837101"/>
          </a:xfrm>
        </p:spPr>
        <p:txBody>
          <a:bodyPr>
            <a:normAutofit/>
          </a:bodyPr>
          <a:lstStyle/>
          <a:p>
            <a:r>
              <a:rPr lang="en-US" sz="4800" dirty="0">
                <a:latin typeface="Century Gothic" panose="020B0502020202020204" pitchFamily="34" charset="0"/>
                <a:ea typeface="Century Schoolbook" charset="0"/>
                <a:cs typeface="Century Schoolbook" charset="0"/>
              </a:rPr>
              <a:t>Analyse des Besoins</a:t>
            </a:r>
          </a:p>
        </p:txBody>
      </p:sp>
      <p:cxnSp>
        <p:nvCxnSpPr>
          <p:cNvPr id="7" name="Connecteur droit 6"/>
          <p:cNvCxnSpPr/>
          <p:nvPr/>
        </p:nvCxnSpPr>
        <p:spPr>
          <a:xfrm flipV="1">
            <a:off x="3276600" y="3955562"/>
            <a:ext cx="5703277" cy="6838"/>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9" name="Connecteur droit 8"/>
          <p:cNvCxnSpPr/>
          <p:nvPr/>
        </p:nvCxnSpPr>
        <p:spPr>
          <a:xfrm flipV="1">
            <a:off x="3244361" y="2533162"/>
            <a:ext cx="5703277" cy="6838"/>
          </a:xfrm>
          <a:prstGeom prst="line">
            <a:avLst/>
          </a:prstGeom>
          <a:ln/>
        </p:spPr>
        <p:style>
          <a:lnRef idx="1">
            <a:schemeClr val="accent5"/>
          </a:lnRef>
          <a:fillRef idx="0">
            <a:schemeClr val="accent5"/>
          </a:fillRef>
          <a:effectRef idx="0">
            <a:schemeClr val="accent5"/>
          </a:effectRef>
          <a:fontRef idx="minor">
            <a:schemeClr val="tx1"/>
          </a:fontRef>
        </p:style>
      </p:cxnSp>
      <p:sp>
        <p:nvSpPr>
          <p:cNvPr id="10" name="Rectangle à coins arrondis 9"/>
          <p:cNvSpPr/>
          <p:nvPr/>
        </p:nvSpPr>
        <p:spPr>
          <a:xfrm>
            <a:off x="4883085" y="2395728"/>
            <a:ext cx="2394408" cy="144272"/>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à coins arrondis 10"/>
          <p:cNvSpPr/>
          <p:nvPr/>
        </p:nvSpPr>
        <p:spPr>
          <a:xfrm>
            <a:off x="4883085" y="3962400"/>
            <a:ext cx="2394408" cy="152400"/>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Slide Number Placeholder 2">
            <a:extLst>
              <a:ext uri="{FF2B5EF4-FFF2-40B4-BE49-F238E27FC236}">
                <a16:creationId xmlns:a16="http://schemas.microsoft.com/office/drawing/2014/main" id="{DAEB7993-FCA7-DA12-22BA-62E461B41EBA}"/>
              </a:ext>
            </a:extLst>
          </p:cNvPr>
          <p:cNvSpPr>
            <a:spLocks noGrp="1"/>
          </p:cNvSpPr>
          <p:nvPr>
            <p:ph type="sldNum" sz="quarter" idx="12"/>
          </p:nvPr>
        </p:nvSpPr>
        <p:spPr/>
        <p:txBody>
          <a:bodyPr/>
          <a:lstStyle/>
          <a:p>
            <a:fld id="{6983841B-0DB4-4C99-B5E5-79625F01DBF7}" type="slidenum">
              <a:rPr lang="en-GB" smtClean="0"/>
              <a:t>11</a:t>
            </a:fld>
            <a:endParaRPr lang="en-GB" dirty="0"/>
          </a:p>
        </p:txBody>
      </p:sp>
    </p:spTree>
    <p:extLst>
      <p:ext uri="{BB962C8B-B14F-4D97-AF65-F5344CB8AC3E}">
        <p14:creationId xmlns:p14="http://schemas.microsoft.com/office/powerpoint/2010/main" val="39108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p:cNvGraphicFramePr/>
          <p:nvPr>
            <p:extLst>
              <p:ext uri="{D42A27DB-BD31-4B8C-83A1-F6EECF244321}">
                <p14:modId xmlns:p14="http://schemas.microsoft.com/office/powerpoint/2010/main" val="646276666"/>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3497A1A2-EB52-CB47-024C-391E67196D3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7">
            <a:extLst>
              <a:ext uri="{FF2B5EF4-FFF2-40B4-BE49-F238E27FC236}">
                <a16:creationId xmlns:a16="http://schemas.microsoft.com/office/drawing/2014/main" id="{C7D84A5C-80E7-C2EE-7471-4592A447E452}"/>
              </a:ext>
            </a:extLst>
          </p:cNvPr>
          <p:cNvSpPr/>
          <p:nvPr/>
        </p:nvSpPr>
        <p:spPr>
          <a:xfrm flipH="1">
            <a:off x="316988"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6" name="Ellipse 13">
            <a:extLst>
              <a:ext uri="{FF2B5EF4-FFF2-40B4-BE49-F238E27FC236}">
                <a16:creationId xmlns:a16="http://schemas.microsoft.com/office/drawing/2014/main" id="{E027942A-609A-8BA9-1287-D2A4DC3FAB91}"/>
              </a:ext>
            </a:extLst>
          </p:cNvPr>
          <p:cNvSpPr/>
          <p:nvPr/>
        </p:nvSpPr>
        <p:spPr>
          <a:xfrm flipH="1">
            <a:off x="5453164"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ZoneTexte 16">
            <a:extLst>
              <a:ext uri="{FF2B5EF4-FFF2-40B4-BE49-F238E27FC236}">
                <a16:creationId xmlns:a16="http://schemas.microsoft.com/office/drawing/2014/main" id="{8CA499D7-7695-EE9D-1593-378DE04E5982}"/>
              </a:ext>
            </a:extLst>
          </p:cNvPr>
          <p:cNvSpPr txBox="1"/>
          <p:nvPr/>
        </p:nvSpPr>
        <p:spPr>
          <a:xfrm>
            <a:off x="163643" y="1283526"/>
            <a:ext cx="2474782"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Exigences fonctionnelles</a:t>
            </a:r>
          </a:p>
        </p:txBody>
      </p:sp>
      <p:sp>
        <p:nvSpPr>
          <p:cNvPr id="13" name="ZoneTexte 17">
            <a:extLst>
              <a:ext uri="{FF2B5EF4-FFF2-40B4-BE49-F238E27FC236}">
                <a16:creationId xmlns:a16="http://schemas.microsoft.com/office/drawing/2014/main" id="{C0577E8C-FC01-D885-6BA9-CBDDEF59C74C}"/>
              </a:ext>
            </a:extLst>
          </p:cNvPr>
          <p:cNvSpPr txBox="1"/>
          <p:nvPr/>
        </p:nvSpPr>
        <p:spPr>
          <a:xfrm>
            <a:off x="4522389" y="1283526"/>
            <a:ext cx="265025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Exigences non fonctionnelles</a:t>
            </a:r>
          </a:p>
        </p:txBody>
      </p:sp>
      <p:sp>
        <p:nvSpPr>
          <p:cNvPr id="2" name="Rectangle 1">
            <a:extLst>
              <a:ext uri="{FF2B5EF4-FFF2-40B4-BE49-F238E27FC236}">
                <a16:creationId xmlns:a16="http://schemas.microsoft.com/office/drawing/2014/main" id="{1B2E67AA-D2A3-56F8-C4B8-E1CEE809EC41}"/>
              </a:ext>
            </a:extLst>
          </p:cNvPr>
          <p:cNvSpPr/>
          <p:nvPr/>
        </p:nvSpPr>
        <p:spPr>
          <a:xfrm>
            <a:off x="2203714" y="1830045"/>
            <a:ext cx="2799821" cy="2275623"/>
          </a:xfrm>
          <a:prstGeom prst="rect">
            <a:avLst/>
          </a:prstGeom>
          <a:solidFill>
            <a:schemeClr val="accent6">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p>
        </p:txBody>
      </p:sp>
      <p:sp>
        <p:nvSpPr>
          <p:cNvPr id="8" name="ZoneTexte 7">
            <a:extLst>
              <a:ext uri="{FF2B5EF4-FFF2-40B4-BE49-F238E27FC236}">
                <a16:creationId xmlns:a16="http://schemas.microsoft.com/office/drawing/2014/main" id="{7DB6373E-13F8-4EE0-B0B9-8159E9AA037D}"/>
              </a:ext>
            </a:extLst>
          </p:cNvPr>
          <p:cNvSpPr txBox="1"/>
          <p:nvPr/>
        </p:nvSpPr>
        <p:spPr>
          <a:xfrm>
            <a:off x="2516550" y="3224965"/>
            <a:ext cx="2261684" cy="646331"/>
          </a:xfrm>
          <a:prstGeom prst="rect">
            <a:avLst/>
          </a:prstGeom>
          <a:noFill/>
        </p:spPr>
        <p:txBody>
          <a:bodyPr wrap="square" rtlCol="0">
            <a:spAutoFit/>
          </a:bodyPr>
          <a:lstStyle/>
          <a:p>
            <a:pPr algn="ctr"/>
            <a:r>
              <a:rPr lang="fr-MA" dirty="0">
                <a:latin typeface="Century Gothic" panose="020B0502020202020204" pitchFamily="34" charset="0"/>
              </a:rPr>
              <a:t>Suivi automatisé des fichiers</a:t>
            </a:r>
            <a:endParaRPr lang="fr-FR" dirty="0">
              <a:latin typeface="Century Gothic" panose="020B0502020202020204" pitchFamily="34" charset="0"/>
            </a:endParaRPr>
          </a:p>
        </p:txBody>
      </p:sp>
      <p:sp>
        <p:nvSpPr>
          <p:cNvPr id="12" name="Rectangle 11">
            <a:extLst>
              <a:ext uri="{FF2B5EF4-FFF2-40B4-BE49-F238E27FC236}">
                <a16:creationId xmlns:a16="http://schemas.microsoft.com/office/drawing/2014/main" id="{A457B2A3-4DBA-89E5-1249-BA1F31A5F2C2}"/>
              </a:ext>
            </a:extLst>
          </p:cNvPr>
          <p:cNvSpPr/>
          <p:nvPr/>
        </p:nvSpPr>
        <p:spPr>
          <a:xfrm>
            <a:off x="4522389" y="4320118"/>
            <a:ext cx="2799821" cy="2275626"/>
          </a:xfrm>
          <a:prstGeom prst="rect">
            <a:avLst/>
          </a:prstGeom>
          <a:solidFill>
            <a:schemeClr val="accent5">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p>
        </p:txBody>
      </p:sp>
      <p:sp>
        <p:nvSpPr>
          <p:cNvPr id="14" name="ZoneTexte 40">
            <a:extLst>
              <a:ext uri="{FF2B5EF4-FFF2-40B4-BE49-F238E27FC236}">
                <a16:creationId xmlns:a16="http://schemas.microsoft.com/office/drawing/2014/main" id="{A75BD193-C538-90EB-A2D0-4378F83B8546}"/>
              </a:ext>
            </a:extLst>
          </p:cNvPr>
          <p:cNvSpPr txBox="1"/>
          <p:nvPr/>
        </p:nvSpPr>
        <p:spPr>
          <a:xfrm>
            <a:off x="4677888" y="5682178"/>
            <a:ext cx="2488821" cy="646331"/>
          </a:xfrm>
          <a:prstGeom prst="rect">
            <a:avLst/>
          </a:prstGeom>
          <a:noFill/>
        </p:spPr>
        <p:txBody>
          <a:bodyPr wrap="square" rtlCol="0">
            <a:spAutoFit/>
          </a:bodyPr>
          <a:lstStyle/>
          <a:p>
            <a:pPr algn="ctr"/>
            <a:r>
              <a:rPr lang="fr-MA" dirty="0">
                <a:latin typeface="Century Gothic" panose="020B0502020202020204" pitchFamily="34" charset="0"/>
              </a:rPr>
              <a:t>Visualisation via Power BI</a:t>
            </a:r>
          </a:p>
        </p:txBody>
      </p:sp>
      <p:sp>
        <p:nvSpPr>
          <p:cNvPr id="17" name="Rectangle 16">
            <a:extLst>
              <a:ext uri="{FF2B5EF4-FFF2-40B4-BE49-F238E27FC236}">
                <a16:creationId xmlns:a16="http://schemas.microsoft.com/office/drawing/2014/main" id="{AAF699BE-0833-8EC2-D734-C0E44C460D0B}"/>
              </a:ext>
            </a:extLst>
          </p:cNvPr>
          <p:cNvSpPr/>
          <p:nvPr/>
        </p:nvSpPr>
        <p:spPr>
          <a:xfrm>
            <a:off x="6996916" y="1800078"/>
            <a:ext cx="2799821" cy="2275626"/>
          </a:xfrm>
          <a:prstGeom prst="rect">
            <a:avLst/>
          </a:prstGeom>
          <a:solidFill>
            <a:schemeClr val="bg2">
              <a:lumMod val="9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p>
        </p:txBody>
      </p:sp>
      <p:sp>
        <p:nvSpPr>
          <p:cNvPr id="18" name="ZoneTexte 44">
            <a:extLst>
              <a:ext uri="{FF2B5EF4-FFF2-40B4-BE49-F238E27FC236}">
                <a16:creationId xmlns:a16="http://schemas.microsoft.com/office/drawing/2014/main" id="{055FBCB0-728F-F983-6160-3227CDB813F3}"/>
              </a:ext>
            </a:extLst>
          </p:cNvPr>
          <p:cNvSpPr txBox="1"/>
          <p:nvPr/>
        </p:nvSpPr>
        <p:spPr>
          <a:xfrm>
            <a:off x="7090063" y="3182305"/>
            <a:ext cx="2706674" cy="646331"/>
          </a:xfrm>
          <a:prstGeom prst="rect">
            <a:avLst/>
          </a:prstGeom>
          <a:noFill/>
        </p:spPr>
        <p:txBody>
          <a:bodyPr wrap="square" rtlCol="0">
            <a:spAutoFit/>
          </a:bodyPr>
          <a:lstStyle/>
          <a:p>
            <a:pPr algn="ctr"/>
            <a:r>
              <a:rPr lang="fr-MA" dirty="0">
                <a:latin typeface="Century Gothic" panose="020B0502020202020204" pitchFamily="34" charset="0"/>
              </a:rPr>
              <a:t>Détection des anomalies</a:t>
            </a:r>
            <a:endParaRPr lang="fr-FR" dirty="0">
              <a:latin typeface="Century Gothic" panose="020B0502020202020204" pitchFamily="34" charset="0"/>
            </a:endParaRPr>
          </a:p>
        </p:txBody>
      </p:sp>
      <p:sp>
        <p:nvSpPr>
          <p:cNvPr id="20" name="Ellipse 50">
            <a:extLst>
              <a:ext uri="{FF2B5EF4-FFF2-40B4-BE49-F238E27FC236}">
                <a16:creationId xmlns:a16="http://schemas.microsoft.com/office/drawing/2014/main" id="{9F5688F3-F697-4155-C10E-74C22B5EA731}"/>
              </a:ext>
            </a:extLst>
          </p:cNvPr>
          <p:cNvSpPr/>
          <p:nvPr/>
        </p:nvSpPr>
        <p:spPr>
          <a:xfrm>
            <a:off x="5288088" y="4446558"/>
            <a:ext cx="1189566" cy="1189566"/>
          </a:xfrm>
          <a:prstGeom prst="ellipse">
            <a:avLst/>
          </a:prstGeom>
          <a:solidFill>
            <a:schemeClr val="bg1">
              <a:lumMod val="95000"/>
            </a:schemeClr>
          </a:solid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Ellipse 51">
            <a:extLst>
              <a:ext uri="{FF2B5EF4-FFF2-40B4-BE49-F238E27FC236}">
                <a16:creationId xmlns:a16="http://schemas.microsoft.com/office/drawing/2014/main" id="{83957BDE-72F1-EABB-A906-3D88290AEF22}"/>
              </a:ext>
            </a:extLst>
          </p:cNvPr>
          <p:cNvSpPr/>
          <p:nvPr/>
        </p:nvSpPr>
        <p:spPr>
          <a:xfrm>
            <a:off x="7802043" y="1926686"/>
            <a:ext cx="1189566" cy="1189566"/>
          </a:xfrm>
          <a:prstGeom prst="ellipse">
            <a:avLst/>
          </a:prstGeom>
          <a:solidFill>
            <a:schemeClr val="bg1">
              <a:lumMod val="95000"/>
            </a:schemeClr>
          </a:solid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Ellipse 51">
            <a:extLst>
              <a:ext uri="{FF2B5EF4-FFF2-40B4-BE49-F238E27FC236}">
                <a16:creationId xmlns:a16="http://schemas.microsoft.com/office/drawing/2014/main" id="{D4AF4D62-B561-02FD-175F-E610AADBBBE9}"/>
              </a:ext>
            </a:extLst>
          </p:cNvPr>
          <p:cNvSpPr/>
          <p:nvPr/>
        </p:nvSpPr>
        <p:spPr>
          <a:xfrm>
            <a:off x="3008841" y="1975295"/>
            <a:ext cx="1189566" cy="1189566"/>
          </a:xfrm>
          <a:prstGeom prst="ellipse">
            <a:avLst/>
          </a:prstGeom>
          <a:solidFill>
            <a:schemeClr val="bg1">
              <a:lumMod val="95000"/>
            </a:schemeClr>
          </a:solid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9" name="Slide Number Placeholder 28">
            <a:extLst>
              <a:ext uri="{FF2B5EF4-FFF2-40B4-BE49-F238E27FC236}">
                <a16:creationId xmlns:a16="http://schemas.microsoft.com/office/drawing/2014/main" id="{D3E01B13-FC1F-2186-A438-35A744830D1F}"/>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12</a:t>
            </a:fld>
            <a:endParaRPr lang="en-GB" dirty="0"/>
          </a:p>
        </p:txBody>
      </p:sp>
      <p:pic>
        <p:nvPicPr>
          <p:cNvPr id="30" name="Image 29" descr="Une image contenant Graphique, logo, symbole, cercle&#10;&#10;Le contenu généré par l’IA peut être incorrect.">
            <a:extLst>
              <a:ext uri="{FF2B5EF4-FFF2-40B4-BE49-F238E27FC236}">
                <a16:creationId xmlns:a16="http://schemas.microsoft.com/office/drawing/2014/main" id="{F9CABACF-34EB-70B3-157F-D6667CEC35B3}"/>
              </a:ext>
            </a:extLst>
          </p:cNvPr>
          <p:cNvPicPr>
            <a:picLocks noChangeAspect="1"/>
          </p:cNvPicPr>
          <p:nvPr/>
        </p:nvPicPr>
        <p:blipFill>
          <a:blip r:embed="rId8"/>
          <a:stretch>
            <a:fillRect/>
          </a:stretch>
        </p:blipFill>
        <p:spPr>
          <a:xfrm>
            <a:off x="2842649" y="1830045"/>
            <a:ext cx="1512560" cy="1512560"/>
          </a:xfrm>
          <a:prstGeom prst="rect">
            <a:avLst/>
          </a:prstGeom>
        </p:spPr>
      </p:pic>
      <p:pic>
        <p:nvPicPr>
          <p:cNvPr id="32" name="Image 31" descr="Une image contenant signe, symbole, Panneau de signalisation, Police&#10;&#10;Le contenu généré par l’IA peut être incorrect.">
            <a:extLst>
              <a:ext uri="{FF2B5EF4-FFF2-40B4-BE49-F238E27FC236}">
                <a16:creationId xmlns:a16="http://schemas.microsoft.com/office/drawing/2014/main" id="{C0133153-6802-4B12-6C63-1811AADDFED0}"/>
              </a:ext>
            </a:extLst>
          </p:cNvPr>
          <p:cNvPicPr>
            <a:picLocks noChangeAspect="1"/>
          </p:cNvPicPr>
          <p:nvPr/>
        </p:nvPicPr>
        <p:blipFill>
          <a:blip r:embed="rId9"/>
          <a:stretch>
            <a:fillRect/>
          </a:stretch>
        </p:blipFill>
        <p:spPr>
          <a:xfrm>
            <a:off x="7737245" y="1797089"/>
            <a:ext cx="1319163" cy="1319163"/>
          </a:xfrm>
          <a:prstGeom prst="rect">
            <a:avLst/>
          </a:prstGeom>
        </p:spPr>
      </p:pic>
      <p:pic>
        <p:nvPicPr>
          <p:cNvPr id="34" name="Image 33" descr="Une image contenant capture d’écran, symbole, Graphique, logo&#10;&#10;Le contenu généré par l’IA peut être incorrect.">
            <a:extLst>
              <a:ext uri="{FF2B5EF4-FFF2-40B4-BE49-F238E27FC236}">
                <a16:creationId xmlns:a16="http://schemas.microsoft.com/office/drawing/2014/main" id="{A2FC1855-02D7-9C1C-70E7-3CDDA42B0A3E}"/>
              </a:ext>
            </a:extLst>
          </p:cNvPr>
          <p:cNvPicPr>
            <a:picLocks noChangeAspect="1"/>
          </p:cNvPicPr>
          <p:nvPr/>
        </p:nvPicPr>
        <p:blipFill>
          <a:blip r:embed="rId10"/>
          <a:stretch>
            <a:fillRect/>
          </a:stretch>
        </p:blipFill>
        <p:spPr>
          <a:xfrm>
            <a:off x="5275556" y="4463319"/>
            <a:ext cx="1202098" cy="1202098"/>
          </a:xfrm>
          <a:prstGeom prst="rect">
            <a:avLst/>
          </a:prstGeom>
        </p:spPr>
      </p:pic>
    </p:spTree>
    <p:extLst>
      <p:ext uri="{BB962C8B-B14F-4D97-AF65-F5344CB8AC3E}">
        <p14:creationId xmlns:p14="http://schemas.microsoft.com/office/powerpoint/2010/main" val="3557818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1000"/>
                                        <p:tgtEl>
                                          <p:spTgt spid="30"/>
                                        </p:tgtEl>
                                      </p:cBhvr>
                                    </p:animEffect>
                                    <p:anim calcmode="lin" valueType="num">
                                      <p:cBhvr>
                                        <p:cTn id="23" dur="1000" fill="hold"/>
                                        <p:tgtEl>
                                          <p:spTgt spid="30"/>
                                        </p:tgtEl>
                                        <p:attrNameLst>
                                          <p:attrName>ppt_x</p:attrName>
                                        </p:attrNameLst>
                                      </p:cBhvr>
                                      <p:tavLst>
                                        <p:tav tm="0">
                                          <p:val>
                                            <p:strVal val="#ppt_x"/>
                                          </p:val>
                                        </p:tav>
                                        <p:tav tm="100000">
                                          <p:val>
                                            <p:strVal val="#ppt_x"/>
                                          </p:val>
                                        </p:tav>
                                      </p:tavLst>
                                    </p:anim>
                                    <p:anim calcmode="lin" valueType="num">
                                      <p:cBhvr>
                                        <p:cTn id="2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anim calcmode="lin" valueType="num">
                                      <p:cBhvr>
                                        <p:cTn id="35" dur="1000" fill="hold"/>
                                        <p:tgtEl>
                                          <p:spTgt spid="18"/>
                                        </p:tgtEl>
                                        <p:attrNameLst>
                                          <p:attrName>ppt_x</p:attrName>
                                        </p:attrNameLst>
                                      </p:cBhvr>
                                      <p:tavLst>
                                        <p:tav tm="0">
                                          <p:val>
                                            <p:strVal val="#ppt_x"/>
                                          </p:val>
                                        </p:tav>
                                        <p:tav tm="100000">
                                          <p:val>
                                            <p:strVal val="#ppt_x"/>
                                          </p:val>
                                        </p:tav>
                                      </p:tavLst>
                                    </p:anim>
                                    <p:anim calcmode="lin" valueType="num">
                                      <p:cBhvr>
                                        <p:cTn id="36" dur="1000" fill="hold"/>
                                        <p:tgtEl>
                                          <p:spTgt spid="1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1000"/>
                                        <p:tgtEl>
                                          <p:spTgt spid="23"/>
                                        </p:tgtEl>
                                      </p:cBhvr>
                                    </p:animEffect>
                                    <p:anim calcmode="lin" valueType="num">
                                      <p:cBhvr>
                                        <p:cTn id="40" dur="1000" fill="hold"/>
                                        <p:tgtEl>
                                          <p:spTgt spid="23"/>
                                        </p:tgtEl>
                                        <p:attrNameLst>
                                          <p:attrName>ppt_x</p:attrName>
                                        </p:attrNameLst>
                                      </p:cBhvr>
                                      <p:tavLst>
                                        <p:tav tm="0">
                                          <p:val>
                                            <p:strVal val="#ppt_x"/>
                                          </p:val>
                                        </p:tav>
                                        <p:tav tm="100000">
                                          <p:val>
                                            <p:strVal val="#ppt_x"/>
                                          </p:val>
                                        </p:tav>
                                      </p:tavLst>
                                    </p:anim>
                                    <p:anim calcmode="lin" valueType="num">
                                      <p:cBhvr>
                                        <p:cTn id="41" dur="1000" fill="hold"/>
                                        <p:tgtEl>
                                          <p:spTgt spid="23"/>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1000"/>
                                        <p:tgtEl>
                                          <p:spTgt spid="32"/>
                                        </p:tgtEl>
                                      </p:cBhvr>
                                    </p:animEffect>
                                    <p:anim calcmode="lin" valueType="num">
                                      <p:cBhvr>
                                        <p:cTn id="45" dur="1000" fill="hold"/>
                                        <p:tgtEl>
                                          <p:spTgt spid="32"/>
                                        </p:tgtEl>
                                        <p:attrNameLst>
                                          <p:attrName>ppt_x</p:attrName>
                                        </p:attrNameLst>
                                      </p:cBhvr>
                                      <p:tavLst>
                                        <p:tav tm="0">
                                          <p:val>
                                            <p:strVal val="#ppt_x"/>
                                          </p:val>
                                        </p:tav>
                                        <p:tav tm="100000">
                                          <p:val>
                                            <p:strVal val="#ppt_x"/>
                                          </p:val>
                                        </p:tav>
                                      </p:tavLst>
                                    </p:anim>
                                    <p:anim calcmode="lin" valueType="num">
                                      <p:cBhvr>
                                        <p:cTn id="4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anim calcmode="lin" valueType="num">
                                      <p:cBhvr>
                                        <p:cTn id="57" dur="1000" fill="hold"/>
                                        <p:tgtEl>
                                          <p:spTgt spid="14"/>
                                        </p:tgtEl>
                                        <p:attrNameLst>
                                          <p:attrName>ppt_x</p:attrName>
                                        </p:attrNameLst>
                                      </p:cBhvr>
                                      <p:tavLst>
                                        <p:tav tm="0">
                                          <p:val>
                                            <p:strVal val="#ppt_x"/>
                                          </p:val>
                                        </p:tav>
                                        <p:tav tm="100000">
                                          <p:val>
                                            <p:strVal val="#ppt_x"/>
                                          </p:val>
                                        </p:tav>
                                      </p:tavLst>
                                    </p:anim>
                                    <p:anim calcmode="lin" valueType="num">
                                      <p:cBhvr>
                                        <p:cTn id="58" dur="100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1000"/>
                                        <p:tgtEl>
                                          <p:spTgt spid="20"/>
                                        </p:tgtEl>
                                      </p:cBhvr>
                                    </p:animEffect>
                                    <p:anim calcmode="lin" valueType="num">
                                      <p:cBhvr>
                                        <p:cTn id="62" dur="1000" fill="hold"/>
                                        <p:tgtEl>
                                          <p:spTgt spid="20"/>
                                        </p:tgtEl>
                                        <p:attrNameLst>
                                          <p:attrName>ppt_x</p:attrName>
                                        </p:attrNameLst>
                                      </p:cBhvr>
                                      <p:tavLst>
                                        <p:tav tm="0">
                                          <p:val>
                                            <p:strVal val="#ppt_x"/>
                                          </p:val>
                                        </p:tav>
                                        <p:tav tm="100000">
                                          <p:val>
                                            <p:strVal val="#ppt_x"/>
                                          </p:val>
                                        </p:tav>
                                      </p:tavLst>
                                    </p:anim>
                                    <p:anim calcmode="lin" valueType="num">
                                      <p:cBhvr>
                                        <p:cTn id="63" dur="1000" fill="hold"/>
                                        <p:tgtEl>
                                          <p:spTgt spid="20"/>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1000"/>
                                        <p:tgtEl>
                                          <p:spTgt spid="34"/>
                                        </p:tgtEl>
                                      </p:cBhvr>
                                    </p:animEffect>
                                    <p:anim calcmode="lin" valueType="num">
                                      <p:cBhvr>
                                        <p:cTn id="67" dur="1000" fill="hold"/>
                                        <p:tgtEl>
                                          <p:spTgt spid="34"/>
                                        </p:tgtEl>
                                        <p:attrNameLst>
                                          <p:attrName>ppt_x</p:attrName>
                                        </p:attrNameLst>
                                      </p:cBhvr>
                                      <p:tavLst>
                                        <p:tav tm="0">
                                          <p:val>
                                            <p:strVal val="#ppt_x"/>
                                          </p:val>
                                        </p:tav>
                                        <p:tav tm="100000">
                                          <p:val>
                                            <p:strVal val="#ppt_x"/>
                                          </p:val>
                                        </p:tav>
                                      </p:tavLst>
                                    </p:anim>
                                    <p:anim calcmode="lin" valueType="num">
                                      <p:cBhvr>
                                        <p:cTn id="68"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12" grpId="0" animBg="1"/>
      <p:bldP spid="14" grpId="0"/>
      <p:bldP spid="17" grpId="0" animBg="1"/>
      <p:bldP spid="18" grpId="0"/>
      <p:bldP spid="20" grpId="0" animBg="1"/>
      <p:bldP spid="23"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6">
            <a:extLst>
              <a:ext uri="{FF2B5EF4-FFF2-40B4-BE49-F238E27FC236}">
                <a16:creationId xmlns:a16="http://schemas.microsoft.com/office/drawing/2014/main" id="{3497A1A2-EB52-CB47-024C-391E67196D3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6" name="Ellipse 13">
            <a:extLst>
              <a:ext uri="{FF2B5EF4-FFF2-40B4-BE49-F238E27FC236}">
                <a16:creationId xmlns:a16="http://schemas.microsoft.com/office/drawing/2014/main" id="{E027942A-609A-8BA9-1287-D2A4DC3FAB91}"/>
              </a:ext>
            </a:extLst>
          </p:cNvPr>
          <p:cNvSpPr/>
          <p:nvPr/>
        </p:nvSpPr>
        <p:spPr>
          <a:xfrm flipH="1">
            <a:off x="5453164"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9" name="Ellipse 13">
            <a:extLst>
              <a:ext uri="{FF2B5EF4-FFF2-40B4-BE49-F238E27FC236}">
                <a16:creationId xmlns:a16="http://schemas.microsoft.com/office/drawing/2014/main" id="{5F1D6766-07DA-4324-6F2C-0AF0C80376A6}"/>
              </a:ext>
            </a:extLst>
          </p:cNvPr>
          <p:cNvSpPr/>
          <p:nvPr/>
        </p:nvSpPr>
        <p:spPr>
          <a:xfrm flipH="1">
            <a:off x="355763" y="111444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Rectangle 7">
            <a:extLst>
              <a:ext uri="{FF2B5EF4-FFF2-40B4-BE49-F238E27FC236}">
                <a16:creationId xmlns:a16="http://schemas.microsoft.com/office/drawing/2014/main" id="{93C08BD0-EBD8-F8D3-A83D-8789F48F93CF}"/>
              </a:ext>
            </a:extLst>
          </p:cNvPr>
          <p:cNvSpPr>
            <a:spLocks noChangeArrowheads="1"/>
          </p:cNvSpPr>
          <p:nvPr/>
        </p:nvSpPr>
        <p:spPr bwMode="auto">
          <a:xfrm>
            <a:off x="971550" y="2592436"/>
            <a:ext cx="10579100" cy="2969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200000"/>
              </a:lnSpc>
              <a:spcBef>
                <a:spcPct val="0"/>
              </a:spcBef>
              <a:spcAft>
                <a:spcPct val="0"/>
              </a:spcAft>
              <a:buFont typeface="Wingdings" panose="05000000000000000000" pitchFamily="2" charset="2"/>
              <a:buChar char="ü"/>
            </a:pPr>
            <a:r>
              <a:rPr lang="fr-MA" sz="1600" b="1" dirty="0">
                <a:latin typeface="Century Gothic" panose="020B0502020202020204" pitchFamily="34" charset="0"/>
              </a:rPr>
              <a:t>Sécurité : </a:t>
            </a:r>
            <a:r>
              <a:rPr lang="fr-MA" sz="1600" dirty="0">
                <a:latin typeface="Century Gothic" panose="020B0502020202020204" pitchFamily="34" charset="0"/>
              </a:rPr>
              <a:t>Stockage sécurisé sur AWS S3 avec gestion des accès via IAM.</a:t>
            </a:r>
          </a:p>
          <a:p>
            <a:pPr marL="285750" indent="-285750" eaLnBrk="0" fontAlgn="base" hangingPunct="0">
              <a:lnSpc>
                <a:spcPct val="200000"/>
              </a:lnSpc>
              <a:spcBef>
                <a:spcPct val="0"/>
              </a:spcBef>
              <a:spcAft>
                <a:spcPct val="0"/>
              </a:spcAft>
              <a:buFont typeface="Wingdings" panose="05000000000000000000" pitchFamily="2" charset="2"/>
              <a:buChar char="ü"/>
            </a:pPr>
            <a:r>
              <a:rPr lang="fr-MA" sz="1600" b="1" dirty="0">
                <a:latin typeface="Century Gothic" panose="020B0502020202020204" pitchFamily="34" charset="0"/>
              </a:rPr>
              <a:t>Fiabilité : </a:t>
            </a:r>
            <a:r>
              <a:rPr lang="fr-MA" sz="1600" dirty="0">
                <a:latin typeface="Century Gothic" panose="020B0502020202020204" pitchFamily="34" charset="0"/>
              </a:rPr>
              <a:t>Exécution des traitements distribués via </a:t>
            </a:r>
            <a:r>
              <a:rPr lang="fr-MA" sz="1600" dirty="0" err="1">
                <a:latin typeface="Century Gothic" panose="020B0502020202020204" pitchFamily="34" charset="0"/>
              </a:rPr>
              <a:t>Databricks</a:t>
            </a:r>
            <a:r>
              <a:rPr lang="fr-MA" sz="1600" dirty="0">
                <a:latin typeface="Century Gothic" panose="020B0502020202020204" pitchFamily="34" charset="0"/>
              </a:rPr>
              <a:t> assurant la robustesse et la tolérance aux erreurs.</a:t>
            </a:r>
          </a:p>
          <a:p>
            <a:pPr marL="285750" indent="-285750" eaLnBrk="0" fontAlgn="base" hangingPunct="0">
              <a:lnSpc>
                <a:spcPct val="200000"/>
              </a:lnSpc>
              <a:spcBef>
                <a:spcPct val="0"/>
              </a:spcBef>
              <a:spcAft>
                <a:spcPct val="0"/>
              </a:spcAft>
              <a:buFont typeface="Wingdings" panose="05000000000000000000" pitchFamily="2" charset="2"/>
              <a:buChar char="ü"/>
            </a:pPr>
            <a:r>
              <a:rPr lang="fr-MA" sz="1600" b="1" dirty="0">
                <a:latin typeface="Century Gothic" panose="020B0502020202020204" pitchFamily="34" charset="0"/>
              </a:rPr>
              <a:t>Performance : </a:t>
            </a:r>
            <a:r>
              <a:rPr lang="fr-MA" sz="1600" dirty="0">
                <a:latin typeface="Century Gothic" panose="020B0502020202020204" pitchFamily="34" charset="0"/>
              </a:rPr>
              <a:t>Traitement en temps quasi-réel avec orchestration automatique des jobs (Workflows).</a:t>
            </a:r>
          </a:p>
          <a:p>
            <a:pPr marL="285750" indent="-285750" eaLnBrk="0" fontAlgn="base" hangingPunct="0">
              <a:lnSpc>
                <a:spcPct val="200000"/>
              </a:lnSpc>
              <a:spcBef>
                <a:spcPct val="0"/>
              </a:spcBef>
              <a:spcAft>
                <a:spcPct val="0"/>
              </a:spcAft>
              <a:buFont typeface="Wingdings" panose="05000000000000000000" pitchFamily="2" charset="2"/>
              <a:buChar char="ü"/>
            </a:pPr>
            <a:r>
              <a:rPr lang="fr-MA" sz="1600" b="1" dirty="0">
                <a:latin typeface="Century Gothic" panose="020B0502020202020204" pitchFamily="34" charset="0"/>
              </a:rPr>
              <a:t>Traçabilité : </a:t>
            </a:r>
            <a:r>
              <a:rPr lang="fr-MA" sz="1600" dirty="0">
                <a:latin typeface="Century Gothic" panose="020B0502020202020204" pitchFamily="34" charset="0"/>
              </a:rPr>
              <a:t>Historisation complète des fichiers, erreurs et étapes de traitement via Delta Lake.</a:t>
            </a:r>
          </a:p>
          <a:p>
            <a:pPr marL="285750" indent="-285750" eaLnBrk="0" fontAlgn="base" hangingPunct="0">
              <a:lnSpc>
                <a:spcPct val="200000"/>
              </a:lnSpc>
              <a:spcBef>
                <a:spcPct val="0"/>
              </a:spcBef>
              <a:spcAft>
                <a:spcPct val="0"/>
              </a:spcAft>
              <a:buFont typeface="Wingdings" panose="05000000000000000000" pitchFamily="2" charset="2"/>
              <a:buChar char="ü"/>
            </a:pPr>
            <a:r>
              <a:rPr lang="fr-MA" sz="1600" b="1" dirty="0">
                <a:latin typeface="Century Gothic" panose="020B0502020202020204" pitchFamily="34" charset="0"/>
              </a:rPr>
              <a:t>Accessibilité : </a:t>
            </a:r>
            <a:r>
              <a:rPr lang="fr-MA" sz="1600" dirty="0">
                <a:latin typeface="Century Gothic" panose="020B0502020202020204" pitchFamily="34" charset="0"/>
              </a:rPr>
              <a:t>Indicateurs exposés via Power BI pour permettre aux équipes métiers un suivi autonome.</a:t>
            </a:r>
          </a:p>
        </p:txBody>
      </p:sp>
      <p:sp>
        <p:nvSpPr>
          <p:cNvPr id="2" name="Slide Number Placeholder 28">
            <a:extLst>
              <a:ext uri="{FF2B5EF4-FFF2-40B4-BE49-F238E27FC236}">
                <a16:creationId xmlns:a16="http://schemas.microsoft.com/office/drawing/2014/main" id="{F033CA31-4542-DEC2-57E8-E84F1506185B}"/>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13</a:t>
            </a:fld>
            <a:endParaRPr lang="en-GB" dirty="0"/>
          </a:p>
        </p:txBody>
      </p:sp>
      <p:graphicFrame>
        <p:nvGraphicFramePr>
          <p:cNvPr id="5" name="Diagramme 4">
            <a:extLst>
              <a:ext uri="{FF2B5EF4-FFF2-40B4-BE49-F238E27FC236}">
                <a16:creationId xmlns:a16="http://schemas.microsoft.com/office/drawing/2014/main" id="{FEF9D0C8-74F0-9A40-DBA8-84BEDA29F3D0}"/>
              </a:ext>
            </a:extLst>
          </p:cNvPr>
          <p:cNvGraphicFramePr/>
          <p:nvPr>
            <p:extLst>
              <p:ext uri="{D42A27DB-BD31-4B8C-83A1-F6EECF244321}">
                <p14:modId xmlns:p14="http://schemas.microsoft.com/office/powerpoint/2010/main" val="378260177"/>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ZoneTexte 16">
            <a:extLst>
              <a:ext uri="{FF2B5EF4-FFF2-40B4-BE49-F238E27FC236}">
                <a16:creationId xmlns:a16="http://schemas.microsoft.com/office/drawing/2014/main" id="{F2F56F5A-6FFE-FAAC-F12A-BD5EC9178CAC}"/>
              </a:ext>
            </a:extLst>
          </p:cNvPr>
          <p:cNvSpPr txBox="1"/>
          <p:nvPr/>
        </p:nvSpPr>
        <p:spPr>
          <a:xfrm>
            <a:off x="163643" y="1283526"/>
            <a:ext cx="2474782"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Exigences fonctionnelles</a:t>
            </a:r>
          </a:p>
        </p:txBody>
      </p:sp>
      <p:sp>
        <p:nvSpPr>
          <p:cNvPr id="8" name="ZoneTexte 17">
            <a:extLst>
              <a:ext uri="{FF2B5EF4-FFF2-40B4-BE49-F238E27FC236}">
                <a16:creationId xmlns:a16="http://schemas.microsoft.com/office/drawing/2014/main" id="{A09EBC22-DAA6-2116-AC73-BD07CBA6C34B}"/>
              </a:ext>
            </a:extLst>
          </p:cNvPr>
          <p:cNvSpPr txBox="1"/>
          <p:nvPr/>
        </p:nvSpPr>
        <p:spPr>
          <a:xfrm>
            <a:off x="4522389" y="1283526"/>
            <a:ext cx="2650250"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Exigences non fonctionnelles</a:t>
            </a:r>
          </a:p>
        </p:txBody>
      </p:sp>
    </p:spTree>
    <p:extLst>
      <p:ext uri="{BB962C8B-B14F-4D97-AF65-F5344CB8AC3E}">
        <p14:creationId xmlns:p14="http://schemas.microsoft.com/office/powerpoint/2010/main" val="2819322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3999" y="2829230"/>
            <a:ext cx="9144000" cy="837101"/>
          </a:xfrm>
        </p:spPr>
        <p:txBody>
          <a:bodyPr>
            <a:normAutofit/>
          </a:bodyPr>
          <a:lstStyle/>
          <a:p>
            <a:r>
              <a:rPr lang="en-US" sz="4800" dirty="0">
                <a:latin typeface="Century Gothic" panose="020B0502020202020204" pitchFamily="34" charset="0"/>
                <a:ea typeface="Century Schoolbook" charset="0"/>
                <a:cs typeface="Century Schoolbook" charset="0"/>
              </a:rPr>
              <a:t>Conception</a:t>
            </a:r>
          </a:p>
        </p:txBody>
      </p:sp>
      <p:cxnSp>
        <p:nvCxnSpPr>
          <p:cNvPr id="7" name="Connecteur droit 6"/>
          <p:cNvCxnSpPr/>
          <p:nvPr/>
        </p:nvCxnSpPr>
        <p:spPr>
          <a:xfrm flipV="1">
            <a:off x="3276600" y="3955562"/>
            <a:ext cx="5703277" cy="6838"/>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9" name="Connecteur droit 8"/>
          <p:cNvCxnSpPr/>
          <p:nvPr/>
        </p:nvCxnSpPr>
        <p:spPr>
          <a:xfrm flipV="1">
            <a:off x="3244361" y="2533162"/>
            <a:ext cx="5703277" cy="6838"/>
          </a:xfrm>
          <a:prstGeom prst="line">
            <a:avLst/>
          </a:prstGeom>
          <a:ln/>
        </p:spPr>
        <p:style>
          <a:lnRef idx="1">
            <a:schemeClr val="accent5"/>
          </a:lnRef>
          <a:fillRef idx="0">
            <a:schemeClr val="accent5"/>
          </a:fillRef>
          <a:effectRef idx="0">
            <a:schemeClr val="accent5"/>
          </a:effectRef>
          <a:fontRef idx="minor">
            <a:schemeClr val="tx1"/>
          </a:fontRef>
        </p:style>
      </p:cxnSp>
      <p:sp>
        <p:nvSpPr>
          <p:cNvPr id="10" name="Rectangle à coins arrondis 9"/>
          <p:cNvSpPr/>
          <p:nvPr/>
        </p:nvSpPr>
        <p:spPr>
          <a:xfrm>
            <a:off x="4883085" y="2395728"/>
            <a:ext cx="2394408" cy="144272"/>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à coins arrondis 10"/>
          <p:cNvSpPr/>
          <p:nvPr/>
        </p:nvSpPr>
        <p:spPr>
          <a:xfrm>
            <a:off x="4883085" y="3962400"/>
            <a:ext cx="2394408" cy="152400"/>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Slide Number Placeholder 2">
            <a:extLst>
              <a:ext uri="{FF2B5EF4-FFF2-40B4-BE49-F238E27FC236}">
                <a16:creationId xmlns:a16="http://schemas.microsoft.com/office/drawing/2014/main" id="{DAEB7993-FCA7-DA12-22BA-62E461B41EBA}"/>
              </a:ext>
            </a:extLst>
          </p:cNvPr>
          <p:cNvSpPr>
            <a:spLocks noGrp="1"/>
          </p:cNvSpPr>
          <p:nvPr>
            <p:ph type="sldNum" sz="quarter" idx="12"/>
          </p:nvPr>
        </p:nvSpPr>
        <p:spPr/>
        <p:txBody>
          <a:bodyPr/>
          <a:lstStyle/>
          <a:p>
            <a:fld id="{6983841B-0DB4-4C99-B5E5-79625F01DBF7}" type="slidenum">
              <a:rPr lang="en-GB" smtClean="0"/>
              <a:t>14</a:t>
            </a:fld>
            <a:endParaRPr lang="en-GB" dirty="0"/>
          </a:p>
        </p:txBody>
      </p:sp>
    </p:spTree>
    <p:extLst>
      <p:ext uri="{BB962C8B-B14F-4D97-AF65-F5344CB8AC3E}">
        <p14:creationId xmlns:p14="http://schemas.microsoft.com/office/powerpoint/2010/main" val="2350030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p:cNvGraphicFramePr/>
          <p:nvPr>
            <p:extLst>
              <p:ext uri="{D42A27DB-BD31-4B8C-83A1-F6EECF244321}">
                <p14:modId xmlns:p14="http://schemas.microsoft.com/office/powerpoint/2010/main" val="3683226388"/>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3497A1A2-EB52-CB47-024C-391E67196D3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6" name="Slide Number Placeholder 28">
            <a:extLst>
              <a:ext uri="{FF2B5EF4-FFF2-40B4-BE49-F238E27FC236}">
                <a16:creationId xmlns:a16="http://schemas.microsoft.com/office/drawing/2014/main" id="{AC979BBB-3409-7C88-4D60-DF539380525E}"/>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15</a:t>
            </a:fld>
            <a:endParaRPr lang="en-GB" dirty="0"/>
          </a:p>
        </p:txBody>
      </p:sp>
      <p:cxnSp>
        <p:nvCxnSpPr>
          <p:cNvPr id="2" name="Connecteur droit 6">
            <a:extLst>
              <a:ext uri="{FF2B5EF4-FFF2-40B4-BE49-F238E27FC236}">
                <a16:creationId xmlns:a16="http://schemas.microsoft.com/office/drawing/2014/main" id="{1C8E88C0-2400-88AE-41F4-BC79426F8FD2}"/>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13">
            <a:extLst>
              <a:ext uri="{FF2B5EF4-FFF2-40B4-BE49-F238E27FC236}">
                <a16:creationId xmlns:a16="http://schemas.microsoft.com/office/drawing/2014/main" id="{2408B7C6-0C23-9A98-D7D8-497C2E70CA5E}"/>
              </a:ext>
            </a:extLst>
          </p:cNvPr>
          <p:cNvSpPr/>
          <p:nvPr/>
        </p:nvSpPr>
        <p:spPr>
          <a:xfrm flipH="1">
            <a:off x="248213"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1" name="ZoneTexte 17">
            <a:extLst>
              <a:ext uri="{FF2B5EF4-FFF2-40B4-BE49-F238E27FC236}">
                <a16:creationId xmlns:a16="http://schemas.microsoft.com/office/drawing/2014/main" id="{61D1267F-D872-9BCE-BB13-70C71FA7C219}"/>
              </a:ext>
            </a:extLst>
          </p:cNvPr>
          <p:cNvSpPr txBox="1"/>
          <p:nvPr/>
        </p:nvSpPr>
        <p:spPr>
          <a:xfrm>
            <a:off x="100013" y="1306368"/>
            <a:ext cx="2897187" cy="307777"/>
          </a:xfrm>
          <a:prstGeom prst="rect">
            <a:avLst/>
          </a:prstGeom>
          <a:noFill/>
        </p:spPr>
        <p:txBody>
          <a:bodyPr wrap="square" rtlCol="0">
            <a:spAutoFit/>
          </a:bodyPr>
          <a:lstStyle/>
          <a:p>
            <a:pPr algn="ctr"/>
            <a:r>
              <a:rPr lang="en-US" sz="1400" dirty="0" err="1">
                <a:solidFill>
                  <a:schemeClr val="bg1">
                    <a:lumMod val="50000"/>
                  </a:schemeClr>
                </a:solidFill>
                <a:latin typeface="Century Schoolbook" charset="0"/>
              </a:rPr>
              <a:t>Diagrammes</a:t>
            </a:r>
            <a:r>
              <a:rPr lang="en-US" sz="1400" dirty="0">
                <a:solidFill>
                  <a:schemeClr val="bg1">
                    <a:lumMod val="50000"/>
                  </a:schemeClr>
                </a:solidFill>
                <a:latin typeface="Century Schoolbook" charset="0"/>
              </a:rPr>
              <a:t> </a:t>
            </a:r>
            <a:r>
              <a:rPr lang="en-US" sz="1400" dirty="0" err="1">
                <a:solidFill>
                  <a:schemeClr val="bg1">
                    <a:lumMod val="50000"/>
                  </a:schemeClr>
                </a:solidFill>
                <a:latin typeface="Century Schoolbook" charset="0"/>
              </a:rPr>
              <a:t>d’activités</a:t>
            </a:r>
            <a:r>
              <a:rPr lang="en-US" sz="1400" dirty="0">
                <a:solidFill>
                  <a:schemeClr val="bg1">
                    <a:lumMod val="50000"/>
                  </a:schemeClr>
                </a:solidFill>
                <a:latin typeface="Century Schoolbook" charset="0"/>
              </a:rPr>
              <a:t> des jobs</a:t>
            </a:r>
          </a:p>
        </p:txBody>
      </p:sp>
      <p:pic>
        <p:nvPicPr>
          <p:cNvPr id="15" name="Image 14">
            <a:extLst>
              <a:ext uri="{FF2B5EF4-FFF2-40B4-BE49-F238E27FC236}">
                <a16:creationId xmlns:a16="http://schemas.microsoft.com/office/drawing/2014/main" id="{83BA755B-CA37-1610-CEA5-6E2E8AB42CA9}"/>
              </a:ext>
            </a:extLst>
          </p:cNvPr>
          <p:cNvPicPr>
            <a:picLocks noChangeAspect="1"/>
          </p:cNvPicPr>
          <p:nvPr/>
        </p:nvPicPr>
        <p:blipFill>
          <a:blip r:embed="rId8"/>
          <a:stretch>
            <a:fillRect/>
          </a:stretch>
        </p:blipFill>
        <p:spPr>
          <a:xfrm>
            <a:off x="1599406" y="1614145"/>
            <a:ext cx="8858250" cy="5180424"/>
          </a:xfrm>
          <a:prstGeom prst="rect">
            <a:avLst/>
          </a:prstGeom>
        </p:spPr>
      </p:pic>
      <p:sp>
        <p:nvSpPr>
          <p:cNvPr id="16" name="Ellipse 13">
            <a:extLst>
              <a:ext uri="{FF2B5EF4-FFF2-40B4-BE49-F238E27FC236}">
                <a16:creationId xmlns:a16="http://schemas.microsoft.com/office/drawing/2014/main" id="{21AB20AE-0D83-A4A4-F54E-DF1F8B9208C5}"/>
              </a:ext>
            </a:extLst>
          </p:cNvPr>
          <p:cNvSpPr/>
          <p:nvPr/>
        </p:nvSpPr>
        <p:spPr>
          <a:xfrm flipH="1">
            <a:off x="5527838" y="109462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ZoneTexte 16">
            <a:extLst>
              <a:ext uri="{FF2B5EF4-FFF2-40B4-BE49-F238E27FC236}">
                <a16:creationId xmlns:a16="http://schemas.microsoft.com/office/drawing/2014/main" id="{37310FB1-F4E9-8DEA-141E-AF97CAC7507D}"/>
              </a:ext>
            </a:extLst>
          </p:cNvPr>
          <p:cNvSpPr txBox="1"/>
          <p:nvPr/>
        </p:nvSpPr>
        <p:spPr>
          <a:xfrm>
            <a:off x="4539455" y="1263507"/>
            <a:ext cx="3313907" cy="307777"/>
          </a:xfrm>
          <a:prstGeom prst="rect">
            <a:avLst/>
          </a:prstGeom>
          <a:noFill/>
        </p:spPr>
        <p:txBody>
          <a:bodyPr wrap="square" rtlCol="0">
            <a:spAutoFit/>
          </a:bodyPr>
          <a:lstStyle/>
          <a:p>
            <a:r>
              <a:rPr lang="en-US" sz="1400" dirty="0" err="1">
                <a:solidFill>
                  <a:schemeClr val="bg1">
                    <a:lumMod val="50000"/>
                  </a:schemeClr>
                </a:solidFill>
                <a:latin typeface="Century Schoolbook" charset="0"/>
                <a:ea typeface="Century Schoolbook" charset="0"/>
                <a:cs typeface="Century Schoolbook" charset="0"/>
              </a:rPr>
              <a:t>Modèles</a:t>
            </a:r>
            <a:r>
              <a:rPr lang="en-US" sz="1400" dirty="0">
                <a:solidFill>
                  <a:schemeClr val="bg1">
                    <a:lumMod val="50000"/>
                  </a:schemeClr>
                </a:solidFill>
                <a:latin typeface="Century Schoolbook" charset="0"/>
                <a:ea typeface="Century Schoolbook" charset="0"/>
                <a:cs typeface="Century Schoolbook" charset="0"/>
              </a:rPr>
              <a:t> </a:t>
            </a:r>
            <a:r>
              <a:rPr lang="en-US" sz="1400" dirty="0" err="1">
                <a:solidFill>
                  <a:schemeClr val="bg1">
                    <a:lumMod val="50000"/>
                  </a:schemeClr>
                </a:solidFill>
                <a:latin typeface="Century Schoolbook" charset="0"/>
                <a:ea typeface="Century Schoolbook" charset="0"/>
                <a:cs typeface="Century Schoolbook" charset="0"/>
              </a:rPr>
              <a:t>sémantiques</a:t>
            </a:r>
            <a:r>
              <a:rPr lang="en-US" sz="1400" dirty="0">
                <a:solidFill>
                  <a:schemeClr val="bg1">
                    <a:lumMod val="50000"/>
                  </a:schemeClr>
                </a:solidFill>
                <a:latin typeface="Century Schoolbook" charset="0"/>
                <a:ea typeface="Century Schoolbook" charset="0"/>
                <a:cs typeface="Century Schoolbook" charset="0"/>
              </a:rPr>
              <a:t> des dashboards</a:t>
            </a:r>
          </a:p>
        </p:txBody>
      </p:sp>
    </p:spTree>
    <p:extLst>
      <p:ext uri="{BB962C8B-B14F-4D97-AF65-F5344CB8AC3E}">
        <p14:creationId xmlns:p14="http://schemas.microsoft.com/office/powerpoint/2010/main" val="1068150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5"/>
                                        </p:tgtEl>
                                        <p:attrNameLst>
                                          <p:attrName>ppt_x</p:attrName>
                                        </p:attrNameLst>
                                      </p:cBhvr>
                                      <p:tavLst>
                                        <p:tav tm="0">
                                          <p:val>
                                            <p:strVal val="ppt_x"/>
                                          </p:val>
                                        </p:tav>
                                        <p:tav tm="100000">
                                          <p:val>
                                            <p:strVal val="ppt_x"/>
                                          </p:val>
                                        </p:tav>
                                      </p:tavLst>
                                    </p:anim>
                                    <p:anim calcmode="lin" valueType="num">
                                      <p:cBhvr additive="base">
                                        <p:cTn id="7" dur="500"/>
                                        <p:tgtEl>
                                          <p:spTgt spid="15"/>
                                        </p:tgtEl>
                                        <p:attrNameLst>
                                          <p:attrName>ppt_y</p:attrName>
                                        </p:attrNameLst>
                                      </p:cBhvr>
                                      <p:tavLst>
                                        <p:tav tm="0">
                                          <p:val>
                                            <p:strVal val="ppt_y"/>
                                          </p:val>
                                        </p:tav>
                                        <p:tav tm="100000">
                                          <p:val>
                                            <p:strVal val="1+ppt_h/2"/>
                                          </p:val>
                                        </p:tav>
                                      </p:tavLst>
                                    </p:anim>
                                    <p:set>
                                      <p:cBhvr>
                                        <p:cTn id="8"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C4B59-7C99-5739-6A2C-E45726BDCF2A}"/>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059A0667-82E2-05EF-ED77-C82B8A1E3A9F}"/>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9211B8FB-87D9-A0DE-86F4-E12440C70909}"/>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6" name="Slide Number Placeholder 28">
            <a:extLst>
              <a:ext uri="{FF2B5EF4-FFF2-40B4-BE49-F238E27FC236}">
                <a16:creationId xmlns:a16="http://schemas.microsoft.com/office/drawing/2014/main" id="{74BE0E4D-427D-FD5C-05C2-30B328D13BDA}"/>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16</a:t>
            </a:fld>
            <a:endParaRPr lang="en-GB" dirty="0"/>
          </a:p>
        </p:txBody>
      </p:sp>
      <p:cxnSp>
        <p:nvCxnSpPr>
          <p:cNvPr id="2" name="Connecteur droit 6">
            <a:extLst>
              <a:ext uri="{FF2B5EF4-FFF2-40B4-BE49-F238E27FC236}">
                <a16:creationId xmlns:a16="http://schemas.microsoft.com/office/drawing/2014/main" id="{063028CC-C388-6E0A-C212-A0EDD5CB6A48}"/>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13">
            <a:extLst>
              <a:ext uri="{FF2B5EF4-FFF2-40B4-BE49-F238E27FC236}">
                <a16:creationId xmlns:a16="http://schemas.microsoft.com/office/drawing/2014/main" id="{A34990BD-5572-C69F-5A07-83F126EFB053}"/>
              </a:ext>
            </a:extLst>
          </p:cNvPr>
          <p:cNvSpPr/>
          <p:nvPr/>
        </p:nvSpPr>
        <p:spPr>
          <a:xfrm flipH="1">
            <a:off x="248213"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1" name="ZoneTexte 17">
            <a:extLst>
              <a:ext uri="{FF2B5EF4-FFF2-40B4-BE49-F238E27FC236}">
                <a16:creationId xmlns:a16="http://schemas.microsoft.com/office/drawing/2014/main" id="{374FBE6F-FDBB-471E-4343-EFA2033C2E17}"/>
              </a:ext>
            </a:extLst>
          </p:cNvPr>
          <p:cNvSpPr txBox="1"/>
          <p:nvPr/>
        </p:nvSpPr>
        <p:spPr>
          <a:xfrm>
            <a:off x="100013" y="1306368"/>
            <a:ext cx="2897187" cy="307777"/>
          </a:xfrm>
          <a:prstGeom prst="rect">
            <a:avLst/>
          </a:prstGeom>
          <a:noFill/>
        </p:spPr>
        <p:txBody>
          <a:bodyPr wrap="square" rtlCol="0">
            <a:spAutoFit/>
          </a:bodyPr>
          <a:lstStyle/>
          <a:p>
            <a:pPr algn="ctr"/>
            <a:r>
              <a:rPr lang="en-US" sz="1400" dirty="0" err="1">
                <a:solidFill>
                  <a:schemeClr val="bg1">
                    <a:lumMod val="50000"/>
                  </a:schemeClr>
                </a:solidFill>
                <a:latin typeface="Century Schoolbook" charset="0"/>
              </a:rPr>
              <a:t>Diagrammes</a:t>
            </a:r>
            <a:r>
              <a:rPr lang="en-US" sz="1400" dirty="0">
                <a:solidFill>
                  <a:schemeClr val="bg1">
                    <a:lumMod val="50000"/>
                  </a:schemeClr>
                </a:solidFill>
                <a:latin typeface="Century Schoolbook" charset="0"/>
              </a:rPr>
              <a:t> </a:t>
            </a:r>
            <a:r>
              <a:rPr lang="en-US" sz="1400" dirty="0" err="1">
                <a:solidFill>
                  <a:schemeClr val="bg1">
                    <a:lumMod val="50000"/>
                  </a:schemeClr>
                </a:solidFill>
                <a:latin typeface="Century Schoolbook" charset="0"/>
              </a:rPr>
              <a:t>d’activités</a:t>
            </a:r>
            <a:r>
              <a:rPr lang="en-US" sz="1400" dirty="0">
                <a:solidFill>
                  <a:schemeClr val="bg1">
                    <a:lumMod val="50000"/>
                  </a:schemeClr>
                </a:solidFill>
                <a:latin typeface="Century Schoolbook" charset="0"/>
              </a:rPr>
              <a:t> des jobs</a:t>
            </a:r>
          </a:p>
        </p:txBody>
      </p:sp>
      <p:pic>
        <p:nvPicPr>
          <p:cNvPr id="8" name="Image 7">
            <a:extLst>
              <a:ext uri="{FF2B5EF4-FFF2-40B4-BE49-F238E27FC236}">
                <a16:creationId xmlns:a16="http://schemas.microsoft.com/office/drawing/2014/main" id="{B7F8B910-F599-AED1-FB0B-918060D1A364}"/>
              </a:ext>
            </a:extLst>
          </p:cNvPr>
          <p:cNvPicPr>
            <a:picLocks noChangeAspect="1"/>
          </p:cNvPicPr>
          <p:nvPr/>
        </p:nvPicPr>
        <p:blipFill>
          <a:blip r:embed="rId8"/>
          <a:stretch>
            <a:fillRect/>
          </a:stretch>
        </p:blipFill>
        <p:spPr>
          <a:xfrm>
            <a:off x="3957638" y="1725391"/>
            <a:ext cx="4257675" cy="4716684"/>
          </a:xfrm>
          <a:prstGeom prst="rect">
            <a:avLst/>
          </a:prstGeom>
        </p:spPr>
      </p:pic>
      <p:sp>
        <p:nvSpPr>
          <p:cNvPr id="9" name="Ellipse 13">
            <a:extLst>
              <a:ext uri="{FF2B5EF4-FFF2-40B4-BE49-F238E27FC236}">
                <a16:creationId xmlns:a16="http://schemas.microsoft.com/office/drawing/2014/main" id="{31083432-7628-B73F-5D93-1796B7297461}"/>
              </a:ext>
            </a:extLst>
          </p:cNvPr>
          <p:cNvSpPr/>
          <p:nvPr/>
        </p:nvSpPr>
        <p:spPr>
          <a:xfrm flipH="1">
            <a:off x="5527838" y="109462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ZoneTexte 9">
            <a:extLst>
              <a:ext uri="{FF2B5EF4-FFF2-40B4-BE49-F238E27FC236}">
                <a16:creationId xmlns:a16="http://schemas.microsoft.com/office/drawing/2014/main" id="{92EB8093-A45F-4113-FE24-75F8509DCD74}"/>
              </a:ext>
            </a:extLst>
          </p:cNvPr>
          <p:cNvSpPr txBox="1"/>
          <p:nvPr/>
        </p:nvSpPr>
        <p:spPr>
          <a:xfrm>
            <a:off x="4539455" y="1263507"/>
            <a:ext cx="3313907" cy="307777"/>
          </a:xfrm>
          <a:prstGeom prst="rect">
            <a:avLst/>
          </a:prstGeom>
          <a:noFill/>
        </p:spPr>
        <p:txBody>
          <a:bodyPr wrap="square" rtlCol="0">
            <a:spAutoFit/>
          </a:bodyPr>
          <a:lstStyle/>
          <a:p>
            <a:r>
              <a:rPr lang="en-US" sz="1400" dirty="0" err="1">
                <a:solidFill>
                  <a:schemeClr val="bg1">
                    <a:lumMod val="50000"/>
                  </a:schemeClr>
                </a:solidFill>
                <a:latin typeface="Century Schoolbook" charset="0"/>
                <a:ea typeface="Century Schoolbook" charset="0"/>
                <a:cs typeface="Century Schoolbook" charset="0"/>
              </a:rPr>
              <a:t>Modèles</a:t>
            </a:r>
            <a:r>
              <a:rPr lang="en-US" sz="1400" dirty="0">
                <a:solidFill>
                  <a:schemeClr val="bg1">
                    <a:lumMod val="50000"/>
                  </a:schemeClr>
                </a:solidFill>
                <a:latin typeface="Century Schoolbook" charset="0"/>
                <a:ea typeface="Century Schoolbook" charset="0"/>
                <a:cs typeface="Century Schoolbook" charset="0"/>
              </a:rPr>
              <a:t> </a:t>
            </a:r>
            <a:r>
              <a:rPr lang="en-US" sz="1400" dirty="0" err="1">
                <a:solidFill>
                  <a:schemeClr val="bg1">
                    <a:lumMod val="50000"/>
                  </a:schemeClr>
                </a:solidFill>
                <a:latin typeface="Century Schoolbook" charset="0"/>
                <a:ea typeface="Century Schoolbook" charset="0"/>
                <a:cs typeface="Century Schoolbook" charset="0"/>
              </a:rPr>
              <a:t>sémantiques</a:t>
            </a:r>
            <a:r>
              <a:rPr lang="en-US" sz="1400" dirty="0">
                <a:solidFill>
                  <a:schemeClr val="bg1">
                    <a:lumMod val="50000"/>
                  </a:schemeClr>
                </a:solidFill>
                <a:latin typeface="Century Schoolbook" charset="0"/>
                <a:ea typeface="Century Schoolbook" charset="0"/>
                <a:cs typeface="Century Schoolbook" charset="0"/>
              </a:rPr>
              <a:t> des dashboards</a:t>
            </a:r>
          </a:p>
        </p:txBody>
      </p:sp>
    </p:spTree>
    <p:extLst>
      <p:ext uri="{BB962C8B-B14F-4D97-AF65-F5344CB8AC3E}">
        <p14:creationId xmlns:p14="http://schemas.microsoft.com/office/powerpoint/2010/main" val="33435289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8"/>
                                        </p:tgtEl>
                                        <p:attrNameLst>
                                          <p:attrName>ppt_x</p:attrName>
                                        </p:attrNameLst>
                                      </p:cBhvr>
                                      <p:tavLst>
                                        <p:tav tm="0">
                                          <p:val>
                                            <p:strVal val="ppt_x"/>
                                          </p:val>
                                        </p:tav>
                                        <p:tav tm="100000">
                                          <p:val>
                                            <p:strVal val="ppt_x"/>
                                          </p:val>
                                        </p:tav>
                                      </p:tavLst>
                                    </p:anim>
                                    <p:anim calcmode="lin" valueType="num">
                                      <p:cBhvr additive="base">
                                        <p:cTn id="13" dur="500"/>
                                        <p:tgtEl>
                                          <p:spTgt spid="8"/>
                                        </p:tgtEl>
                                        <p:attrNameLst>
                                          <p:attrName>ppt_y</p:attrName>
                                        </p:attrNameLst>
                                      </p:cBhvr>
                                      <p:tavLst>
                                        <p:tav tm="0">
                                          <p:val>
                                            <p:strVal val="ppt_y"/>
                                          </p:val>
                                        </p:tav>
                                        <p:tav tm="100000">
                                          <p:val>
                                            <p:strVal val="1+ppt_h/2"/>
                                          </p:val>
                                        </p:tav>
                                      </p:tavLst>
                                    </p:anim>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FE74-696C-1E0C-A372-C130D8CA34F7}"/>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E4C4E009-2866-A652-F149-24B949D87C1D}"/>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DF88A081-E6E2-1756-AA54-6897B2E2CB39}"/>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6" name="Slide Number Placeholder 28">
            <a:extLst>
              <a:ext uri="{FF2B5EF4-FFF2-40B4-BE49-F238E27FC236}">
                <a16:creationId xmlns:a16="http://schemas.microsoft.com/office/drawing/2014/main" id="{88B8BB37-812D-05BE-DB1F-938DC8539D8E}"/>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17</a:t>
            </a:fld>
            <a:endParaRPr lang="en-GB" dirty="0"/>
          </a:p>
        </p:txBody>
      </p:sp>
      <p:cxnSp>
        <p:nvCxnSpPr>
          <p:cNvPr id="2" name="Connecteur droit 6">
            <a:extLst>
              <a:ext uri="{FF2B5EF4-FFF2-40B4-BE49-F238E27FC236}">
                <a16:creationId xmlns:a16="http://schemas.microsoft.com/office/drawing/2014/main" id="{528E8A91-658F-97B7-08E6-4108B90AEA70}"/>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13">
            <a:extLst>
              <a:ext uri="{FF2B5EF4-FFF2-40B4-BE49-F238E27FC236}">
                <a16:creationId xmlns:a16="http://schemas.microsoft.com/office/drawing/2014/main" id="{A2B7BEF1-2F17-9C17-2726-9584E9FF1E3A}"/>
              </a:ext>
            </a:extLst>
          </p:cNvPr>
          <p:cNvSpPr/>
          <p:nvPr/>
        </p:nvSpPr>
        <p:spPr>
          <a:xfrm flipH="1">
            <a:off x="248213"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1" name="ZoneTexte 17">
            <a:extLst>
              <a:ext uri="{FF2B5EF4-FFF2-40B4-BE49-F238E27FC236}">
                <a16:creationId xmlns:a16="http://schemas.microsoft.com/office/drawing/2014/main" id="{9F81C811-9B69-8682-E246-23335B48F30F}"/>
              </a:ext>
            </a:extLst>
          </p:cNvPr>
          <p:cNvSpPr txBox="1"/>
          <p:nvPr/>
        </p:nvSpPr>
        <p:spPr>
          <a:xfrm>
            <a:off x="100013" y="1306368"/>
            <a:ext cx="2897187" cy="307777"/>
          </a:xfrm>
          <a:prstGeom prst="rect">
            <a:avLst/>
          </a:prstGeom>
          <a:noFill/>
        </p:spPr>
        <p:txBody>
          <a:bodyPr wrap="square" rtlCol="0">
            <a:spAutoFit/>
          </a:bodyPr>
          <a:lstStyle/>
          <a:p>
            <a:pPr algn="ctr"/>
            <a:r>
              <a:rPr lang="en-US" sz="1400" dirty="0" err="1">
                <a:solidFill>
                  <a:schemeClr val="bg1">
                    <a:lumMod val="50000"/>
                  </a:schemeClr>
                </a:solidFill>
                <a:latin typeface="Century Schoolbook" charset="0"/>
              </a:rPr>
              <a:t>Diagrammes</a:t>
            </a:r>
            <a:r>
              <a:rPr lang="en-US" sz="1400" dirty="0">
                <a:solidFill>
                  <a:schemeClr val="bg1">
                    <a:lumMod val="50000"/>
                  </a:schemeClr>
                </a:solidFill>
                <a:latin typeface="Century Schoolbook" charset="0"/>
              </a:rPr>
              <a:t> </a:t>
            </a:r>
            <a:r>
              <a:rPr lang="en-US" sz="1400" dirty="0" err="1">
                <a:solidFill>
                  <a:schemeClr val="bg1">
                    <a:lumMod val="50000"/>
                  </a:schemeClr>
                </a:solidFill>
                <a:latin typeface="Century Schoolbook" charset="0"/>
              </a:rPr>
              <a:t>d’activités</a:t>
            </a:r>
            <a:r>
              <a:rPr lang="en-US" sz="1400" dirty="0">
                <a:solidFill>
                  <a:schemeClr val="bg1">
                    <a:lumMod val="50000"/>
                  </a:schemeClr>
                </a:solidFill>
                <a:latin typeface="Century Schoolbook" charset="0"/>
              </a:rPr>
              <a:t> des jobs</a:t>
            </a:r>
          </a:p>
        </p:txBody>
      </p:sp>
      <p:pic>
        <p:nvPicPr>
          <p:cNvPr id="8" name="Image 7">
            <a:extLst>
              <a:ext uri="{FF2B5EF4-FFF2-40B4-BE49-F238E27FC236}">
                <a16:creationId xmlns:a16="http://schemas.microsoft.com/office/drawing/2014/main" id="{800319D7-687C-E96A-6363-C9DECA30C2A8}"/>
              </a:ext>
            </a:extLst>
          </p:cNvPr>
          <p:cNvPicPr>
            <a:picLocks noChangeAspect="1"/>
          </p:cNvPicPr>
          <p:nvPr/>
        </p:nvPicPr>
        <p:blipFill>
          <a:blip r:embed="rId8"/>
          <a:stretch>
            <a:fillRect/>
          </a:stretch>
        </p:blipFill>
        <p:spPr>
          <a:xfrm>
            <a:off x="838200" y="1797937"/>
            <a:ext cx="9960093" cy="4558413"/>
          </a:xfrm>
          <a:prstGeom prst="rect">
            <a:avLst/>
          </a:prstGeom>
        </p:spPr>
      </p:pic>
      <p:sp>
        <p:nvSpPr>
          <p:cNvPr id="9" name="Ellipse 13">
            <a:extLst>
              <a:ext uri="{FF2B5EF4-FFF2-40B4-BE49-F238E27FC236}">
                <a16:creationId xmlns:a16="http://schemas.microsoft.com/office/drawing/2014/main" id="{909D1EC8-5F03-FDD5-6BB7-93AA73F639E7}"/>
              </a:ext>
            </a:extLst>
          </p:cNvPr>
          <p:cNvSpPr/>
          <p:nvPr/>
        </p:nvSpPr>
        <p:spPr>
          <a:xfrm flipH="1">
            <a:off x="5527838" y="109462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ZoneTexte 9">
            <a:extLst>
              <a:ext uri="{FF2B5EF4-FFF2-40B4-BE49-F238E27FC236}">
                <a16:creationId xmlns:a16="http://schemas.microsoft.com/office/drawing/2014/main" id="{059B2568-5599-E3E6-4CFC-9E0458B1195D}"/>
              </a:ext>
            </a:extLst>
          </p:cNvPr>
          <p:cNvSpPr txBox="1"/>
          <p:nvPr/>
        </p:nvSpPr>
        <p:spPr>
          <a:xfrm>
            <a:off x="4539455" y="1263507"/>
            <a:ext cx="3313907" cy="307777"/>
          </a:xfrm>
          <a:prstGeom prst="rect">
            <a:avLst/>
          </a:prstGeom>
          <a:noFill/>
        </p:spPr>
        <p:txBody>
          <a:bodyPr wrap="square" rtlCol="0">
            <a:spAutoFit/>
          </a:bodyPr>
          <a:lstStyle/>
          <a:p>
            <a:r>
              <a:rPr lang="en-US" sz="1400" dirty="0" err="1">
                <a:solidFill>
                  <a:schemeClr val="bg1">
                    <a:lumMod val="50000"/>
                  </a:schemeClr>
                </a:solidFill>
                <a:latin typeface="Century Schoolbook" charset="0"/>
                <a:ea typeface="Century Schoolbook" charset="0"/>
                <a:cs typeface="Century Schoolbook" charset="0"/>
              </a:rPr>
              <a:t>Modèles</a:t>
            </a:r>
            <a:r>
              <a:rPr lang="en-US" sz="1400" dirty="0">
                <a:solidFill>
                  <a:schemeClr val="bg1">
                    <a:lumMod val="50000"/>
                  </a:schemeClr>
                </a:solidFill>
                <a:latin typeface="Century Schoolbook" charset="0"/>
                <a:ea typeface="Century Schoolbook" charset="0"/>
                <a:cs typeface="Century Schoolbook" charset="0"/>
              </a:rPr>
              <a:t> </a:t>
            </a:r>
            <a:r>
              <a:rPr lang="en-US" sz="1400" dirty="0" err="1">
                <a:solidFill>
                  <a:schemeClr val="bg1">
                    <a:lumMod val="50000"/>
                  </a:schemeClr>
                </a:solidFill>
                <a:latin typeface="Century Schoolbook" charset="0"/>
                <a:ea typeface="Century Schoolbook" charset="0"/>
                <a:cs typeface="Century Schoolbook" charset="0"/>
              </a:rPr>
              <a:t>sémantiques</a:t>
            </a:r>
            <a:r>
              <a:rPr lang="en-US" sz="1400" dirty="0">
                <a:solidFill>
                  <a:schemeClr val="bg1">
                    <a:lumMod val="50000"/>
                  </a:schemeClr>
                </a:solidFill>
                <a:latin typeface="Century Schoolbook" charset="0"/>
                <a:ea typeface="Century Schoolbook" charset="0"/>
                <a:cs typeface="Century Schoolbook" charset="0"/>
              </a:rPr>
              <a:t> des dashboards</a:t>
            </a:r>
          </a:p>
        </p:txBody>
      </p:sp>
    </p:spTree>
    <p:extLst>
      <p:ext uri="{BB962C8B-B14F-4D97-AF65-F5344CB8AC3E}">
        <p14:creationId xmlns:p14="http://schemas.microsoft.com/office/powerpoint/2010/main" val="410198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8"/>
                                        </p:tgtEl>
                                        <p:attrNameLst>
                                          <p:attrName>ppt_x</p:attrName>
                                        </p:attrNameLst>
                                      </p:cBhvr>
                                      <p:tavLst>
                                        <p:tav tm="0">
                                          <p:val>
                                            <p:strVal val="ppt_x"/>
                                          </p:val>
                                        </p:tav>
                                        <p:tav tm="100000">
                                          <p:val>
                                            <p:strVal val="ppt_x"/>
                                          </p:val>
                                        </p:tav>
                                      </p:tavLst>
                                    </p:anim>
                                    <p:anim calcmode="lin" valueType="num">
                                      <p:cBhvr additive="base">
                                        <p:cTn id="13" dur="500"/>
                                        <p:tgtEl>
                                          <p:spTgt spid="8"/>
                                        </p:tgtEl>
                                        <p:attrNameLst>
                                          <p:attrName>ppt_y</p:attrName>
                                        </p:attrNameLst>
                                      </p:cBhvr>
                                      <p:tavLst>
                                        <p:tav tm="0">
                                          <p:val>
                                            <p:strVal val="ppt_y"/>
                                          </p:val>
                                        </p:tav>
                                        <p:tav tm="100000">
                                          <p:val>
                                            <p:strVal val="1+ppt_h/2"/>
                                          </p:val>
                                        </p:tav>
                                      </p:tavLst>
                                    </p:anim>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BADF5-4093-070F-40B9-2B8AF27AED49}"/>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44D749F9-F699-D347-714D-BF5DFE95284E}"/>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152D5D63-AFAF-34E5-6FC2-CB2D2FD5C9D4}"/>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6" name="Slide Number Placeholder 28">
            <a:extLst>
              <a:ext uri="{FF2B5EF4-FFF2-40B4-BE49-F238E27FC236}">
                <a16:creationId xmlns:a16="http://schemas.microsoft.com/office/drawing/2014/main" id="{B244A6F5-3BD4-39FD-5E7C-2D51267C22B2}"/>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18</a:t>
            </a:fld>
            <a:endParaRPr lang="en-GB" dirty="0"/>
          </a:p>
        </p:txBody>
      </p:sp>
      <p:cxnSp>
        <p:nvCxnSpPr>
          <p:cNvPr id="2" name="Connecteur droit 6">
            <a:extLst>
              <a:ext uri="{FF2B5EF4-FFF2-40B4-BE49-F238E27FC236}">
                <a16:creationId xmlns:a16="http://schemas.microsoft.com/office/drawing/2014/main" id="{5D24CBF6-791E-227C-911F-597329D96600}"/>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13">
            <a:extLst>
              <a:ext uri="{FF2B5EF4-FFF2-40B4-BE49-F238E27FC236}">
                <a16:creationId xmlns:a16="http://schemas.microsoft.com/office/drawing/2014/main" id="{D6DFD8A6-12B4-ACE8-7C10-BFCA12F3518B}"/>
              </a:ext>
            </a:extLst>
          </p:cNvPr>
          <p:cNvSpPr/>
          <p:nvPr/>
        </p:nvSpPr>
        <p:spPr>
          <a:xfrm flipH="1">
            <a:off x="5563163"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1" name="ZoneTexte 17">
            <a:extLst>
              <a:ext uri="{FF2B5EF4-FFF2-40B4-BE49-F238E27FC236}">
                <a16:creationId xmlns:a16="http://schemas.microsoft.com/office/drawing/2014/main" id="{901C4551-2622-FAF9-CE35-E7135D86DA3B}"/>
              </a:ext>
            </a:extLst>
          </p:cNvPr>
          <p:cNvSpPr txBox="1"/>
          <p:nvPr/>
        </p:nvSpPr>
        <p:spPr>
          <a:xfrm>
            <a:off x="100013" y="1306368"/>
            <a:ext cx="2897187" cy="307777"/>
          </a:xfrm>
          <a:prstGeom prst="rect">
            <a:avLst/>
          </a:prstGeom>
          <a:noFill/>
        </p:spPr>
        <p:txBody>
          <a:bodyPr wrap="square" rtlCol="0">
            <a:spAutoFit/>
          </a:bodyPr>
          <a:lstStyle/>
          <a:p>
            <a:pPr algn="ctr"/>
            <a:r>
              <a:rPr lang="en-US" sz="1400" dirty="0" err="1">
                <a:solidFill>
                  <a:schemeClr val="bg1">
                    <a:lumMod val="50000"/>
                  </a:schemeClr>
                </a:solidFill>
                <a:latin typeface="Century Schoolbook" charset="0"/>
              </a:rPr>
              <a:t>Diagrammes</a:t>
            </a:r>
            <a:r>
              <a:rPr lang="en-US" sz="1400" dirty="0">
                <a:solidFill>
                  <a:schemeClr val="bg1">
                    <a:lumMod val="50000"/>
                  </a:schemeClr>
                </a:solidFill>
                <a:latin typeface="Century Schoolbook" charset="0"/>
              </a:rPr>
              <a:t> </a:t>
            </a:r>
            <a:r>
              <a:rPr lang="en-US" sz="1400" dirty="0" err="1">
                <a:solidFill>
                  <a:schemeClr val="bg1">
                    <a:lumMod val="50000"/>
                  </a:schemeClr>
                </a:solidFill>
                <a:latin typeface="Century Schoolbook" charset="0"/>
              </a:rPr>
              <a:t>d’activités</a:t>
            </a:r>
            <a:r>
              <a:rPr lang="en-US" sz="1400" dirty="0">
                <a:solidFill>
                  <a:schemeClr val="bg1">
                    <a:lumMod val="50000"/>
                  </a:schemeClr>
                </a:solidFill>
                <a:latin typeface="Century Schoolbook" charset="0"/>
              </a:rPr>
              <a:t> des jobs</a:t>
            </a:r>
          </a:p>
        </p:txBody>
      </p:sp>
      <p:sp>
        <p:nvSpPr>
          <p:cNvPr id="7" name="Ellipse 13">
            <a:extLst>
              <a:ext uri="{FF2B5EF4-FFF2-40B4-BE49-F238E27FC236}">
                <a16:creationId xmlns:a16="http://schemas.microsoft.com/office/drawing/2014/main" id="{D4E2F01A-1634-97DF-DFB6-5A23FD867394}"/>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ZoneTexte 7">
            <a:extLst>
              <a:ext uri="{FF2B5EF4-FFF2-40B4-BE49-F238E27FC236}">
                <a16:creationId xmlns:a16="http://schemas.microsoft.com/office/drawing/2014/main" id="{0D355E28-FA1D-37B7-C5A7-245C2620E80A}"/>
              </a:ext>
            </a:extLst>
          </p:cNvPr>
          <p:cNvSpPr txBox="1"/>
          <p:nvPr/>
        </p:nvSpPr>
        <p:spPr>
          <a:xfrm>
            <a:off x="4539455" y="1263507"/>
            <a:ext cx="3313907" cy="307777"/>
          </a:xfrm>
          <a:prstGeom prst="rect">
            <a:avLst/>
          </a:prstGeom>
          <a:noFill/>
        </p:spPr>
        <p:txBody>
          <a:bodyPr wrap="square" rtlCol="0">
            <a:spAutoFit/>
          </a:bodyPr>
          <a:lstStyle/>
          <a:p>
            <a:r>
              <a:rPr lang="en-US" sz="1400" dirty="0" err="1">
                <a:solidFill>
                  <a:schemeClr val="bg1">
                    <a:lumMod val="50000"/>
                  </a:schemeClr>
                </a:solidFill>
                <a:latin typeface="Century Schoolbook" charset="0"/>
                <a:ea typeface="Century Schoolbook" charset="0"/>
                <a:cs typeface="Century Schoolbook" charset="0"/>
              </a:rPr>
              <a:t>Modèles</a:t>
            </a:r>
            <a:r>
              <a:rPr lang="en-US" sz="1400" dirty="0">
                <a:solidFill>
                  <a:schemeClr val="bg1">
                    <a:lumMod val="50000"/>
                  </a:schemeClr>
                </a:solidFill>
                <a:latin typeface="Century Schoolbook" charset="0"/>
                <a:ea typeface="Century Schoolbook" charset="0"/>
                <a:cs typeface="Century Schoolbook" charset="0"/>
              </a:rPr>
              <a:t> </a:t>
            </a:r>
            <a:r>
              <a:rPr lang="en-US" sz="1400" dirty="0" err="1">
                <a:solidFill>
                  <a:schemeClr val="bg1">
                    <a:lumMod val="50000"/>
                  </a:schemeClr>
                </a:solidFill>
                <a:latin typeface="Century Schoolbook" charset="0"/>
                <a:ea typeface="Century Schoolbook" charset="0"/>
                <a:cs typeface="Century Schoolbook" charset="0"/>
              </a:rPr>
              <a:t>sémantiques</a:t>
            </a:r>
            <a:r>
              <a:rPr lang="en-US" sz="1400" dirty="0">
                <a:solidFill>
                  <a:schemeClr val="bg1">
                    <a:lumMod val="50000"/>
                  </a:schemeClr>
                </a:solidFill>
                <a:latin typeface="Century Schoolbook" charset="0"/>
                <a:ea typeface="Century Schoolbook" charset="0"/>
                <a:cs typeface="Century Schoolbook" charset="0"/>
              </a:rPr>
              <a:t> des dashboards</a:t>
            </a:r>
          </a:p>
        </p:txBody>
      </p:sp>
      <p:pic>
        <p:nvPicPr>
          <p:cNvPr id="10" name="Image 9">
            <a:extLst>
              <a:ext uri="{FF2B5EF4-FFF2-40B4-BE49-F238E27FC236}">
                <a16:creationId xmlns:a16="http://schemas.microsoft.com/office/drawing/2014/main" id="{8F30ECDE-09CD-DF01-FAE2-1E77BD6207B4}"/>
              </a:ext>
            </a:extLst>
          </p:cNvPr>
          <p:cNvPicPr>
            <a:picLocks noChangeAspect="1"/>
          </p:cNvPicPr>
          <p:nvPr/>
        </p:nvPicPr>
        <p:blipFill>
          <a:blip r:embed="rId8"/>
          <a:stretch>
            <a:fillRect/>
          </a:stretch>
        </p:blipFill>
        <p:spPr>
          <a:xfrm>
            <a:off x="736600" y="1751694"/>
            <a:ext cx="6602601" cy="4498023"/>
          </a:xfrm>
          <a:prstGeom prst="rect">
            <a:avLst/>
          </a:prstGeom>
        </p:spPr>
      </p:pic>
      <p:pic>
        <p:nvPicPr>
          <p:cNvPr id="13" name="Image 12">
            <a:extLst>
              <a:ext uri="{FF2B5EF4-FFF2-40B4-BE49-F238E27FC236}">
                <a16:creationId xmlns:a16="http://schemas.microsoft.com/office/drawing/2014/main" id="{AC350B20-57F0-1F3E-9F76-FB4379E4F3D6}"/>
              </a:ext>
            </a:extLst>
          </p:cNvPr>
          <p:cNvPicPr>
            <a:picLocks noChangeAspect="1"/>
          </p:cNvPicPr>
          <p:nvPr/>
        </p:nvPicPr>
        <p:blipFill>
          <a:blip r:embed="rId9"/>
          <a:stretch>
            <a:fillRect/>
          </a:stretch>
        </p:blipFill>
        <p:spPr>
          <a:xfrm>
            <a:off x="7339201" y="2916592"/>
            <a:ext cx="4526751" cy="1691984"/>
          </a:xfrm>
          <a:prstGeom prst="rect">
            <a:avLst/>
          </a:prstGeom>
        </p:spPr>
      </p:pic>
      <p:sp>
        <p:nvSpPr>
          <p:cNvPr id="18" name="ZoneTexte 17">
            <a:extLst>
              <a:ext uri="{FF2B5EF4-FFF2-40B4-BE49-F238E27FC236}">
                <a16:creationId xmlns:a16="http://schemas.microsoft.com/office/drawing/2014/main" id="{6B8BFA43-ABBC-836C-806D-6D2B50E2DAAF}"/>
              </a:ext>
            </a:extLst>
          </p:cNvPr>
          <p:cNvSpPr txBox="1"/>
          <p:nvPr/>
        </p:nvSpPr>
        <p:spPr>
          <a:xfrm>
            <a:off x="6667500" y="2333717"/>
            <a:ext cx="6096000" cy="430887"/>
          </a:xfrm>
          <a:prstGeom prst="rect">
            <a:avLst/>
          </a:prstGeom>
          <a:noFill/>
        </p:spPr>
        <p:txBody>
          <a:bodyPr wrap="square">
            <a:spAutoFit/>
          </a:bodyPr>
          <a:lstStyle/>
          <a:p>
            <a:pPr algn="ctr"/>
            <a:r>
              <a:rPr lang="fr-MA" sz="2200" b="1" dirty="0">
                <a:solidFill>
                  <a:srgbClr val="C00000"/>
                </a:solidFill>
              </a:rPr>
              <a:t>Suivi des fichiers</a:t>
            </a:r>
          </a:p>
        </p:txBody>
      </p:sp>
    </p:spTree>
    <p:extLst>
      <p:ext uri="{BB962C8B-B14F-4D97-AF65-F5344CB8AC3E}">
        <p14:creationId xmlns:p14="http://schemas.microsoft.com/office/powerpoint/2010/main" val="36906458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3"/>
                                        </p:tgtEl>
                                        <p:attrNameLst>
                                          <p:attrName>ppt_x</p:attrName>
                                        </p:attrNameLst>
                                      </p:cBhvr>
                                      <p:tavLst>
                                        <p:tav tm="0">
                                          <p:val>
                                            <p:strVal val="ppt_x"/>
                                          </p:val>
                                        </p:tav>
                                        <p:tav tm="100000">
                                          <p:val>
                                            <p:strVal val="ppt_x"/>
                                          </p:val>
                                        </p:tav>
                                      </p:tavLst>
                                    </p:anim>
                                    <p:anim calcmode="lin" valueType="num">
                                      <p:cBhvr additive="base">
                                        <p:cTn id="7" dur="500"/>
                                        <p:tgtEl>
                                          <p:spTgt spid="13"/>
                                        </p:tgtEl>
                                        <p:attrNameLst>
                                          <p:attrName>ppt_y</p:attrName>
                                        </p:attrNameLst>
                                      </p:cBhvr>
                                      <p:tavLst>
                                        <p:tav tm="0">
                                          <p:val>
                                            <p:strVal val="ppt_y"/>
                                          </p:val>
                                        </p:tav>
                                        <p:tav tm="100000">
                                          <p:val>
                                            <p:strVal val="1+ppt_h/2"/>
                                          </p:val>
                                        </p:tav>
                                      </p:tavLst>
                                    </p:anim>
                                    <p:set>
                                      <p:cBhvr>
                                        <p:cTn id="8" dur="1" fill="hold">
                                          <p:stCondLst>
                                            <p:cond delay="499"/>
                                          </p:stCondLst>
                                        </p:cTn>
                                        <p:tgtEl>
                                          <p:spTgt spid="13"/>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10"/>
                                        </p:tgtEl>
                                        <p:attrNameLst>
                                          <p:attrName>ppt_x</p:attrName>
                                        </p:attrNameLst>
                                      </p:cBhvr>
                                      <p:tavLst>
                                        <p:tav tm="0">
                                          <p:val>
                                            <p:strVal val="ppt_x"/>
                                          </p:val>
                                        </p:tav>
                                        <p:tav tm="100000">
                                          <p:val>
                                            <p:strVal val="ppt_x"/>
                                          </p:val>
                                        </p:tav>
                                      </p:tavLst>
                                    </p:anim>
                                    <p:anim calcmode="lin" valueType="num">
                                      <p:cBhvr additive="base">
                                        <p:cTn id="11" dur="500"/>
                                        <p:tgtEl>
                                          <p:spTgt spid="10"/>
                                        </p:tgtEl>
                                        <p:attrNameLst>
                                          <p:attrName>ppt_y</p:attrName>
                                        </p:attrNameLst>
                                      </p:cBhvr>
                                      <p:tavLst>
                                        <p:tav tm="0">
                                          <p:val>
                                            <p:strVal val="ppt_y"/>
                                          </p:val>
                                        </p:tav>
                                        <p:tav tm="100000">
                                          <p:val>
                                            <p:strVal val="1+ppt_h/2"/>
                                          </p:val>
                                        </p:tav>
                                      </p:tavLst>
                                    </p:anim>
                                    <p:set>
                                      <p:cBhvr>
                                        <p:cTn id="12" dur="1" fill="hold">
                                          <p:stCondLst>
                                            <p:cond delay="499"/>
                                          </p:stCondLst>
                                        </p:cTn>
                                        <p:tgtEl>
                                          <p:spTgt spid="10"/>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18"/>
                                        </p:tgtEl>
                                        <p:attrNameLst>
                                          <p:attrName>ppt_x</p:attrName>
                                        </p:attrNameLst>
                                      </p:cBhvr>
                                      <p:tavLst>
                                        <p:tav tm="0">
                                          <p:val>
                                            <p:strVal val="ppt_x"/>
                                          </p:val>
                                        </p:tav>
                                        <p:tav tm="100000">
                                          <p:val>
                                            <p:strVal val="ppt_x"/>
                                          </p:val>
                                        </p:tav>
                                      </p:tavLst>
                                    </p:anim>
                                    <p:anim calcmode="lin" valueType="num">
                                      <p:cBhvr additive="base">
                                        <p:cTn id="15" dur="500"/>
                                        <p:tgtEl>
                                          <p:spTgt spid="18"/>
                                        </p:tgtEl>
                                        <p:attrNameLst>
                                          <p:attrName>ppt_y</p:attrName>
                                        </p:attrNameLst>
                                      </p:cBhvr>
                                      <p:tavLst>
                                        <p:tav tm="0">
                                          <p:val>
                                            <p:strVal val="ppt_y"/>
                                          </p:val>
                                        </p:tav>
                                        <p:tav tm="100000">
                                          <p:val>
                                            <p:strVal val="1+ppt_h/2"/>
                                          </p:val>
                                        </p:tav>
                                      </p:tavLst>
                                    </p:anim>
                                    <p:set>
                                      <p:cBhvr>
                                        <p:cTn id="16"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11EDA-D0A6-FDB9-13A2-307EA14D502E}"/>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97A08A8D-2A7D-4D34-3248-61A868F1812F}"/>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81FBBA7A-364E-5A9A-2183-C965154B48A8}"/>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6" name="Slide Number Placeholder 28">
            <a:extLst>
              <a:ext uri="{FF2B5EF4-FFF2-40B4-BE49-F238E27FC236}">
                <a16:creationId xmlns:a16="http://schemas.microsoft.com/office/drawing/2014/main" id="{E60DD3CA-E96A-5BEF-C5A7-8FD7B72212F2}"/>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19</a:t>
            </a:fld>
            <a:endParaRPr lang="en-GB" dirty="0"/>
          </a:p>
        </p:txBody>
      </p:sp>
      <p:cxnSp>
        <p:nvCxnSpPr>
          <p:cNvPr id="2" name="Connecteur droit 6">
            <a:extLst>
              <a:ext uri="{FF2B5EF4-FFF2-40B4-BE49-F238E27FC236}">
                <a16:creationId xmlns:a16="http://schemas.microsoft.com/office/drawing/2014/main" id="{97431FA0-3A5F-3699-8233-F94F09713CA3}"/>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13">
            <a:extLst>
              <a:ext uri="{FF2B5EF4-FFF2-40B4-BE49-F238E27FC236}">
                <a16:creationId xmlns:a16="http://schemas.microsoft.com/office/drawing/2014/main" id="{AC8BA499-CED0-9748-F402-7AD91F186E76}"/>
              </a:ext>
            </a:extLst>
          </p:cNvPr>
          <p:cNvSpPr/>
          <p:nvPr/>
        </p:nvSpPr>
        <p:spPr>
          <a:xfrm flipH="1">
            <a:off x="5563163"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1" name="ZoneTexte 17">
            <a:extLst>
              <a:ext uri="{FF2B5EF4-FFF2-40B4-BE49-F238E27FC236}">
                <a16:creationId xmlns:a16="http://schemas.microsoft.com/office/drawing/2014/main" id="{D21DA5B1-713A-E65F-69D2-7F28D9245F9E}"/>
              </a:ext>
            </a:extLst>
          </p:cNvPr>
          <p:cNvSpPr txBox="1"/>
          <p:nvPr/>
        </p:nvSpPr>
        <p:spPr>
          <a:xfrm>
            <a:off x="100013" y="1306368"/>
            <a:ext cx="2897187" cy="307777"/>
          </a:xfrm>
          <a:prstGeom prst="rect">
            <a:avLst/>
          </a:prstGeom>
          <a:noFill/>
        </p:spPr>
        <p:txBody>
          <a:bodyPr wrap="square" rtlCol="0">
            <a:spAutoFit/>
          </a:bodyPr>
          <a:lstStyle/>
          <a:p>
            <a:pPr algn="ctr"/>
            <a:r>
              <a:rPr lang="en-US" sz="1400" dirty="0" err="1">
                <a:solidFill>
                  <a:schemeClr val="bg1">
                    <a:lumMod val="50000"/>
                  </a:schemeClr>
                </a:solidFill>
                <a:latin typeface="Century Schoolbook" charset="0"/>
              </a:rPr>
              <a:t>Diagrammes</a:t>
            </a:r>
            <a:r>
              <a:rPr lang="en-US" sz="1400" dirty="0">
                <a:solidFill>
                  <a:schemeClr val="bg1">
                    <a:lumMod val="50000"/>
                  </a:schemeClr>
                </a:solidFill>
                <a:latin typeface="Century Schoolbook" charset="0"/>
              </a:rPr>
              <a:t> </a:t>
            </a:r>
            <a:r>
              <a:rPr lang="en-US" sz="1400" dirty="0" err="1">
                <a:solidFill>
                  <a:schemeClr val="bg1">
                    <a:lumMod val="50000"/>
                  </a:schemeClr>
                </a:solidFill>
                <a:latin typeface="Century Schoolbook" charset="0"/>
              </a:rPr>
              <a:t>d’activités</a:t>
            </a:r>
            <a:r>
              <a:rPr lang="en-US" sz="1400" dirty="0">
                <a:solidFill>
                  <a:schemeClr val="bg1">
                    <a:lumMod val="50000"/>
                  </a:schemeClr>
                </a:solidFill>
                <a:latin typeface="Century Schoolbook" charset="0"/>
              </a:rPr>
              <a:t> des jobs</a:t>
            </a:r>
          </a:p>
        </p:txBody>
      </p:sp>
      <p:sp>
        <p:nvSpPr>
          <p:cNvPr id="7" name="Ellipse 13">
            <a:extLst>
              <a:ext uri="{FF2B5EF4-FFF2-40B4-BE49-F238E27FC236}">
                <a16:creationId xmlns:a16="http://schemas.microsoft.com/office/drawing/2014/main" id="{9F0CB789-C5AC-68E2-D833-A422AE03E76A}"/>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ZoneTexte 7">
            <a:extLst>
              <a:ext uri="{FF2B5EF4-FFF2-40B4-BE49-F238E27FC236}">
                <a16:creationId xmlns:a16="http://schemas.microsoft.com/office/drawing/2014/main" id="{566D33A7-4C0B-9D03-48DC-D13505CA202F}"/>
              </a:ext>
            </a:extLst>
          </p:cNvPr>
          <p:cNvSpPr txBox="1"/>
          <p:nvPr/>
        </p:nvSpPr>
        <p:spPr>
          <a:xfrm>
            <a:off x="4539455" y="1263507"/>
            <a:ext cx="3313907" cy="307777"/>
          </a:xfrm>
          <a:prstGeom prst="rect">
            <a:avLst/>
          </a:prstGeom>
          <a:noFill/>
        </p:spPr>
        <p:txBody>
          <a:bodyPr wrap="square" rtlCol="0">
            <a:spAutoFit/>
          </a:bodyPr>
          <a:lstStyle/>
          <a:p>
            <a:r>
              <a:rPr lang="en-US" sz="1400" dirty="0" err="1">
                <a:solidFill>
                  <a:schemeClr val="bg1">
                    <a:lumMod val="50000"/>
                  </a:schemeClr>
                </a:solidFill>
                <a:latin typeface="Century Schoolbook" charset="0"/>
                <a:ea typeface="Century Schoolbook" charset="0"/>
                <a:cs typeface="Century Schoolbook" charset="0"/>
              </a:rPr>
              <a:t>Modèles</a:t>
            </a:r>
            <a:r>
              <a:rPr lang="en-US" sz="1400" dirty="0">
                <a:solidFill>
                  <a:schemeClr val="bg1">
                    <a:lumMod val="50000"/>
                  </a:schemeClr>
                </a:solidFill>
                <a:latin typeface="Century Schoolbook" charset="0"/>
                <a:ea typeface="Century Schoolbook" charset="0"/>
                <a:cs typeface="Century Schoolbook" charset="0"/>
              </a:rPr>
              <a:t> </a:t>
            </a:r>
            <a:r>
              <a:rPr lang="en-US" sz="1400" dirty="0" err="1">
                <a:solidFill>
                  <a:schemeClr val="bg1">
                    <a:lumMod val="50000"/>
                  </a:schemeClr>
                </a:solidFill>
                <a:latin typeface="Century Schoolbook" charset="0"/>
                <a:ea typeface="Century Schoolbook" charset="0"/>
                <a:cs typeface="Century Schoolbook" charset="0"/>
              </a:rPr>
              <a:t>sémantiques</a:t>
            </a:r>
            <a:r>
              <a:rPr lang="en-US" sz="1400" dirty="0">
                <a:solidFill>
                  <a:schemeClr val="bg1">
                    <a:lumMod val="50000"/>
                  </a:schemeClr>
                </a:solidFill>
                <a:latin typeface="Century Schoolbook" charset="0"/>
                <a:ea typeface="Century Schoolbook" charset="0"/>
                <a:cs typeface="Century Schoolbook" charset="0"/>
              </a:rPr>
              <a:t> des dashboards</a:t>
            </a:r>
          </a:p>
        </p:txBody>
      </p:sp>
      <p:pic>
        <p:nvPicPr>
          <p:cNvPr id="12" name="Image 11">
            <a:extLst>
              <a:ext uri="{FF2B5EF4-FFF2-40B4-BE49-F238E27FC236}">
                <a16:creationId xmlns:a16="http://schemas.microsoft.com/office/drawing/2014/main" id="{F7534648-A82C-41B3-85FC-B8D89E9B5044}"/>
              </a:ext>
            </a:extLst>
          </p:cNvPr>
          <p:cNvPicPr>
            <a:picLocks noChangeAspect="1"/>
          </p:cNvPicPr>
          <p:nvPr/>
        </p:nvPicPr>
        <p:blipFill>
          <a:blip r:embed="rId8"/>
          <a:stretch>
            <a:fillRect/>
          </a:stretch>
        </p:blipFill>
        <p:spPr>
          <a:xfrm>
            <a:off x="1267734" y="2602523"/>
            <a:ext cx="9521594" cy="2735805"/>
          </a:xfrm>
          <a:prstGeom prst="rect">
            <a:avLst/>
          </a:prstGeom>
        </p:spPr>
      </p:pic>
      <p:sp>
        <p:nvSpPr>
          <p:cNvPr id="15" name="ZoneTexte 14">
            <a:extLst>
              <a:ext uri="{FF2B5EF4-FFF2-40B4-BE49-F238E27FC236}">
                <a16:creationId xmlns:a16="http://schemas.microsoft.com/office/drawing/2014/main" id="{E5FD1609-02B5-0F31-0138-EEA9A5BB6B87}"/>
              </a:ext>
            </a:extLst>
          </p:cNvPr>
          <p:cNvSpPr txBox="1"/>
          <p:nvPr/>
        </p:nvSpPr>
        <p:spPr>
          <a:xfrm>
            <a:off x="3148408" y="1971397"/>
            <a:ext cx="6096000" cy="430887"/>
          </a:xfrm>
          <a:prstGeom prst="rect">
            <a:avLst/>
          </a:prstGeom>
          <a:noFill/>
        </p:spPr>
        <p:txBody>
          <a:bodyPr wrap="square">
            <a:spAutoFit/>
          </a:bodyPr>
          <a:lstStyle/>
          <a:p>
            <a:pPr algn="ctr"/>
            <a:r>
              <a:rPr lang="fr-MA" sz="2200" b="1" dirty="0">
                <a:solidFill>
                  <a:srgbClr val="C00000"/>
                </a:solidFill>
              </a:rPr>
              <a:t>Suivi des rejets</a:t>
            </a:r>
          </a:p>
        </p:txBody>
      </p:sp>
    </p:spTree>
    <p:extLst>
      <p:ext uri="{BB962C8B-B14F-4D97-AF65-F5344CB8AC3E}">
        <p14:creationId xmlns:p14="http://schemas.microsoft.com/office/powerpoint/2010/main" val="267197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12"/>
                                        </p:tgtEl>
                                        <p:attrNameLst>
                                          <p:attrName>ppt_x</p:attrName>
                                        </p:attrNameLst>
                                      </p:cBhvr>
                                      <p:tavLst>
                                        <p:tav tm="0">
                                          <p:val>
                                            <p:strVal val="ppt_x"/>
                                          </p:val>
                                        </p:tav>
                                        <p:tav tm="100000">
                                          <p:val>
                                            <p:strVal val="ppt_x"/>
                                          </p:val>
                                        </p:tav>
                                      </p:tavLst>
                                    </p:anim>
                                    <p:anim calcmode="lin" valueType="num">
                                      <p:cBhvr additive="base">
                                        <p:cTn id="17" dur="500"/>
                                        <p:tgtEl>
                                          <p:spTgt spid="12"/>
                                        </p:tgtEl>
                                        <p:attrNameLst>
                                          <p:attrName>ppt_y</p:attrName>
                                        </p:attrNameLst>
                                      </p:cBhvr>
                                      <p:tavLst>
                                        <p:tav tm="0">
                                          <p:val>
                                            <p:strVal val="ppt_y"/>
                                          </p:val>
                                        </p:tav>
                                        <p:tav tm="100000">
                                          <p:val>
                                            <p:strVal val="1+ppt_h/2"/>
                                          </p:val>
                                        </p:tav>
                                      </p:tavLst>
                                    </p:anim>
                                    <p:set>
                                      <p:cBhvr>
                                        <p:cTn id="18" dur="1" fill="hold">
                                          <p:stCondLst>
                                            <p:cond delay="499"/>
                                          </p:stCondLst>
                                        </p:cTn>
                                        <p:tgtEl>
                                          <p:spTgt spid="12"/>
                                        </p:tgtEl>
                                        <p:attrNameLst>
                                          <p:attrName>style.visibility</p:attrName>
                                        </p:attrNameLst>
                                      </p:cBhvr>
                                      <p:to>
                                        <p:strVal val="hidden"/>
                                      </p:to>
                                    </p:set>
                                  </p:childTnLst>
                                </p:cTn>
                              </p:par>
                              <p:par>
                                <p:cTn id="19" presetID="2" presetClass="exit" presetSubtype="4" fill="hold" grpId="1" nodeType="withEffect">
                                  <p:stCondLst>
                                    <p:cond delay="0"/>
                                  </p:stCondLst>
                                  <p:childTnLst>
                                    <p:anim calcmode="lin" valueType="num">
                                      <p:cBhvr additive="base">
                                        <p:cTn id="20" dur="500"/>
                                        <p:tgtEl>
                                          <p:spTgt spid="15"/>
                                        </p:tgtEl>
                                        <p:attrNameLst>
                                          <p:attrName>ppt_x</p:attrName>
                                        </p:attrNameLst>
                                      </p:cBhvr>
                                      <p:tavLst>
                                        <p:tav tm="0">
                                          <p:val>
                                            <p:strVal val="ppt_x"/>
                                          </p:val>
                                        </p:tav>
                                        <p:tav tm="100000">
                                          <p:val>
                                            <p:strVal val="ppt_x"/>
                                          </p:val>
                                        </p:tav>
                                      </p:tavLst>
                                    </p:anim>
                                    <p:anim calcmode="lin" valueType="num">
                                      <p:cBhvr additive="base">
                                        <p:cTn id="21" dur="500"/>
                                        <p:tgtEl>
                                          <p:spTgt spid="15"/>
                                        </p:tgtEl>
                                        <p:attrNameLst>
                                          <p:attrName>ppt_y</p:attrName>
                                        </p:attrNameLst>
                                      </p:cBhvr>
                                      <p:tavLst>
                                        <p:tav tm="0">
                                          <p:val>
                                            <p:strVal val="ppt_y"/>
                                          </p:val>
                                        </p:tav>
                                        <p:tav tm="100000">
                                          <p:val>
                                            <p:strVal val="1+ppt_h/2"/>
                                          </p:val>
                                        </p:tav>
                                      </p:tavLst>
                                    </p:anim>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FB565-D384-3D2F-631E-E615F8EB941C}"/>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7EF24562-13A5-B539-33EC-FEB31495A7CB}"/>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F7E110E7-33BD-9099-89E5-B598FB3217EE}"/>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6" name="Slide Number Placeholder 28">
            <a:extLst>
              <a:ext uri="{FF2B5EF4-FFF2-40B4-BE49-F238E27FC236}">
                <a16:creationId xmlns:a16="http://schemas.microsoft.com/office/drawing/2014/main" id="{A5D0F62D-DC86-2016-03F4-64E8CE04A13C}"/>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20</a:t>
            </a:fld>
            <a:endParaRPr lang="en-GB" dirty="0"/>
          </a:p>
        </p:txBody>
      </p:sp>
      <p:cxnSp>
        <p:nvCxnSpPr>
          <p:cNvPr id="2" name="Connecteur droit 6">
            <a:extLst>
              <a:ext uri="{FF2B5EF4-FFF2-40B4-BE49-F238E27FC236}">
                <a16:creationId xmlns:a16="http://schemas.microsoft.com/office/drawing/2014/main" id="{940E6313-5F81-42CC-F887-80D6AEFD141F}"/>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5" name="Ellipse 13">
            <a:extLst>
              <a:ext uri="{FF2B5EF4-FFF2-40B4-BE49-F238E27FC236}">
                <a16:creationId xmlns:a16="http://schemas.microsoft.com/office/drawing/2014/main" id="{75655B5A-E9A3-8432-3DB7-6605569F53AD}"/>
              </a:ext>
            </a:extLst>
          </p:cNvPr>
          <p:cNvSpPr/>
          <p:nvPr/>
        </p:nvSpPr>
        <p:spPr>
          <a:xfrm flipH="1">
            <a:off x="5563163" y="1100043"/>
            <a:ext cx="137550" cy="137550"/>
          </a:xfrm>
          <a:prstGeom prst="ellipse">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11" name="ZoneTexte 17">
            <a:extLst>
              <a:ext uri="{FF2B5EF4-FFF2-40B4-BE49-F238E27FC236}">
                <a16:creationId xmlns:a16="http://schemas.microsoft.com/office/drawing/2014/main" id="{F03C2061-8A4E-00D6-6CEB-4E16741A5B44}"/>
              </a:ext>
            </a:extLst>
          </p:cNvPr>
          <p:cNvSpPr txBox="1"/>
          <p:nvPr/>
        </p:nvSpPr>
        <p:spPr>
          <a:xfrm>
            <a:off x="100013" y="1306368"/>
            <a:ext cx="2897187" cy="307777"/>
          </a:xfrm>
          <a:prstGeom prst="rect">
            <a:avLst/>
          </a:prstGeom>
          <a:noFill/>
        </p:spPr>
        <p:txBody>
          <a:bodyPr wrap="square" rtlCol="0">
            <a:spAutoFit/>
          </a:bodyPr>
          <a:lstStyle/>
          <a:p>
            <a:pPr algn="ctr"/>
            <a:r>
              <a:rPr lang="en-US" sz="1400" dirty="0" err="1">
                <a:solidFill>
                  <a:schemeClr val="bg1">
                    <a:lumMod val="50000"/>
                  </a:schemeClr>
                </a:solidFill>
                <a:latin typeface="Century Schoolbook" charset="0"/>
              </a:rPr>
              <a:t>Diagrammes</a:t>
            </a:r>
            <a:r>
              <a:rPr lang="en-US" sz="1400" dirty="0">
                <a:solidFill>
                  <a:schemeClr val="bg1">
                    <a:lumMod val="50000"/>
                  </a:schemeClr>
                </a:solidFill>
                <a:latin typeface="Century Schoolbook" charset="0"/>
              </a:rPr>
              <a:t> </a:t>
            </a:r>
            <a:r>
              <a:rPr lang="en-US" sz="1400" dirty="0" err="1">
                <a:solidFill>
                  <a:schemeClr val="bg1">
                    <a:lumMod val="50000"/>
                  </a:schemeClr>
                </a:solidFill>
                <a:latin typeface="Century Schoolbook" charset="0"/>
              </a:rPr>
              <a:t>d’activités</a:t>
            </a:r>
            <a:r>
              <a:rPr lang="en-US" sz="1400" dirty="0">
                <a:solidFill>
                  <a:schemeClr val="bg1">
                    <a:lumMod val="50000"/>
                  </a:schemeClr>
                </a:solidFill>
                <a:latin typeface="Century Schoolbook" charset="0"/>
              </a:rPr>
              <a:t> des jobs</a:t>
            </a:r>
          </a:p>
        </p:txBody>
      </p:sp>
      <p:sp>
        <p:nvSpPr>
          <p:cNvPr id="7" name="Ellipse 13">
            <a:extLst>
              <a:ext uri="{FF2B5EF4-FFF2-40B4-BE49-F238E27FC236}">
                <a16:creationId xmlns:a16="http://schemas.microsoft.com/office/drawing/2014/main" id="{EDFE0CAD-86A4-804D-2B11-865D7E526711}"/>
              </a:ext>
            </a:extLst>
          </p:cNvPr>
          <p:cNvSpPr/>
          <p:nvPr/>
        </p:nvSpPr>
        <p:spPr>
          <a:xfrm flipH="1">
            <a:off x="316988" y="1100043"/>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ZoneTexte 7">
            <a:extLst>
              <a:ext uri="{FF2B5EF4-FFF2-40B4-BE49-F238E27FC236}">
                <a16:creationId xmlns:a16="http://schemas.microsoft.com/office/drawing/2014/main" id="{FCAE12C8-316D-2E75-A704-15EDD1BB2C48}"/>
              </a:ext>
            </a:extLst>
          </p:cNvPr>
          <p:cNvSpPr txBox="1"/>
          <p:nvPr/>
        </p:nvSpPr>
        <p:spPr>
          <a:xfrm>
            <a:off x="4539455" y="1263507"/>
            <a:ext cx="3313907" cy="307777"/>
          </a:xfrm>
          <a:prstGeom prst="rect">
            <a:avLst/>
          </a:prstGeom>
          <a:noFill/>
        </p:spPr>
        <p:txBody>
          <a:bodyPr wrap="square" rtlCol="0">
            <a:spAutoFit/>
          </a:bodyPr>
          <a:lstStyle/>
          <a:p>
            <a:r>
              <a:rPr lang="en-US" sz="1400" dirty="0" err="1">
                <a:solidFill>
                  <a:schemeClr val="bg1">
                    <a:lumMod val="50000"/>
                  </a:schemeClr>
                </a:solidFill>
                <a:latin typeface="Century Schoolbook" charset="0"/>
                <a:ea typeface="Century Schoolbook" charset="0"/>
                <a:cs typeface="Century Schoolbook" charset="0"/>
              </a:rPr>
              <a:t>Modèles</a:t>
            </a:r>
            <a:r>
              <a:rPr lang="en-US" sz="1400" dirty="0">
                <a:solidFill>
                  <a:schemeClr val="bg1">
                    <a:lumMod val="50000"/>
                  </a:schemeClr>
                </a:solidFill>
                <a:latin typeface="Century Schoolbook" charset="0"/>
                <a:ea typeface="Century Schoolbook" charset="0"/>
                <a:cs typeface="Century Schoolbook" charset="0"/>
              </a:rPr>
              <a:t> </a:t>
            </a:r>
            <a:r>
              <a:rPr lang="en-US" sz="1400" dirty="0" err="1">
                <a:solidFill>
                  <a:schemeClr val="bg1">
                    <a:lumMod val="50000"/>
                  </a:schemeClr>
                </a:solidFill>
                <a:latin typeface="Century Schoolbook" charset="0"/>
                <a:ea typeface="Century Schoolbook" charset="0"/>
                <a:cs typeface="Century Schoolbook" charset="0"/>
              </a:rPr>
              <a:t>sémantiques</a:t>
            </a:r>
            <a:r>
              <a:rPr lang="en-US" sz="1400" dirty="0">
                <a:solidFill>
                  <a:schemeClr val="bg1">
                    <a:lumMod val="50000"/>
                  </a:schemeClr>
                </a:solidFill>
                <a:latin typeface="Century Schoolbook" charset="0"/>
                <a:ea typeface="Century Schoolbook" charset="0"/>
                <a:cs typeface="Century Schoolbook" charset="0"/>
              </a:rPr>
              <a:t> des dashboards</a:t>
            </a:r>
          </a:p>
        </p:txBody>
      </p:sp>
      <p:pic>
        <p:nvPicPr>
          <p:cNvPr id="15" name="Image 14">
            <a:extLst>
              <a:ext uri="{FF2B5EF4-FFF2-40B4-BE49-F238E27FC236}">
                <a16:creationId xmlns:a16="http://schemas.microsoft.com/office/drawing/2014/main" id="{01532A36-E181-3B8A-EA97-ACA0211D2160}"/>
              </a:ext>
            </a:extLst>
          </p:cNvPr>
          <p:cNvPicPr>
            <a:picLocks noChangeAspect="1"/>
          </p:cNvPicPr>
          <p:nvPr/>
        </p:nvPicPr>
        <p:blipFill>
          <a:blip r:embed="rId8"/>
          <a:stretch>
            <a:fillRect/>
          </a:stretch>
        </p:blipFill>
        <p:spPr>
          <a:xfrm>
            <a:off x="332120" y="2452321"/>
            <a:ext cx="11527759" cy="3099311"/>
          </a:xfrm>
          <a:prstGeom prst="rect">
            <a:avLst/>
          </a:prstGeom>
        </p:spPr>
      </p:pic>
      <p:sp>
        <p:nvSpPr>
          <p:cNvPr id="16" name="ZoneTexte 15">
            <a:extLst>
              <a:ext uri="{FF2B5EF4-FFF2-40B4-BE49-F238E27FC236}">
                <a16:creationId xmlns:a16="http://schemas.microsoft.com/office/drawing/2014/main" id="{CBB58CF7-91C2-6A59-CC12-4E3849BF62CF}"/>
              </a:ext>
            </a:extLst>
          </p:cNvPr>
          <p:cNvSpPr txBox="1"/>
          <p:nvPr/>
        </p:nvSpPr>
        <p:spPr>
          <a:xfrm>
            <a:off x="3340100" y="1891103"/>
            <a:ext cx="5132383" cy="430887"/>
          </a:xfrm>
          <a:prstGeom prst="rect">
            <a:avLst/>
          </a:prstGeom>
          <a:noFill/>
        </p:spPr>
        <p:txBody>
          <a:bodyPr wrap="square">
            <a:spAutoFit/>
          </a:bodyPr>
          <a:lstStyle/>
          <a:p>
            <a:pPr algn="ctr"/>
            <a:r>
              <a:rPr lang="fr-MA" sz="2200" b="1" dirty="0">
                <a:solidFill>
                  <a:srgbClr val="C00000"/>
                </a:solidFill>
              </a:rPr>
              <a:t>Suivi des jobs</a:t>
            </a:r>
            <a:r>
              <a:rPr lang="fr-MA" sz="2200" dirty="0">
                <a:solidFill>
                  <a:srgbClr val="C00000"/>
                </a:solidFill>
              </a:rPr>
              <a:t> </a:t>
            </a:r>
            <a:r>
              <a:rPr lang="fr-MA" sz="2200" i="1" dirty="0" err="1">
                <a:solidFill>
                  <a:srgbClr val="C00000"/>
                </a:solidFill>
              </a:rPr>
              <a:t>databricks</a:t>
            </a:r>
            <a:endParaRPr lang="en-US" sz="2200" dirty="0">
              <a:solidFill>
                <a:srgbClr val="C00000"/>
              </a:solidFill>
              <a:latin typeface="Century Gothic" panose="020B0502020202020204" pitchFamily="34" charset="0"/>
            </a:endParaRPr>
          </a:p>
        </p:txBody>
      </p:sp>
    </p:spTree>
    <p:extLst>
      <p:ext uri="{BB962C8B-B14F-4D97-AF65-F5344CB8AC3E}">
        <p14:creationId xmlns:p14="http://schemas.microsoft.com/office/powerpoint/2010/main" val="87270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1" nodeType="clickEffect">
                                  <p:stCondLst>
                                    <p:cond delay="0"/>
                                  </p:stCondLst>
                                  <p:childTnLst>
                                    <p:anim calcmode="lin" valueType="num">
                                      <p:cBhvr additive="base">
                                        <p:cTn id="16" dur="500"/>
                                        <p:tgtEl>
                                          <p:spTgt spid="16"/>
                                        </p:tgtEl>
                                        <p:attrNameLst>
                                          <p:attrName>ppt_x</p:attrName>
                                        </p:attrNameLst>
                                      </p:cBhvr>
                                      <p:tavLst>
                                        <p:tav tm="0">
                                          <p:val>
                                            <p:strVal val="ppt_x"/>
                                          </p:val>
                                        </p:tav>
                                        <p:tav tm="100000">
                                          <p:val>
                                            <p:strVal val="ppt_x"/>
                                          </p:val>
                                        </p:tav>
                                      </p:tavLst>
                                    </p:anim>
                                    <p:anim calcmode="lin" valueType="num">
                                      <p:cBhvr additive="base">
                                        <p:cTn id="17" dur="500"/>
                                        <p:tgtEl>
                                          <p:spTgt spid="16"/>
                                        </p:tgtEl>
                                        <p:attrNameLst>
                                          <p:attrName>ppt_y</p:attrName>
                                        </p:attrNameLst>
                                      </p:cBhvr>
                                      <p:tavLst>
                                        <p:tav tm="0">
                                          <p:val>
                                            <p:strVal val="ppt_y"/>
                                          </p:val>
                                        </p:tav>
                                        <p:tav tm="100000">
                                          <p:val>
                                            <p:strVal val="1+ppt_h/2"/>
                                          </p:val>
                                        </p:tav>
                                      </p:tavLst>
                                    </p:anim>
                                    <p:set>
                                      <p:cBhvr>
                                        <p:cTn id="18" dur="1" fill="hold">
                                          <p:stCondLst>
                                            <p:cond delay="499"/>
                                          </p:stCondLst>
                                        </p:cTn>
                                        <p:tgtEl>
                                          <p:spTgt spid="16"/>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15"/>
                                        </p:tgtEl>
                                        <p:attrNameLst>
                                          <p:attrName>ppt_x</p:attrName>
                                        </p:attrNameLst>
                                      </p:cBhvr>
                                      <p:tavLst>
                                        <p:tav tm="0">
                                          <p:val>
                                            <p:strVal val="ppt_x"/>
                                          </p:val>
                                        </p:tav>
                                        <p:tav tm="100000">
                                          <p:val>
                                            <p:strVal val="ppt_x"/>
                                          </p:val>
                                        </p:tav>
                                      </p:tavLst>
                                    </p:anim>
                                    <p:anim calcmode="lin" valueType="num">
                                      <p:cBhvr additive="base">
                                        <p:cTn id="21" dur="500"/>
                                        <p:tgtEl>
                                          <p:spTgt spid="15"/>
                                        </p:tgtEl>
                                        <p:attrNameLst>
                                          <p:attrName>ppt_y</p:attrName>
                                        </p:attrNameLst>
                                      </p:cBhvr>
                                      <p:tavLst>
                                        <p:tav tm="0">
                                          <p:val>
                                            <p:strVal val="ppt_y"/>
                                          </p:val>
                                        </p:tav>
                                        <p:tav tm="100000">
                                          <p:val>
                                            <p:strVal val="1+ppt_h/2"/>
                                          </p:val>
                                        </p:tav>
                                      </p:tavLst>
                                    </p:anim>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3999" y="2829230"/>
            <a:ext cx="9144000" cy="837101"/>
          </a:xfrm>
        </p:spPr>
        <p:txBody>
          <a:bodyPr>
            <a:normAutofit/>
          </a:bodyPr>
          <a:lstStyle/>
          <a:p>
            <a:r>
              <a:rPr lang="en-US" sz="4800" dirty="0">
                <a:latin typeface="Century Gothic" panose="020B0502020202020204" pitchFamily="34" charset="0"/>
                <a:ea typeface="Century Schoolbook" charset="0"/>
                <a:cs typeface="Century Schoolbook" charset="0"/>
              </a:rPr>
              <a:t>Réalisation</a:t>
            </a:r>
          </a:p>
        </p:txBody>
      </p:sp>
      <p:cxnSp>
        <p:nvCxnSpPr>
          <p:cNvPr id="7" name="Connecteur droit 6"/>
          <p:cNvCxnSpPr/>
          <p:nvPr/>
        </p:nvCxnSpPr>
        <p:spPr>
          <a:xfrm flipV="1">
            <a:off x="3276600" y="3955562"/>
            <a:ext cx="5703277" cy="6838"/>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9" name="Connecteur droit 8"/>
          <p:cNvCxnSpPr/>
          <p:nvPr/>
        </p:nvCxnSpPr>
        <p:spPr>
          <a:xfrm flipV="1">
            <a:off x="3244361" y="2533162"/>
            <a:ext cx="5703277" cy="6838"/>
          </a:xfrm>
          <a:prstGeom prst="line">
            <a:avLst/>
          </a:prstGeom>
          <a:ln/>
        </p:spPr>
        <p:style>
          <a:lnRef idx="1">
            <a:schemeClr val="accent5"/>
          </a:lnRef>
          <a:fillRef idx="0">
            <a:schemeClr val="accent5"/>
          </a:fillRef>
          <a:effectRef idx="0">
            <a:schemeClr val="accent5"/>
          </a:effectRef>
          <a:fontRef idx="minor">
            <a:schemeClr val="tx1"/>
          </a:fontRef>
        </p:style>
      </p:cxnSp>
      <p:sp>
        <p:nvSpPr>
          <p:cNvPr id="10" name="Rectangle à coins arrondis 9"/>
          <p:cNvSpPr/>
          <p:nvPr/>
        </p:nvSpPr>
        <p:spPr>
          <a:xfrm>
            <a:off x="4883085" y="2395728"/>
            <a:ext cx="2394408" cy="144272"/>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à coins arrondis 10"/>
          <p:cNvSpPr/>
          <p:nvPr/>
        </p:nvSpPr>
        <p:spPr>
          <a:xfrm>
            <a:off x="4883085" y="3962400"/>
            <a:ext cx="2394408" cy="152400"/>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Slide Number Placeholder 2">
            <a:extLst>
              <a:ext uri="{FF2B5EF4-FFF2-40B4-BE49-F238E27FC236}">
                <a16:creationId xmlns:a16="http://schemas.microsoft.com/office/drawing/2014/main" id="{DAEB7993-FCA7-DA12-22BA-62E461B41EBA}"/>
              </a:ext>
            </a:extLst>
          </p:cNvPr>
          <p:cNvSpPr>
            <a:spLocks noGrp="1"/>
          </p:cNvSpPr>
          <p:nvPr>
            <p:ph type="sldNum" sz="quarter" idx="12"/>
          </p:nvPr>
        </p:nvSpPr>
        <p:spPr/>
        <p:txBody>
          <a:bodyPr/>
          <a:lstStyle/>
          <a:p>
            <a:fld id="{6983841B-0DB4-4C99-B5E5-79625F01DBF7}" type="slidenum">
              <a:rPr lang="en-GB" smtClean="0"/>
              <a:t>21</a:t>
            </a:fld>
            <a:endParaRPr lang="en-GB" dirty="0"/>
          </a:p>
        </p:txBody>
      </p:sp>
    </p:spTree>
    <p:extLst>
      <p:ext uri="{BB962C8B-B14F-4D97-AF65-F5344CB8AC3E}">
        <p14:creationId xmlns:p14="http://schemas.microsoft.com/office/powerpoint/2010/main" val="1690909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p:cNvGraphicFramePr/>
          <p:nvPr>
            <p:extLst>
              <p:ext uri="{D42A27DB-BD31-4B8C-83A1-F6EECF244321}">
                <p14:modId xmlns:p14="http://schemas.microsoft.com/office/powerpoint/2010/main" val="2614888765"/>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Slide Number Placeholder 2">
            <a:extLst>
              <a:ext uri="{FF2B5EF4-FFF2-40B4-BE49-F238E27FC236}">
                <a16:creationId xmlns:a16="http://schemas.microsoft.com/office/drawing/2014/main" id="{B4020F40-7E73-0561-C93A-36E58090E234}"/>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22</a:t>
            </a:fld>
            <a:endParaRPr lang="en-GB" dirty="0"/>
          </a:p>
        </p:txBody>
      </p:sp>
      <p:grpSp>
        <p:nvGrpSpPr>
          <p:cNvPr id="45" name="Groupe 44">
            <a:extLst>
              <a:ext uri="{FF2B5EF4-FFF2-40B4-BE49-F238E27FC236}">
                <a16:creationId xmlns:a16="http://schemas.microsoft.com/office/drawing/2014/main" id="{77B4B118-E4A0-DF88-92F5-96397FD4B50B}"/>
              </a:ext>
            </a:extLst>
          </p:cNvPr>
          <p:cNvGrpSpPr/>
          <p:nvPr/>
        </p:nvGrpSpPr>
        <p:grpSpPr>
          <a:xfrm>
            <a:off x="2783334" y="2002480"/>
            <a:ext cx="7241393" cy="4085164"/>
            <a:chOff x="2783334" y="2002480"/>
            <a:chExt cx="7241393" cy="4085164"/>
          </a:xfrm>
        </p:grpSpPr>
        <p:sp>
          <p:nvSpPr>
            <p:cNvPr id="26" name="Rectangle 25">
              <a:extLst>
                <a:ext uri="{FF2B5EF4-FFF2-40B4-BE49-F238E27FC236}">
                  <a16:creationId xmlns:a16="http://schemas.microsoft.com/office/drawing/2014/main" id="{47C3A478-2C02-9E75-F067-BF665F9F399B}"/>
                </a:ext>
              </a:extLst>
            </p:cNvPr>
            <p:cNvSpPr/>
            <p:nvPr/>
          </p:nvSpPr>
          <p:spPr>
            <a:xfrm>
              <a:off x="2783334" y="2002480"/>
              <a:ext cx="6096000" cy="4085164"/>
            </a:xfrm>
            <a:prstGeom prst="rect">
              <a:avLst/>
            </a:prstGeom>
            <a:solidFill>
              <a:schemeClr val="accent6">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p>
          </p:txBody>
        </p:sp>
        <p:sp>
          <p:nvSpPr>
            <p:cNvPr id="25" name="ZoneTexte 24">
              <a:extLst>
                <a:ext uri="{FF2B5EF4-FFF2-40B4-BE49-F238E27FC236}">
                  <a16:creationId xmlns:a16="http://schemas.microsoft.com/office/drawing/2014/main" id="{B8FABC7E-317F-02AC-1B2C-1086E2689110}"/>
                </a:ext>
              </a:extLst>
            </p:cNvPr>
            <p:cNvSpPr txBox="1"/>
            <p:nvPr/>
          </p:nvSpPr>
          <p:spPr>
            <a:xfrm>
              <a:off x="3928727" y="2148333"/>
              <a:ext cx="6096000" cy="369332"/>
            </a:xfrm>
            <a:prstGeom prst="rect">
              <a:avLst/>
            </a:prstGeom>
            <a:noFill/>
          </p:spPr>
          <p:txBody>
            <a:bodyPr wrap="square">
              <a:spAutoFit/>
            </a:bodyPr>
            <a:lstStyle/>
            <a:p>
              <a:r>
                <a:rPr lang="fr-MA" sz="1800" b="1" i="0" u="none" strike="noStrike" baseline="0" dirty="0">
                  <a:solidFill>
                    <a:schemeClr val="bg1">
                      <a:lumMod val="50000"/>
                    </a:schemeClr>
                  </a:solidFill>
                  <a:latin typeface="Times New Roman" panose="02020603050405020304" pitchFamily="18" charset="0"/>
                  <a:cs typeface="Times New Roman" panose="02020603050405020304" pitchFamily="18" charset="0"/>
                </a:rPr>
                <a:t>Environnements de développement</a:t>
              </a:r>
              <a:endParaRPr lang="fr-MA" b="1" dirty="0">
                <a:solidFill>
                  <a:schemeClr val="bg1">
                    <a:lumMod val="50000"/>
                  </a:schemeClr>
                </a:solidFill>
                <a:latin typeface="Times New Roman" panose="02020603050405020304" pitchFamily="18" charset="0"/>
                <a:cs typeface="Times New Roman" panose="02020603050405020304" pitchFamily="18" charset="0"/>
              </a:endParaRPr>
            </a:p>
          </p:txBody>
        </p:sp>
      </p:grpSp>
      <p:pic>
        <p:nvPicPr>
          <p:cNvPr id="14" name="Image 13" descr="Une image contenant logo, conception&#10;&#10;Le contenu généré par l’IA peut être incorrect.">
            <a:extLst>
              <a:ext uri="{FF2B5EF4-FFF2-40B4-BE49-F238E27FC236}">
                <a16:creationId xmlns:a16="http://schemas.microsoft.com/office/drawing/2014/main" id="{B21E0E89-AFE7-C530-E652-E5FEBA829CFB}"/>
              </a:ext>
            </a:extLst>
          </p:cNvPr>
          <p:cNvPicPr>
            <a:picLocks noChangeAspect="1"/>
          </p:cNvPicPr>
          <p:nvPr/>
        </p:nvPicPr>
        <p:blipFill>
          <a:blip r:embed="rId8"/>
          <a:stretch>
            <a:fillRect/>
          </a:stretch>
        </p:blipFill>
        <p:spPr>
          <a:xfrm>
            <a:off x="3487285" y="2514496"/>
            <a:ext cx="1573319" cy="1573319"/>
          </a:xfrm>
          <a:prstGeom prst="rect">
            <a:avLst/>
          </a:prstGeom>
        </p:spPr>
      </p:pic>
      <p:pic>
        <p:nvPicPr>
          <p:cNvPr id="24" name="Image 23" descr="Une image contenant art, pixel, conception&#10;&#10;Le contenu généré par l’IA peut être incorrect.">
            <a:extLst>
              <a:ext uri="{FF2B5EF4-FFF2-40B4-BE49-F238E27FC236}">
                <a16:creationId xmlns:a16="http://schemas.microsoft.com/office/drawing/2014/main" id="{CE5E650D-9D34-224A-E8D6-2CBB30C18E20}"/>
              </a:ext>
            </a:extLst>
          </p:cNvPr>
          <p:cNvPicPr>
            <a:picLocks noChangeAspect="1"/>
          </p:cNvPicPr>
          <p:nvPr/>
        </p:nvPicPr>
        <p:blipFill>
          <a:blip r:embed="rId9"/>
          <a:stretch>
            <a:fillRect/>
          </a:stretch>
        </p:blipFill>
        <p:spPr>
          <a:xfrm>
            <a:off x="6419960" y="2480716"/>
            <a:ext cx="1644049" cy="1644049"/>
          </a:xfrm>
          <a:prstGeom prst="rect">
            <a:avLst/>
          </a:prstGeom>
        </p:spPr>
      </p:pic>
      <p:cxnSp>
        <p:nvCxnSpPr>
          <p:cNvPr id="29" name="Connecteur droit 6">
            <a:extLst>
              <a:ext uri="{FF2B5EF4-FFF2-40B4-BE49-F238E27FC236}">
                <a16:creationId xmlns:a16="http://schemas.microsoft.com/office/drawing/2014/main" id="{14590170-EF80-FFA7-160A-2BA836B0212F}"/>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30" name="Connecteur droit 6">
            <a:extLst>
              <a:ext uri="{FF2B5EF4-FFF2-40B4-BE49-F238E27FC236}">
                <a16:creationId xmlns:a16="http://schemas.microsoft.com/office/drawing/2014/main" id="{E54135B4-AE1D-FA0B-DDB5-F99CAB2DE215}"/>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31" name="ZoneTexte 17">
            <a:extLst>
              <a:ext uri="{FF2B5EF4-FFF2-40B4-BE49-F238E27FC236}">
                <a16:creationId xmlns:a16="http://schemas.microsoft.com/office/drawing/2014/main" id="{13351381-6A16-0B36-73FB-8A8E96FA6424}"/>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32" name="Ellipse 13">
            <a:extLst>
              <a:ext uri="{FF2B5EF4-FFF2-40B4-BE49-F238E27FC236}">
                <a16:creationId xmlns:a16="http://schemas.microsoft.com/office/drawing/2014/main" id="{D918682B-3579-3D46-065E-EE8B9E8AD599}"/>
              </a:ext>
            </a:extLst>
          </p:cNvPr>
          <p:cNvSpPr/>
          <p:nvPr/>
        </p:nvSpPr>
        <p:spPr>
          <a:xfrm flipH="1">
            <a:off x="5890981" y="1099080"/>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 name="ZoneTexte 17">
            <a:extLst>
              <a:ext uri="{FF2B5EF4-FFF2-40B4-BE49-F238E27FC236}">
                <a16:creationId xmlns:a16="http://schemas.microsoft.com/office/drawing/2014/main" id="{641ADA02-2686-F92C-046D-71EE46D240BD}"/>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34" name="Ellipse 13">
            <a:extLst>
              <a:ext uri="{FF2B5EF4-FFF2-40B4-BE49-F238E27FC236}">
                <a16:creationId xmlns:a16="http://schemas.microsoft.com/office/drawing/2014/main" id="{D4733723-A68B-D8DA-2BD7-AA3DE030AB01}"/>
              </a:ext>
            </a:extLst>
          </p:cNvPr>
          <p:cNvSpPr/>
          <p:nvPr/>
        </p:nvSpPr>
        <p:spPr>
          <a:xfrm flipH="1">
            <a:off x="10429423" y="1088676"/>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5" name="Ellipse 7">
            <a:extLst>
              <a:ext uri="{FF2B5EF4-FFF2-40B4-BE49-F238E27FC236}">
                <a16:creationId xmlns:a16="http://schemas.microsoft.com/office/drawing/2014/main" id="{C2CBB746-8CF0-CAAE-C0B6-07A0149ADD41}"/>
              </a:ext>
            </a:extLst>
          </p:cNvPr>
          <p:cNvSpPr/>
          <p:nvPr/>
        </p:nvSpPr>
        <p:spPr>
          <a:xfrm flipH="1">
            <a:off x="316988"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6" name="ZoneTexte 16">
            <a:extLst>
              <a:ext uri="{FF2B5EF4-FFF2-40B4-BE49-F238E27FC236}">
                <a16:creationId xmlns:a16="http://schemas.microsoft.com/office/drawing/2014/main" id="{EAE1257F-091E-79E7-210B-EA53E309E0DA}"/>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grpSp>
        <p:nvGrpSpPr>
          <p:cNvPr id="55" name="Groupe 54">
            <a:extLst>
              <a:ext uri="{FF2B5EF4-FFF2-40B4-BE49-F238E27FC236}">
                <a16:creationId xmlns:a16="http://schemas.microsoft.com/office/drawing/2014/main" id="{ABD2837E-CF27-ED25-71B7-3BF161BF62EE}"/>
              </a:ext>
            </a:extLst>
          </p:cNvPr>
          <p:cNvGrpSpPr/>
          <p:nvPr/>
        </p:nvGrpSpPr>
        <p:grpSpPr>
          <a:xfrm>
            <a:off x="13377527" y="2002480"/>
            <a:ext cx="6096000" cy="4085164"/>
            <a:chOff x="2783334" y="2002480"/>
            <a:chExt cx="6096000" cy="4085164"/>
          </a:xfrm>
        </p:grpSpPr>
        <p:grpSp>
          <p:nvGrpSpPr>
            <p:cNvPr id="56" name="Groupe 55">
              <a:extLst>
                <a:ext uri="{FF2B5EF4-FFF2-40B4-BE49-F238E27FC236}">
                  <a16:creationId xmlns:a16="http://schemas.microsoft.com/office/drawing/2014/main" id="{37A92CAC-2CD1-F597-AB35-0F2C4E0CF4DA}"/>
                </a:ext>
              </a:extLst>
            </p:cNvPr>
            <p:cNvGrpSpPr/>
            <p:nvPr/>
          </p:nvGrpSpPr>
          <p:grpSpPr>
            <a:xfrm>
              <a:off x="2783334" y="2002480"/>
              <a:ext cx="6096000" cy="4085164"/>
              <a:chOff x="2783334" y="2002480"/>
              <a:chExt cx="6096000" cy="4085164"/>
            </a:xfrm>
          </p:grpSpPr>
          <p:sp>
            <p:nvSpPr>
              <p:cNvPr id="60" name="Rectangle 59">
                <a:extLst>
                  <a:ext uri="{FF2B5EF4-FFF2-40B4-BE49-F238E27FC236}">
                    <a16:creationId xmlns:a16="http://schemas.microsoft.com/office/drawing/2014/main" id="{91837645-3150-2EBE-A263-055976965A7D}"/>
                  </a:ext>
                </a:extLst>
              </p:cNvPr>
              <p:cNvSpPr/>
              <p:nvPr/>
            </p:nvSpPr>
            <p:spPr>
              <a:xfrm>
                <a:off x="2783334" y="2002480"/>
                <a:ext cx="6096000" cy="4085164"/>
              </a:xfrm>
              <a:prstGeom prst="rect">
                <a:avLst/>
              </a:prstGeom>
              <a:solidFill>
                <a:schemeClr val="accent6">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p>
            </p:txBody>
          </p:sp>
          <p:sp>
            <p:nvSpPr>
              <p:cNvPr id="61" name="ZoneTexte 60">
                <a:extLst>
                  <a:ext uri="{FF2B5EF4-FFF2-40B4-BE49-F238E27FC236}">
                    <a16:creationId xmlns:a16="http://schemas.microsoft.com/office/drawing/2014/main" id="{DE8972BA-CAEB-E1A7-A15D-8BBE47BB06F4}"/>
                  </a:ext>
                </a:extLst>
              </p:cNvPr>
              <p:cNvSpPr txBox="1"/>
              <p:nvPr/>
            </p:nvSpPr>
            <p:spPr>
              <a:xfrm>
                <a:off x="2783334" y="2151662"/>
                <a:ext cx="6096000" cy="369332"/>
              </a:xfrm>
              <a:prstGeom prst="rect">
                <a:avLst/>
              </a:prstGeom>
              <a:noFill/>
            </p:spPr>
            <p:txBody>
              <a:bodyPr wrap="square">
                <a:spAutoFit/>
              </a:bodyPr>
              <a:lstStyle/>
              <a:p>
                <a:pPr algn="ctr"/>
                <a:r>
                  <a:rPr lang="fr-MA" sz="1800" b="1" i="0" u="none" strike="noStrike" baseline="0" dirty="0">
                    <a:solidFill>
                      <a:schemeClr val="bg1">
                        <a:lumMod val="50000"/>
                      </a:schemeClr>
                    </a:solidFill>
                    <a:latin typeface="Times New Roman" panose="02020603050405020304" pitchFamily="18" charset="0"/>
                    <a:cs typeface="Times New Roman" panose="02020603050405020304" pitchFamily="18" charset="0"/>
                  </a:rPr>
                  <a:t>Langages</a:t>
                </a:r>
                <a:endParaRPr lang="fr-MA" b="1" dirty="0">
                  <a:solidFill>
                    <a:schemeClr val="bg1">
                      <a:lumMod val="50000"/>
                    </a:schemeClr>
                  </a:solidFill>
                  <a:latin typeface="Times New Roman" panose="02020603050405020304" pitchFamily="18" charset="0"/>
                  <a:cs typeface="Times New Roman" panose="02020603050405020304" pitchFamily="18" charset="0"/>
                </a:endParaRPr>
              </a:p>
            </p:txBody>
          </p:sp>
        </p:grpSp>
        <p:pic>
          <p:nvPicPr>
            <p:cNvPr id="57" name="Image 56">
              <a:extLst>
                <a:ext uri="{FF2B5EF4-FFF2-40B4-BE49-F238E27FC236}">
                  <a16:creationId xmlns:a16="http://schemas.microsoft.com/office/drawing/2014/main" id="{E04F6FFE-CB0A-05AB-AEDD-5FBC948B9D02}"/>
                </a:ext>
              </a:extLst>
            </p:cNvPr>
            <p:cNvPicPr>
              <a:picLocks noChangeAspect="1"/>
            </p:cNvPicPr>
            <p:nvPr/>
          </p:nvPicPr>
          <p:blipFill>
            <a:blip r:embed="rId10"/>
            <a:stretch>
              <a:fillRect/>
            </a:stretch>
          </p:blipFill>
          <p:spPr>
            <a:xfrm>
              <a:off x="4909404" y="4466882"/>
              <a:ext cx="2122153" cy="1114130"/>
            </a:xfrm>
            <a:prstGeom prst="rect">
              <a:avLst/>
            </a:prstGeom>
          </p:spPr>
        </p:pic>
        <p:pic>
          <p:nvPicPr>
            <p:cNvPr id="58" name="Image 57" descr="Une image contenant Graphique, capture d’écran, logo, Police&#10;&#10;Le contenu généré par l’IA peut être incorrect.">
              <a:extLst>
                <a:ext uri="{FF2B5EF4-FFF2-40B4-BE49-F238E27FC236}">
                  <a16:creationId xmlns:a16="http://schemas.microsoft.com/office/drawing/2014/main" id="{D4E32E50-DAD3-6DAC-34C8-C55AEB4711DD}"/>
                </a:ext>
              </a:extLst>
            </p:cNvPr>
            <p:cNvPicPr>
              <a:picLocks noChangeAspect="1"/>
            </p:cNvPicPr>
            <p:nvPr/>
          </p:nvPicPr>
          <p:blipFill>
            <a:blip r:embed="rId11"/>
            <a:stretch>
              <a:fillRect/>
            </a:stretch>
          </p:blipFill>
          <p:spPr>
            <a:xfrm>
              <a:off x="3265371" y="2625390"/>
              <a:ext cx="2187793" cy="1458529"/>
            </a:xfrm>
            <a:prstGeom prst="rect">
              <a:avLst/>
            </a:prstGeom>
          </p:spPr>
        </p:pic>
        <p:pic>
          <p:nvPicPr>
            <p:cNvPr id="59" name="Image 58" descr="Une image contenant Graphique, capture d’écran, logo, symbole&#10;&#10;Le contenu généré par l’IA peut être incorrect.">
              <a:extLst>
                <a:ext uri="{FF2B5EF4-FFF2-40B4-BE49-F238E27FC236}">
                  <a16:creationId xmlns:a16="http://schemas.microsoft.com/office/drawing/2014/main" id="{7CE98950-9620-1A40-7B0C-F8F6C82F7DB1}"/>
                </a:ext>
              </a:extLst>
            </p:cNvPr>
            <p:cNvPicPr>
              <a:picLocks noChangeAspect="1"/>
            </p:cNvPicPr>
            <p:nvPr/>
          </p:nvPicPr>
          <p:blipFill>
            <a:blip r:embed="rId12"/>
            <a:stretch>
              <a:fillRect/>
            </a:stretch>
          </p:blipFill>
          <p:spPr>
            <a:xfrm>
              <a:off x="6507667" y="2322504"/>
              <a:ext cx="1942106" cy="1942106"/>
            </a:xfrm>
            <a:prstGeom prst="rect">
              <a:avLst/>
            </a:prstGeom>
          </p:spPr>
        </p:pic>
      </p:grpSp>
      <p:pic>
        <p:nvPicPr>
          <p:cNvPr id="4" name="Image 3">
            <a:extLst>
              <a:ext uri="{FF2B5EF4-FFF2-40B4-BE49-F238E27FC236}">
                <a16:creationId xmlns:a16="http://schemas.microsoft.com/office/drawing/2014/main" id="{81851628-4A93-4237-47FE-BE0FD1E73C3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558001" y="4264610"/>
            <a:ext cx="2172070" cy="1221790"/>
          </a:xfrm>
          <a:prstGeom prst="rect">
            <a:avLst/>
          </a:prstGeom>
        </p:spPr>
      </p:pic>
    </p:spTree>
    <p:extLst>
      <p:ext uri="{BB962C8B-B14F-4D97-AF65-F5344CB8AC3E}">
        <p14:creationId xmlns:p14="http://schemas.microsoft.com/office/powerpoint/2010/main" val="659750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582D6-B3A1-97C5-DDB0-76258C9D07D0}"/>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A23D5777-D4D9-B530-AA5E-D538E99DB59A}"/>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Slide Number Placeholder 2">
            <a:extLst>
              <a:ext uri="{FF2B5EF4-FFF2-40B4-BE49-F238E27FC236}">
                <a16:creationId xmlns:a16="http://schemas.microsoft.com/office/drawing/2014/main" id="{CA3133CA-4991-E00C-A1F7-E451835D2C28}"/>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23</a:t>
            </a:fld>
            <a:endParaRPr lang="en-GB" dirty="0"/>
          </a:p>
        </p:txBody>
      </p:sp>
      <p:grpSp>
        <p:nvGrpSpPr>
          <p:cNvPr id="39" name="Groupe 38">
            <a:extLst>
              <a:ext uri="{FF2B5EF4-FFF2-40B4-BE49-F238E27FC236}">
                <a16:creationId xmlns:a16="http://schemas.microsoft.com/office/drawing/2014/main" id="{A59CE718-5FE1-8D5D-E663-0B4D24D1A660}"/>
              </a:ext>
            </a:extLst>
          </p:cNvPr>
          <p:cNvGrpSpPr/>
          <p:nvPr/>
        </p:nvGrpSpPr>
        <p:grpSpPr>
          <a:xfrm>
            <a:off x="2783334" y="2002480"/>
            <a:ext cx="6096000" cy="4085164"/>
            <a:chOff x="2783334" y="2002480"/>
            <a:chExt cx="6096000" cy="4085164"/>
          </a:xfrm>
        </p:grpSpPr>
        <p:grpSp>
          <p:nvGrpSpPr>
            <p:cNvPr id="38" name="Groupe 37">
              <a:extLst>
                <a:ext uri="{FF2B5EF4-FFF2-40B4-BE49-F238E27FC236}">
                  <a16:creationId xmlns:a16="http://schemas.microsoft.com/office/drawing/2014/main" id="{D1AECCAE-7673-C930-F9C3-90A5E4686F20}"/>
                </a:ext>
              </a:extLst>
            </p:cNvPr>
            <p:cNvGrpSpPr/>
            <p:nvPr/>
          </p:nvGrpSpPr>
          <p:grpSpPr>
            <a:xfrm>
              <a:off x="2783334" y="2002480"/>
              <a:ext cx="6096000" cy="4085164"/>
              <a:chOff x="2783334" y="2002480"/>
              <a:chExt cx="6096000" cy="4085164"/>
            </a:xfrm>
          </p:grpSpPr>
          <p:sp>
            <p:nvSpPr>
              <p:cNvPr id="26" name="Rectangle 25">
                <a:extLst>
                  <a:ext uri="{FF2B5EF4-FFF2-40B4-BE49-F238E27FC236}">
                    <a16:creationId xmlns:a16="http://schemas.microsoft.com/office/drawing/2014/main" id="{E427DFB8-14D3-4B80-B396-D1C55DA60C94}"/>
                  </a:ext>
                </a:extLst>
              </p:cNvPr>
              <p:cNvSpPr/>
              <p:nvPr/>
            </p:nvSpPr>
            <p:spPr>
              <a:xfrm>
                <a:off x="2783334" y="2002480"/>
                <a:ext cx="6096000" cy="4085164"/>
              </a:xfrm>
              <a:prstGeom prst="rect">
                <a:avLst/>
              </a:prstGeom>
              <a:solidFill>
                <a:schemeClr val="accent6">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dirty="0"/>
              </a:p>
            </p:txBody>
          </p:sp>
          <p:sp>
            <p:nvSpPr>
              <p:cNvPr id="25" name="ZoneTexte 24">
                <a:extLst>
                  <a:ext uri="{FF2B5EF4-FFF2-40B4-BE49-F238E27FC236}">
                    <a16:creationId xmlns:a16="http://schemas.microsoft.com/office/drawing/2014/main" id="{5C477886-F866-767D-F0F7-A3BDCD73E6CA}"/>
                  </a:ext>
                </a:extLst>
              </p:cNvPr>
              <p:cNvSpPr txBox="1"/>
              <p:nvPr/>
            </p:nvSpPr>
            <p:spPr>
              <a:xfrm>
                <a:off x="2783334" y="2151662"/>
                <a:ext cx="6096000" cy="369332"/>
              </a:xfrm>
              <a:prstGeom prst="rect">
                <a:avLst/>
              </a:prstGeom>
              <a:noFill/>
            </p:spPr>
            <p:txBody>
              <a:bodyPr wrap="square">
                <a:spAutoFit/>
              </a:bodyPr>
              <a:lstStyle/>
              <a:p>
                <a:pPr algn="ctr"/>
                <a:r>
                  <a:rPr lang="fr-MA" sz="1800" b="1" i="0" u="none" strike="noStrike" baseline="0" dirty="0">
                    <a:solidFill>
                      <a:schemeClr val="bg1">
                        <a:lumMod val="50000"/>
                      </a:schemeClr>
                    </a:solidFill>
                    <a:latin typeface="Times New Roman" panose="02020603050405020304" pitchFamily="18" charset="0"/>
                    <a:cs typeface="Times New Roman" panose="02020603050405020304" pitchFamily="18" charset="0"/>
                  </a:rPr>
                  <a:t>Langages</a:t>
                </a:r>
                <a:endParaRPr lang="fr-MA" b="1" dirty="0">
                  <a:solidFill>
                    <a:schemeClr val="bg1">
                      <a:lumMod val="50000"/>
                    </a:schemeClr>
                  </a:solidFill>
                  <a:latin typeface="Times New Roman" panose="02020603050405020304" pitchFamily="18" charset="0"/>
                  <a:cs typeface="Times New Roman" panose="02020603050405020304" pitchFamily="18" charset="0"/>
                </a:endParaRPr>
              </a:p>
            </p:txBody>
          </p:sp>
        </p:grpSp>
        <p:pic>
          <p:nvPicPr>
            <p:cNvPr id="24" name="Image 23">
              <a:extLst>
                <a:ext uri="{FF2B5EF4-FFF2-40B4-BE49-F238E27FC236}">
                  <a16:creationId xmlns:a16="http://schemas.microsoft.com/office/drawing/2014/main" id="{0D55A3D7-5364-5253-7F71-8DA8B7ABD4F5}"/>
                </a:ext>
              </a:extLst>
            </p:cNvPr>
            <p:cNvPicPr>
              <a:picLocks noChangeAspect="1"/>
            </p:cNvPicPr>
            <p:nvPr/>
          </p:nvPicPr>
          <p:blipFill>
            <a:blip r:embed="rId8"/>
            <a:stretch>
              <a:fillRect/>
            </a:stretch>
          </p:blipFill>
          <p:spPr>
            <a:xfrm>
              <a:off x="4909404" y="4466882"/>
              <a:ext cx="2122153" cy="1114130"/>
            </a:xfrm>
            <a:prstGeom prst="rect">
              <a:avLst/>
            </a:prstGeom>
          </p:spPr>
        </p:pic>
        <p:pic>
          <p:nvPicPr>
            <p:cNvPr id="20" name="Image 19" descr="Une image contenant Graphique, capture d’écran, logo, Police&#10;&#10;Le contenu généré par l’IA peut être incorrect.">
              <a:extLst>
                <a:ext uri="{FF2B5EF4-FFF2-40B4-BE49-F238E27FC236}">
                  <a16:creationId xmlns:a16="http://schemas.microsoft.com/office/drawing/2014/main" id="{296D872D-1A9E-265E-95E7-AE2084B902DE}"/>
                </a:ext>
              </a:extLst>
            </p:cNvPr>
            <p:cNvPicPr>
              <a:picLocks noChangeAspect="1"/>
            </p:cNvPicPr>
            <p:nvPr/>
          </p:nvPicPr>
          <p:blipFill>
            <a:blip r:embed="rId9"/>
            <a:stretch>
              <a:fillRect/>
            </a:stretch>
          </p:blipFill>
          <p:spPr>
            <a:xfrm>
              <a:off x="3265371" y="2625390"/>
              <a:ext cx="2187793" cy="1458529"/>
            </a:xfrm>
            <a:prstGeom prst="rect">
              <a:avLst/>
            </a:prstGeom>
          </p:spPr>
        </p:pic>
        <p:pic>
          <p:nvPicPr>
            <p:cNvPr id="28" name="Image 27" descr="Une image contenant Graphique, capture d’écran, logo, symbole&#10;&#10;Le contenu généré par l’IA peut être incorrect.">
              <a:extLst>
                <a:ext uri="{FF2B5EF4-FFF2-40B4-BE49-F238E27FC236}">
                  <a16:creationId xmlns:a16="http://schemas.microsoft.com/office/drawing/2014/main" id="{0C11C770-289B-8ABE-65F5-72CD23CDF114}"/>
                </a:ext>
              </a:extLst>
            </p:cNvPr>
            <p:cNvPicPr>
              <a:picLocks noChangeAspect="1"/>
            </p:cNvPicPr>
            <p:nvPr/>
          </p:nvPicPr>
          <p:blipFill>
            <a:blip r:embed="rId10"/>
            <a:stretch>
              <a:fillRect/>
            </a:stretch>
          </p:blipFill>
          <p:spPr>
            <a:xfrm>
              <a:off x="6507667" y="2322504"/>
              <a:ext cx="1942106" cy="1942106"/>
            </a:xfrm>
            <a:prstGeom prst="rect">
              <a:avLst/>
            </a:prstGeom>
          </p:spPr>
        </p:pic>
      </p:grpSp>
      <p:cxnSp>
        <p:nvCxnSpPr>
          <p:cNvPr id="29" name="Connecteur droit 6">
            <a:extLst>
              <a:ext uri="{FF2B5EF4-FFF2-40B4-BE49-F238E27FC236}">
                <a16:creationId xmlns:a16="http://schemas.microsoft.com/office/drawing/2014/main" id="{C709ABE2-70E9-4E38-E585-AFD328756A41}"/>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30" name="Connecteur droit 6">
            <a:extLst>
              <a:ext uri="{FF2B5EF4-FFF2-40B4-BE49-F238E27FC236}">
                <a16:creationId xmlns:a16="http://schemas.microsoft.com/office/drawing/2014/main" id="{F1BCFA37-C315-18E1-5F19-209005736DC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31" name="ZoneTexte 17">
            <a:extLst>
              <a:ext uri="{FF2B5EF4-FFF2-40B4-BE49-F238E27FC236}">
                <a16:creationId xmlns:a16="http://schemas.microsoft.com/office/drawing/2014/main" id="{ED1D3391-0710-4A05-9EC6-C2F9E6693480}"/>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32" name="Ellipse 13">
            <a:extLst>
              <a:ext uri="{FF2B5EF4-FFF2-40B4-BE49-F238E27FC236}">
                <a16:creationId xmlns:a16="http://schemas.microsoft.com/office/drawing/2014/main" id="{DF30B02F-565F-F1A3-C319-9287A3F9F036}"/>
              </a:ext>
            </a:extLst>
          </p:cNvPr>
          <p:cNvSpPr/>
          <p:nvPr/>
        </p:nvSpPr>
        <p:spPr>
          <a:xfrm flipH="1">
            <a:off x="5890981" y="1099080"/>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 name="ZoneTexte 17">
            <a:extLst>
              <a:ext uri="{FF2B5EF4-FFF2-40B4-BE49-F238E27FC236}">
                <a16:creationId xmlns:a16="http://schemas.microsoft.com/office/drawing/2014/main" id="{302B0058-93FF-FECA-6308-A8B9FD5A5AC9}"/>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34" name="Ellipse 13">
            <a:extLst>
              <a:ext uri="{FF2B5EF4-FFF2-40B4-BE49-F238E27FC236}">
                <a16:creationId xmlns:a16="http://schemas.microsoft.com/office/drawing/2014/main" id="{3BF1D3BC-2033-653C-8C56-AE0C8DA87998}"/>
              </a:ext>
            </a:extLst>
          </p:cNvPr>
          <p:cNvSpPr/>
          <p:nvPr/>
        </p:nvSpPr>
        <p:spPr>
          <a:xfrm flipH="1">
            <a:off x="10429423" y="1088676"/>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5" name="Ellipse 7">
            <a:extLst>
              <a:ext uri="{FF2B5EF4-FFF2-40B4-BE49-F238E27FC236}">
                <a16:creationId xmlns:a16="http://schemas.microsoft.com/office/drawing/2014/main" id="{172704BC-F29D-98F9-48C4-712A230761B9}"/>
              </a:ext>
            </a:extLst>
          </p:cNvPr>
          <p:cNvSpPr/>
          <p:nvPr/>
        </p:nvSpPr>
        <p:spPr>
          <a:xfrm flipH="1">
            <a:off x="316988"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6" name="ZoneTexte 16">
            <a:extLst>
              <a:ext uri="{FF2B5EF4-FFF2-40B4-BE49-F238E27FC236}">
                <a16:creationId xmlns:a16="http://schemas.microsoft.com/office/drawing/2014/main" id="{2B623753-6DDC-ECBE-8944-52FC3E294D23}"/>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Tree>
    <p:extLst>
      <p:ext uri="{BB962C8B-B14F-4D97-AF65-F5344CB8AC3E}">
        <p14:creationId xmlns:p14="http://schemas.microsoft.com/office/powerpoint/2010/main" val="1647919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2C8A6-1A50-B819-A5D8-2C651597E0CF}"/>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E4162F0E-3553-9B31-8695-AEA188489C38}"/>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4378EAEE-C22A-BA07-79DD-18E6ACB3851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7C2604F5-3C89-74FC-DB41-DD40C3BC1235}"/>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BE10CA2C-058D-AC8A-F858-38C3189D0B18}"/>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C06DAEFF-E3D9-7D3C-F7CF-E242D8F661B1}"/>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BD81D185-C953-14B9-4D63-6427BDF802BD}"/>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77CE35A1-F867-7604-8555-7E7A021CB96F}"/>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53F50A11-A7F2-D0F1-BEB5-A74334EC9665}"/>
              </a:ext>
            </a:extLst>
          </p:cNvPr>
          <p:cNvSpPr/>
          <p:nvPr/>
        </p:nvSpPr>
        <p:spPr>
          <a:xfrm flipH="1">
            <a:off x="10429423" y="1088676"/>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D86F4BE4-FEB8-F483-6514-DFBAF0397820}"/>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24</a:t>
            </a:fld>
            <a:endParaRPr lang="en-GB" dirty="0"/>
          </a:p>
        </p:txBody>
      </p:sp>
      <p:sp>
        <p:nvSpPr>
          <p:cNvPr id="6" name="Ellipse 7">
            <a:extLst>
              <a:ext uri="{FF2B5EF4-FFF2-40B4-BE49-F238E27FC236}">
                <a16:creationId xmlns:a16="http://schemas.microsoft.com/office/drawing/2014/main" id="{D195EE52-D7C6-F0DE-7CA0-948381E3CA2E}"/>
              </a:ext>
            </a:extLst>
          </p:cNvPr>
          <p:cNvSpPr/>
          <p:nvPr/>
        </p:nvSpPr>
        <p:spPr>
          <a:xfrm flipH="1">
            <a:off x="590844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4" name="Image 13" descr="Une image contenant texte, capture d’écran, Police, logiciel&#10;&#10;Le contenu généré par l’IA peut être incorrect.">
            <a:extLst>
              <a:ext uri="{FF2B5EF4-FFF2-40B4-BE49-F238E27FC236}">
                <a16:creationId xmlns:a16="http://schemas.microsoft.com/office/drawing/2014/main" id="{BDAC26EA-C43A-BDD9-0E2C-9B38F8496331}"/>
              </a:ext>
            </a:extLst>
          </p:cNvPr>
          <p:cNvPicPr>
            <a:picLocks noChangeAspect="1"/>
          </p:cNvPicPr>
          <p:nvPr/>
        </p:nvPicPr>
        <p:blipFill>
          <a:blip r:embed="rId8">
            <a:extLst>
              <a:ext uri="{28A0092B-C50C-407E-A947-70E740481C1C}">
                <a14:useLocalDpi xmlns:a14="http://schemas.microsoft.com/office/drawing/2010/main" val="0"/>
              </a:ext>
            </a:extLst>
          </a:blip>
          <a:srcRect t="624"/>
          <a:stretch>
            <a:fillRect/>
          </a:stretch>
        </p:blipFill>
        <p:spPr>
          <a:xfrm>
            <a:off x="2970776" y="2185352"/>
            <a:ext cx="6445612" cy="4253423"/>
          </a:xfrm>
          <a:prstGeom prst="rect">
            <a:avLst/>
          </a:prstGeom>
        </p:spPr>
      </p:pic>
      <p:sp>
        <p:nvSpPr>
          <p:cNvPr id="19" name="ZoneTexte 18">
            <a:extLst>
              <a:ext uri="{FF2B5EF4-FFF2-40B4-BE49-F238E27FC236}">
                <a16:creationId xmlns:a16="http://schemas.microsoft.com/office/drawing/2014/main" id="{88A3FD21-1BCD-1EB0-D575-A1635A5AAF36}"/>
              </a:ext>
            </a:extLst>
          </p:cNvPr>
          <p:cNvSpPr txBox="1"/>
          <p:nvPr/>
        </p:nvSpPr>
        <p:spPr>
          <a:xfrm>
            <a:off x="3031332" y="1709890"/>
            <a:ext cx="6096000" cy="430887"/>
          </a:xfrm>
          <a:prstGeom prst="rect">
            <a:avLst/>
          </a:prstGeom>
          <a:noFill/>
        </p:spPr>
        <p:txBody>
          <a:bodyPr wrap="square">
            <a:spAutoFit/>
          </a:bodyPr>
          <a:lstStyle/>
          <a:p>
            <a:pPr algn="ctr"/>
            <a:r>
              <a:rPr lang="en-US" sz="2200" b="1" dirty="0">
                <a:solidFill>
                  <a:srgbClr val="C00000"/>
                </a:solidFill>
              </a:rPr>
              <a:t>Files Monitoring Job</a:t>
            </a:r>
          </a:p>
        </p:txBody>
      </p:sp>
    </p:spTree>
    <p:extLst>
      <p:ext uri="{BB962C8B-B14F-4D97-AF65-F5344CB8AC3E}">
        <p14:creationId xmlns:p14="http://schemas.microsoft.com/office/powerpoint/2010/main" val="2838838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9"/>
                                        </p:tgtEl>
                                        <p:attrNameLst>
                                          <p:attrName>ppt_x</p:attrName>
                                        </p:attrNameLst>
                                      </p:cBhvr>
                                      <p:tavLst>
                                        <p:tav tm="0">
                                          <p:val>
                                            <p:strVal val="ppt_x"/>
                                          </p:val>
                                        </p:tav>
                                        <p:tav tm="100000">
                                          <p:val>
                                            <p:strVal val="ppt_x"/>
                                          </p:val>
                                        </p:tav>
                                      </p:tavLst>
                                    </p:anim>
                                    <p:anim calcmode="lin" valueType="num">
                                      <p:cBhvr additive="base">
                                        <p:cTn id="7" dur="500"/>
                                        <p:tgtEl>
                                          <p:spTgt spid="19"/>
                                        </p:tgtEl>
                                        <p:attrNameLst>
                                          <p:attrName>ppt_y</p:attrName>
                                        </p:attrNameLst>
                                      </p:cBhvr>
                                      <p:tavLst>
                                        <p:tav tm="0">
                                          <p:val>
                                            <p:strVal val="ppt_y"/>
                                          </p:val>
                                        </p:tav>
                                        <p:tav tm="100000">
                                          <p:val>
                                            <p:strVal val="1+ppt_h/2"/>
                                          </p:val>
                                        </p:tav>
                                      </p:tavLst>
                                    </p:anim>
                                    <p:set>
                                      <p:cBhvr>
                                        <p:cTn id="8" dur="1" fill="hold">
                                          <p:stCondLst>
                                            <p:cond delay="499"/>
                                          </p:stCondLst>
                                        </p:cTn>
                                        <p:tgtEl>
                                          <p:spTgt spid="19"/>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14"/>
                                        </p:tgtEl>
                                        <p:attrNameLst>
                                          <p:attrName>ppt_x</p:attrName>
                                        </p:attrNameLst>
                                      </p:cBhvr>
                                      <p:tavLst>
                                        <p:tav tm="0">
                                          <p:val>
                                            <p:strVal val="ppt_x"/>
                                          </p:val>
                                        </p:tav>
                                        <p:tav tm="100000">
                                          <p:val>
                                            <p:strVal val="ppt_x"/>
                                          </p:val>
                                        </p:tav>
                                      </p:tavLst>
                                    </p:anim>
                                    <p:anim calcmode="lin" valueType="num">
                                      <p:cBhvr additive="base">
                                        <p:cTn id="11" dur="500"/>
                                        <p:tgtEl>
                                          <p:spTgt spid="14"/>
                                        </p:tgtEl>
                                        <p:attrNameLst>
                                          <p:attrName>ppt_y</p:attrName>
                                        </p:attrNameLst>
                                      </p:cBhvr>
                                      <p:tavLst>
                                        <p:tav tm="0">
                                          <p:val>
                                            <p:strVal val="ppt_y"/>
                                          </p:val>
                                        </p:tav>
                                        <p:tav tm="100000">
                                          <p:val>
                                            <p:strVal val="1+ppt_h/2"/>
                                          </p:val>
                                        </p:tav>
                                      </p:tavLst>
                                    </p:anim>
                                    <p:set>
                                      <p:cBhvr>
                                        <p:cTn id="1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2B40-7DC5-2BBA-9C92-40C8E487C48D}"/>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25BD46C7-D360-9FC6-B343-A7D6FD85542E}"/>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5035B4E9-B9DB-9DD7-0F7A-5372B4C007C1}"/>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10408EF6-103D-107D-AC36-16FF0370414B}"/>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355AFC64-B0DF-4EA3-7015-B6F76C6F3AE1}"/>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7C409C74-8354-AC65-74F3-CEE24F6AC78B}"/>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B1D35FFE-AB3D-27CB-DB6E-5186C918153E}"/>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85341C3E-595D-8DE2-92A1-C16AB3FE3345}"/>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84213EBC-D3D4-2147-8C94-5DC311E428FC}"/>
              </a:ext>
            </a:extLst>
          </p:cNvPr>
          <p:cNvSpPr/>
          <p:nvPr/>
        </p:nvSpPr>
        <p:spPr>
          <a:xfrm flipH="1">
            <a:off x="10429423" y="1088676"/>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8DD997AD-D00E-3AD6-ED0E-0E31FFFE3180}"/>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25</a:t>
            </a:fld>
            <a:endParaRPr lang="en-GB" dirty="0"/>
          </a:p>
        </p:txBody>
      </p:sp>
      <p:sp>
        <p:nvSpPr>
          <p:cNvPr id="6" name="Ellipse 7">
            <a:extLst>
              <a:ext uri="{FF2B5EF4-FFF2-40B4-BE49-F238E27FC236}">
                <a16:creationId xmlns:a16="http://schemas.microsoft.com/office/drawing/2014/main" id="{6A946A9A-8625-B008-3D32-0AAEF4610B81}"/>
              </a:ext>
            </a:extLst>
          </p:cNvPr>
          <p:cNvSpPr/>
          <p:nvPr/>
        </p:nvSpPr>
        <p:spPr>
          <a:xfrm flipH="1">
            <a:off x="590844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AD6A9AFC-2167-D792-CB79-3D2301717156}"/>
              </a:ext>
            </a:extLst>
          </p:cNvPr>
          <p:cNvSpPr txBox="1"/>
          <p:nvPr/>
        </p:nvSpPr>
        <p:spPr>
          <a:xfrm>
            <a:off x="2929219" y="1951738"/>
            <a:ext cx="6096000" cy="430887"/>
          </a:xfrm>
          <a:prstGeom prst="rect">
            <a:avLst/>
          </a:prstGeom>
          <a:noFill/>
        </p:spPr>
        <p:txBody>
          <a:bodyPr wrap="square">
            <a:spAutoFit/>
          </a:bodyPr>
          <a:lstStyle/>
          <a:p>
            <a:pPr algn="ctr"/>
            <a:r>
              <a:rPr lang="en-US" sz="2200" b="1" dirty="0">
                <a:solidFill>
                  <a:srgbClr val="C00000"/>
                </a:solidFill>
              </a:rPr>
              <a:t>Jobs Monitoring Job</a:t>
            </a:r>
          </a:p>
        </p:txBody>
      </p:sp>
      <p:pic>
        <p:nvPicPr>
          <p:cNvPr id="7" name="Image 6" descr="Une image contenant texte, Police, ligne, nombre&#10;&#10;Le contenu généré par l’IA peut être incorrect.">
            <a:extLst>
              <a:ext uri="{FF2B5EF4-FFF2-40B4-BE49-F238E27FC236}">
                <a16:creationId xmlns:a16="http://schemas.microsoft.com/office/drawing/2014/main" id="{C8F2F8BE-3FDA-6AC8-DED1-9E79D96CFA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6957" y="2589666"/>
            <a:ext cx="10366843" cy="3401499"/>
          </a:xfrm>
          <a:prstGeom prst="rect">
            <a:avLst/>
          </a:prstGeom>
        </p:spPr>
      </p:pic>
    </p:spTree>
    <p:extLst>
      <p:ext uri="{BB962C8B-B14F-4D97-AF65-F5344CB8AC3E}">
        <p14:creationId xmlns:p14="http://schemas.microsoft.com/office/powerpoint/2010/main" val="194692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1" nodeType="clickEffect">
                                  <p:stCondLst>
                                    <p:cond delay="0"/>
                                  </p:stCondLst>
                                  <p:childTnLst>
                                    <p:anim calcmode="lin" valueType="num">
                                      <p:cBhvr additive="base">
                                        <p:cTn id="16" dur="500"/>
                                        <p:tgtEl>
                                          <p:spTgt spid="19"/>
                                        </p:tgtEl>
                                        <p:attrNameLst>
                                          <p:attrName>ppt_x</p:attrName>
                                        </p:attrNameLst>
                                      </p:cBhvr>
                                      <p:tavLst>
                                        <p:tav tm="0">
                                          <p:val>
                                            <p:strVal val="ppt_x"/>
                                          </p:val>
                                        </p:tav>
                                        <p:tav tm="100000">
                                          <p:val>
                                            <p:strVal val="ppt_x"/>
                                          </p:val>
                                        </p:tav>
                                      </p:tavLst>
                                    </p:anim>
                                    <p:anim calcmode="lin" valueType="num">
                                      <p:cBhvr additive="base">
                                        <p:cTn id="17" dur="500"/>
                                        <p:tgtEl>
                                          <p:spTgt spid="19"/>
                                        </p:tgtEl>
                                        <p:attrNameLst>
                                          <p:attrName>ppt_y</p:attrName>
                                        </p:attrNameLst>
                                      </p:cBhvr>
                                      <p:tavLst>
                                        <p:tav tm="0">
                                          <p:val>
                                            <p:strVal val="ppt_y"/>
                                          </p:val>
                                        </p:tav>
                                        <p:tav tm="100000">
                                          <p:val>
                                            <p:strVal val="1+ppt_h/2"/>
                                          </p:val>
                                        </p:tav>
                                      </p:tavLst>
                                    </p:anim>
                                    <p:set>
                                      <p:cBhvr>
                                        <p:cTn id="18" dur="1" fill="hold">
                                          <p:stCondLst>
                                            <p:cond delay="499"/>
                                          </p:stCondLst>
                                        </p:cTn>
                                        <p:tgtEl>
                                          <p:spTgt spid="19"/>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7"/>
                                        </p:tgtEl>
                                        <p:attrNameLst>
                                          <p:attrName>ppt_x</p:attrName>
                                        </p:attrNameLst>
                                      </p:cBhvr>
                                      <p:tavLst>
                                        <p:tav tm="0">
                                          <p:val>
                                            <p:strVal val="ppt_x"/>
                                          </p:val>
                                        </p:tav>
                                        <p:tav tm="100000">
                                          <p:val>
                                            <p:strVal val="ppt_x"/>
                                          </p:val>
                                        </p:tav>
                                      </p:tavLst>
                                    </p:anim>
                                    <p:anim calcmode="lin" valueType="num">
                                      <p:cBhvr additive="base">
                                        <p:cTn id="21" dur="500"/>
                                        <p:tgtEl>
                                          <p:spTgt spid="7"/>
                                        </p:tgtEl>
                                        <p:attrNameLst>
                                          <p:attrName>ppt_y</p:attrName>
                                        </p:attrNameLst>
                                      </p:cBhvr>
                                      <p:tavLst>
                                        <p:tav tm="0">
                                          <p:val>
                                            <p:strVal val="ppt_y"/>
                                          </p:val>
                                        </p:tav>
                                        <p:tav tm="100000">
                                          <p:val>
                                            <p:strVal val="1+ppt_h/2"/>
                                          </p:val>
                                        </p:tav>
                                      </p:tavLst>
                                    </p:anim>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A5CD7-F506-3FFF-E5AF-05C714BF715E}"/>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4AB82887-B158-652E-D5F4-F146E8A17DBC}"/>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9030FDFF-2385-E495-C641-46D603F8DD21}"/>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88996920-2962-7508-61C2-065A074EA0BC}"/>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4466130B-2B47-5425-79C6-A8D67A8D80A6}"/>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3C74DC55-B79B-021B-8080-F9B2DCBD2EBE}"/>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8A6E3355-3B6B-D6F8-F597-2C840E977793}"/>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41515484-0583-5C05-3EA6-5AE39102CED5}"/>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335E5F14-C21B-40F2-95DF-CA8571CD5F3C}"/>
              </a:ext>
            </a:extLst>
          </p:cNvPr>
          <p:cNvSpPr/>
          <p:nvPr/>
        </p:nvSpPr>
        <p:spPr>
          <a:xfrm flipH="1">
            <a:off x="10429423" y="1088676"/>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07A6FDD4-9379-C6F2-DF76-77275702026C}"/>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26</a:t>
            </a:fld>
            <a:endParaRPr lang="en-GB" dirty="0"/>
          </a:p>
        </p:txBody>
      </p:sp>
      <p:sp>
        <p:nvSpPr>
          <p:cNvPr id="6" name="Ellipse 7">
            <a:extLst>
              <a:ext uri="{FF2B5EF4-FFF2-40B4-BE49-F238E27FC236}">
                <a16:creationId xmlns:a16="http://schemas.microsoft.com/office/drawing/2014/main" id="{A942FA69-8754-BD99-8B5B-3B990D77F208}"/>
              </a:ext>
            </a:extLst>
          </p:cNvPr>
          <p:cNvSpPr/>
          <p:nvPr/>
        </p:nvSpPr>
        <p:spPr>
          <a:xfrm flipH="1">
            <a:off x="590844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1C989CF4-3D03-742D-1857-26073B0A5144}"/>
              </a:ext>
            </a:extLst>
          </p:cNvPr>
          <p:cNvSpPr txBox="1"/>
          <p:nvPr/>
        </p:nvSpPr>
        <p:spPr>
          <a:xfrm>
            <a:off x="3048000" y="1877915"/>
            <a:ext cx="6096000" cy="430887"/>
          </a:xfrm>
          <a:prstGeom prst="rect">
            <a:avLst/>
          </a:prstGeom>
          <a:noFill/>
        </p:spPr>
        <p:txBody>
          <a:bodyPr wrap="square">
            <a:spAutoFit/>
          </a:bodyPr>
          <a:lstStyle/>
          <a:p>
            <a:pPr algn="ctr"/>
            <a:r>
              <a:rPr lang="en-US" sz="2200" b="1" dirty="0">
                <a:solidFill>
                  <a:srgbClr val="C00000"/>
                </a:solidFill>
              </a:rPr>
              <a:t>Transactions Monitoring Job</a:t>
            </a:r>
          </a:p>
        </p:txBody>
      </p:sp>
      <p:pic>
        <p:nvPicPr>
          <p:cNvPr id="7" name="Image 6" descr="Une image contenant texte, capture d’écran, Police, ligne&#10;&#10;Le contenu généré par l’IA peut être incorrect.">
            <a:extLst>
              <a:ext uri="{FF2B5EF4-FFF2-40B4-BE49-F238E27FC236}">
                <a16:creationId xmlns:a16="http://schemas.microsoft.com/office/drawing/2014/main" id="{08981966-F29A-9C34-6014-FF250599382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49904" y="2554150"/>
            <a:ext cx="7976174" cy="2788979"/>
          </a:xfrm>
          <a:prstGeom prst="rect">
            <a:avLst/>
          </a:prstGeom>
        </p:spPr>
      </p:pic>
    </p:spTree>
    <p:extLst>
      <p:ext uri="{BB962C8B-B14F-4D97-AF65-F5344CB8AC3E}">
        <p14:creationId xmlns:p14="http://schemas.microsoft.com/office/powerpoint/2010/main" val="394891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1" nodeType="clickEffect">
                                  <p:stCondLst>
                                    <p:cond delay="0"/>
                                  </p:stCondLst>
                                  <p:childTnLst>
                                    <p:anim calcmode="lin" valueType="num">
                                      <p:cBhvr additive="base">
                                        <p:cTn id="16" dur="500"/>
                                        <p:tgtEl>
                                          <p:spTgt spid="19"/>
                                        </p:tgtEl>
                                        <p:attrNameLst>
                                          <p:attrName>ppt_x</p:attrName>
                                        </p:attrNameLst>
                                      </p:cBhvr>
                                      <p:tavLst>
                                        <p:tav tm="0">
                                          <p:val>
                                            <p:strVal val="ppt_x"/>
                                          </p:val>
                                        </p:tav>
                                        <p:tav tm="100000">
                                          <p:val>
                                            <p:strVal val="ppt_x"/>
                                          </p:val>
                                        </p:tav>
                                      </p:tavLst>
                                    </p:anim>
                                    <p:anim calcmode="lin" valueType="num">
                                      <p:cBhvr additive="base">
                                        <p:cTn id="17" dur="500"/>
                                        <p:tgtEl>
                                          <p:spTgt spid="19"/>
                                        </p:tgtEl>
                                        <p:attrNameLst>
                                          <p:attrName>ppt_y</p:attrName>
                                        </p:attrNameLst>
                                      </p:cBhvr>
                                      <p:tavLst>
                                        <p:tav tm="0">
                                          <p:val>
                                            <p:strVal val="ppt_y"/>
                                          </p:val>
                                        </p:tav>
                                        <p:tav tm="100000">
                                          <p:val>
                                            <p:strVal val="1+ppt_h/2"/>
                                          </p:val>
                                        </p:tav>
                                      </p:tavLst>
                                    </p:anim>
                                    <p:set>
                                      <p:cBhvr>
                                        <p:cTn id="18" dur="1" fill="hold">
                                          <p:stCondLst>
                                            <p:cond delay="499"/>
                                          </p:stCondLst>
                                        </p:cTn>
                                        <p:tgtEl>
                                          <p:spTgt spid="19"/>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7"/>
                                        </p:tgtEl>
                                        <p:attrNameLst>
                                          <p:attrName>ppt_x</p:attrName>
                                        </p:attrNameLst>
                                      </p:cBhvr>
                                      <p:tavLst>
                                        <p:tav tm="0">
                                          <p:val>
                                            <p:strVal val="ppt_x"/>
                                          </p:val>
                                        </p:tav>
                                        <p:tav tm="100000">
                                          <p:val>
                                            <p:strVal val="ppt_x"/>
                                          </p:val>
                                        </p:tav>
                                      </p:tavLst>
                                    </p:anim>
                                    <p:anim calcmode="lin" valueType="num">
                                      <p:cBhvr additive="base">
                                        <p:cTn id="21" dur="500"/>
                                        <p:tgtEl>
                                          <p:spTgt spid="7"/>
                                        </p:tgtEl>
                                        <p:attrNameLst>
                                          <p:attrName>ppt_y</p:attrName>
                                        </p:attrNameLst>
                                      </p:cBhvr>
                                      <p:tavLst>
                                        <p:tav tm="0">
                                          <p:val>
                                            <p:strVal val="ppt_y"/>
                                          </p:val>
                                        </p:tav>
                                        <p:tav tm="100000">
                                          <p:val>
                                            <p:strVal val="1+ppt_h/2"/>
                                          </p:val>
                                        </p:tav>
                                      </p:tavLst>
                                    </p:anim>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54FCC-D43B-52D6-2FB1-144C4A3D82D2}"/>
            </a:ext>
          </a:extLst>
        </p:cNvPr>
        <p:cNvGrpSpPr/>
        <p:nvPr/>
      </p:nvGrpSpPr>
      <p:grpSpPr>
        <a:xfrm>
          <a:off x="0" y="0"/>
          <a:ext cx="0" cy="0"/>
          <a:chOff x="0" y="0"/>
          <a:chExt cx="0" cy="0"/>
        </a:xfrm>
      </p:grpSpPr>
      <p:grpSp>
        <p:nvGrpSpPr>
          <p:cNvPr id="34" name="Groupe 33">
            <a:extLst>
              <a:ext uri="{FF2B5EF4-FFF2-40B4-BE49-F238E27FC236}">
                <a16:creationId xmlns:a16="http://schemas.microsoft.com/office/drawing/2014/main" id="{0464732B-52F8-4BD7-F75A-9E7AB49A93F9}"/>
              </a:ext>
            </a:extLst>
          </p:cNvPr>
          <p:cNvGrpSpPr/>
          <p:nvPr/>
        </p:nvGrpSpPr>
        <p:grpSpPr>
          <a:xfrm>
            <a:off x="2901020" y="2191235"/>
            <a:ext cx="6710543" cy="4056200"/>
            <a:chOff x="2901020" y="2191235"/>
            <a:chExt cx="6710543" cy="4056200"/>
          </a:xfrm>
        </p:grpSpPr>
        <p:sp>
          <p:nvSpPr>
            <p:cNvPr id="5" name="Freeform 2">
              <a:extLst>
                <a:ext uri="{FF2B5EF4-FFF2-40B4-BE49-F238E27FC236}">
                  <a16:creationId xmlns:a16="http://schemas.microsoft.com/office/drawing/2014/main" id="{6B6300C7-ED66-CE92-0C0F-52188DAE3BAF}"/>
                </a:ext>
              </a:extLst>
            </p:cNvPr>
            <p:cNvSpPr/>
            <p:nvPr/>
          </p:nvSpPr>
          <p:spPr>
            <a:xfrm>
              <a:off x="2901020" y="2191235"/>
              <a:ext cx="6710543" cy="4056200"/>
            </a:xfrm>
            <a:custGeom>
              <a:avLst/>
              <a:gdLst/>
              <a:ahLst/>
              <a:cxnLst/>
              <a:rect l="l" t="t" r="r" b="b"/>
              <a:pathLst>
                <a:path w="11606649" h="6282099">
                  <a:moveTo>
                    <a:pt x="0" y="0"/>
                  </a:moveTo>
                  <a:lnTo>
                    <a:pt x="11606648" y="0"/>
                  </a:lnTo>
                  <a:lnTo>
                    <a:pt x="11606648" y="6282099"/>
                  </a:lnTo>
                  <a:lnTo>
                    <a:pt x="0" y="6282099"/>
                  </a:lnTo>
                  <a:lnTo>
                    <a:pt x="0" y="0"/>
                  </a:lnTo>
                  <a:close/>
                </a:path>
              </a:pathLst>
            </a:custGeom>
            <a:blipFill>
              <a:blip r:embed="rId3"/>
              <a:stretch>
                <a:fillRect/>
              </a:stretch>
            </a:blipFill>
          </p:spPr>
          <p:txBody>
            <a:bodyPr/>
            <a:lstStyle/>
            <a:p>
              <a:endParaRPr lang="fr-MA"/>
            </a:p>
          </p:txBody>
        </p:sp>
        <p:sp>
          <p:nvSpPr>
            <p:cNvPr id="33" name="Rectangle 32">
              <a:extLst>
                <a:ext uri="{FF2B5EF4-FFF2-40B4-BE49-F238E27FC236}">
                  <a16:creationId xmlns:a16="http://schemas.microsoft.com/office/drawing/2014/main" id="{BDC4EBDF-DF3A-C607-25CF-095310801608}"/>
                </a:ext>
              </a:extLst>
            </p:cNvPr>
            <p:cNvSpPr/>
            <p:nvPr/>
          </p:nvSpPr>
          <p:spPr>
            <a:xfrm>
              <a:off x="2968738" y="2263786"/>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dirty="0"/>
            </a:p>
          </p:txBody>
        </p:sp>
      </p:grpSp>
      <p:graphicFrame>
        <p:nvGraphicFramePr>
          <p:cNvPr id="3" name="Diagramme 2">
            <a:extLst>
              <a:ext uri="{FF2B5EF4-FFF2-40B4-BE49-F238E27FC236}">
                <a16:creationId xmlns:a16="http://schemas.microsoft.com/office/drawing/2014/main" id="{CABA824A-0D1C-9742-83C7-1BAD29771DC3}"/>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Connecteur droit 6">
            <a:extLst>
              <a:ext uri="{FF2B5EF4-FFF2-40B4-BE49-F238E27FC236}">
                <a16:creationId xmlns:a16="http://schemas.microsoft.com/office/drawing/2014/main" id="{70750096-AEB0-F8AC-A721-BA1F9E14D8C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04C2468A-5233-B558-4F13-940D18F94842}"/>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BB44A47F-673D-C1BD-62A3-6B966764DAE0}"/>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C44CDF3B-49A6-B1E6-4DBE-3E6E86C78E14}"/>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71BD9C66-4440-AB3F-E445-13978312E159}"/>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ECEC06A5-E107-916F-F58B-B62AAF839B9E}"/>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9F95C955-CB1B-4E43-3ADA-3DA8B4C7B7F2}"/>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B48AEFA1-F869-56C5-B705-389DA584ECEC}"/>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27</a:t>
            </a:fld>
            <a:endParaRPr lang="en-GB" dirty="0"/>
          </a:p>
        </p:txBody>
      </p:sp>
      <p:sp>
        <p:nvSpPr>
          <p:cNvPr id="6" name="Ellipse 7">
            <a:extLst>
              <a:ext uri="{FF2B5EF4-FFF2-40B4-BE49-F238E27FC236}">
                <a16:creationId xmlns:a16="http://schemas.microsoft.com/office/drawing/2014/main" id="{6ECC716A-19D0-D86A-B1AF-BCE6F0314C2B}"/>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7F845CA9-60D9-90C3-77CC-4D39CD9E87A7}"/>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File Tracking</a:t>
            </a:r>
          </a:p>
        </p:txBody>
      </p:sp>
      <p:sp>
        <p:nvSpPr>
          <p:cNvPr id="9" name="TextBox 3">
            <a:extLst>
              <a:ext uri="{FF2B5EF4-FFF2-40B4-BE49-F238E27FC236}">
                <a16:creationId xmlns:a16="http://schemas.microsoft.com/office/drawing/2014/main" id="{D3A19585-6939-5FFD-75F2-629D8EA6AC9C}"/>
              </a:ext>
            </a:extLst>
          </p:cNvPr>
          <p:cNvSpPr txBox="1"/>
          <p:nvPr/>
        </p:nvSpPr>
        <p:spPr>
          <a:xfrm>
            <a:off x="277078" y="2400988"/>
            <a:ext cx="2513319" cy="553998"/>
          </a:xfrm>
          <a:prstGeom prst="rect">
            <a:avLst/>
          </a:prstGeom>
        </p:spPr>
        <p:txBody>
          <a:bodyPr wrap="square"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Permet</a:t>
            </a:r>
            <a:r>
              <a:rPr lang="en-US" sz="1200" dirty="0">
                <a:solidFill>
                  <a:srgbClr val="000000"/>
                </a:solidFill>
                <a:latin typeface="Open Sans"/>
                <a:ea typeface="Open Sans"/>
                <a:cs typeface="Open Sans"/>
                <a:sym typeface="Open Sans"/>
              </a:rPr>
              <a:t> de </a:t>
            </a:r>
            <a:r>
              <a:rPr lang="en-US" sz="1200" dirty="0" err="1">
                <a:solidFill>
                  <a:srgbClr val="000000"/>
                </a:solidFill>
                <a:latin typeface="Open Sans"/>
                <a:ea typeface="Open Sans"/>
                <a:cs typeface="Open Sans"/>
                <a:sym typeface="Open Sans"/>
              </a:rPr>
              <a:t>naviguer</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rapidement</a:t>
            </a:r>
            <a:r>
              <a:rPr lang="en-US" sz="1200" dirty="0">
                <a:solidFill>
                  <a:srgbClr val="000000"/>
                </a:solidFill>
                <a:latin typeface="Open Sans"/>
                <a:ea typeface="Open Sans"/>
                <a:cs typeface="Open Sans"/>
                <a:sym typeface="Open Sans"/>
              </a:rPr>
              <a:t> entre les dates pour </a:t>
            </a:r>
            <a:r>
              <a:rPr lang="en-US" sz="1200" dirty="0" err="1">
                <a:solidFill>
                  <a:srgbClr val="000000"/>
                </a:solidFill>
                <a:latin typeface="Open Sans"/>
                <a:ea typeface="Open Sans"/>
                <a:cs typeface="Open Sans"/>
                <a:sym typeface="Open Sans"/>
              </a:rPr>
              <a:t>visualiser</a:t>
            </a:r>
            <a:r>
              <a:rPr lang="en-US" sz="1200" dirty="0">
                <a:solidFill>
                  <a:srgbClr val="000000"/>
                </a:solidFill>
                <a:latin typeface="Open Sans"/>
                <a:ea typeface="Open Sans"/>
                <a:cs typeface="Open Sans"/>
                <a:sym typeface="Open Sans"/>
              </a:rPr>
              <a:t> les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arrivés</a:t>
            </a:r>
            <a:r>
              <a:rPr lang="en-US" sz="1200" dirty="0">
                <a:solidFill>
                  <a:srgbClr val="000000"/>
                </a:solidFill>
                <a:latin typeface="Open Sans"/>
                <a:ea typeface="Open Sans"/>
                <a:cs typeface="Open Sans"/>
                <a:sym typeface="Open Sans"/>
              </a:rPr>
              <a:t> à </a:t>
            </a:r>
            <a:r>
              <a:rPr lang="en-US" sz="1200" dirty="0" err="1">
                <a:solidFill>
                  <a:srgbClr val="000000"/>
                </a:solidFill>
                <a:latin typeface="Open Sans"/>
                <a:ea typeface="Open Sans"/>
                <a:cs typeface="Open Sans"/>
                <a:sym typeface="Open Sans"/>
              </a:rPr>
              <a:t>une</a:t>
            </a:r>
            <a:r>
              <a:rPr lang="en-US" sz="1200" dirty="0">
                <a:solidFill>
                  <a:srgbClr val="000000"/>
                </a:solidFill>
                <a:latin typeface="Open Sans"/>
                <a:ea typeface="Open Sans"/>
                <a:cs typeface="Open Sans"/>
                <a:sym typeface="Open Sans"/>
              </a:rPr>
              <a:t> date </a:t>
            </a:r>
            <a:r>
              <a:rPr lang="en-US" sz="1200" dirty="0" err="1">
                <a:solidFill>
                  <a:srgbClr val="000000"/>
                </a:solidFill>
                <a:latin typeface="Open Sans"/>
                <a:ea typeface="Open Sans"/>
                <a:cs typeface="Open Sans"/>
                <a:sym typeface="Open Sans"/>
              </a:rPr>
              <a:t>précise</a:t>
            </a:r>
            <a:endParaRPr lang="en-US" sz="1200" dirty="0">
              <a:solidFill>
                <a:srgbClr val="000000"/>
              </a:solidFill>
              <a:latin typeface="Open Sans"/>
              <a:ea typeface="Open Sans"/>
              <a:cs typeface="Open Sans"/>
              <a:sym typeface="Open Sans"/>
            </a:endParaRPr>
          </a:p>
        </p:txBody>
      </p:sp>
      <p:sp>
        <p:nvSpPr>
          <p:cNvPr id="11" name="TextBox 4">
            <a:extLst>
              <a:ext uri="{FF2B5EF4-FFF2-40B4-BE49-F238E27FC236}">
                <a16:creationId xmlns:a16="http://schemas.microsoft.com/office/drawing/2014/main" id="{6BFDAE12-08EC-0D66-A449-42F35593CBC1}"/>
              </a:ext>
            </a:extLst>
          </p:cNvPr>
          <p:cNvSpPr txBox="1"/>
          <p:nvPr/>
        </p:nvSpPr>
        <p:spPr>
          <a:xfrm>
            <a:off x="9943430" y="2854877"/>
            <a:ext cx="2145468" cy="553998"/>
          </a:xfrm>
          <a:prstGeom prst="rect">
            <a:avLst/>
          </a:prstGeom>
        </p:spPr>
        <p:txBody>
          <a:bodyPr wrap="square"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Affiche la date et </a:t>
            </a:r>
            <a:r>
              <a:rPr lang="en-US" sz="1200" dirty="0" err="1">
                <a:solidFill>
                  <a:srgbClr val="000000"/>
                </a:solidFill>
                <a:latin typeface="Open Sans"/>
                <a:ea typeface="Open Sans"/>
                <a:cs typeface="Open Sans"/>
                <a:sym typeface="Open Sans"/>
              </a:rPr>
              <a:t>l’heure</a:t>
            </a:r>
            <a:r>
              <a:rPr lang="en-US" sz="1200" dirty="0">
                <a:solidFill>
                  <a:srgbClr val="000000"/>
                </a:solidFill>
                <a:latin typeface="Open Sans"/>
                <a:ea typeface="Open Sans"/>
                <a:cs typeface="Open Sans"/>
                <a:sym typeface="Open Sans"/>
              </a:rPr>
              <a:t> de fin de </a:t>
            </a:r>
            <a:r>
              <a:rPr lang="en-US" sz="1200" dirty="0" err="1">
                <a:solidFill>
                  <a:srgbClr val="000000"/>
                </a:solidFill>
                <a:latin typeface="Open Sans"/>
                <a:ea typeface="Open Sans"/>
                <a:cs typeface="Open Sans"/>
                <a:sym typeface="Open Sans"/>
              </a:rPr>
              <a:t>traitement</a:t>
            </a:r>
            <a:r>
              <a:rPr lang="en-US" sz="1200" dirty="0">
                <a:solidFill>
                  <a:srgbClr val="000000"/>
                </a:solidFill>
                <a:latin typeface="Open Sans"/>
                <a:ea typeface="Open Sans"/>
                <a:cs typeface="Open Sans"/>
                <a:sym typeface="Open Sans"/>
              </a:rPr>
              <a:t> du </a:t>
            </a:r>
            <a:r>
              <a:rPr lang="en-US" sz="1200" dirty="0" err="1">
                <a:solidFill>
                  <a:srgbClr val="000000"/>
                </a:solidFill>
                <a:latin typeface="Open Sans"/>
                <a:ea typeface="Open Sans"/>
                <a:cs typeface="Open Sans"/>
                <a:sym typeface="Open Sans"/>
              </a:rPr>
              <a:t>fichier</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compressé</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sélectionné</a:t>
            </a:r>
            <a:endParaRPr lang="en-US" sz="1200" dirty="0">
              <a:solidFill>
                <a:srgbClr val="000000"/>
              </a:solidFill>
              <a:latin typeface="Open Sans"/>
              <a:ea typeface="Open Sans"/>
              <a:cs typeface="Open Sans"/>
              <a:sym typeface="Open Sans"/>
            </a:endParaRPr>
          </a:p>
        </p:txBody>
      </p:sp>
      <p:sp>
        <p:nvSpPr>
          <p:cNvPr id="12" name="TextBox 5">
            <a:extLst>
              <a:ext uri="{FF2B5EF4-FFF2-40B4-BE49-F238E27FC236}">
                <a16:creationId xmlns:a16="http://schemas.microsoft.com/office/drawing/2014/main" id="{8B928CA0-AA3A-B628-44C9-9940B7B44BBB}"/>
              </a:ext>
            </a:extLst>
          </p:cNvPr>
          <p:cNvSpPr txBox="1"/>
          <p:nvPr/>
        </p:nvSpPr>
        <p:spPr>
          <a:xfrm>
            <a:off x="494111" y="3795462"/>
            <a:ext cx="2230129" cy="369332"/>
          </a:xfrm>
          <a:prstGeom prst="rect">
            <a:avLst/>
          </a:prstGeom>
        </p:spPr>
        <p:txBody>
          <a:bodyPr wrap="square"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Permet</a:t>
            </a:r>
            <a:r>
              <a:rPr lang="en-US" sz="1200" dirty="0">
                <a:solidFill>
                  <a:srgbClr val="000000"/>
                </a:solidFill>
                <a:latin typeface="Open Sans"/>
                <a:ea typeface="Open Sans"/>
                <a:cs typeface="Open Sans"/>
                <a:sym typeface="Open Sans"/>
              </a:rPr>
              <a:t> de </a:t>
            </a:r>
            <a:r>
              <a:rPr lang="en-US" sz="1200" dirty="0" err="1">
                <a:solidFill>
                  <a:srgbClr val="000000"/>
                </a:solidFill>
                <a:latin typeface="Open Sans"/>
                <a:ea typeface="Open Sans"/>
                <a:cs typeface="Open Sans"/>
                <a:sym typeface="Open Sans"/>
              </a:rPr>
              <a:t>selectionner</a:t>
            </a:r>
            <a:r>
              <a:rPr lang="en-US" sz="1200" dirty="0">
                <a:solidFill>
                  <a:srgbClr val="000000"/>
                </a:solidFill>
                <a:latin typeface="Open Sans"/>
                <a:ea typeface="Open Sans"/>
                <a:cs typeface="Open Sans"/>
                <a:sym typeface="Open Sans"/>
              </a:rPr>
              <a:t> le nom du </a:t>
            </a:r>
            <a:r>
              <a:rPr lang="en-US" sz="1200" dirty="0" err="1">
                <a:solidFill>
                  <a:srgbClr val="000000"/>
                </a:solidFill>
                <a:latin typeface="Open Sans"/>
                <a:ea typeface="Open Sans"/>
                <a:cs typeface="Open Sans"/>
                <a:sym typeface="Open Sans"/>
              </a:rPr>
              <a:t>fichier</a:t>
            </a:r>
            <a:r>
              <a:rPr lang="en-US" sz="1200" dirty="0">
                <a:solidFill>
                  <a:srgbClr val="000000"/>
                </a:solidFill>
                <a:latin typeface="Open Sans"/>
                <a:ea typeface="Open Sans"/>
                <a:cs typeface="Open Sans"/>
                <a:sym typeface="Open Sans"/>
              </a:rPr>
              <a:t> .tar.gz </a:t>
            </a:r>
            <a:r>
              <a:rPr lang="en-US" sz="1200" dirty="0" err="1">
                <a:solidFill>
                  <a:srgbClr val="000000"/>
                </a:solidFill>
                <a:latin typeface="Open Sans"/>
                <a:ea typeface="Open Sans"/>
                <a:cs typeface="Open Sans"/>
                <a:sym typeface="Open Sans"/>
              </a:rPr>
              <a:t>traité</a:t>
            </a:r>
            <a:endParaRPr lang="en-US" sz="1200" dirty="0">
              <a:solidFill>
                <a:srgbClr val="000000"/>
              </a:solidFill>
              <a:latin typeface="Open Sans"/>
              <a:ea typeface="Open Sans"/>
              <a:cs typeface="Open Sans"/>
              <a:sym typeface="Open Sans"/>
            </a:endParaRPr>
          </a:p>
        </p:txBody>
      </p:sp>
      <p:sp>
        <p:nvSpPr>
          <p:cNvPr id="13" name="TextBox 6">
            <a:extLst>
              <a:ext uri="{FF2B5EF4-FFF2-40B4-BE49-F238E27FC236}">
                <a16:creationId xmlns:a16="http://schemas.microsoft.com/office/drawing/2014/main" id="{02BAF962-8AD9-852E-EC9E-B764568789F0}"/>
              </a:ext>
            </a:extLst>
          </p:cNvPr>
          <p:cNvSpPr txBox="1"/>
          <p:nvPr/>
        </p:nvSpPr>
        <p:spPr>
          <a:xfrm>
            <a:off x="9982200" y="4075839"/>
            <a:ext cx="1882957" cy="1430584"/>
          </a:xfrm>
          <a:prstGeom prst="rect">
            <a:avLst/>
          </a:prstGeom>
        </p:spPr>
        <p:txBody>
          <a:bodyPr wrap="square"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Affiche la </a:t>
            </a:r>
            <a:r>
              <a:rPr lang="en-US" sz="1200" dirty="0" err="1">
                <a:solidFill>
                  <a:srgbClr val="000000"/>
                </a:solidFill>
                <a:latin typeface="Open Sans"/>
                <a:ea typeface="Open Sans"/>
                <a:cs typeface="Open Sans"/>
                <a:sym typeface="Open Sans"/>
              </a:rPr>
              <a:t>liste</a:t>
            </a:r>
            <a:r>
              <a:rPr lang="en-US" sz="1200" dirty="0">
                <a:solidFill>
                  <a:srgbClr val="000000"/>
                </a:solidFill>
                <a:latin typeface="Open Sans"/>
                <a:ea typeface="Open Sans"/>
                <a:cs typeface="Open Sans"/>
                <a:sym typeface="Open Sans"/>
              </a:rPr>
              <a:t>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extraits du </a:t>
            </a:r>
            <a:r>
              <a:rPr lang="en-US" sz="1200" dirty="0" err="1">
                <a:solidFill>
                  <a:srgbClr val="000000"/>
                </a:solidFill>
                <a:latin typeface="Open Sans"/>
                <a:ea typeface="Open Sans"/>
                <a:cs typeface="Open Sans"/>
                <a:sym typeface="Open Sans"/>
              </a:rPr>
              <a:t>fichier</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compressé</a:t>
            </a:r>
            <a:r>
              <a:rPr lang="en-US" sz="1200" dirty="0">
                <a:solidFill>
                  <a:srgbClr val="000000"/>
                </a:solidFill>
                <a:latin typeface="Open Sans"/>
                <a:ea typeface="Open Sans"/>
                <a:cs typeface="Open Sans"/>
                <a:sym typeface="Open Sans"/>
              </a:rPr>
              <a:t>, avec </a:t>
            </a:r>
            <a:r>
              <a:rPr lang="en-US" sz="1200" dirty="0" err="1">
                <a:solidFill>
                  <a:srgbClr val="000000"/>
                </a:solidFill>
                <a:latin typeface="Open Sans"/>
                <a:ea typeface="Open Sans"/>
                <a:cs typeface="Open Sans"/>
                <a:sym typeface="Open Sans"/>
              </a:rPr>
              <a:t>Leur</a:t>
            </a:r>
            <a:r>
              <a:rPr lang="en-US" sz="1200" dirty="0">
                <a:solidFill>
                  <a:srgbClr val="000000"/>
                </a:solidFill>
                <a:latin typeface="Open Sans"/>
                <a:ea typeface="Open Sans"/>
                <a:cs typeface="Open Sans"/>
                <a:sym typeface="Open Sans"/>
              </a:rPr>
              <a:t> nom, taille </a:t>
            </a:r>
            <a:r>
              <a:rPr lang="en-US" sz="1200" dirty="0" err="1">
                <a:solidFill>
                  <a:srgbClr val="000000"/>
                </a:solidFill>
                <a:latin typeface="Open Sans"/>
                <a:ea typeface="Open Sans"/>
                <a:cs typeface="Open Sans"/>
                <a:sym typeface="Open Sans"/>
              </a:rPr>
              <a:t>en</a:t>
            </a:r>
            <a:r>
              <a:rPr lang="en-US" sz="1200" dirty="0">
                <a:solidFill>
                  <a:srgbClr val="000000"/>
                </a:solidFill>
                <a:latin typeface="Open Sans"/>
                <a:ea typeface="Open Sans"/>
                <a:cs typeface="Open Sans"/>
                <a:sym typeface="Open Sans"/>
              </a:rPr>
              <a:t> Mo , </a:t>
            </a:r>
            <a:r>
              <a:rPr lang="en-US" sz="1200" dirty="0" err="1">
                <a:solidFill>
                  <a:srgbClr val="000000"/>
                </a:solidFill>
                <a:latin typeface="Open Sans"/>
                <a:ea typeface="Open Sans"/>
                <a:cs typeface="Open Sans"/>
                <a:sym typeface="Open Sans"/>
              </a:rPr>
              <a:t>nombre</a:t>
            </a:r>
            <a:r>
              <a:rPr lang="en-US" sz="1200" dirty="0">
                <a:solidFill>
                  <a:srgbClr val="000000"/>
                </a:solidFill>
                <a:latin typeface="Open Sans"/>
                <a:ea typeface="Open Sans"/>
                <a:cs typeface="Open Sans"/>
                <a:sym typeface="Open Sans"/>
              </a:rPr>
              <a:t> de </a:t>
            </a:r>
            <a:r>
              <a:rPr lang="en-US" sz="1200" dirty="0" err="1">
                <a:solidFill>
                  <a:srgbClr val="000000"/>
                </a:solidFill>
                <a:latin typeface="Open Sans"/>
                <a:ea typeface="Open Sans"/>
                <a:cs typeface="Open Sans"/>
                <a:sym typeface="Open Sans"/>
              </a:rPr>
              <a:t>lignes</a:t>
            </a:r>
            <a:r>
              <a:rPr lang="en-US" sz="1200" dirty="0">
                <a:solidFill>
                  <a:srgbClr val="000000"/>
                </a:solidFill>
                <a:latin typeface="Open Sans"/>
                <a:ea typeface="Open Sans"/>
                <a:cs typeface="Open Sans"/>
                <a:sym typeface="Open Sans"/>
              </a:rPr>
              <a:t> et la date de </a:t>
            </a:r>
            <a:r>
              <a:rPr lang="en-US" sz="1200" dirty="0" err="1">
                <a:solidFill>
                  <a:srgbClr val="000000"/>
                </a:solidFill>
                <a:latin typeface="Open Sans"/>
                <a:ea typeface="Open Sans"/>
                <a:cs typeface="Open Sans"/>
                <a:sym typeface="Open Sans"/>
              </a:rPr>
              <a:t>traitement</a:t>
            </a:r>
            <a:endParaRPr lang="en-US" sz="1200" dirty="0">
              <a:solidFill>
                <a:srgbClr val="000000"/>
              </a:solidFill>
              <a:latin typeface="Open Sans"/>
              <a:ea typeface="Open Sans"/>
              <a:cs typeface="Open Sans"/>
              <a:sym typeface="Open Sans"/>
            </a:endParaRPr>
          </a:p>
          <a:p>
            <a:pPr algn="ctr">
              <a:lnSpc>
                <a:spcPts val="2660"/>
              </a:lnSpc>
              <a:spcBef>
                <a:spcPct val="0"/>
              </a:spcBef>
            </a:pPr>
            <a:endParaRPr lang="en-US" sz="1900" dirty="0">
              <a:solidFill>
                <a:srgbClr val="000000"/>
              </a:solidFill>
              <a:latin typeface="Open Sans"/>
              <a:ea typeface="Open Sans"/>
              <a:cs typeface="Open Sans"/>
              <a:sym typeface="Open Sans"/>
            </a:endParaRPr>
          </a:p>
        </p:txBody>
      </p:sp>
      <p:sp>
        <p:nvSpPr>
          <p:cNvPr id="14" name="TextBox 7">
            <a:extLst>
              <a:ext uri="{FF2B5EF4-FFF2-40B4-BE49-F238E27FC236}">
                <a16:creationId xmlns:a16="http://schemas.microsoft.com/office/drawing/2014/main" id="{241A43D8-8B44-E211-D006-FA801A07A61E}"/>
              </a:ext>
            </a:extLst>
          </p:cNvPr>
          <p:cNvSpPr txBox="1"/>
          <p:nvPr/>
        </p:nvSpPr>
        <p:spPr>
          <a:xfrm>
            <a:off x="387701" y="4653092"/>
            <a:ext cx="2292075" cy="369332"/>
          </a:xfrm>
          <a:prstGeom prst="rect">
            <a:avLst/>
          </a:prstGeom>
        </p:spPr>
        <p:txBody>
          <a:bodyPr wrap="square"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Indique</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si</a:t>
            </a:r>
            <a:r>
              <a:rPr lang="en-US" sz="1200" dirty="0">
                <a:solidFill>
                  <a:srgbClr val="000000"/>
                </a:solidFill>
                <a:latin typeface="Open Sans"/>
                <a:ea typeface="Open Sans"/>
                <a:cs typeface="Open Sans"/>
                <a:sym typeface="Open Sans"/>
              </a:rPr>
              <a:t> le </a:t>
            </a:r>
            <a:r>
              <a:rPr lang="en-US" sz="1200" dirty="0" err="1">
                <a:solidFill>
                  <a:srgbClr val="000000"/>
                </a:solidFill>
                <a:latin typeface="Open Sans"/>
                <a:ea typeface="Open Sans"/>
                <a:cs typeface="Open Sans"/>
                <a:sym typeface="Open Sans"/>
              </a:rPr>
              <a:t>traitement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s’est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déroulé</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correctement</a:t>
            </a:r>
            <a:endParaRPr lang="en-US" sz="1200" dirty="0">
              <a:solidFill>
                <a:srgbClr val="000000"/>
              </a:solidFill>
              <a:latin typeface="Open Sans"/>
              <a:ea typeface="Open Sans"/>
              <a:cs typeface="Open Sans"/>
              <a:sym typeface="Open Sans"/>
            </a:endParaRPr>
          </a:p>
        </p:txBody>
      </p:sp>
      <p:sp>
        <p:nvSpPr>
          <p:cNvPr id="18" name="TextBox 8">
            <a:extLst>
              <a:ext uri="{FF2B5EF4-FFF2-40B4-BE49-F238E27FC236}">
                <a16:creationId xmlns:a16="http://schemas.microsoft.com/office/drawing/2014/main" id="{2DFC8796-9A7F-592B-66B8-0906390DB9AD}"/>
              </a:ext>
            </a:extLst>
          </p:cNvPr>
          <p:cNvSpPr txBox="1"/>
          <p:nvPr/>
        </p:nvSpPr>
        <p:spPr>
          <a:xfrm>
            <a:off x="277078" y="5875108"/>
            <a:ext cx="2292075" cy="369332"/>
          </a:xfrm>
          <a:prstGeom prst="rect">
            <a:avLst/>
          </a:prstGeom>
        </p:spPr>
        <p:txBody>
          <a:bodyPr wrap="square"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Indique</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si</a:t>
            </a:r>
            <a:r>
              <a:rPr lang="en-US" sz="1200" dirty="0">
                <a:solidFill>
                  <a:srgbClr val="000000"/>
                </a:solidFill>
                <a:latin typeface="Open Sans"/>
                <a:ea typeface="Open Sans"/>
                <a:cs typeface="Open Sans"/>
                <a:sym typeface="Open Sans"/>
              </a:rPr>
              <a:t> un </a:t>
            </a:r>
            <a:r>
              <a:rPr lang="en-US" sz="1200" dirty="0" err="1">
                <a:solidFill>
                  <a:srgbClr val="000000"/>
                </a:solidFill>
                <a:latin typeface="Open Sans"/>
                <a:ea typeface="Open Sans"/>
                <a:cs typeface="Open Sans"/>
                <a:sym typeface="Open Sans"/>
              </a:rPr>
              <a:t>ou</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plusieurs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extraits </a:t>
            </a:r>
            <a:r>
              <a:rPr lang="en-US" sz="1200" dirty="0" err="1">
                <a:solidFill>
                  <a:srgbClr val="000000"/>
                </a:solidFill>
                <a:latin typeface="Open Sans"/>
                <a:ea typeface="Open Sans"/>
                <a:cs typeface="Open Sans"/>
                <a:sym typeface="Open Sans"/>
              </a:rPr>
              <a:t>sont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corrompus</a:t>
            </a:r>
            <a:endParaRPr lang="en-US" sz="1200" dirty="0">
              <a:solidFill>
                <a:srgbClr val="000000"/>
              </a:solidFill>
              <a:latin typeface="Open Sans"/>
              <a:ea typeface="Open Sans"/>
              <a:cs typeface="Open Sans"/>
              <a:sym typeface="Open Sans"/>
            </a:endParaRPr>
          </a:p>
        </p:txBody>
      </p:sp>
      <p:sp>
        <p:nvSpPr>
          <p:cNvPr id="20" name="TextBox 9">
            <a:extLst>
              <a:ext uri="{FF2B5EF4-FFF2-40B4-BE49-F238E27FC236}">
                <a16:creationId xmlns:a16="http://schemas.microsoft.com/office/drawing/2014/main" id="{62450497-71F9-37E1-A0F6-57D4441A76A8}"/>
              </a:ext>
            </a:extLst>
          </p:cNvPr>
          <p:cNvSpPr txBox="1"/>
          <p:nvPr/>
        </p:nvSpPr>
        <p:spPr>
          <a:xfrm>
            <a:off x="3062206" y="6371253"/>
            <a:ext cx="3258772" cy="369332"/>
          </a:xfrm>
          <a:prstGeom prst="rect">
            <a:avLst/>
          </a:prstGeom>
        </p:spPr>
        <p:txBody>
          <a:bodyPr wrap="square"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Donne la taille </a:t>
            </a:r>
            <a:r>
              <a:rPr lang="en-US" sz="1200" dirty="0" err="1">
                <a:solidFill>
                  <a:srgbClr val="000000"/>
                </a:solidFill>
                <a:latin typeface="Open Sans"/>
                <a:ea typeface="Open Sans"/>
                <a:cs typeface="Open Sans"/>
                <a:sym typeface="Open Sans"/>
              </a:rPr>
              <a:t>totale</a:t>
            </a:r>
            <a:r>
              <a:rPr lang="en-US" sz="1200" dirty="0">
                <a:solidFill>
                  <a:srgbClr val="000000"/>
                </a:solidFill>
                <a:latin typeface="Open Sans"/>
                <a:ea typeface="Open Sans"/>
                <a:cs typeface="Open Sans"/>
                <a:sym typeface="Open Sans"/>
              </a:rPr>
              <a:t> du </a:t>
            </a:r>
            <a:r>
              <a:rPr lang="en-US" sz="1200" dirty="0" err="1">
                <a:solidFill>
                  <a:srgbClr val="000000"/>
                </a:solidFill>
                <a:latin typeface="Open Sans"/>
                <a:ea typeface="Open Sans"/>
                <a:cs typeface="Open Sans"/>
                <a:sym typeface="Open Sans"/>
              </a:rPr>
              <a:t>fichier</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compressé</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traité</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en</a:t>
            </a:r>
            <a:r>
              <a:rPr lang="en-US" sz="1200" dirty="0">
                <a:solidFill>
                  <a:srgbClr val="000000"/>
                </a:solidFill>
                <a:latin typeface="Open Sans"/>
                <a:ea typeface="Open Sans"/>
                <a:cs typeface="Open Sans"/>
                <a:sym typeface="Open Sans"/>
              </a:rPr>
              <a:t> Mo.</a:t>
            </a:r>
          </a:p>
        </p:txBody>
      </p:sp>
      <p:sp>
        <p:nvSpPr>
          <p:cNvPr id="22" name="TextBox 10">
            <a:extLst>
              <a:ext uri="{FF2B5EF4-FFF2-40B4-BE49-F238E27FC236}">
                <a16:creationId xmlns:a16="http://schemas.microsoft.com/office/drawing/2014/main" id="{EB37DE55-FF4E-C53B-1C6D-A295BCAA3A00}"/>
              </a:ext>
            </a:extLst>
          </p:cNvPr>
          <p:cNvSpPr txBox="1"/>
          <p:nvPr/>
        </p:nvSpPr>
        <p:spPr>
          <a:xfrm>
            <a:off x="6952682" y="6338490"/>
            <a:ext cx="3490012" cy="369332"/>
          </a:xfrm>
          <a:prstGeom prst="rect">
            <a:avLst/>
          </a:prstGeom>
        </p:spPr>
        <p:txBody>
          <a:bodyPr wrap="square"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Visualise</a:t>
            </a:r>
            <a:r>
              <a:rPr lang="en-US" sz="1200" dirty="0">
                <a:solidFill>
                  <a:srgbClr val="000000"/>
                </a:solidFill>
                <a:latin typeface="Open Sans"/>
                <a:ea typeface="Open Sans"/>
                <a:cs typeface="Open Sans"/>
                <a:sym typeface="Open Sans"/>
              </a:rPr>
              <a:t> la variation de la taille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traités</a:t>
            </a:r>
            <a:r>
              <a:rPr lang="en-US" sz="1200" dirty="0">
                <a:solidFill>
                  <a:srgbClr val="000000"/>
                </a:solidFill>
                <a:latin typeface="Open Sans"/>
                <a:ea typeface="Open Sans"/>
                <a:cs typeface="Open Sans"/>
                <a:sym typeface="Open Sans"/>
              </a:rPr>
              <a:t> jour après jour.</a:t>
            </a:r>
          </a:p>
        </p:txBody>
      </p:sp>
      <p:sp>
        <p:nvSpPr>
          <p:cNvPr id="23" name="AutoShape 11">
            <a:extLst>
              <a:ext uri="{FF2B5EF4-FFF2-40B4-BE49-F238E27FC236}">
                <a16:creationId xmlns:a16="http://schemas.microsoft.com/office/drawing/2014/main" id="{5CA52436-6FF5-069E-0E42-8B07697FC75A}"/>
              </a:ext>
            </a:extLst>
          </p:cNvPr>
          <p:cNvSpPr/>
          <p:nvPr/>
        </p:nvSpPr>
        <p:spPr>
          <a:xfrm>
            <a:off x="2681274" y="2784769"/>
            <a:ext cx="772705" cy="116273"/>
          </a:xfrm>
          <a:prstGeom prst="line">
            <a:avLst/>
          </a:prstGeom>
          <a:ln w="38100" cap="flat">
            <a:solidFill>
              <a:srgbClr val="000000"/>
            </a:solidFill>
            <a:prstDash val="solid"/>
            <a:headEnd type="none" w="sm" len="sm"/>
            <a:tailEnd type="arrow" w="med" len="sm"/>
          </a:ln>
        </p:spPr>
        <p:txBody>
          <a:bodyPr/>
          <a:lstStyle/>
          <a:p>
            <a:endParaRPr lang="fr-MA"/>
          </a:p>
        </p:txBody>
      </p:sp>
      <p:sp>
        <p:nvSpPr>
          <p:cNvPr id="24" name="AutoShape 12">
            <a:extLst>
              <a:ext uri="{FF2B5EF4-FFF2-40B4-BE49-F238E27FC236}">
                <a16:creationId xmlns:a16="http://schemas.microsoft.com/office/drawing/2014/main" id="{AC50AC75-C976-78DE-F62A-FAA20085C967}"/>
              </a:ext>
            </a:extLst>
          </p:cNvPr>
          <p:cNvSpPr/>
          <p:nvPr/>
        </p:nvSpPr>
        <p:spPr>
          <a:xfrm flipV="1">
            <a:off x="2838257" y="3795462"/>
            <a:ext cx="223949" cy="116273"/>
          </a:xfrm>
          <a:prstGeom prst="line">
            <a:avLst/>
          </a:prstGeom>
          <a:ln w="38100" cap="flat">
            <a:solidFill>
              <a:srgbClr val="000000"/>
            </a:solidFill>
            <a:prstDash val="solid"/>
            <a:headEnd type="none" w="sm" len="sm"/>
            <a:tailEnd type="arrow" w="med" len="sm"/>
          </a:ln>
        </p:spPr>
        <p:txBody>
          <a:bodyPr/>
          <a:lstStyle/>
          <a:p>
            <a:endParaRPr lang="fr-MA"/>
          </a:p>
        </p:txBody>
      </p:sp>
      <p:sp>
        <p:nvSpPr>
          <p:cNvPr id="25" name="AutoShape 13">
            <a:extLst>
              <a:ext uri="{FF2B5EF4-FFF2-40B4-BE49-F238E27FC236}">
                <a16:creationId xmlns:a16="http://schemas.microsoft.com/office/drawing/2014/main" id="{E1F8D6F7-4021-DD08-BE23-C3B851AA2F79}"/>
              </a:ext>
            </a:extLst>
          </p:cNvPr>
          <p:cNvSpPr/>
          <p:nvPr/>
        </p:nvSpPr>
        <p:spPr>
          <a:xfrm flipV="1">
            <a:off x="2679776" y="4828191"/>
            <a:ext cx="558125" cy="39189"/>
          </a:xfrm>
          <a:prstGeom prst="line">
            <a:avLst/>
          </a:prstGeom>
          <a:ln w="38100" cap="flat">
            <a:solidFill>
              <a:srgbClr val="000000"/>
            </a:solidFill>
            <a:prstDash val="solid"/>
            <a:headEnd type="none" w="sm" len="sm"/>
            <a:tailEnd type="arrow" w="med" len="sm"/>
          </a:ln>
        </p:spPr>
        <p:txBody>
          <a:bodyPr/>
          <a:lstStyle/>
          <a:p>
            <a:endParaRPr lang="fr-MA"/>
          </a:p>
        </p:txBody>
      </p:sp>
      <p:sp>
        <p:nvSpPr>
          <p:cNvPr id="26" name="AutoShape 14">
            <a:extLst>
              <a:ext uri="{FF2B5EF4-FFF2-40B4-BE49-F238E27FC236}">
                <a16:creationId xmlns:a16="http://schemas.microsoft.com/office/drawing/2014/main" id="{3E5B3E63-6E74-B110-F68A-302518E410E4}"/>
              </a:ext>
            </a:extLst>
          </p:cNvPr>
          <p:cNvSpPr/>
          <p:nvPr/>
        </p:nvSpPr>
        <p:spPr>
          <a:xfrm flipV="1">
            <a:off x="2582046" y="5291336"/>
            <a:ext cx="1853462" cy="752336"/>
          </a:xfrm>
          <a:prstGeom prst="line">
            <a:avLst/>
          </a:prstGeom>
          <a:ln w="38100" cap="flat">
            <a:solidFill>
              <a:srgbClr val="000000"/>
            </a:solidFill>
            <a:prstDash val="solid"/>
            <a:headEnd type="none" w="sm" len="sm"/>
            <a:tailEnd type="arrow" w="med" len="sm"/>
          </a:ln>
        </p:spPr>
        <p:txBody>
          <a:bodyPr/>
          <a:lstStyle/>
          <a:p>
            <a:endParaRPr lang="fr-MA"/>
          </a:p>
        </p:txBody>
      </p:sp>
      <p:sp>
        <p:nvSpPr>
          <p:cNvPr id="27" name="AutoShape 15">
            <a:extLst>
              <a:ext uri="{FF2B5EF4-FFF2-40B4-BE49-F238E27FC236}">
                <a16:creationId xmlns:a16="http://schemas.microsoft.com/office/drawing/2014/main" id="{ACAFA7AE-DF6C-E2D3-8E60-7C8EEE0D547C}"/>
              </a:ext>
            </a:extLst>
          </p:cNvPr>
          <p:cNvSpPr/>
          <p:nvPr/>
        </p:nvSpPr>
        <p:spPr>
          <a:xfrm flipH="1" flipV="1">
            <a:off x="3682126" y="6025895"/>
            <a:ext cx="136610" cy="312139"/>
          </a:xfrm>
          <a:prstGeom prst="line">
            <a:avLst/>
          </a:prstGeom>
          <a:ln w="38100" cap="flat">
            <a:solidFill>
              <a:srgbClr val="000000"/>
            </a:solidFill>
            <a:prstDash val="solid"/>
            <a:headEnd type="none" w="sm" len="sm"/>
            <a:tailEnd type="arrow" w="med" len="sm"/>
          </a:ln>
        </p:spPr>
        <p:txBody>
          <a:bodyPr/>
          <a:lstStyle/>
          <a:p>
            <a:endParaRPr lang="fr-MA"/>
          </a:p>
        </p:txBody>
      </p:sp>
      <p:sp>
        <p:nvSpPr>
          <p:cNvPr id="28" name="AutoShape 16">
            <a:extLst>
              <a:ext uri="{FF2B5EF4-FFF2-40B4-BE49-F238E27FC236}">
                <a16:creationId xmlns:a16="http://schemas.microsoft.com/office/drawing/2014/main" id="{097C6726-7A8B-8BD7-D1B6-86B0E4F1BFF8}"/>
              </a:ext>
            </a:extLst>
          </p:cNvPr>
          <p:cNvSpPr/>
          <p:nvPr/>
        </p:nvSpPr>
        <p:spPr>
          <a:xfrm flipH="1" flipV="1">
            <a:off x="8151719" y="5875108"/>
            <a:ext cx="176798" cy="443078"/>
          </a:xfrm>
          <a:prstGeom prst="line">
            <a:avLst/>
          </a:prstGeom>
          <a:ln w="38100" cap="flat">
            <a:solidFill>
              <a:srgbClr val="000000"/>
            </a:solidFill>
            <a:prstDash val="solid"/>
            <a:headEnd type="none" w="sm" len="sm"/>
            <a:tailEnd type="arrow" w="med" len="sm"/>
          </a:ln>
        </p:spPr>
        <p:txBody>
          <a:bodyPr/>
          <a:lstStyle/>
          <a:p>
            <a:endParaRPr lang="fr-MA"/>
          </a:p>
        </p:txBody>
      </p:sp>
      <p:sp>
        <p:nvSpPr>
          <p:cNvPr id="29" name="AutoShape 17">
            <a:extLst>
              <a:ext uri="{FF2B5EF4-FFF2-40B4-BE49-F238E27FC236}">
                <a16:creationId xmlns:a16="http://schemas.microsoft.com/office/drawing/2014/main" id="{8DA4CD4B-28ED-EC5B-F337-8F7B4F47C3BE}"/>
              </a:ext>
            </a:extLst>
          </p:cNvPr>
          <p:cNvSpPr/>
          <p:nvPr/>
        </p:nvSpPr>
        <p:spPr>
          <a:xfrm flipH="1" flipV="1">
            <a:off x="9359791" y="3819992"/>
            <a:ext cx="473015" cy="561508"/>
          </a:xfrm>
          <a:prstGeom prst="line">
            <a:avLst/>
          </a:prstGeom>
          <a:ln w="38100" cap="flat">
            <a:solidFill>
              <a:srgbClr val="000000"/>
            </a:solidFill>
            <a:prstDash val="solid"/>
            <a:headEnd type="none" w="sm" len="sm"/>
            <a:tailEnd type="arrow" w="med" len="sm"/>
          </a:ln>
        </p:spPr>
        <p:txBody>
          <a:bodyPr/>
          <a:lstStyle/>
          <a:p>
            <a:endParaRPr lang="fr-MA"/>
          </a:p>
        </p:txBody>
      </p:sp>
      <p:sp>
        <p:nvSpPr>
          <p:cNvPr id="30" name="AutoShape 18">
            <a:extLst>
              <a:ext uri="{FF2B5EF4-FFF2-40B4-BE49-F238E27FC236}">
                <a16:creationId xmlns:a16="http://schemas.microsoft.com/office/drawing/2014/main" id="{5D497741-06D9-4C7A-1462-B4B19F30C439}"/>
              </a:ext>
            </a:extLst>
          </p:cNvPr>
          <p:cNvSpPr/>
          <p:nvPr/>
        </p:nvSpPr>
        <p:spPr>
          <a:xfrm flipH="1" flipV="1">
            <a:off x="9153347" y="2867178"/>
            <a:ext cx="634995" cy="258631"/>
          </a:xfrm>
          <a:prstGeom prst="line">
            <a:avLst/>
          </a:prstGeom>
          <a:ln w="38100" cap="flat">
            <a:solidFill>
              <a:srgbClr val="000000"/>
            </a:solidFill>
            <a:prstDash val="solid"/>
            <a:headEnd type="none" w="sm" len="sm"/>
            <a:tailEnd type="arrow" w="med" len="sm"/>
          </a:ln>
        </p:spPr>
        <p:txBody>
          <a:bodyPr/>
          <a:lstStyle/>
          <a:p>
            <a:endParaRPr lang="fr-MA"/>
          </a:p>
        </p:txBody>
      </p:sp>
      <p:sp>
        <p:nvSpPr>
          <p:cNvPr id="32" name="ZoneTexte 31">
            <a:extLst>
              <a:ext uri="{FF2B5EF4-FFF2-40B4-BE49-F238E27FC236}">
                <a16:creationId xmlns:a16="http://schemas.microsoft.com/office/drawing/2014/main" id="{1BEBF884-DD5C-4A37-C44C-58A8DCF0245A}"/>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- 01</a:t>
            </a:r>
          </a:p>
        </p:txBody>
      </p:sp>
    </p:spTree>
    <p:extLst>
      <p:ext uri="{BB962C8B-B14F-4D97-AF65-F5344CB8AC3E}">
        <p14:creationId xmlns:p14="http://schemas.microsoft.com/office/powerpoint/2010/main" val="744658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1000"/>
                                        <p:tgtEl>
                                          <p:spTgt spid="25"/>
                                        </p:tgtEl>
                                      </p:cBhvr>
                                    </p:animEffect>
                                    <p:anim calcmode="lin" valueType="num">
                                      <p:cBhvr>
                                        <p:cTn id="37" dur="1000" fill="hold"/>
                                        <p:tgtEl>
                                          <p:spTgt spid="25"/>
                                        </p:tgtEl>
                                        <p:attrNameLst>
                                          <p:attrName>ppt_x</p:attrName>
                                        </p:attrNameLst>
                                      </p:cBhvr>
                                      <p:tavLst>
                                        <p:tav tm="0">
                                          <p:val>
                                            <p:strVal val="#ppt_x"/>
                                          </p:val>
                                        </p:tav>
                                        <p:tav tm="100000">
                                          <p:val>
                                            <p:strVal val="#ppt_x"/>
                                          </p:val>
                                        </p:tav>
                                      </p:tavLst>
                                    </p:anim>
                                    <p:anim calcmode="lin" valueType="num">
                                      <p:cBhvr>
                                        <p:cTn id="3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1000"/>
                                        <p:tgtEl>
                                          <p:spTgt spid="18"/>
                                        </p:tgtEl>
                                      </p:cBhvr>
                                    </p:animEffect>
                                    <p:anim calcmode="lin" valueType="num">
                                      <p:cBhvr>
                                        <p:cTn id="44" dur="1000" fill="hold"/>
                                        <p:tgtEl>
                                          <p:spTgt spid="18"/>
                                        </p:tgtEl>
                                        <p:attrNameLst>
                                          <p:attrName>ppt_x</p:attrName>
                                        </p:attrNameLst>
                                      </p:cBhvr>
                                      <p:tavLst>
                                        <p:tav tm="0">
                                          <p:val>
                                            <p:strVal val="#ppt_x"/>
                                          </p:val>
                                        </p:tav>
                                        <p:tav tm="100000">
                                          <p:val>
                                            <p:strVal val="#ppt_x"/>
                                          </p:val>
                                        </p:tav>
                                      </p:tavLst>
                                    </p:anim>
                                    <p:anim calcmode="lin" valueType="num">
                                      <p:cBhvr>
                                        <p:cTn id="45" dur="1000" fill="hold"/>
                                        <p:tgtEl>
                                          <p:spTgt spid="1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1000"/>
                                        <p:tgtEl>
                                          <p:spTgt spid="26"/>
                                        </p:tgtEl>
                                      </p:cBhvr>
                                    </p:animEffect>
                                    <p:anim calcmode="lin" valueType="num">
                                      <p:cBhvr>
                                        <p:cTn id="49" dur="1000" fill="hold"/>
                                        <p:tgtEl>
                                          <p:spTgt spid="26"/>
                                        </p:tgtEl>
                                        <p:attrNameLst>
                                          <p:attrName>ppt_x</p:attrName>
                                        </p:attrNameLst>
                                      </p:cBhvr>
                                      <p:tavLst>
                                        <p:tav tm="0">
                                          <p:val>
                                            <p:strVal val="#ppt_x"/>
                                          </p:val>
                                        </p:tav>
                                        <p:tav tm="100000">
                                          <p:val>
                                            <p:strVal val="#ppt_x"/>
                                          </p:val>
                                        </p:tav>
                                      </p:tavLst>
                                    </p:anim>
                                    <p:anim calcmode="lin" valueType="num">
                                      <p:cBhvr>
                                        <p:cTn id="5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1000"/>
                                        <p:tgtEl>
                                          <p:spTgt spid="20"/>
                                        </p:tgtEl>
                                      </p:cBhvr>
                                    </p:animEffect>
                                    <p:anim calcmode="lin" valueType="num">
                                      <p:cBhvr>
                                        <p:cTn id="56" dur="1000" fill="hold"/>
                                        <p:tgtEl>
                                          <p:spTgt spid="20"/>
                                        </p:tgtEl>
                                        <p:attrNameLst>
                                          <p:attrName>ppt_x</p:attrName>
                                        </p:attrNameLst>
                                      </p:cBhvr>
                                      <p:tavLst>
                                        <p:tav tm="0">
                                          <p:val>
                                            <p:strVal val="#ppt_x"/>
                                          </p:val>
                                        </p:tav>
                                        <p:tav tm="100000">
                                          <p:val>
                                            <p:strVal val="#ppt_x"/>
                                          </p:val>
                                        </p:tav>
                                      </p:tavLst>
                                    </p:anim>
                                    <p:anim calcmode="lin" valueType="num">
                                      <p:cBhvr>
                                        <p:cTn id="57" dur="1000" fill="hold"/>
                                        <p:tgtEl>
                                          <p:spTgt spid="2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1000"/>
                                        <p:tgtEl>
                                          <p:spTgt spid="27"/>
                                        </p:tgtEl>
                                      </p:cBhvr>
                                    </p:animEffect>
                                    <p:anim calcmode="lin" valueType="num">
                                      <p:cBhvr>
                                        <p:cTn id="61" dur="1000" fill="hold"/>
                                        <p:tgtEl>
                                          <p:spTgt spid="27"/>
                                        </p:tgtEl>
                                        <p:attrNameLst>
                                          <p:attrName>ppt_x</p:attrName>
                                        </p:attrNameLst>
                                      </p:cBhvr>
                                      <p:tavLst>
                                        <p:tav tm="0">
                                          <p:val>
                                            <p:strVal val="#ppt_x"/>
                                          </p:val>
                                        </p:tav>
                                        <p:tav tm="100000">
                                          <p:val>
                                            <p:strVal val="#ppt_x"/>
                                          </p:val>
                                        </p:tav>
                                      </p:tavLst>
                                    </p:anim>
                                    <p:anim calcmode="lin" valueType="num">
                                      <p:cBhvr>
                                        <p:cTn id="6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1000"/>
                                        <p:tgtEl>
                                          <p:spTgt spid="22"/>
                                        </p:tgtEl>
                                      </p:cBhvr>
                                    </p:animEffect>
                                    <p:anim calcmode="lin" valueType="num">
                                      <p:cBhvr>
                                        <p:cTn id="68" dur="1000" fill="hold"/>
                                        <p:tgtEl>
                                          <p:spTgt spid="22"/>
                                        </p:tgtEl>
                                        <p:attrNameLst>
                                          <p:attrName>ppt_x</p:attrName>
                                        </p:attrNameLst>
                                      </p:cBhvr>
                                      <p:tavLst>
                                        <p:tav tm="0">
                                          <p:val>
                                            <p:strVal val="#ppt_x"/>
                                          </p:val>
                                        </p:tav>
                                        <p:tav tm="100000">
                                          <p:val>
                                            <p:strVal val="#ppt_x"/>
                                          </p:val>
                                        </p:tav>
                                      </p:tavLst>
                                    </p:anim>
                                    <p:anim calcmode="lin" valueType="num">
                                      <p:cBhvr>
                                        <p:cTn id="69" dur="1000" fill="hold"/>
                                        <p:tgtEl>
                                          <p:spTgt spid="2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1000"/>
                                        <p:tgtEl>
                                          <p:spTgt spid="28"/>
                                        </p:tgtEl>
                                      </p:cBhvr>
                                    </p:animEffect>
                                    <p:anim calcmode="lin" valueType="num">
                                      <p:cBhvr>
                                        <p:cTn id="73" dur="1000" fill="hold"/>
                                        <p:tgtEl>
                                          <p:spTgt spid="28"/>
                                        </p:tgtEl>
                                        <p:attrNameLst>
                                          <p:attrName>ppt_x</p:attrName>
                                        </p:attrNameLst>
                                      </p:cBhvr>
                                      <p:tavLst>
                                        <p:tav tm="0">
                                          <p:val>
                                            <p:strVal val="#ppt_x"/>
                                          </p:val>
                                        </p:tav>
                                        <p:tav tm="100000">
                                          <p:val>
                                            <p:strVal val="#ppt_x"/>
                                          </p:val>
                                        </p:tav>
                                      </p:tavLst>
                                    </p:anim>
                                    <p:anim calcmode="lin" valueType="num">
                                      <p:cBhvr>
                                        <p:cTn id="7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1000"/>
                                        <p:tgtEl>
                                          <p:spTgt spid="13"/>
                                        </p:tgtEl>
                                      </p:cBhvr>
                                    </p:animEffect>
                                    <p:anim calcmode="lin" valueType="num">
                                      <p:cBhvr>
                                        <p:cTn id="80" dur="1000" fill="hold"/>
                                        <p:tgtEl>
                                          <p:spTgt spid="13"/>
                                        </p:tgtEl>
                                        <p:attrNameLst>
                                          <p:attrName>ppt_x</p:attrName>
                                        </p:attrNameLst>
                                      </p:cBhvr>
                                      <p:tavLst>
                                        <p:tav tm="0">
                                          <p:val>
                                            <p:strVal val="#ppt_x"/>
                                          </p:val>
                                        </p:tav>
                                        <p:tav tm="100000">
                                          <p:val>
                                            <p:strVal val="#ppt_x"/>
                                          </p:val>
                                        </p:tav>
                                      </p:tavLst>
                                    </p:anim>
                                    <p:anim calcmode="lin" valueType="num">
                                      <p:cBhvr>
                                        <p:cTn id="81" dur="1000" fill="hold"/>
                                        <p:tgtEl>
                                          <p:spTgt spid="13"/>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1000"/>
                                        <p:tgtEl>
                                          <p:spTgt spid="29"/>
                                        </p:tgtEl>
                                      </p:cBhvr>
                                    </p:animEffect>
                                    <p:anim calcmode="lin" valueType="num">
                                      <p:cBhvr>
                                        <p:cTn id="85" dur="1000" fill="hold"/>
                                        <p:tgtEl>
                                          <p:spTgt spid="29"/>
                                        </p:tgtEl>
                                        <p:attrNameLst>
                                          <p:attrName>ppt_x</p:attrName>
                                        </p:attrNameLst>
                                      </p:cBhvr>
                                      <p:tavLst>
                                        <p:tav tm="0">
                                          <p:val>
                                            <p:strVal val="#ppt_x"/>
                                          </p:val>
                                        </p:tav>
                                        <p:tav tm="100000">
                                          <p:val>
                                            <p:strVal val="#ppt_x"/>
                                          </p:val>
                                        </p:tav>
                                      </p:tavLst>
                                    </p:anim>
                                    <p:anim calcmode="lin" valueType="num">
                                      <p:cBhvr>
                                        <p:cTn id="8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fade">
                                      <p:cBhvr>
                                        <p:cTn id="91" dur="1000"/>
                                        <p:tgtEl>
                                          <p:spTgt spid="11"/>
                                        </p:tgtEl>
                                      </p:cBhvr>
                                    </p:animEffect>
                                    <p:anim calcmode="lin" valueType="num">
                                      <p:cBhvr>
                                        <p:cTn id="92" dur="1000" fill="hold"/>
                                        <p:tgtEl>
                                          <p:spTgt spid="11"/>
                                        </p:tgtEl>
                                        <p:attrNameLst>
                                          <p:attrName>ppt_x</p:attrName>
                                        </p:attrNameLst>
                                      </p:cBhvr>
                                      <p:tavLst>
                                        <p:tav tm="0">
                                          <p:val>
                                            <p:strVal val="#ppt_x"/>
                                          </p:val>
                                        </p:tav>
                                        <p:tav tm="100000">
                                          <p:val>
                                            <p:strVal val="#ppt_x"/>
                                          </p:val>
                                        </p:tav>
                                      </p:tavLst>
                                    </p:anim>
                                    <p:anim calcmode="lin" valueType="num">
                                      <p:cBhvr>
                                        <p:cTn id="93" dur="1000" fill="hold"/>
                                        <p:tgtEl>
                                          <p:spTgt spid="1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1000"/>
                                        <p:tgtEl>
                                          <p:spTgt spid="30"/>
                                        </p:tgtEl>
                                      </p:cBhvr>
                                    </p:animEffect>
                                    <p:anim calcmode="lin" valueType="num">
                                      <p:cBhvr>
                                        <p:cTn id="97" dur="1000" fill="hold"/>
                                        <p:tgtEl>
                                          <p:spTgt spid="30"/>
                                        </p:tgtEl>
                                        <p:attrNameLst>
                                          <p:attrName>ppt_x</p:attrName>
                                        </p:attrNameLst>
                                      </p:cBhvr>
                                      <p:tavLst>
                                        <p:tav tm="0">
                                          <p:val>
                                            <p:strVal val="#ppt_x"/>
                                          </p:val>
                                        </p:tav>
                                        <p:tav tm="100000">
                                          <p:val>
                                            <p:strVal val="#ppt_x"/>
                                          </p:val>
                                        </p:tav>
                                      </p:tavLst>
                                    </p:anim>
                                    <p:anim calcmode="lin" valueType="num">
                                      <p:cBhvr>
                                        <p:cTn id="9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4" grpId="0"/>
      <p:bldP spid="18" grpId="0"/>
      <p:bldP spid="20" grpId="0"/>
      <p:bldP spid="22" grpId="0"/>
      <p:bldP spid="23" grpId="0" animBg="1"/>
      <p:bldP spid="24" grpId="0" animBg="1"/>
      <p:bldP spid="25" grpId="0" animBg="1"/>
      <p:bldP spid="26" grpId="0" animBg="1"/>
      <p:bldP spid="27" grpId="0" animBg="1"/>
      <p:bldP spid="28" grpId="0" animBg="1"/>
      <p:bldP spid="29" grpId="0" animBg="1"/>
      <p:bldP spid="3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94F95-5191-C473-763D-1DE51595BA78}"/>
            </a:ext>
          </a:extLst>
        </p:cNvPr>
        <p:cNvGrpSpPr/>
        <p:nvPr/>
      </p:nvGrpSpPr>
      <p:grpSpPr>
        <a:xfrm>
          <a:off x="0" y="0"/>
          <a:ext cx="0" cy="0"/>
          <a:chOff x="0" y="0"/>
          <a:chExt cx="0" cy="0"/>
        </a:xfrm>
      </p:grpSpPr>
      <p:grpSp>
        <p:nvGrpSpPr>
          <p:cNvPr id="61" name="Groupe 60">
            <a:extLst>
              <a:ext uri="{FF2B5EF4-FFF2-40B4-BE49-F238E27FC236}">
                <a16:creationId xmlns:a16="http://schemas.microsoft.com/office/drawing/2014/main" id="{7783FA74-F0C4-6A7A-1232-DF84B87F3189}"/>
              </a:ext>
            </a:extLst>
          </p:cNvPr>
          <p:cNvGrpSpPr/>
          <p:nvPr/>
        </p:nvGrpSpPr>
        <p:grpSpPr>
          <a:xfrm>
            <a:off x="2870292" y="2479725"/>
            <a:ext cx="6803834" cy="3658186"/>
            <a:chOff x="2870292" y="2479725"/>
            <a:chExt cx="6803834" cy="3658186"/>
          </a:xfrm>
        </p:grpSpPr>
        <p:sp>
          <p:nvSpPr>
            <p:cNvPr id="46" name="Freeform 2">
              <a:extLst>
                <a:ext uri="{FF2B5EF4-FFF2-40B4-BE49-F238E27FC236}">
                  <a16:creationId xmlns:a16="http://schemas.microsoft.com/office/drawing/2014/main" id="{27C07706-BB1B-AD9A-32E7-E62279368C8A}"/>
                </a:ext>
              </a:extLst>
            </p:cNvPr>
            <p:cNvSpPr/>
            <p:nvPr/>
          </p:nvSpPr>
          <p:spPr>
            <a:xfrm>
              <a:off x="2870292" y="2479725"/>
              <a:ext cx="6803834" cy="3658186"/>
            </a:xfrm>
            <a:custGeom>
              <a:avLst/>
              <a:gdLst/>
              <a:ahLst/>
              <a:cxnLst/>
              <a:rect l="l" t="t" r="r" b="b"/>
              <a:pathLst>
                <a:path w="11555453" h="6283278">
                  <a:moveTo>
                    <a:pt x="0" y="0"/>
                  </a:moveTo>
                  <a:lnTo>
                    <a:pt x="11555453" y="0"/>
                  </a:lnTo>
                  <a:lnTo>
                    <a:pt x="11555453" y="6283278"/>
                  </a:lnTo>
                  <a:lnTo>
                    <a:pt x="0" y="6283278"/>
                  </a:lnTo>
                  <a:lnTo>
                    <a:pt x="0" y="0"/>
                  </a:lnTo>
                  <a:close/>
                </a:path>
              </a:pathLst>
            </a:custGeom>
            <a:blipFill>
              <a:blip r:embed="rId3"/>
              <a:stretch>
                <a:fillRect/>
              </a:stretch>
            </a:blipFill>
          </p:spPr>
          <p:txBody>
            <a:bodyPr/>
            <a:lstStyle/>
            <a:p>
              <a:endParaRPr lang="fr-MA"/>
            </a:p>
          </p:txBody>
        </p:sp>
        <p:sp>
          <p:nvSpPr>
            <p:cNvPr id="60" name="Rectangle 59">
              <a:extLst>
                <a:ext uri="{FF2B5EF4-FFF2-40B4-BE49-F238E27FC236}">
                  <a16:creationId xmlns:a16="http://schemas.microsoft.com/office/drawing/2014/main" id="{F765DD4E-2FE0-48BB-0FC3-A81D7D013F0B}"/>
                </a:ext>
              </a:extLst>
            </p:cNvPr>
            <p:cNvSpPr/>
            <p:nvPr/>
          </p:nvSpPr>
          <p:spPr>
            <a:xfrm>
              <a:off x="2952267" y="2511662"/>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graphicFrame>
        <p:nvGraphicFramePr>
          <p:cNvPr id="3" name="Diagramme 2">
            <a:extLst>
              <a:ext uri="{FF2B5EF4-FFF2-40B4-BE49-F238E27FC236}">
                <a16:creationId xmlns:a16="http://schemas.microsoft.com/office/drawing/2014/main" id="{63A6D789-B6FA-B1FA-0619-A60A70A1865A}"/>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Connecteur droit 6">
            <a:extLst>
              <a:ext uri="{FF2B5EF4-FFF2-40B4-BE49-F238E27FC236}">
                <a16:creationId xmlns:a16="http://schemas.microsoft.com/office/drawing/2014/main" id="{7190C71C-6C77-11ED-A900-FCDFD25B20F4}"/>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EA9B69B3-2B78-87CF-B733-E48CDE160B1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B66D097B-71EA-5666-21BD-6029AF90CE56}"/>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4E0CD3C3-824C-5703-40C0-F575E6B5BFAC}"/>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87071B9E-39F0-88A1-E861-59DF77CD0D6A}"/>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8ED067B3-590B-238C-CD09-CC99006EF3A5}"/>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A924297A-C021-6DD0-0060-4DB4B3A336B9}"/>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58544705-A188-D2D7-1521-B5D212BBF604}"/>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28</a:t>
            </a:fld>
            <a:endParaRPr lang="en-GB" dirty="0"/>
          </a:p>
        </p:txBody>
      </p:sp>
      <p:sp>
        <p:nvSpPr>
          <p:cNvPr id="6" name="Ellipse 7">
            <a:extLst>
              <a:ext uri="{FF2B5EF4-FFF2-40B4-BE49-F238E27FC236}">
                <a16:creationId xmlns:a16="http://schemas.microsoft.com/office/drawing/2014/main" id="{27053D54-D0F9-3E92-1925-8769311C8A5D}"/>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4B28A586-8D9F-FF50-28A2-ADFAF25ECEF7}"/>
              </a:ext>
            </a:extLst>
          </p:cNvPr>
          <p:cNvSpPr txBox="1"/>
          <p:nvPr/>
        </p:nvSpPr>
        <p:spPr>
          <a:xfrm>
            <a:off x="586748" y="1904247"/>
            <a:ext cx="6096000" cy="369332"/>
          </a:xfrm>
          <a:prstGeom prst="rect">
            <a:avLst/>
          </a:prstGeom>
          <a:noFill/>
        </p:spPr>
        <p:txBody>
          <a:bodyPr wrap="square">
            <a:spAutoFit/>
          </a:bodyPr>
          <a:lstStyle/>
          <a:p>
            <a:pPr algn="ctr"/>
            <a:r>
              <a:rPr lang="en-US" b="1" dirty="0">
                <a:solidFill>
                  <a:srgbClr val="C00000"/>
                </a:solidFill>
              </a:rPr>
              <a:t>File Tracking</a:t>
            </a:r>
          </a:p>
        </p:txBody>
      </p:sp>
      <p:sp>
        <p:nvSpPr>
          <p:cNvPr id="32" name="ZoneTexte 31">
            <a:extLst>
              <a:ext uri="{FF2B5EF4-FFF2-40B4-BE49-F238E27FC236}">
                <a16:creationId xmlns:a16="http://schemas.microsoft.com/office/drawing/2014/main" id="{7F946764-2566-85A9-C915-7E062ABA310C}"/>
              </a:ext>
            </a:extLst>
          </p:cNvPr>
          <p:cNvSpPr txBox="1"/>
          <p:nvPr/>
        </p:nvSpPr>
        <p:spPr>
          <a:xfrm>
            <a:off x="5802081" y="1856333"/>
            <a:ext cx="6096000" cy="369332"/>
          </a:xfrm>
          <a:prstGeom prst="rect">
            <a:avLst/>
          </a:prstGeom>
          <a:noFill/>
        </p:spPr>
        <p:txBody>
          <a:bodyPr wrap="square">
            <a:spAutoFit/>
          </a:bodyPr>
          <a:lstStyle/>
          <a:p>
            <a:pPr algn="ctr"/>
            <a:r>
              <a:rPr lang="en-US" b="1" dirty="0">
                <a:solidFill>
                  <a:srgbClr val="C00000"/>
                </a:solidFill>
              </a:rPr>
              <a:t>Page - 02</a:t>
            </a:r>
          </a:p>
        </p:txBody>
      </p:sp>
      <p:sp>
        <p:nvSpPr>
          <p:cNvPr id="47" name="TextBox 3">
            <a:extLst>
              <a:ext uri="{FF2B5EF4-FFF2-40B4-BE49-F238E27FC236}">
                <a16:creationId xmlns:a16="http://schemas.microsoft.com/office/drawing/2014/main" id="{544705CF-BB22-B1FA-CA0B-9E4AFC003A1C}"/>
              </a:ext>
            </a:extLst>
          </p:cNvPr>
          <p:cNvSpPr txBox="1"/>
          <p:nvPr/>
        </p:nvSpPr>
        <p:spPr>
          <a:xfrm>
            <a:off x="1049472" y="2487048"/>
            <a:ext cx="1849134" cy="553998"/>
          </a:xfrm>
          <a:prstGeom prst="rect">
            <a:avLst/>
          </a:prstGeom>
        </p:spPr>
        <p:txBody>
          <a:bodyPr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Affiche le </a:t>
            </a:r>
            <a:r>
              <a:rPr lang="en-US" sz="1200" dirty="0" err="1">
                <a:solidFill>
                  <a:srgbClr val="000000"/>
                </a:solidFill>
                <a:latin typeface="Open Sans"/>
                <a:ea typeface="Open Sans"/>
                <a:cs typeface="Open Sans"/>
                <a:sym typeface="Open Sans"/>
              </a:rPr>
              <a:t>domaine</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auquel</a:t>
            </a:r>
            <a:r>
              <a:rPr lang="en-US" sz="1200" dirty="0">
                <a:solidFill>
                  <a:srgbClr val="000000"/>
                </a:solidFill>
                <a:latin typeface="Open Sans"/>
                <a:ea typeface="Open Sans"/>
                <a:cs typeface="Open Sans"/>
                <a:sym typeface="Open Sans"/>
              </a:rPr>
              <a:t> les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appartiennent</a:t>
            </a:r>
            <a:endParaRPr lang="en-US" sz="1200" dirty="0">
              <a:solidFill>
                <a:srgbClr val="000000"/>
              </a:solidFill>
              <a:latin typeface="Open Sans"/>
              <a:ea typeface="Open Sans"/>
              <a:cs typeface="Open Sans"/>
              <a:sym typeface="Open Sans"/>
            </a:endParaRPr>
          </a:p>
        </p:txBody>
      </p:sp>
      <p:sp>
        <p:nvSpPr>
          <p:cNvPr id="49" name="TextBox 5">
            <a:extLst>
              <a:ext uri="{FF2B5EF4-FFF2-40B4-BE49-F238E27FC236}">
                <a16:creationId xmlns:a16="http://schemas.microsoft.com/office/drawing/2014/main" id="{D258331B-9837-A553-6B5D-C47B3D0D221A}"/>
              </a:ext>
            </a:extLst>
          </p:cNvPr>
          <p:cNvSpPr txBox="1"/>
          <p:nvPr/>
        </p:nvSpPr>
        <p:spPr>
          <a:xfrm>
            <a:off x="9958359" y="2314329"/>
            <a:ext cx="1843436" cy="738664"/>
          </a:xfrm>
          <a:prstGeom prst="rect">
            <a:avLst/>
          </a:prstGeom>
        </p:spPr>
        <p:txBody>
          <a:bodyPr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Indique</a:t>
            </a:r>
            <a:r>
              <a:rPr lang="en-US" sz="1200" dirty="0">
                <a:solidFill>
                  <a:srgbClr val="000000"/>
                </a:solidFill>
                <a:latin typeface="Open Sans"/>
                <a:ea typeface="Open Sans"/>
                <a:cs typeface="Open Sans"/>
                <a:sym typeface="Open Sans"/>
              </a:rPr>
              <a:t> la date et </a:t>
            </a:r>
            <a:r>
              <a:rPr lang="en-US" sz="1200" dirty="0" err="1">
                <a:solidFill>
                  <a:srgbClr val="000000"/>
                </a:solidFill>
                <a:latin typeface="Open Sans"/>
                <a:ea typeface="Open Sans"/>
                <a:cs typeface="Open Sans"/>
                <a:sym typeface="Open Sans"/>
              </a:rPr>
              <a:t>l’heure</a:t>
            </a:r>
            <a:r>
              <a:rPr lang="en-US" sz="1200" dirty="0">
                <a:solidFill>
                  <a:srgbClr val="000000"/>
                </a:solidFill>
                <a:latin typeface="Open Sans"/>
                <a:ea typeface="Open Sans"/>
                <a:cs typeface="Open Sans"/>
                <a:sym typeface="Open Sans"/>
              </a:rPr>
              <a:t> du </a:t>
            </a:r>
            <a:r>
              <a:rPr lang="en-US" sz="1200" dirty="0" err="1">
                <a:solidFill>
                  <a:srgbClr val="000000"/>
                </a:solidFill>
                <a:latin typeface="Open Sans"/>
                <a:ea typeface="Open Sans"/>
                <a:cs typeface="Open Sans"/>
                <a:sym typeface="Open Sans"/>
              </a:rPr>
              <a:t>dernièr</a:t>
            </a:r>
            <a:r>
              <a:rPr lang="en-US" sz="1200" dirty="0">
                <a:solidFill>
                  <a:srgbClr val="000000"/>
                </a:solidFill>
                <a:latin typeface="Open Sans"/>
                <a:ea typeface="Open Sans"/>
                <a:cs typeface="Open Sans"/>
                <a:sym typeface="Open Sans"/>
              </a:rPr>
              <a:t> refresh du processus de </a:t>
            </a:r>
            <a:r>
              <a:rPr lang="en-US" sz="1200" dirty="0" err="1">
                <a:solidFill>
                  <a:srgbClr val="000000"/>
                </a:solidFill>
                <a:latin typeface="Open Sans"/>
                <a:ea typeface="Open Sans"/>
                <a:cs typeface="Open Sans"/>
                <a:sym typeface="Open Sans"/>
              </a:rPr>
              <a:t>contrôle</a:t>
            </a:r>
            <a:r>
              <a:rPr lang="en-US" sz="1200" dirty="0">
                <a:solidFill>
                  <a:srgbClr val="000000"/>
                </a:solidFill>
                <a:latin typeface="Open Sans"/>
                <a:ea typeface="Open Sans"/>
                <a:cs typeface="Open Sans"/>
                <a:sym typeface="Open Sans"/>
              </a:rPr>
              <a:t> des </a:t>
            </a:r>
            <a:r>
              <a:rPr lang="en-US" sz="1200" dirty="0" err="1">
                <a:solidFill>
                  <a:srgbClr val="000000"/>
                </a:solidFill>
                <a:latin typeface="Open Sans"/>
                <a:ea typeface="Open Sans"/>
                <a:cs typeface="Open Sans"/>
                <a:sym typeface="Open Sans"/>
              </a:rPr>
              <a:t>fichiers</a:t>
            </a:r>
            <a:endParaRPr lang="en-US" sz="1200" dirty="0">
              <a:solidFill>
                <a:srgbClr val="000000"/>
              </a:solidFill>
              <a:latin typeface="Open Sans"/>
              <a:ea typeface="Open Sans"/>
              <a:cs typeface="Open Sans"/>
              <a:sym typeface="Open Sans"/>
            </a:endParaRPr>
          </a:p>
        </p:txBody>
      </p:sp>
      <p:sp>
        <p:nvSpPr>
          <p:cNvPr id="50" name="TextBox 6">
            <a:extLst>
              <a:ext uri="{FF2B5EF4-FFF2-40B4-BE49-F238E27FC236}">
                <a16:creationId xmlns:a16="http://schemas.microsoft.com/office/drawing/2014/main" id="{330DD3D2-2494-B0AA-5FE4-7FDA4F9C2F38}"/>
              </a:ext>
            </a:extLst>
          </p:cNvPr>
          <p:cNvSpPr txBox="1"/>
          <p:nvPr/>
        </p:nvSpPr>
        <p:spPr>
          <a:xfrm>
            <a:off x="4108850" y="6274619"/>
            <a:ext cx="3839362" cy="369332"/>
          </a:xfrm>
          <a:prstGeom prst="rect">
            <a:avLst/>
          </a:prstGeom>
        </p:spPr>
        <p:txBody>
          <a:bodyPr lIns="0" tIns="0" rIns="0" bIns="0" rtlCol="0" anchor="t">
            <a:spAutoFit/>
          </a:bodyPr>
          <a:lstStyle/>
          <a:p>
            <a:pPr algn="ctr">
              <a:spcBef>
                <a:spcPct val="0"/>
              </a:spcBef>
            </a:pPr>
            <a:r>
              <a:rPr lang="en-US" sz="1200" dirty="0" err="1">
                <a:solidFill>
                  <a:srgbClr val="000000"/>
                </a:solidFill>
                <a:latin typeface="Open Sans"/>
                <a:ea typeface="Open Sans"/>
                <a:cs typeface="Open Sans"/>
                <a:sym typeface="Open Sans"/>
              </a:rPr>
              <a:t>Liste</a:t>
            </a:r>
            <a:r>
              <a:rPr lang="en-US" sz="1200" dirty="0">
                <a:solidFill>
                  <a:srgbClr val="000000"/>
                </a:solidFill>
                <a:latin typeface="Open Sans"/>
                <a:ea typeface="Open Sans"/>
                <a:cs typeface="Open Sans"/>
                <a:sym typeface="Open Sans"/>
              </a:rPr>
              <a:t>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recus</a:t>
            </a:r>
            <a:r>
              <a:rPr lang="en-US" sz="1200" dirty="0">
                <a:solidFill>
                  <a:srgbClr val="000000"/>
                </a:solidFill>
                <a:latin typeface="Open Sans"/>
                <a:ea typeface="Open Sans"/>
                <a:cs typeface="Open Sans"/>
                <a:sym typeface="Open Sans"/>
              </a:rPr>
              <a:t> avec : </a:t>
            </a:r>
            <a:r>
              <a:rPr lang="en-US" sz="1200" dirty="0" err="1">
                <a:solidFill>
                  <a:srgbClr val="000000"/>
                </a:solidFill>
                <a:latin typeface="Open Sans"/>
                <a:ea typeface="Open Sans"/>
                <a:cs typeface="Open Sans"/>
                <a:sym typeface="Open Sans"/>
              </a:rPr>
              <a:t>leur</a:t>
            </a:r>
            <a:r>
              <a:rPr lang="en-US" sz="1200" dirty="0">
                <a:solidFill>
                  <a:srgbClr val="000000"/>
                </a:solidFill>
                <a:latin typeface="Open Sans"/>
                <a:ea typeface="Open Sans"/>
                <a:cs typeface="Open Sans"/>
                <a:sym typeface="Open Sans"/>
              </a:rPr>
              <a:t> nom, </a:t>
            </a:r>
            <a:r>
              <a:rPr lang="en-US" sz="1200" dirty="0" err="1">
                <a:solidFill>
                  <a:srgbClr val="000000"/>
                </a:solidFill>
                <a:latin typeface="Open Sans"/>
                <a:ea typeface="Open Sans"/>
                <a:cs typeface="Open Sans"/>
                <a:sym typeface="Open Sans"/>
              </a:rPr>
              <a:t>statut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d’arrivée</a:t>
            </a:r>
            <a:r>
              <a:rPr lang="en-US" sz="1200" dirty="0">
                <a:solidFill>
                  <a:srgbClr val="000000"/>
                </a:solidFill>
                <a:latin typeface="Open Sans"/>
                <a:ea typeface="Open Sans"/>
                <a:cs typeface="Open Sans"/>
                <a:sym typeface="Open Sans"/>
              </a:rPr>
              <a:t> (on time, late) , </a:t>
            </a:r>
            <a:r>
              <a:rPr lang="en-US" sz="1200" dirty="0" err="1">
                <a:solidFill>
                  <a:srgbClr val="000000"/>
                </a:solidFill>
                <a:latin typeface="Open Sans"/>
                <a:ea typeface="Open Sans"/>
                <a:cs typeface="Open Sans"/>
                <a:sym typeface="Open Sans"/>
              </a:rPr>
              <a:t>heure</a:t>
            </a:r>
            <a:r>
              <a:rPr lang="en-US" sz="1200" dirty="0">
                <a:solidFill>
                  <a:srgbClr val="000000"/>
                </a:solidFill>
                <a:latin typeface="Open Sans"/>
                <a:ea typeface="Open Sans"/>
                <a:cs typeface="Open Sans"/>
                <a:sym typeface="Open Sans"/>
              </a:rPr>
              <a:t> et jour </a:t>
            </a:r>
            <a:r>
              <a:rPr lang="en-US" sz="1200" dirty="0" err="1">
                <a:solidFill>
                  <a:srgbClr val="000000"/>
                </a:solidFill>
                <a:latin typeface="Open Sans"/>
                <a:ea typeface="Open Sans"/>
                <a:cs typeface="Open Sans"/>
                <a:sym typeface="Open Sans"/>
              </a:rPr>
              <a:t>d’arrivée</a:t>
            </a:r>
            <a:endParaRPr lang="en-US" sz="1200" dirty="0">
              <a:solidFill>
                <a:srgbClr val="000000"/>
              </a:solidFill>
              <a:latin typeface="Open Sans"/>
              <a:ea typeface="Open Sans"/>
              <a:cs typeface="Open Sans"/>
              <a:sym typeface="Open Sans"/>
            </a:endParaRPr>
          </a:p>
        </p:txBody>
      </p:sp>
      <p:sp>
        <p:nvSpPr>
          <p:cNvPr id="51" name="TextBox 7">
            <a:extLst>
              <a:ext uri="{FF2B5EF4-FFF2-40B4-BE49-F238E27FC236}">
                <a16:creationId xmlns:a16="http://schemas.microsoft.com/office/drawing/2014/main" id="{858714A9-8F08-F891-75FA-008C349E340B}"/>
              </a:ext>
            </a:extLst>
          </p:cNvPr>
          <p:cNvSpPr txBox="1"/>
          <p:nvPr/>
        </p:nvSpPr>
        <p:spPr>
          <a:xfrm>
            <a:off x="875701" y="4013827"/>
            <a:ext cx="1628675" cy="738664"/>
          </a:xfrm>
          <a:prstGeom prst="rect">
            <a:avLst/>
          </a:prstGeom>
        </p:spPr>
        <p:txBody>
          <a:bodyPr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Pie chart </a:t>
            </a:r>
            <a:r>
              <a:rPr lang="en-US" sz="1200" dirty="0" err="1">
                <a:solidFill>
                  <a:srgbClr val="000000"/>
                </a:solidFill>
                <a:latin typeface="Open Sans"/>
                <a:ea typeface="Open Sans"/>
                <a:cs typeface="Open Sans"/>
                <a:sym typeface="Open Sans"/>
              </a:rPr>
              <a:t>montrant</a:t>
            </a:r>
            <a:r>
              <a:rPr lang="en-US" sz="1200" dirty="0">
                <a:solidFill>
                  <a:srgbClr val="000000"/>
                </a:solidFill>
                <a:latin typeface="Open Sans"/>
                <a:ea typeface="Open Sans"/>
                <a:cs typeface="Open Sans"/>
                <a:sym typeface="Open Sans"/>
              </a:rPr>
              <a:t> le </a:t>
            </a:r>
            <a:r>
              <a:rPr lang="en-US" sz="1200" dirty="0" err="1">
                <a:solidFill>
                  <a:srgbClr val="000000"/>
                </a:solidFill>
                <a:latin typeface="Open Sans"/>
                <a:ea typeface="Open Sans"/>
                <a:cs typeface="Open Sans"/>
                <a:sym typeface="Open Sans"/>
              </a:rPr>
              <a:t>pourcentage</a:t>
            </a:r>
            <a:r>
              <a:rPr lang="en-US" sz="1200" dirty="0">
                <a:solidFill>
                  <a:srgbClr val="000000"/>
                </a:solidFill>
                <a:latin typeface="Open Sans"/>
                <a:ea typeface="Open Sans"/>
                <a:cs typeface="Open Sans"/>
                <a:sym typeface="Open Sans"/>
              </a:rPr>
              <a:t> des status </a:t>
            </a:r>
            <a:r>
              <a:rPr lang="en-US" sz="1200" dirty="0" err="1">
                <a:solidFill>
                  <a:srgbClr val="000000"/>
                </a:solidFill>
                <a:latin typeface="Open Sans"/>
                <a:ea typeface="Open Sans"/>
                <a:cs typeface="Open Sans"/>
                <a:sym typeface="Open Sans"/>
              </a:rPr>
              <a:t>d’arrivée</a:t>
            </a:r>
            <a:r>
              <a:rPr lang="en-US" sz="1200" dirty="0">
                <a:solidFill>
                  <a:srgbClr val="000000"/>
                </a:solidFill>
                <a:latin typeface="Open Sans"/>
                <a:ea typeface="Open Sans"/>
                <a:cs typeface="Open Sans"/>
                <a:sym typeface="Open Sans"/>
              </a:rPr>
              <a:t>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p>
        </p:txBody>
      </p:sp>
      <p:sp>
        <p:nvSpPr>
          <p:cNvPr id="52" name="TextBox 8">
            <a:extLst>
              <a:ext uri="{FF2B5EF4-FFF2-40B4-BE49-F238E27FC236}">
                <a16:creationId xmlns:a16="http://schemas.microsoft.com/office/drawing/2014/main" id="{BD91AF02-9911-174F-0771-A56BA8D90D50}"/>
              </a:ext>
            </a:extLst>
          </p:cNvPr>
          <p:cNvSpPr txBox="1"/>
          <p:nvPr/>
        </p:nvSpPr>
        <p:spPr>
          <a:xfrm>
            <a:off x="9714199" y="3644175"/>
            <a:ext cx="1790797" cy="1984582"/>
          </a:xfrm>
          <a:prstGeom prst="rect">
            <a:avLst/>
          </a:prstGeom>
        </p:spPr>
        <p:txBody>
          <a:bodyPr lIns="0" tIns="0" rIns="0" bIns="0" rtlCol="0" anchor="t">
            <a:spAutoFit/>
          </a:bodyPr>
          <a:lstStyle/>
          <a:p>
            <a:pPr marL="410218" lvl="1" indent="-205109">
              <a:spcBef>
                <a:spcPct val="0"/>
              </a:spcBef>
              <a:buFont typeface="Arial"/>
              <a:buChar char="•"/>
            </a:pPr>
            <a:r>
              <a:rPr lang="en-US" sz="1200" dirty="0">
                <a:solidFill>
                  <a:srgbClr val="000000"/>
                </a:solidFill>
                <a:latin typeface="Open Sans"/>
                <a:ea typeface="Open Sans"/>
                <a:cs typeface="Open Sans"/>
                <a:sym typeface="Open Sans"/>
              </a:rPr>
              <a:t>Total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reçus</a:t>
            </a:r>
            <a:r>
              <a:rPr lang="en-US" sz="1200" dirty="0">
                <a:solidFill>
                  <a:srgbClr val="000000"/>
                </a:solidFill>
                <a:latin typeface="Open Sans"/>
                <a:ea typeface="Open Sans"/>
                <a:cs typeface="Open Sans"/>
                <a:sym typeface="Open Sans"/>
              </a:rPr>
              <a:t> pour la date </a:t>
            </a:r>
            <a:r>
              <a:rPr lang="en-US" sz="1200" dirty="0" err="1">
                <a:solidFill>
                  <a:srgbClr val="000000"/>
                </a:solidFill>
                <a:latin typeface="Open Sans"/>
                <a:ea typeface="Open Sans"/>
                <a:cs typeface="Open Sans"/>
                <a:sym typeface="Open Sans"/>
              </a:rPr>
              <a:t>sélectionnée</a:t>
            </a:r>
            <a:endParaRPr lang="en-US" sz="1200" dirty="0">
              <a:solidFill>
                <a:srgbClr val="000000"/>
              </a:solidFill>
              <a:latin typeface="Open Sans"/>
              <a:ea typeface="Open Sans"/>
              <a:cs typeface="Open Sans"/>
              <a:sym typeface="Open Sans"/>
            </a:endParaRPr>
          </a:p>
          <a:p>
            <a:pPr marL="410218" lvl="1" indent="-205109">
              <a:spcBef>
                <a:spcPct val="0"/>
              </a:spcBef>
              <a:buFont typeface="Arial"/>
              <a:buChar char="•"/>
            </a:pP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reçus</a:t>
            </a:r>
            <a:r>
              <a:rPr lang="en-US" sz="1200" dirty="0">
                <a:solidFill>
                  <a:srgbClr val="000000"/>
                </a:solidFill>
                <a:latin typeface="Open Sans"/>
                <a:ea typeface="Open Sans"/>
                <a:cs typeface="Open Sans"/>
                <a:sym typeface="Open Sans"/>
              </a:rPr>
              <a:t> à </a:t>
            </a:r>
            <a:r>
              <a:rPr lang="en-US" sz="1200" dirty="0" err="1">
                <a:solidFill>
                  <a:srgbClr val="000000"/>
                </a:solidFill>
                <a:latin typeface="Open Sans"/>
                <a:ea typeface="Open Sans"/>
                <a:cs typeface="Open Sans"/>
                <a:sym typeface="Open Sans"/>
              </a:rPr>
              <a:t>l’heure</a:t>
            </a:r>
            <a:endParaRPr lang="en-US" sz="1200" dirty="0">
              <a:solidFill>
                <a:srgbClr val="000000"/>
              </a:solidFill>
              <a:latin typeface="Open Sans"/>
              <a:ea typeface="Open Sans"/>
              <a:cs typeface="Open Sans"/>
              <a:sym typeface="Open Sans"/>
            </a:endParaRPr>
          </a:p>
          <a:p>
            <a:pPr marL="410218" lvl="1" indent="-205109">
              <a:spcBef>
                <a:spcPct val="0"/>
              </a:spcBef>
              <a:buFont typeface="Arial"/>
              <a:buChar char="•"/>
            </a:pP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arrivés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en</a:t>
            </a:r>
            <a:r>
              <a:rPr lang="en-US" sz="1200" dirty="0">
                <a:solidFill>
                  <a:srgbClr val="000000"/>
                </a:solidFill>
                <a:latin typeface="Open Sans"/>
                <a:ea typeface="Open Sans"/>
                <a:cs typeface="Open Sans"/>
                <a:sym typeface="Open Sans"/>
              </a:rPr>
              <a:t> retard</a:t>
            </a:r>
          </a:p>
          <a:p>
            <a:pPr marL="410218" lvl="1" indent="-205109">
              <a:spcBef>
                <a:spcPct val="0"/>
              </a:spcBef>
              <a:buFont typeface="Arial"/>
              <a:buChar char="•"/>
            </a:pP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toujours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attendus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etc</a:t>
            </a:r>
            <a:r>
              <a:rPr lang="en-US" sz="1200" dirty="0">
                <a:solidFill>
                  <a:srgbClr val="000000"/>
                </a:solidFill>
                <a:latin typeface="Open Sans"/>
                <a:ea typeface="Open Sans"/>
                <a:cs typeface="Open Sans"/>
                <a:sym typeface="Open Sans"/>
              </a:rPr>
              <a:t> ..</a:t>
            </a:r>
          </a:p>
          <a:p>
            <a:pPr marL="205109" lvl="1" algn="ctr">
              <a:lnSpc>
                <a:spcPts val="2660"/>
              </a:lnSpc>
              <a:spcBef>
                <a:spcPct val="0"/>
              </a:spcBef>
            </a:pPr>
            <a:endParaRPr lang="en-US" sz="1900" dirty="0">
              <a:solidFill>
                <a:srgbClr val="000000"/>
              </a:solidFill>
              <a:latin typeface="Open Sans"/>
              <a:ea typeface="Open Sans"/>
              <a:cs typeface="Open Sans"/>
              <a:sym typeface="Open Sans"/>
            </a:endParaRPr>
          </a:p>
        </p:txBody>
      </p:sp>
      <p:sp>
        <p:nvSpPr>
          <p:cNvPr id="53" name="AutoShape 9">
            <a:extLst>
              <a:ext uri="{FF2B5EF4-FFF2-40B4-BE49-F238E27FC236}">
                <a16:creationId xmlns:a16="http://schemas.microsoft.com/office/drawing/2014/main" id="{BB3D8B0A-234B-40FB-CBAE-67D85DCEB579}"/>
              </a:ext>
            </a:extLst>
          </p:cNvPr>
          <p:cNvSpPr/>
          <p:nvPr/>
        </p:nvSpPr>
        <p:spPr>
          <a:xfrm>
            <a:off x="2496599" y="2792848"/>
            <a:ext cx="601929" cy="317328"/>
          </a:xfrm>
          <a:prstGeom prst="line">
            <a:avLst/>
          </a:prstGeom>
          <a:ln w="38100" cap="flat">
            <a:solidFill>
              <a:srgbClr val="000000"/>
            </a:solidFill>
            <a:prstDash val="solid"/>
            <a:headEnd type="none" w="sm" len="sm"/>
            <a:tailEnd type="arrow" w="med" len="sm"/>
          </a:ln>
        </p:spPr>
        <p:txBody>
          <a:bodyPr/>
          <a:lstStyle/>
          <a:p>
            <a:endParaRPr lang="fr-MA"/>
          </a:p>
        </p:txBody>
      </p:sp>
      <p:sp>
        <p:nvSpPr>
          <p:cNvPr id="54" name="AutoShape 10">
            <a:extLst>
              <a:ext uri="{FF2B5EF4-FFF2-40B4-BE49-F238E27FC236}">
                <a16:creationId xmlns:a16="http://schemas.microsoft.com/office/drawing/2014/main" id="{547AA7CC-E800-B09F-73D6-3165255DE373}"/>
              </a:ext>
            </a:extLst>
          </p:cNvPr>
          <p:cNvSpPr/>
          <p:nvPr/>
        </p:nvSpPr>
        <p:spPr>
          <a:xfrm>
            <a:off x="2687334" y="4500936"/>
            <a:ext cx="509152" cy="0"/>
          </a:xfrm>
          <a:prstGeom prst="line">
            <a:avLst/>
          </a:prstGeom>
          <a:ln w="38100" cap="flat">
            <a:solidFill>
              <a:srgbClr val="000000"/>
            </a:solidFill>
            <a:prstDash val="solid"/>
            <a:headEnd type="none" w="sm" len="sm"/>
            <a:tailEnd type="arrow" w="med" len="sm"/>
          </a:ln>
        </p:spPr>
        <p:txBody>
          <a:bodyPr/>
          <a:lstStyle/>
          <a:p>
            <a:endParaRPr lang="fr-MA"/>
          </a:p>
        </p:txBody>
      </p:sp>
      <p:sp>
        <p:nvSpPr>
          <p:cNvPr id="55" name="AutoShape 11">
            <a:extLst>
              <a:ext uri="{FF2B5EF4-FFF2-40B4-BE49-F238E27FC236}">
                <a16:creationId xmlns:a16="http://schemas.microsoft.com/office/drawing/2014/main" id="{0F58830A-E917-D6CD-E2AB-10659A9803DF}"/>
              </a:ext>
            </a:extLst>
          </p:cNvPr>
          <p:cNvSpPr/>
          <p:nvPr/>
        </p:nvSpPr>
        <p:spPr>
          <a:xfrm flipV="1">
            <a:off x="2651990" y="3073881"/>
            <a:ext cx="2534383" cy="2616061"/>
          </a:xfrm>
          <a:prstGeom prst="line">
            <a:avLst/>
          </a:prstGeom>
          <a:ln w="38100" cap="flat">
            <a:solidFill>
              <a:srgbClr val="000000"/>
            </a:solidFill>
            <a:prstDash val="solid"/>
            <a:headEnd type="none" w="sm" len="sm"/>
            <a:tailEnd type="arrow" w="med" len="sm"/>
          </a:ln>
        </p:spPr>
        <p:txBody>
          <a:bodyPr/>
          <a:lstStyle/>
          <a:p>
            <a:endParaRPr lang="fr-MA"/>
          </a:p>
        </p:txBody>
      </p:sp>
      <p:sp>
        <p:nvSpPr>
          <p:cNvPr id="56" name="AutoShape 12">
            <a:extLst>
              <a:ext uri="{FF2B5EF4-FFF2-40B4-BE49-F238E27FC236}">
                <a16:creationId xmlns:a16="http://schemas.microsoft.com/office/drawing/2014/main" id="{26E607B3-94D6-3240-22C8-7260D5843BE5}"/>
              </a:ext>
            </a:extLst>
          </p:cNvPr>
          <p:cNvSpPr/>
          <p:nvPr/>
        </p:nvSpPr>
        <p:spPr>
          <a:xfrm flipH="1">
            <a:off x="8485383" y="2783731"/>
            <a:ext cx="1228815" cy="317328"/>
          </a:xfrm>
          <a:prstGeom prst="line">
            <a:avLst/>
          </a:prstGeom>
          <a:ln w="38100" cap="flat">
            <a:solidFill>
              <a:srgbClr val="000000"/>
            </a:solidFill>
            <a:prstDash val="solid"/>
            <a:headEnd type="none" w="sm" len="sm"/>
            <a:tailEnd type="arrow" w="med" len="sm"/>
          </a:ln>
        </p:spPr>
        <p:txBody>
          <a:bodyPr/>
          <a:lstStyle/>
          <a:p>
            <a:endParaRPr lang="fr-MA"/>
          </a:p>
        </p:txBody>
      </p:sp>
      <p:sp>
        <p:nvSpPr>
          <p:cNvPr id="57" name="AutoShape 13">
            <a:extLst>
              <a:ext uri="{FF2B5EF4-FFF2-40B4-BE49-F238E27FC236}">
                <a16:creationId xmlns:a16="http://schemas.microsoft.com/office/drawing/2014/main" id="{8BA39FAA-2C38-4B6D-6695-6A8E6A0A65CD}"/>
              </a:ext>
            </a:extLst>
          </p:cNvPr>
          <p:cNvSpPr/>
          <p:nvPr/>
        </p:nvSpPr>
        <p:spPr>
          <a:xfrm flipV="1">
            <a:off x="5957405" y="5655036"/>
            <a:ext cx="0" cy="563566"/>
          </a:xfrm>
          <a:prstGeom prst="line">
            <a:avLst/>
          </a:prstGeom>
          <a:ln w="38100" cap="flat">
            <a:solidFill>
              <a:srgbClr val="000000"/>
            </a:solidFill>
            <a:prstDash val="solid"/>
            <a:headEnd type="none" w="sm" len="sm"/>
            <a:tailEnd type="arrow" w="med" len="sm"/>
          </a:ln>
        </p:spPr>
        <p:txBody>
          <a:bodyPr/>
          <a:lstStyle/>
          <a:p>
            <a:endParaRPr lang="fr-MA"/>
          </a:p>
        </p:txBody>
      </p:sp>
      <p:sp>
        <p:nvSpPr>
          <p:cNvPr id="58" name="AutoShape 14">
            <a:extLst>
              <a:ext uri="{FF2B5EF4-FFF2-40B4-BE49-F238E27FC236}">
                <a16:creationId xmlns:a16="http://schemas.microsoft.com/office/drawing/2014/main" id="{F91719E9-14E0-67F4-C30E-CE8C2CC2D37D}"/>
              </a:ext>
            </a:extLst>
          </p:cNvPr>
          <p:cNvSpPr/>
          <p:nvPr/>
        </p:nvSpPr>
        <p:spPr>
          <a:xfrm flipH="1" flipV="1">
            <a:off x="9334838" y="4225719"/>
            <a:ext cx="763221" cy="183478"/>
          </a:xfrm>
          <a:prstGeom prst="line">
            <a:avLst/>
          </a:prstGeom>
          <a:ln w="38100" cap="flat">
            <a:solidFill>
              <a:srgbClr val="000000"/>
            </a:solidFill>
            <a:prstDash val="solid"/>
            <a:headEnd type="none" w="sm" len="sm"/>
            <a:tailEnd type="arrow" w="med" len="sm"/>
          </a:ln>
        </p:spPr>
        <p:txBody>
          <a:bodyPr/>
          <a:lstStyle/>
          <a:p>
            <a:endParaRPr lang="fr-MA"/>
          </a:p>
        </p:txBody>
      </p:sp>
      <p:sp>
        <p:nvSpPr>
          <p:cNvPr id="59" name="TextBox 4">
            <a:extLst>
              <a:ext uri="{FF2B5EF4-FFF2-40B4-BE49-F238E27FC236}">
                <a16:creationId xmlns:a16="http://schemas.microsoft.com/office/drawing/2014/main" id="{32339CE9-CF72-78F8-D7DD-62D9263365C7}"/>
              </a:ext>
            </a:extLst>
          </p:cNvPr>
          <p:cNvSpPr txBox="1"/>
          <p:nvPr/>
        </p:nvSpPr>
        <p:spPr>
          <a:xfrm>
            <a:off x="163642" y="5757111"/>
            <a:ext cx="2869439" cy="553998"/>
          </a:xfrm>
          <a:prstGeom prst="rect">
            <a:avLst/>
          </a:prstGeom>
        </p:spPr>
        <p:txBody>
          <a:bodyPr wrap="square"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Permet</a:t>
            </a:r>
            <a:r>
              <a:rPr lang="en-US" sz="1200" dirty="0">
                <a:solidFill>
                  <a:srgbClr val="000000"/>
                </a:solidFill>
                <a:latin typeface="Open Sans"/>
                <a:ea typeface="Open Sans"/>
                <a:cs typeface="Open Sans"/>
                <a:sym typeface="Open Sans"/>
              </a:rPr>
              <a:t> de </a:t>
            </a:r>
            <a:r>
              <a:rPr lang="en-US" sz="1200" dirty="0" err="1">
                <a:solidFill>
                  <a:srgbClr val="000000"/>
                </a:solidFill>
                <a:latin typeface="Open Sans"/>
                <a:ea typeface="Open Sans"/>
                <a:cs typeface="Open Sans"/>
                <a:sym typeface="Open Sans"/>
              </a:rPr>
              <a:t>naviguer</a:t>
            </a:r>
            <a:r>
              <a:rPr lang="en-US" sz="1200" dirty="0">
                <a:solidFill>
                  <a:srgbClr val="000000"/>
                </a:solidFill>
                <a:latin typeface="Open Sans"/>
                <a:ea typeface="Open Sans"/>
                <a:cs typeface="Open Sans"/>
                <a:sym typeface="Open Sans"/>
              </a:rPr>
              <a:t> par date pour consulter les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reçus</a:t>
            </a:r>
            <a:r>
              <a:rPr lang="en-US" sz="1200" dirty="0">
                <a:solidFill>
                  <a:srgbClr val="000000"/>
                </a:solidFill>
                <a:latin typeface="Open Sans"/>
                <a:ea typeface="Open Sans"/>
                <a:cs typeface="Open Sans"/>
                <a:sym typeface="Open Sans"/>
              </a:rPr>
              <a:t> un jour </a:t>
            </a:r>
            <a:r>
              <a:rPr lang="en-US" sz="1200" dirty="0" err="1">
                <a:solidFill>
                  <a:srgbClr val="000000"/>
                </a:solidFill>
                <a:latin typeface="Open Sans"/>
                <a:ea typeface="Open Sans"/>
                <a:cs typeface="Open Sans"/>
                <a:sym typeface="Open Sans"/>
              </a:rPr>
              <a:t>donné</a:t>
            </a:r>
            <a:r>
              <a:rPr lang="en-US" sz="1200" dirty="0">
                <a:solidFill>
                  <a:srgbClr val="000000"/>
                </a:solidFill>
                <a:latin typeface="Open Sans"/>
                <a:ea typeface="Open Sans"/>
                <a:cs typeface="Open Sans"/>
                <a:sym typeface="Open Sans"/>
              </a:rPr>
              <a:t>.</a:t>
            </a:r>
          </a:p>
        </p:txBody>
      </p:sp>
    </p:spTree>
    <p:extLst>
      <p:ext uri="{BB962C8B-B14F-4D97-AF65-F5344CB8AC3E}">
        <p14:creationId xmlns:p14="http://schemas.microsoft.com/office/powerpoint/2010/main" val="3395080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1000"/>
                                        <p:tgtEl>
                                          <p:spTgt spid="53"/>
                                        </p:tgtEl>
                                      </p:cBhvr>
                                    </p:animEffect>
                                    <p:anim calcmode="lin" valueType="num">
                                      <p:cBhvr>
                                        <p:cTn id="13" dur="1000" fill="hold"/>
                                        <p:tgtEl>
                                          <p:spTgt spid="53"/>
                                        </p:tgtEl>
                                        <p:attrNameLst>
                                          <p:attrName>ppt_x</p:attrName>
                                        </p:attrNameLst>
                                      </p:cBhvr>
                                      <p:tavLst>
                                        <p:tav tm="0">
                                          <p:val>
                                            <p:strVal val="#ppt_x"/>
                                          </p:val>
                                        </p:tav>
                                        <p:tav tm="100000">
                                          <p:val>
                                            <p:strVal val="#ppt_x"/>
                                          </p:val>
                                        </p:tav>
                                      </p:tavLst>
                                    </p:anim>
                                    <p:anim calcmode="lin" valueType="num">
                                      <p:cBhvr>
                                        <p:cTn id="1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1000"/>
                                        <p:tgtEl>
                                          <p:spTgt spid="51"/>
                                        </p:tgtEl>
                                      </p:cBhvr>
                                    </p:animEffect>
                                    <p:anim calcmode="lin" valueType="num">
                                      <p:cBhvr>
                                        <p:cTn id="20" dur="1000" fill="hold"/>
                                        <p:tgtEl>
                                          <p:spTgt spid="51"/>
                                        </p:tgtEl>
                                        <p:attrNameLst>
                                          <p:attrName>ppt_x</p:attrName>
                                        </p:attrNameLst>
                                      </p:cBhvr>
                                      <p:tavLst>
                                        <p:tav tm="0">
                                          <p:val>
                                            <p:strVal val="#ppt_x"/>
                                          </p:val>
                                        </p:tav>
                                        <p:tav tm="100000">
                                          <p:val>
                                            <p:strVal val="#ppt_x"/>
                                          </p:val>
                                        </p:tav>
                                      </p:tavLst>
                                    </p:anim>
                                    <p:anim calcmode="lin" valueType="num">
                                      <p:cBhvr>
                                        <p:cTn id="21" dur="1000" fill="hold"/>
                                        <p:tgtEl>
                                          <p:spTgt spid="5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fade">
                                      <p:cBhvr>
                                        <p:cTn id="24" dur="1000"/>
                                        <p:tgtEl>
                                          <p:spTgt spid="54"/>
                                        </p:tgtEl>
                                      </p:cBhvr>
                                    </p:animEffect>
                                    <p:anim calcmode="lin" valueType="num">
                                      <p:cBhvr>
                                        <p:cTn id="25" dur="1000" fill="hold"/>
                                        <p:tgtEl>
                                          <p:spTgt spid="54"/>
                                        </p:tgtEl>
                                        <p:attrNameLst>
                                          <p:attrName>ppt_x</p:attrName>
                                        </p:attrNameLst>
                                      </p:cBhvr>
                                      <p:tavLst>
                                        <p:tav tm="0">
                                          <p:val>
                                            <p:strVal val="#ppt_x"/>
                                          </p:val>
                                        </p:tav>
                                        <p:tav tm="100000">
                                          <p:val>
                                            <p:strVal val="#ppt_x"/>
                                          </p:val>
                                        </p:tav>
                                      </p:tavLst>
                                    </p:anim>
                                    <p:anim calcmode="lin" valueType="num">
                                      <p:cBhvr>
                                        <p:cTn id="26"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1000"/>
                                        <p:tgtEl>
                                          <p:spTgt spid="59"/>
                                        </p:tgtEl>
                                      </p:cBhvr>
                                    </p:animEffect>
                                    <p:anim calcmode="lin" valueType="num">
                                      <p:cBhvr>
                                        <p:cTn id="32" dur="1000" fill="hold"/>
                                        <p:tgtEl>
                                          <p:spTgt spid="59"/>
                                        </p:tgtEl>
                                        <p:attrNameLst>
                                          <p:attrName>ppt_x</p:attrName>
                                        </p:attrNameLst>
                                      </p:cBhvr>
                                      <p:tavLst>
                                        <p:tav tm="0">
                                          <p:val>
                                            <p:strVal val="#ppt_x"/>
                                          </p:val>
                                        </p:tav>
                                        <p:tav tm="100000">
                                          <p:val>
                                            <p:strVal val="#ppt_x"/>
                                          </p:val>
                                        </p:tav>
                                      </p:tavLst>
                                    </p:anim>
                                    <p:anim calcmode="lin" valueType="num">
                                      <p:cBhvr>
                                        <p:cTn id="33" dur="1000" fill="hold"/>
                                        <p:tgtEl>
                                          <p:spTgt spid="5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1000"/>
                                        <p:tgtEl>
                                          <p:spTgt spid="55"/>
                                        </p:tgtEl>
                                      </p:cBhvr>
                                    </p:animEffect>
                                    <p:anim calcmode="lin" valueType="num">
                                      <p:cBhvr>
                                        <p:cTn id="37" dur="1000" fill="hold"/>
                                        <p:tgtEl>
                                          <p:spTgt spid="55"/>
                                        </p:tgtEl>
                                        <p:attrNameLst>
                                          <p:attrName>ppt_x</p:attrName>
                                        </p:attrNameLst>
                                      </p:cBhvr>
                                      <p:tavLst>
                                        <p:tav tm="0">
                                          <p:val>
                                            <p:strVal val="#ppt_x"/>
                                          </p:val>
                                        </p:tav>
                                        <p:tav tm="100000">
                                          <p:val>
                                            <p:strVal val="#ppt_x"/>
                                          </p:val>
                                        </p:tav>
                                      </p:tavLst>
                                    </p:anim>
                                    <p:anim calcmode="lin" valueType="num">
                                      <p:cBhvr>
                                        <p:cTn id="38"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1000"/>
                                        <p:tgtEl>
                                          <p:spTgt spid="50"/>
                                        </p:tgtEl>
                                      </p:cBhvr>
                                    </p:animEffect>
                                    <p:anim calcmode="lin" valueType="num">
                                      <p:cBhvr>
                                        <p:cTn id="44" dur="1000" fill="hold"/>
                                        <p:tgtEl>
                                          <p:spTgt spid="50"/>
                                        </p:tgtEl>
                                        <p:attrNameLst>
                                          <p:attrName>ppt_x</p:attrName>
                                        </p:attrNameLst>
                                      </p:cBhvr>
                                      <p:tavLst>
                                        <p:tav tm="0">
                                          <p:val>
                                            <p:strVal val="#ppt_x"/>
                                          </p:val>
                                        </p:tav>
                                        <p:tav tm="100000">
                                          <p:val>
                                            <p:strVal val="#ppt_x"/>
                                          </p:val>
                                        </p:tav>
                                      </p:tavLst>
                                    </p:anim>
                                    <p:anim calcmode="lin" valueType="num">
                                      <p:cBhvr>
                                        <p:cTn id="45" dur="1000" fill="hold"/>
                                        <p:tgtEl>
                                          <p:spTgt spid="5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fade">
                                      <p:cBhvr>
                                        <p:cTn id="48" dur="1000"/>
                                        <p:tgtEl>
                                          <p:spTgt spid="57"/>
                                        </p:tgtEl>
                                      </p:cBhvr>
                                    </p:animEffect>
                                    <p:anim calcmode="lin" valueType="num">
                                      <p:cBhvr>
                                        <p:cTn id="49" dur="1000" fill="hold"/>
                                        <p:tgtEl>
                                          <p:spTgt spid="57"/>
                                        </p:tgtEl>
                                        <p:attrNameLst>
                                          <p:attrName>ppt_x</p:attrName>
                                        </p:attrNameLst>
                                      </p:cBhvr>
                                      <p:tavLst>
                                        <p:tav tm="0">
                                          <p:val>
                                            <p:strVal val="#ppt_x"/>
                                          </p:val>
                                        </p:tav>
                                        <p:tav tm="100000">
                                          <p:val>
                                            <p:strVal val="#ppt_x"/>
                                          </p:val>
                                        </p:tav>
                                      </p:tavLst>
                                    </p:anim>
                                    <p:anim calcmode="lin" valueType="num">
                                      <p:cBhvr>
                                        <p:cTn id="50"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fade">
                                      <p:cBhvr>
                                        <p:cTn id="55" dur="1000"/>
                                        <p:tgtEl>
                                          <p:spTgt spid="58"/>
                                        </p:tgtEl>
                                      </p:cBhvr>
                                    </p:animEffect>
                                    <p:anim calcmode="lin" valueType="num">
                                      <p:cBhvr>
                                        <p:cTn id="56" dur="1000" fill="hold"/>
                                        <p:tgtEl>
                                          <p:spTgt spid="58"/>
                                        </p:tgtEl>
                                        <p:attrNameLst>
                                          <p:attrName>ppt_x</p:attrName>
                                        </p:attrNameLst>
                                      </p:cBhvr>
                                      <p:tavLst>
                                        <p:tav tm="0">
                                          <p:val>
                                            <p:strVal val="#ppt_x"/>
                                          </p:val>
                                        </p:tav>
                                        <p:tav tm="100000">
                                          <p:val>
                                            <p:strVal val="#ppt_x"/>
                                          </p:val>
                                        </p:tav>
                                      </p:tavLst>
                                    </p:anim>
                                    <p:anim calcmode="lin" valueType="num">
                                      <p:cBhvr>
                                        <p:cTn id="57" dur="1000" fill="hold"/>
                                        <p:tgtEl>
                                          <p:spTgt spid="5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fade">
                                      <p:cBhvr>
                                        <p:cTn id="60" dur="1000"/>
                                        <p:tgtEl>
                                          <p:spTgt spid="52"/>
                                        </p:tgtEl>
                                      </p:cBhvr>
                                    </p:animEffect>
                                    <p:anim calcmode="lin" valueType="num">
                                      <p:cBhvr>
                                        <p:cTn id="61" dur="1000" fill="hold"/>
                                        <p:tgtEl>
                                          <p:spTgt spid="52"/>
                                        </p:tgtEl>
                                        <p:attrNameLst>
                                          <p:attrName>ppt_x</p:attrName>
                                        </p:attrNameLst>
                                      </p:cBhvr>
                                      <p:tavLst>
                                        <p:tav tm="0">
                                          <p:val>
                                            <p:strVal val="#ppt_x"/>
                                          </p:val>
                                        </p:tav>
                                        <p:tav tm="100000">
                                          <p:val>
                                            <p:strVal val="#ppt_x"/>
                                          </p:val>
                                        </p:tav>
                                      </p:tavLst>
                                    </p:anim>
                                    <p:anim calcmode="lin" valueType="num">
                                      <p:cBhvr>
                                        <p:cTn id="62"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1000"/>
                                        <p:tgtEl>
                                          <p:spTgt spid="49"/>
                                        </p:tgtEl>
                                      </p:cBhvr>
                                    </p:animEffect>
                                    <p:anim calcmode="lin" valueType="num">
                                      <p:cBhvr>
                                        <p:cTn id="68" dur="1000" fill="hold"/>
                                        <p:tgtEl>
                                          <p:spTgt spid="49"/>
                                        </p:tgtEl>
                                        <p:attrNameLst>
                                          <p:attrName>ppt_x</p:attrName>
                                        </p:attrNameLst>
                                      </p:cBhvr>
                                      <p:tavLst>
                                        <p:tav tm="0">
                                          <p:val>
                                            <p:strVal val="#ppt_x"/>
                                          </p:val>
                                        </p:tav>
                                        <p:tav tm="100000">
                                          <p:val>
                                            <p:strVal val="#ppt_x"/>
                                          </p:val>
                                        </p:tav>
                                      </p:tavLst>
                                    </p:anim>
                                    <p:anim calcmode="lin" valueType="num">
                                      <p:cBhvr>
                                        <p:cTn id="69" dur="1000" fill="hold"/>
                                        <p:tgtEl>
                                          <p:spTgt spid="4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fade">
                                      <p:cBhvr>
                                        <p:cTn id="72" dur="1000"/>
                                        <p:tgtEl>
                                          <p:spTgt spid="56"/>
                                        </p:tgtEl>
                                      </p:cBhvr>
                                    </p:animEffect>
                                    <p:anim calcmode="lin" valueType="num">
                                      <p:cBhvr>
                                        <p:cTn id="73" dur="1000" fill="hold"/>
                                        <p:tgtEl>
                                          <p:spTgt spid="56"/>
                                        </p:tgtEl>
                                        <p:attrNameLst>
                                          <p:attrName>ppt_x</p:attrName>
                                        </p:attrNameLst>
                                      </p:cBhvr>
                                      <p:tavLst>
                                        <p:tav tm="0">
                                          <p:val>
                                            <p:strVal val="#ppt_x"/>
                                          </p:val>
                                        </p:tav>
                                        <p:tav tm="100000">
                                          <p:val>
                                            <p:strVal val="#ppt_x"/>
                                          </p:val>
                                        </p:tav>
                                      </p:tavLst>
                                    </p:anim>
                                    <p:anim calcmode="lin" valueType="num">
                                      <p:cBhvr>
                                        <p:cTn id="74"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P spid="50" grpId="0"/>
      <p:bldP spid="51" grpId="0"/>
      <p:bldP spid="52" grpId="0"/>
      <p:bldP spid="53" grpId="0" animBg="1"/>
      <p:bldP spid="54" grpId="0" animBg="1"/>
      <p:bldP spid="55" grpId="0" animBg="1"/>
      <p:bldP spid="56" grpId="0" animBg="1"/>
      <p:bldP spid="57" grpId="0" animBg="1"/>
      <p:bldP spid="58" grpId="0" animBg="1"/>
      <p:bldP spid="5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67EC3-EAF8-1F0B-314C-E57A047D9B5B}"/>
            </a:ext>
          </a:extLst>
        </p:cNvPr>
        <p:cNvGrpSpPr/>
        <p:nvPr/>
      </p:nvGrpSpPr>
      <p:grpSpPr>
        <a:xfrm>
          <a:off x="0" y="0"/>
          <a:ext cx="0" cy="0"/>
          <a:chOff x="0" y="0"/>
          <a:chExt cx="0" cy="0"/>
        </a:xfrm>
      </p:grpSpPr>
      <p:grpSp>
        <p:nvGrpSpPr>
          <p:cNvPr id="52" name="Groupe 51">
            <a:extLst>
              <a:ext uri="{FF2B5EF4-FFF2-40B4-BE49-F238E27FC236}">
                <a16:creationId xmlns:a16="http://schemas.microsoft.com/office/drawing/2014/main" id="{48D52B7C-CF4E-07D6-FB19-C9A2E1EE6281}"/>
              </a:ext>
            </a:extLst>
          </p:cNvPr>
          <p:cNvGrpSpPr/>
          <p:nvPr/>
        </p:nvGrpSpPr>
        <p:grpSpPr>
          <a:xfrm>
            <a:off x="2399781" y="2228904"/>
            <a:ext cx="7702845" cy="4132339"/>
            <a:chOff x="2399781" y="2228904"/>
            <a:chExt cx="7702845" cy="4132339"/>
          </a:xfrm>
        </p:grpSpPr>
        <p:sp>
          <p:nvSpPr>
            <p:cNvPr id="33" name="Freeform 2">
              <a:extLst>
                <a:ext uri="{FF2B5EF4-FFF2-40B4-BE49-F238E27FC236}">
                  <a16:creationId xmlns:a16="http://schemas.microsoft.com/office/drawing/2014/main" id="{7B04F5F3-1D22-9590-43B9-EC894CDE84EF}"/>
                </a:ext>
              </a:extLst>
            </p:cNvPr>
            <p:cNvSpPr/>
            <p:nvPr/>
          </p:nvSpPr>
          <p:spPr>
            <a:xfrm>
              <a:off x="2399781" y="2228904"/>
              <a:ext cx="7702845" cy="4132339"/>
            </a:xfrm>
            <a:custGeom>
              <a:avLst/>
              <a:gdLst/>
              <a:ahLst/>
              <a:cxnLst/>
              <a:rect l="l" t="t" r="r" b="b"/>
              <a:pathLst>
                <a:path w="11301259" h="6328705">
                  <a:moveTo>
                    <a:pt x="0" y="0"/>
                  </a:moveTo>
                  <a:lnTo>
                    <a:pt x="11301259" y="0"/>
                  </a:lnTo>
                  <a:lnTo>
                    <a:pt x="11301259" y="6328705"/>
                  </a:lnTo>
                  <a:lnTo>
                    <a:pt x="0" y="6328705"/>
                  </a:lnTo>
                  <a:lnTo>
                    <a:pt x="0" y="0"/>
                  </a:lnTo>
                  <a:close/>
                </a:path>
              </a:pathLst>
            </a:custGeom>
            <a:blipFill>
              <a:blip r:embed="rId3"/>
              <a:stretch>
                <a:fillRect/>
              </a:stretch>
            </a:blipFill>
          </p:spPr>
          <p:txBody>
            <a:bodyPr/>
            <a:lstStyle/>
            <a:p>
              <a:endParaRPr lang="fr-MA"/>
            </a:p>
          </p:txBody>
        </p:sp>
        <p:sp>
          <p:nvSpPr>
            <p:cNvPr id="51" name="Rectangle 50">
              <a:extLst>
                <a:ext uri="{FF2B5EF4-FFF2-40B4-BE49-F238E27FC236}">
                  <a16:creationId xmlns:a16="http://schemas.microsoft.com/office/drawing/2014/main" id="{64947420-0F70-D60A-E3B0-C057D00231E0}"/>
                </a:ext>
              </a:extLst>
            </p:cNvPr>
            <p:cNvSpPr/>
            <p:nvPr/>
          </p:nvSpPr>
          <p:spPr>
            <a:xfrm>
              <a:off x="2482850" y="2320925"/>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graphicFrame>
        <p:nvGraphicFramePr>
          <p:cNvPr id="3" name="Diagramme 2">
            <a:extLst>
              <a:ext uri="{FF2B5EF4-FFF2-40B4-BE49-F238E27FC236}">
                <a16:creationId xmlns:a16="http://schemas.microsoft.com/office/drawing/2014/main" id="{3129957A-96EE-25EF-5EB3-B36714350DF2}"/>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Connecteur droit 6">
            <a:extLst>
              <a:ext uri="{FF2B5EF4-FFF2-40B4-BE49-F238E27FC236}">
                <a16:creationId xmlns:a16="http://schemas.microsoft.com/office/drawing/2014/main" id="{0133CB06-B2E9-3352-D8AA-1AD568D2BC34}"/>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237B7B78-B32B-6786-5749-D9A233944F08}"/>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22237BC1-26F7-6D26-D12E-EE1CA5994C8E}"/>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5876D55A-033D-18AB-2FDE-D0658C71E49B}"/>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8308B573-FEE2-8CBE-E04D-09037AE1F084}"/>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FA1A4818-E5C2-4921-28FD-1A2ACE4B4640}"/>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A6478C69-1FB3-1F1D-3D1B-446BC1F7BE9D}"/>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9FADCF13-10A5-4642-9001-F80D7FBB8B89}"/>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29</a:t>
            </a:fld>
            <a:endParaRPr lang="en-GB" dirty="0"/>
          </a:p>
        </p:txBody>
      </p:sp>
      <p:sp>
        <p:nvSpPr>
          <p:cNvPr id="6" name="Ellipse 7">
            <a:extLst>
              <a:ext uri="{FF2B5EF4-FFF2-40B4-BE49-F238E27FC236}">
                <a16:creationId xmlns:a16="http://schemas.microsoft.com/office/drawing/2014/main" id="{40C7DCE2-D342-EFF9-18E4-2E73CD52C542}"/>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92BE7C41-A620-8216-7DC3-D15D9BF524DE}"/>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File Tracking</a:t>
            </a:r>
          </a:p>
        </p:txBody>
      </p:sp>
      <p:sp>
        <p:nvSpPr>
          <p:cNvPr id="32" name="ZoneTexte 31">
            <a:extLst>
              <a:ext uri="{FF2B5EF4-FFF2-40B4-BE49-F238E27FC236}">
                <a16:creationId xmlns:a16="http://schemas.microsoft.com/office/drawing/2014/main" id="{A656F832-0424-2A2A-049E-D9C8DA915D1C}"/>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- 03</a:t>
            </a:r>
          </a:p>
        </p:txBody>
      </p:sp>
      <p:sp>
        <p:nvSpPr>
          <p:cNvPr id="34" name="TextBox 3">
            <a:extLst>
              <a:ext uri="{FF2B5EF4-FFF2-40B4-BE49-F238E27FC236}">
                <a16:creationId xmlns:a16="http://schemas.microsoft.com/office/drawing/2014/main" id="{6A460EBD-0C7E-D1D4-FAC6-82C43BA02F7A}"/>
              </a:ext>
            </a:extLst>
          </p:cNvPr>
          <p:cNvSpPr txBox="1"/>
          <p:nvPr/>
        </p:nvSpPr>
        <p:spPr>
          <a:xfrm>
            <a:off x="677209" y="2183046"/>
            <a:ext cx="1300133" cy="738664"/>
          </a:xfrm>
          <a:prstGeom prst="rect">
            <a:avLst/>
          </a:prstGeom>
        </p:spPr>
        <p:txBody>
          <a:bodyPr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Affiche le </a:t>
            </a:r>
            <a:r>
              <a:rPr lang="en-US" sz="1200" dirty="0" err="1">
                <a:solidFill>
                  <a:srgbClr val="000000"/>
                </a:solidFill>
                <a:latin typeface="Open Sans"/>
                <a:ea typeface="Open Sans"/>
                <a:cs typeface="Open Sans"/>
                <a:sym typeface="Open Sans"/>
              </a:rPr>
              <a:t>domaine</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concerné</a:t>
            </a:r>
            <a:r>
              <a:rPr lang="en-US" sz="1200" dirty="0">
                <a:solidFill>
                  <a:srgbClr val="000000"/>
                </a:solidFill>
                <a:latin typeface="Open Sans"/>
                <a:ea typeface="Open Sans"/>
                <a:cs typeface="Open Sans"/>
                <a:sym typeface="Open Sans"/>
              </a:rPr>
              <a:t> par </a:t>
            </a:r>
            <a:r>
              <a:rPr lang="en-US" sz="1200" dirty="0" err="1">
                <a:solidFill>
                  <a:srgbClr val="000000"/>
                </a:solidFill>
                <a:latin typeface="Open Sans"/>
                <a:ea typeface="Open Sans"/>
                <a:cs typeface="Open Sans"/>
                <a:sym typeface="Open Sans"/>
              </a:rPr>
              <a:t>l'analyse</a:t>
            </a:r>
            <a:endParaRPr lang="en-US" sz="1200" dirty="0">
              <a:solidFill>
                <a:srgbClr val="000000"/>
              </a:solidFill>
              <a:latin typeface="Open Sans"/>
              <a:ea typeface="Open Sans"/>
              <a:cs typeface="Open Sans"/>
              <a:sym typeface="Open Sans"/>
            </a:endParaRPr>
          </a:p>
        </p:txBody>
      </p:sp>
      <p:sp>
        <p:nvSpPr>
          <p:cNvPr id="36" name="TextBox 5">
            <a:extLst>
              <a:ext uri="{FF2B5EF4-FFF2-40B4-BE49-F238E27FC236}">
                <a16:creationId xmlns:a16="http://schemas.microsoft.com/office/drawing/2014/main" id="{AFDC4836-5155-B11D-1033-4006FB056C83}"/>
              </a:ext>
            </a:extLst>
          </p:cNvPr>
          <p:cNvSpPr txBox="1"/>
          <p:nvPr/>
        </p:nvSpPr>
        <p:spPr>
          <a:xfrm>
            <a:off x="10102626" y="2246435"/>
            <a:ext cx="2133957" cy="553998"/>
          </a:xfrm>
          <a:prstGeom prst="rect">
            <a:avLst/>
          </a:prstGeom>
        </p:spPr>
        <p:txBody>
          <a:bodyPr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Indique</a:t>
            </a:r>
            <a:r>
              <a:rPr lang="en-US" sz="1200" dirty="0">
                <a:solidFill>
                  <a:srgbClr val="000000"/>
                </a:solidFill>
                <a:latin typeface="Open Sans"/>
                <a:ea typeface="Open Sans"/>
                <a:cs typeface="Open Sans"/>
                <a:sym typeface="Open Sans"/>
              </a:rPr>
              <a:t> la date et </a:t>
            </a:r>
            <a:r>
              <a:rPr lang="en-US" sz="1200" dirty="0" err="1">
                <a:solidFill>
                  <a:srgbClr val="000000"/>
                </a:solidFill>
                <a:latin typeface="Open Sans"/>
                <a:ea typeface="Open Sans"/>
                <a:cs typeface="Open Sans"/>
                <a:sym typeface="Open Sans"/>
              </a:rPr>
              <a:t>l’heure</a:t>
            </a:r>
            <a:r>
              <a:rPr lang="en-US" sz="1200" dirty="0">
                <a:solidFill>
                  <a:srgbClr val="000000"/>
                </a:solidFill>
                <a:latin typeface="Open Sans"/>
                <a:ea typeface="Open Sans"/>
                <a:cs typeface="Open Sans"/>
                <a:sym typeface="Open Sans"/>
              </a:rPr>
              <a:t> du </a:t>
            </a:r>
            <a:r>
              <a:rPr lang="en-US" sz="1200" dirty="0" err="1">
                <a:solidFill>
                  <a:srgbClr val="000000"/>
                </a:solidFill>
                <a:latin typeface="Open Sans"/>
                <a:ea typeface="Open Sans"/>
                <a:cs typeface="Open Sans"/>
                <a:sym typeface="Open Sans"/>
              </a:rPr>
              <a:t>dernièr</a:t>
            </a:r>
            <a:r>
              <a:rPr lang="en-US" sz="1200" dirty="0">
                <a:solidFill>
                  <a:srgbClr val="000000"/>
                </a:solidFill>
                <a:latin typeface="Open Sans"/>
                <a:ea typeface="Open Sans"/>
                <a:cs typeface="Open Sans"/>
                <a:sym typeface="Open Sans"/>
              </a:rPr>
              <a:t> refresh du processus de </a:t>
            </a:r>
            <a:r>
              <a:rPr lang="en-US" sz="1200" dirty="0" err="1">
                <a:solidFill>
                  <a:srgbClr val="000000"/>
                </a:solidFill>
                <a:latin typeface="Open Sans"/>
                <a:ea typeface="Open Sans"/>
                <a:cs typeface="Open Sans"/>
                <a:sym typeface="Open Sans"/>
              </a:rPr>
              <a:t>contrôle</a:t>
            </a:r>
            <a:r>
              <a:rPr lang="en-US" sz="1200" dirty="0">
                <a:solidFill>
                  <a:srgbClr val="000000"/>
                </a:solidFill>
                <a:latin typeface="Open Sans"/>
                <a:ea typeface="Open Sans"/>
                <a:cs typeface="Open Sans"/>
                <a:sym typeface="Open Sans"/>
              </a:rPr>
              <a:t>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a:t>
            </a:r>
          </a:p>
        </p:txBody>
      </p:sp>
      <p:sp>
        <p:nvSpPr>
          <p:cNvPr id="37" name="TextBox 6">
            <a:extLst>
              <a:ext uri="{FF2B5EF4-FFF2-40B4-BE49-F238E27FC236}">
                <a16:creationId xmlns:a16="http://schemas.microsoft.com/office/drawing/2014/main" id="{8F2D06AB-5958-E46C-E9E2-FCC1E051864A}"/>
              </a:ext>
            </a:extLst>
          </p:cNvPr>
          <p:cNvSpPr txBox="1"/>
          <p:nvPr/>
        </p:nvSpPr>
        <p:spPr>
          <a:xfrm>
            <a:off x="10211675" y="3942138"/>
            <a:ext cx="2048138" cy="1477328"/>
          </a:xfrm>
          <a:prstGeom prst="rect">
            <a:avLst/>
          </a:prstGeom>
        </p:spPr>
        <p:txBody>
          <a:bodyPr lIns="0" tIns="0" rIns="0" bIns="0" rtlCol="0" anchor="t">
            <a:spAutoFit/>
          </a:bodyPr>
          <a:lstStyle/>
          <a:p>
            <a:pPr>
              <a:spcBef>
                <a:spcPct val="0"/>
              </a:spcBef>
            </a:pPr>
            <a:r>
              <a:rPr lang="en-US" sz="1200" dirty="0" err="1">
                <a:solidFill>
                  <a:srgbClr val="000000"/>
                </a:solidFill>
                <a:latin typeface="Open Sans"/>
                <a:ea typeface="Open Sans"/>
                <a:cs typeface="Open Sans"/>
                <a:sym typeface="Open Sans"/>
              </a:rPr>
              <a:t>Visualise</a:t>
            </a:r>
            <a:r>
              <a:rPr lang="en-US" sz="1200" dirty="0">
                <a:solidFill>
                  <a:srgbClr val="000000"/>
                </a:solidFill>
                <a:latin typeface="Open Sans"/>
                <a:ea typeface="Open Sans"/>
                <a:cs typeface="Open Sans"/>
                <a:sym typeface="Open Sans"/>
              </a:rPr>
              <a:t> la </a:t>
            </a:r>
            <a:r>
              <a:rPr lang="en-US" sz="1200" dirty="0" err="1">
                <a:solidFill>
                  <a:srgbClr val="000000"/>
                </a:solidFill>
                <a:latin typeface="Open Sans"/>
                <a:ea typeface="Open Sans"/>
                <a:cs typeface="Open Sans"/>
                <a:sym typeface="Open Sans"/>
              </a:rPr>
              <a:t>répartition</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quotidienne</a:t>
            </a:r>
            <a:r>
              <a:rPr lang="en-US" sz="1200" dirty="0">
                <a:solidFill>
                  <a:srgbClr val="000000"/>
                </a:solidFill>
                <a:latin typeface="Open Sans"/>
                <a:ea typeface="Open Sans"/>
                <a:cs typeface="Open Sans"/>
                <a:sym typeface="Open Sans"/>
              </a:rPr>
              <a:t>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p>
          <a:p>
            <a:pPr>
              <a:spcBef>
                <a:spcPct val="0"/>
              </a:spcBef>
            </a:pPr>
            <a:r>
              <a:rPr lang="en-US" sz="1200" dirty="0">
                <a:solidFill>
                  <a:srgbClr val="000000"/>
                </a:solidFill>
                <a:latin typeface="Open Sans"/>
                <a:ea typeface="Open Sans"/>
                <a:cs typeface="Open Sans"/>
                <a:sym typeface="Open Sans"/>
              </a:rPr>
              <a:t>par </a:t>
            </a:r>
            <a:r>
              <a:rPr lang="en-US" sz="1200" dirty="0" err="1">
                <a:solidFill>
                  <a:srgbClr val="000000"/>
                </a:solidFill>
                <a:latin typeface="Open Sans"/>
                <a:ea typeface="Open Sans"/>
                <a:cs typeface="Open Sans"/>
                <a:sym typeface="Open Sans"/>
              </a:rPr>
              <a:t>etat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d’arrivée</a:t>
            </a:r>
            <a:r>
              <a:rPr lang="en-US" sz="1200" dirty="0">
                <a:solidFill>
                  <a:srgbClr val="000000"/>
                </a:solidFill>
                <a:latin typeface="Open Sans"/>
                <a:ea typeface="Open Sans"/>
                <a:cs typeface="Open Sans"/>
                <a:sym typeface="Open Sans"/>
              </a:rPr>
              <a:t> :</a:t>
            </a:r>
          </a:p>
          <a:p>
            <a:pPr>
              <a:spcBef>
                <a:spcPct val="0"/>
              </a:spcBef>
            </a:pPr>
            <a:r>
              <a:rPr lang="en-US" sz="1200" dirty="0">
                <a:solidFill>
                  <a:srgbClr val="000000"/>
                </a:solidFill>
                <a:latin typeface="Open Sans"/>
                <a:ea typeface="Open Sans"/>
                <a:cs typeface="Open Sans"/>
                <a:sym typeface="Open Sans"/>
              </a:rPr>
              <a:t>Unexpected Files</a:t>
            </a:r>
          </a:p>
          <a:p>
            <a:pPr>
              <a:spcBef>
                <a:spcPct val="0"/>
              </a:spcBef>
            </a:pPr>
            <a:r>
              <a:rPr lang="en-US" sz="1200" dirty="0">
                <a:solidFill>
                  <a:srgbClr val="000000"/>
                </a:solidFill>
                <a:latin typeface="Open Sans"/>
                <a:ea typeface="Open Sans"/>
                <a:cs typeface="Open Sans"/>
                <a:sym typeface="Open Sans"/>
              </a:rPr>
              <a:t>Corrupted Files</a:t>
            </a:r>
          </a:p>
          <a:p>
            <a:pPr>
              <a:spcBef>
                <a:spcPct val="0"/>
              </a:spcBef>
            </a:pPr>
            <a:r>
              <a:rPr lang="en-US" sz="1200" dirty="0">
                <a:solidFill>
                  <a:srgbClr val="000000"/>
                </a:solidFill>
                <a:latin typeface="Open Sans"/>
                <a:ea typeface="Open Sans"/>
                <a:cs typeface="Open Sans"/>
                <a:sym typeface="Open Sans"/>
              </a:rPr>
              <a:t>Clean Files</a:t>
            </a:r>
          </a:p>
          <a:p>
            <a:pPr>
              <a:spcBef>
                <a:spcPct val="0"/>
              </a:spcBef>
            </a:pPr>
            <a:r>
              <a:rPr lang="en-US" sz="1200" dirty="0">
                <a:solidFill>
                  <a:srgbClr val="000000"/>
                </a:solidFill>
                <a:latin typeface="Open Sans"/>
                <a:ea typeface="Open Sans"/>
                <a:cs typeface="Open Sans"/>
                <a:sym typeface="Open Sans"/>
              </a:rPr>
              <a:t>Invalid Schema Files</a:t>
            </a:r>
          </a:p>
          <a:p>
            <a:pPr>
              <a:spcBef>
                <a:spcPct val="0"/>
              </a:spcBef>
            </a:pPr>
            <a:r>
              <a:rPr lang="en-US" sz="1200" dirty="0">
                <a:solidFill>
                  <a:srgbClr val="000000"/>
                </a:solidFill>
                <a:latin typeface="Open Sans"/>
                <a:ea typeface="Open Sans"/>
                <a:cs typeface="Open Sans"/>
                <a:sym typeface="Open Sans"/>
              </a:rPr>
              <a:t>Total Arrived File</a:t>
            </a:r>
          </a:p>
        </p:txBody>
      </p:sp>
      <p:sp>
        <p:nvSpPr>
          <p:cNvPr id="38" name="TextBox 7">
            <a:extLst>
              <a:ext uri="{FF2B5EF4-FFF2-40B4-BE49-F238E27FC236}">
                <a16:creationId xmlns:a16="http://schemas.microsoft.com/office/drawing/2014/main" id="{DF350C4F-C4C8-FB47-B7F6-60DEF20428F4}"/>
              </a:ext>
            </a:extLst>
          </p:cNvPr>
          <p:cNvSpPr txBox="1"/>
          <p:nvPr/>
        </p:nvSpPr>
        <p:spPr>
          <a:xfrm>
            <a:off x="566715" y="3634704"/>
            <a:ext cx="1560759" cy="1107996"/>
          </a:xfrm>
          <a:prstGeom prst="rect">
            <a:avLst/>
          </a:prstGeom>
        </p:spPr>
        <p:txBody>
          <a:bodyPr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Pie chart </a:t>
            </a:r>
            <a:r>
              <a:rPr lang="en-US" sz="1200" dirty="0" err="1">
                <a:solidFill>
                  <a:srgbClr val="000000"/>
                </a:solidFill>
                <a:latin typeface="Open Sans"/>
                <a:ea typeface="Open Sans"/>
                <a:cs typeface="Open Sans"/>
                <a:sym typeface="Open Sans"/>
              </a:rPr>
              <a:t>permet</a:t>
            </a:r>
            <a:r>
              <a:rPr lang="en-US" sz="1200" dirty="0">
                <a:solidFill>
                  <a:srgbClr val="000000"/>
                </a:solidFill>
                <a:latin typeface="Open Sans"/>
                <a:ea typeface="Open Sans"/>
                <a:cs typeface="Open Sans"/>
                <a:sym typeface="Open Sans"/>
              </a:rPr>
              <a:t> de </a:t>
            </a:r>
            <a:r>
              <a:rPr lang="en-US" sz="1200" dirty="0" err="1">
                <a:solidFill>
                  <a:srgbClr val="000000"/>
                </a:solidFill>
                <a:latin typeface="Open Sans"/>
                <a:ea typeface="Open Sans"/>
                <a:cs typeface="Open Sans"/>
                <a:sym typeface="Open Sans"/>
              </a:rPr>
              <a:t>voir</a:t>
            </a:r>
            <a:r>
              <a:rPr lang="en-US" sz="1200" dirty="0">
                <a:solidFill>
                  <a:srgbClr val="000000"/>
                </a:solidFill>
                <a:latin typeface="Open Sans"/>
                <a:ea typeface="Open Sans"/>
                <a:cs typeface="Open Sans"/>
                <a:sym typeface="Open Sans"/>
              </a:rPr>
              <a:t> la distribution des encoding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arrivée</a:t>
            </a:r>
            <a:r>
              <a:rPr lang="en-US" sz="1200" dirty="0">
                <a:solidFill>
                  <a:srgbClr val="000000"/>
                </a:solidFill>
                <a:latin typeface="Open Sans"/>
                <a:ea typeface="Open Sans"/>
                <a:cs typeface="Open Sans"/>
                <a:sym typeface="Open Sans"/>
              </a:rPr>
              <a:t> et </a:t>
            </a:r>
            <a:r>
              <a:rPr lang="en-US" sz="1200" dirty="0" err="1">
                <a:solidFill>
                  <a:srgbClr val="000000"/>
                </a:solidFill>
                <a:latin typeface="Open Sans"/>
                <a:ea typeface="Open Sans"/>
                <a:cs typeface="Open Sans"/>
                <a:sym typeface="Open Sans"/>
              </a:rPr>
              <a:t>si</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elle</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est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conforme</a:t>
            </a:r>
            <a:r>
              <a:rPr lang="en-US" sz="1200" dirty="0">
                <a:solidFill>
                  <a:srgbClr val="000000"/>
                </a:solidFill>
                <a:latin typeface="Open Sans"/>
                <a:ea typeface="Open Sans"/>
                <a:cs typeface="Open Sans"/>
                <a:sym typeface="Open Sans"/>
              </a:rPr>
              <a:t> aux expectations</a:t>
            </a:r>
          </a:p>
        </p:txBody>
      </p:sp>
      <p:sp>
        <p:nvSpPr>
          <p:cNvPr id="39" name="TextBox 8">
            <a:extLst>
              <a:ext uri="{FF2B5EF4-FFF2-40B4-BE49-F238E27FC236}">
                <a16:creationId xmlns:a16="http://schemas.microsoft.com/office/drawing/2014/main" id="{099836D9-5B51-EC16-7452-94A4A8D6EDEB}"/>
              </a:ext>
            </a:extLst>
          </p:cNvPr>
          <p:cNvSpPr txBox="1"/>
          <p:nvPr/>
        </p:nvSpPr>
        <p:spPr>
          <a:xfrm>
            <a:off x="7252635" y="6470047"/>
            <a:ext cx="4027899" cy="299441"/>
          </a:xfrm>
          <a:prstGeom prst="rect">
            <a:avLst/>
          </a:prstGeom>
        </p:spPr>
        <p:txBody>
          <a:bodyPr lIns="0" tIns="0" rIns="0" bIns="0" rtlCol="0" anchor="t">
            <a:spAutoFit/>
          </a:bodyPr>
          <a:lstStyle/>
          <a:p>
            <a:pPr algn="ctr">
              <a:lnSpc>
                <a:spcPts val="2660"/>
              </a:lnSpc>
              <a:spcBef>
                <a:spcPct val="0"/>
              </a:spcBef>
            </a:pPr>
            <a:r>
              <a:rPr lang="en-US" sz="1200" dirty="0" err="1">
                <a:solidFill>
                  <a:srgbClr val="000000"/>
                </a:solidFill>
                <a:latin typeface="Open Sans"/>
                <a:ea typeface="Open Sans"/>
                <a:cs typeface="Open Sans"/>
                <a:sym typeface="Open Sans"/>
              </a:rPr>
              <a:t>Détaille</a:t>
            </a:r>
            <a:r>
              <a:rPr lang="en-US" sz="1200" dirty="0">
                <a:solidFill>
                  <a:srgbClr val="000000"/>
                </a:solidFill>
                <a:latin typeface="Open Sans"/>
                <a:ea typeface="Open Sans"/>
                <a:cs typeface="Open Sans"/>
                <a:sym typeface="Open Sans"/>
              </a:rPr>
              <a:t> les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dont</a:t>
            </a:r>
            <a:r>
              <a:rPr lang="en-US" sz="1200" dirty="0">
                <a:solidFill>
                  <a:srgbClr val="000000"/>
                </a:solidFill>
                <a:latin typeface="Open Sans"/>
                <a:ea typeface="Open Sans"/>
                <a:cs typeface="Open Sans"/>
                <a:sym typeface="Open Sans"/>
              </a:rPr>
              <a:t> le </a:t>
            </a:r>
            <a:r>
              <a:rPr lang="en-US" sz="1200" dirty="0" err="1">
                <a:solidFill>
                  <a:srgbClr val="000000"/>
                </a:solidFill>
                <a:latin typeface="Open Sans"/>
                <a:ea typeface="Open Sans"/>
                <a:cs typeface="Open Sans"/>
                <a:sym typeface="Open Sans"/>
              </a:rPr>
              <a:t>schéma</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est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invalide</a:t>
            </a:r>
            <a:r>
              <a:rPr lang="en-US" sz="1200" dirty="0">
                <a:solidFill>
                  <a:srgbClr val="000000"/>
                </a:solidFill>
                <a:latin typeface="Open Sans"/>
                <a:ea typeface="Open Sans"/>
                <a:cs typeface="Open Sans"/>
                <a:sym typeface="Open Sans"/>
              </a:rPr>
              <a:t> </a:t>
            </a:r>
          </a:p>
        </p:txBody>
      </p:sp>
      <p:sp>
        <p:nvSpPr>
          <p:cNvPr id="40" name="TextBox 9">
            <a:extLst>
              <a:ext uri="{FF2B5EF4-FFF2-40B4-BE49-F238E27FC236}">
                <a16:creationId xmlns:a16="http://schemas.microsoft.com/office/drawing/2014/main" id="{5C7C43AA-C9CD-FF71-B694-5DDEE55EFDE8}"/>
              </a:ext>
            </a:extLst>
          </p:cNvPr>
          <p:cNvSpPr txBox="1"/>
          <p:nvPr/>
        </p:nvSpPr>
        <p:spPr>
          <a:xfrm>
            <a:off x="261013" y="5679185"/>
            <a:ext cx="1899978" cy="738664"/>
          </a:xfrm>
          <a:prstGeom prst="rect">
            <a:avLst/>
          </a:prstGeom>
        </p:spPr>
        <p:txBody>
          <a:bodyPr lIns="0" tIns="0" rIns="0" bIns="0" rtlCol="0" anchor="t">
            <a:spAutoFit/>
          </a:bodyPr>
          <a:lstStyle/>
          <a:p>
            <a:pPr>
              <a:spcBef>
                <a:spcPct val="0"/>
              </a:spcBef>
            </a:pPr>
            <a:r>
              <a:rPr lang="en-US" sz="1200" dirty="0">
                <a:solidFill>
                  <a:srgbClr val="000000"/>
                </a:solidFill>
                <a:latin typeface="Open Sans"/>
                <a:ea typeface="Open Sans"/>
                <a:cs typeface="Open Sans"/>
                <a:sym typeface="Open Sans"/>
              </a:rPr>
              <a:t>Affiche les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inattendus</a:t>
            </a:r>
            <a:r>
              <a:rPr lang="en-US" sz="1200" dirty="0">
                <a:solidFill>
                  <a:srgbClr val="000000"/>
                </a:solidFill>
                <a:latin typeface="Open Sans"/>
                <a:ea typeface="Open Sans"/>
                <a:cs typeface="Open Sans"/>
                <a:sym typeface="Open Sans"/>
              </a:rPr>
              <a:t> avec </a:t>
            </a:r>
            <a:r>
              <a:rPr lang="en-US" sz="1200" dirty="0" err="1">
                <a:solidFill>
                  <a:srgbClr val="000000"/>
                </a:solidFill>
                <a:latin typeface="Open Sans"/>
                <a:ea typeface="Open Sans"/>
                <a:cs typeface="Open Sans"/>
                <a:sym typeface="Open Sans"/>
              </a:rPr>
              <a:t>leur</a:t>
            </a:r>
            <a:r>
              <a:rPr lang="en-US" sz="1200" dirty="0">
                <a:solidFill>
                  <a:srgbClr val="000000"/>
                </a:solidFill>
                <a:latin typeface="Open Sans"/>
                <a:ea typeface="Open Sans"/>
                <a:cs typeface="Open Sans"/>
                <a:sym typeface="Open Sans"/>
              </a:rPr>
              <a:t> type </a:t>
            </a:r>
            <a:r>
              <a:rPr lang="en-US" sz="1200" dirty="0" err="1">
                <a:solidFill>
                  <a:srgbClr val="000000"/>
                </a:solidFill>
                <a:latin typeface="Open Sans"/>
                <a:ea typeface="Open Sans"/>
                <a:cs typeface="Open Sans"/>
                <a:sym typeface="Open Sans"/>
              </a:rPr>
              <a:t>d’anomalie</a:t>
            </a:r>
            <a:r>
              <a:rPr lang="en-US" sz="1200" dirty="0">
                <a:solidFill>
                  <a:srgbClr val="000000"/>
                </a:solidFill>
                <a:latin typeface="Open Sans"/>
                <a:ea typeface="Open Sans"/>
                <a:cs typeface="Open Sans"/>
                <a:sym typeface="Open Sans"/>
              </a:rPr>
              <a:t> et </a:t>
            </a:r>
            <a:r>
              <a:rPr lang="en-US" sz="1200" dirty="0" err="1">
                <a:solidFill>
                  <a:srgbClr val="000000"/>
                </a:solidFill>
                <a:latin typeface="Open Sans"/>
                <a:ea typeface="Open Sans"/>
                <a:cs typeface="Open Sans"/>
                <a:sym typeface="Open Sans"/>
              </a:rPr>
              <a:t>leur</a:t>
            </a:r>
            <a:r>
              <a:rPr lang="en-US" sz="1200" dirty="0">
                <a:solidFill>
                  <a:srgbClr val="000000"/>
                </a:solidFill>
                <a:latin typeface="Open Sans"/>
                <a:ea typeface="Open Sans"/>
                <a:cs typeface="Open Sans"/>
                <a:sym typeface="Open Sans"/>
              </a:rPr>
              <a:t> date de </a:t>
            </a:r>
            <a:r>
              <a:rPr lang="en-US" sz="1200" dirty="0" err="1">
                <a:solidFill>
                  <a:srgbClr val="000000"/>
                </a:solidFill>
                <a:latin typeface="Open Sans"/>
                <a:ea typeface="Open Sans"/>
                <a:cs typeface="Open Sans"/>
                <a:sym typeface="Open Sans"/>
              </a:rPr>
              <a:t>réception</a:t>
            </a:r>
            <a:endParaRPr lang="en-US" sz="1200" dirty="0">
              <a:solidFill>
                <a:srgbClr val="000000"/>
              </a:solidFill>
              <a:latin typeface="Open Sans"/>
              <a:ea typeface="Open Sans"/>
              <a:cs typeface="Open Sans"/>
              <a:sym typeface="Open Sans"/>
            </a:endParaRPr>
          </a:p>
        </p:txBody>
      </p:sp>
      <p:sp>
        <p:nvSpPr>
          <p:cNvPr id="41" name="TextBox 10">
            <a:extLst>
              <a:ext uri="{FF2B5EF4-FFF2-40B4-BE49-F238E27FC236}">
                <a16:creationId xmlns:a16="http://schemas.microsoft.com/office/drawing/2014/main" id="{B3B31765-9A03-F6BD-488C-1F2315CF622F}"/>
              </a:ext>
            </a:extLst>
          </p:cNvPr>
          <p:cNvSpPr txBox="1"/>
          <p:nvPr/>
        </p:nvSpPr>
        <p:spPr>
          <a:xfrm>
            <a:off x="2127474" y="6356350"/>
            <a:ext cx="4428353" cy="299441"/>
          </a:xfrm>
          <a:prstGeom prst="rect">
            <a:avLst/>
          </a:prstGeom>
        </p:spPr>
        <p:txBody>
          <a:bodyPr lIns="0" tIns="0" rIns="0" bIns="0" rtlCol="0" anchor="t">
            <a:spAutoFit/>
          </a:bodyPr>
          <a:lstStyle/>
          <a:p>
            <a:pPr algn="ctr">
              <a:lnSpc>
                <a:spcPts val="2660"/>
              </a:lnSpc>
              <a:spcBef>
                <a:spcPct val="0"/>
              </a:spcBef>
            </a:pPr>
            <a:r>
              <a:rPr lang="en-US" sz="1200" dirty="0" err="1">
                <a:solidFill>
                  <a:srgbClr val="000000"/>
                </a:solidFill>
                <a:latin typeface="Open Sans"/>
                <a:ea typeface="Open Sans"/>
                <a:cs typeface="Open Sans"/>
                <a:sym typeface="Open Sans"/>
              </a:rPr>
              <a:t>Visualise</a:t>
            </a:r>
            <a:r>
              <a:rPr lang="en-US" sz="1200" dirty="0">
                <a:solidFill>
                  <a:srgbClr val="000000"/>
                </a:solidFill>
                <a:latin typeface="Open Sans"/>
                <a:ea typeface="Open Sans"/>
                <a:cs typeface="Open Sans"/>
                <a:sym typeface="Open Sans"/>
              </a:rPr>
              <a:t> la </a:t>
            </a:r>
            <a:r>
              <a:rPr lang="en-US" sz="1200" dirty="0" err="1">
                <a:solidFill>
                  <a:srgbClr val="000000"/>
                </a:solidFill>
                <a:latin typeface="Open Sans"/>
                <a:ea typeface="Open Sans"/>
                <a:cs typeface="Open Sans"/>
                <a:sym typeface="Open Sans"/>
              </a:rPr>
              <a:t>répartition</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quotidienne</a:t>
            </a:r>
            <a:r>
              <a:rPr lang="en-US" sz="1200" dirty="0">
                <a:solidFill>
                  <a:srgbClr val="000000"/>
                </a:solidFill>
                <a:latin typeface="Open Sans"/>
                <a:ea typeface="Open Sans"/>
                <a:cs typeface="Open Sans"/>
                <a:sym typeface="Open Sans"/>
              </a:rPr>
              <a:t> des </a:t>
            </a:r>
            <a:r>
              <a:rPr lang="en-US" sz="1200" dirty="0" err="1">
                <a:solidFill>
                  <a:srgbClr val="000000"/>
                </a:solidFill>
                <a:latin typeface="Open Sans"/>
                <a:ea typeface="Open Sans"/>
                <a:cs typeface="Open Sans"/>
                <a:sym typeface="Open Sans"/>
              </a:rPr>
              <a:t>fichiers</a:t>
            </a:r>
            <a:r>
              <a:rPr lang="en-US" sz="1200" dirty="0">
                <a:solidFill>
                  <a:srgbClr val="000000"/>
                </a:solidFill>
                <a:latin typeface="Open Sans"/>
                <a:ea typeface="Open Sans"/>
                <a:cs typeface="Open Sans"/>
                <a:sym typeface="Open Sans"/>
              </a:rPr>
              <a:t> par type</a:t>
            </a:r>
          </a:p>
        </p:txBody>
      </p:sp>
      <p:sp>
        <p:nvSpPr>
          <p:cNvPr id="42" name="AutoShape 11">
            <a:extLst>
              <a:ext uri="{FF2B5EF4-FFF2-40B4-BE49-F238E27FC236}">
                <a16:creationId xmlns:a16="http://schemas.microsoft.com/office/drawing/2014/main" id="{61BD234F-1155-A2E7-910B-C54EDC22F312}"/>
              </a:ext>
            </a:extLst>
          </p:cNvPr>
          <p:cNvSpPr/>
          <p:nvPr/>
        </p:nvSpPr>
        <p:spPr>
          <a:xfrm>
            <a:off x="1778000" y="2672826"/>
            <a:ext cx="799406" cy="199945"/>
          </a:xfrm>
          <a:prstGeom prst="line">
            <a:avLst/>
          </a:prstGeom>
          <a:ln w="38100" cap="flat">
            <a:solidFill>
              <a:srgbClr val="000000"/>
            </a:solidFill>
            <a:prstDash val="solid"/>
            <a:headEnd type="none" w="sm" len="sm"/>
            <a:tailEnd type="arrow" w="med" len="sm"/>
          </a:ln>
        </p:spPr>
        <p:txBody>
          <a:bodyPr/>
          <a:lstStyle/>
          <a:p>
            <a:endParaRPr lang="fr-MA"/>
          </a:p>
        </p:txBody>
      </p:sp>
      <p:sp>
        <p:nvSpPr>
          <p:cNvPr id="43" name="AutoShape 12">
            <a:extLst>
              <a:ext uri="{FF2B5EF4-FFF2-40B4-BE49-F238E27FC236}">
                <a16:creationId xmlns:a16="http://schemas.microsoft.com/office/drawing/2014/main" id="{B951853D-D1F9-C0B1-4F47-BA3D6D891045}"/>
              </a:ext>
            </a:extLst>
          </p:cNvPr>
          <p:cNvSpPr/>
          <p:nvPr/>
        </p:nvSpPr>
        <p:spPr>
          <a:xfrm flipV="1">
            <a:off x="2181609" y="5825506"/>
            <a:ext cx="467884" cy="199945"/>
          </a:xfrm>
          <a:prstGeom prst="line">
            <a:avLst/>
          </a:prstGeom>
          <a:ln w="38100" cap="flat">
            <a:solidFill>
              <a:srgbClr val="000000"/>
            </a:solidFill>
            <a:prstDash val="solid"/>
            <a:headEnd type="none" w="sm" len="sm"/>
            <a:tailEnd type="arrow" w="med" len="sm"/>
          </a:ln>
        </p:spPr>
        <p:txBody>
          <a:bodyPr/>
          <a:lstStyle/>
          <a:p>
            <a:endParaRPr lang="fr-MA"/>
          </a:p>
        </p:txBody>
      </p:sp>
      <p:sp>
        <p:nvSpPr>
          <p:cNvPr id="44" name="AutoShape 13">
            <a:extLst>
              <a:ext uri="{FF2B5EF4-FFF2-40B4-BE49-F238E27FC236}">
                <a16:creationId xmlns:a16="http://schemas.microsoft.com/office/drawing/2014/main" id="{96D85094-1FC9-D503-CFD3-AF1C6183E4BA}"/>
              </a:ext>
            </a:extLst>
          </p:cNvPr>
          <p:cNvSpPr/>
          <p:nvPr/>
        </p:nvSpPr>
        <p:spPr>
          <a:xfrm flipV="1">
            <a:off x="4241800" y="5078405"/>
            <a:ext cx="621870" cy="1339444"/>
          </a:xfrm>
          <a:prstGeom prst="line">
            <a:avLst/>
          </a:prstGeom>
          <a:ln w="38100" cap="flat">
            <a:solidFill>
              <a:srgbClr val="000000"/>
            </a:solidFill>
            <a:prstDash val="solid"/>
            <a:headEnd type="none" w="sm" len="sm"/>
            <a:tailEnd type="arrow" w="med" len="sm"/>
          </a:ln>
        </p:spPr>
        <p:txBody>
          <a:bodyPr/>
          <a:lstStyle/>
          <a:p>
            <a:endParaRPr lang="fr-MA"/>
          </a:p>
        </p:txBody>
      </p:sp>
      <p:sp>
        <p:nvSpPr>
          <p:cNvPr id="45" name="AutoShape 14">
            <a:extLst>
              <a:ext uri="{FF2B5EF4-FFF2-40B4-BE49-F238E27FC236}">
                <a16:creationId xmlns:a16="http://schemas.microsoft.com/office/drawing/2014/main" id="{846DFD86-5694-669D-8060-9AD183C74988}"/>
              </a:ext>
            </a:extLst>
          </p:cNvPr>
          <p:cNvSpPr/>
          <p:nvPr/>
        </p:nvSpPr>
        <p:spPr>
          <a:xfrm flipH="1" flipV="1">
            <a:off x="9384054" y="6029752"/>
            <a:ext cx="191745" cy="440294"/>
          </a:xfrm>
          <a:prstGeom prst="line">
            <a:avLst/>
          </a:prstGeom>
          <a:ln w="38100" cap="flat">
            <a:solidFill>
              <a:srgbClr val="000000"/>
            </a:solidFill>
            <a:prstDash val="solid"/>
            <a:headEnd type="none" w="sm" len="sm"/>
            <a:tailEnd type="arrow" w="med" len="sm"/>
          </a:ln>
        </p:spPr>
        <p:txBody>
          <a:bodyPr/>
          <a:lstStyle/>
          <a:p>
            <a:endParaRPr lang="fr-MA"/>
          </a:p>
        </p:txBody>
      </p:sp>
      <p:sp>
        <p:nvSpPr>
          <p:cNvPr id="46" name="AutoShape 15">
            <a:extLst>
              <a:ext uri="{FF2B5EF4-FFF2-40B4-BE49-F238E27FC236}">
                <a16:creationId xmlns:a16="http://schemas.microsoft.com/office/drawing/2014/main" id="{B4F9EA8E-2F20-25E8-EF66-362158164A73}"/>
              </a:ext>
            </a:extLst>
          </p:cNvPr>
          <p:cNvSpPr/>
          <p:nvPr/>
        </p:nvSpPr>
        <p:spPr>
          <a:xfrm flipH="1">
            <a:off x="9352804" y="4546080"/>
            <a:ext cx="791446" cy="0"/>
          </a:xfrm>
          <a:prstGeom prst="line">
            <a:avLst/>
          </a:prstGeom>
          <a:ln w="38100" cap="flat">
            <a:solidFill>
              <a:srgbClr val="000000"/>
            </a:solidFill>
            <a:prstDash val="solid"/>
            <a:headEnd type="none" w="sm" len="sm"/>
            <a:tailEnd type="arrow" w="med" len="sm"/>
          </a:ln>
        </p:spPr>
        <p:txBody>
          <a:bodyPr/>
          <a:lstStyle/>
          <a:p>
            <a:endParaRPr lang="fr-MA"/>
          </a:p>
        </p:txBody>
      </p:sp>
      <p:sp>
        <p:nvSpPr>
          <p:cNvPr id="47" name="AutoShape 16">
            <a:extLst>
              <a:ext uri="{FF2B5EF4-FFF2-40B4-BE49-F238E27FC236}">
                <a16:creationId xmlns:a16="http://schemas.microsoft.com/office/drawing/2014/main" id="{A767E64A-1DDA-6CA0-7906-7128A7C525CD}"/>
              </a:ext>
            </a:extLst>
          </p:cNvPr>
          <p:cNvSpPr/>
          <p:nvPr/>
        </p:nvSpPr>
        <p:spPr>
          <a:xfrm flipH="1">
            <a:off x="9502561" y="2603103"/>
            <a:ext cx="475890" cy="459306"/>
          </a:xfrm>
          <a:prstGeom prst="line">
            <a:avLst/>
          </a:prstGeom>
          <a:ln w="38100" cap="flat">
            <a:solidFill>
              <a:srgbClr val="000000"/>
            </a:solidFill>
            <a:prstDash val="solid"/>
            <a:headEnd type="none" w="sm" len="sm"/>
            <a:tailEnd type="arrow" w="med" len="sm"/>
          </a:ln>
        </p:spPr>
        <p:txBody>
          <a:bodyPr/>
          <a:lstStyle/>
          <a:p>
            <a:endParaRPr lang="fr-MA"/>
          </a:p>
        </p:txBody>
      </p:sp>
      <p:sp>
        <p:nvSpPr>
          <p:cNvPr id="49" name="AutoShape 18">
            <a:extLst>
              <a:ext uri="{FF2B5EF4-FFF2-40B4-BE49-F238E27FC236}">
                <a16:creationId xmlns:a16="http://schemas.microsoft.com/office/drawing/2014/main" id="{1DCA8596-8EE6-6DD1-ECDB-D809A3FCA328}"/>
              </a:ext>
            </a:extLst>
          </p:cNvPr>
          <p:cNvSpPr/>
          <p:nvPr/>
        </p:nvSpPr>
        <p:spPr>
          <a:xfrm>
            <a:off x="2186621" y="4182022"/>
            <a:ext cx="564093" cy="226104"/>
          </a:xfrm>
          <a:prstGeom prst="line">
            <a:avLst/>
          </a:prstGeom>
          <a:ln w="38100" cap="flat">
            <a:solidFill>
              <a:srgbClr val="000000"/>
            </a:solidFill>
            <a:prstDash val="solid"/>
            <a:headEnd type="none" w="sm" len="sm"/>
            <a:tailEnd type="arrow" w="med" len="sm"/>
          </a:ln>
        </p:spPr>
        <p:txBody>
          <a:bodyPr/>
          <a:lstStyle/>
          <a:p>
            <a:endParaRPr lang="fr-MA"/>
          </a:p>
        </p:txBody>
      </p:sp>
    </p:spTree>
    <p:extLst>
      <p:ext uri="{BB962C8B-B14F-4D97-AF65-F5344CB8AC3E}">
        <p14:creationId xmlns:p14="http://schemas.microsoft.com/office/powerpoint/2010/main" val="174931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1000"/>
                                        <p:tgtEl>
                                          <p:spTgt spid="42"/>
                                        </p:tgtEl>
                                      </p:cBhvr>
                                    </p:animEffect>
                                    <p:anim calcmode="lin" valueType="num">
                                      <p:cBhvr>
                                        <p:cTn id="13" dur="1000" fill="hold"/>
                                        <p:tgtEl>
                                          <p:spTgt spid="42"/>
                                        </p:tgtEl>
                                        <p:attrNameLst>
                                          <p:attrName>ppt_x</p:attrName>
                                        </p:attrNameLst>
                                      </p:cBhvr>
                                      <p:tavLst>
                                        <p:tav tm="0">
                                          <p:val>
                                            <p:strVal val="#ppt_x"/>
                                          </p:val>
                                        </p:tav>
                                        <p:tav tm="100000">
                                          <p:val>
                                            <p:strVal val="#ppt_x"/>
                                          </p:val>
                                        </p:tav>
                                      </p:tavLst>
                                    </p:anim>
                                    <p:anim calcmode="lin" valueType="num">
                                      <p:cBhvr>
                                        <p:cTn id="1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1000"/>
                                        <p:tgtEl>
                                          <p:spTgt spid="38"/>
                                        </p:tgtEl>
                                      </p:cBhvr>
                                    </p:animEffect>
                                    <p:anim calcmode="lin" valueType="num">
                                      <p:cBhvr>
                                        <p:cTn id="20" dur="1000" fill="hold"/>
                                        <p:tgtEl>
                                          <p:spTgt spid="38"/>
                                        </p:tgtEl>
                                        <p:attrNameLst>
                                          <p:attrName>ppt_x</p:attrName>
                                        </p:attrNameLst>
                                      </p:cBhvr>
                                      <p:tavLst>
                                        <p:tav tm="0">
                                          <p:val>
                                            <p:strVal val="#ppt_x"/>
                                          </p:val>
                                        </p:tav>
                                        <p:tav tm="100000">
                                          <p:val>
                                            <p:strVal val="#ppt_x"/>
                                          </p:val>
                                        </p:tav>
                                      </p:tavLst>
                                    </p:anim>
                                    <p:anim calcmode="lin" valueType="num">
                                      <p:cBhvr>
                                        <p:cTn id="21" dur="1000" fill="hold"/>
                                        <p:tgtEl>
                                          <p:spTgt spid="3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1000"/>
                                        <p:tgtEl>
                                          <p:spTgt spid="49"/>
                                        </p:tgtEl>
                                      </p:cBhvr>
                                    </p:animEffect>
                                    <p:anim calcmode="lin" valueType="num">
                                      <p:cBhvr>
                                        <p:cTn id="25" dur="1000" fill="hold"/>
                                        <p:tgtEl>
                                          <p:spTgt spid="49"/>
                                        </p:tgtEl>
                                        <p:attrNameLst>
                                          <p:attrName>ppt_x</p:attrName>
                                        </p:attrNameLst>
                                      </p:cBhvr>
                                      <p:tavLst>
                                        <p:tav tm="0">
                                          <p:val>
                                            <p:strVal val="#ppt_x"/>
                                          </p:val>
                                        </p:tav>
                                        <p:tav tm="100000">
                                          <p:val>
                                            <p:strVal val="#ppt_x"/>
                                          </p:val>
                                        </p:tav>
                                      </p:tavLst>
                                    </p:anim>
                                    <p:anim calcmode="lin" valueType="num">
                                      <p:cBhvr>
                                        <p:cTn id="26"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1000"/>
                                        <p:tgtEl>
                                          <p:spTgt spid="40"/>
                                        </p:tgtEl>
                                      </p:cBhvr>
                                    </p:animEffect>
                                    <p:anim calcmode="lin" valueType="num">
                                      <p:cBhvr>
                                        <p:cTn id="32" dur="1000" fill="hold"/>
                                        <p:tgtEl>
                                          <p:spTgt spid="40"/>
                                        </p:tgtEl>
                                        <p:attrNameLst>
                                          <p:attrName>ppt_x</p:attrName>
                                        </p:attrNameLst>
                                      </p:cBhvr>
                                      <p:tavLst>
                                        <p:tav tm="0">
                                          <p:val>
                                            <p:strVal val="#ppt_x"/>
                                          </p:val>
                                        </p:tav>
                                        <p:tav tm="100000">
                                          <p:val>
                                            <p:strVal val="#ppt_x"/>
                                          </p:val>
                                        </p:tav>
                                      </p:tavLst>
                                    </p:anim>
                                    <p:anim calcmode="lin" valueType="num">
                                      <p:cBhvr>
                                        <p:cTn id="33" dur="1000" fill="hold"/>
                                        <p:tgtEl>
                                          <p:spTgt spid="4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1000"/>
                                        <p:tgtEl>
                                          <p:spTgt spid="43"/>
                                        </p:tgtEl>
                                      </p:cBhvr>
                                    </p:animEffect>
                                    <p:anim calcmode="lin" valueType="num">
                                      <p:cBhvr>
                                        <p:cTn id="37" dur="1000" fill="hold"/>
                                        <p:tgtEl>
                                          <p:spTgt spid="43"/>
                                        </p:tgtEl>
                                        <p:attrNameLst>
                                          <p:attrName>ppt_x</p:attrName>
                                        </p:attrNameLst>
                                      </p:cBhvr>
                                      <p:tavLst>
                                        <p:tav tm="0">
                                          <p:val>
                                            <p:strVal val="#ppt_x"/>
                                          </p:val>
                                        </p:tav>
                                        <p:tav tm="100000">
                                          <p:val>
                                            <p:strVal val="#ppt_x"/>
                                          </p:val>
                                        </p:tav>
                                      </p:tavLst>
                                    </p:anim>
                                    <p:anim calcmode="lin" valueType="num">
                                      <p:cBhvr>
                                        <p:cTn id="38"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1000"/>
                                        <p:tgtEl>
                                          <p:spTgt spid="44"/>
                                        </p:tgtEl>
                                      </p:cBhvr>
                                    </p:animEffect>
                                    <p:anim calcmode="lin" valueType="num">
                                      <p:cBhvr>
                                        <p:cTn id="44" dur="1000" fill="hold"/>
                                        <p:tgtEl>
                                          <p:spTgt spid="44"/>
                                        </p:tgtEl>
                                        <p:attrNameLst>
                                          <p:attrName>ppt_x</p:attrName>
                                        </p:attrNameLst>
                                      </p:cBhvr>
                                      <p:tavLst>
                                        <p:tav tm="0">
                                          <p:val>
                                            <p:strVal val="#ppt_x"/>
                                          </p:val>
                                        </p:tav>
                                        <p:tav tm="100000">
                                          <p:val>
                                            <p:strVal val="#ppt_x"/>
                                          </p:val>
                                        </p:tav>
                                      </p:tavLst>
                                    </p:anim>
                                    <p:anim calcmode="lin" valueType="num">
                                      <p:cBhvr>
                                        <p:cTn id="45" dur="1000" fill="hold"/>
                                        <p:tgtEl>
                                          <p:spTgt spid="4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1000"/>
                                        <p:tgtEl>
                                          <p:spTgt spid="41"/>
                                        </p:tgtEl>
                                      </p:cBhvr>
                                    </p:animEffect>
                                    <p:anim calcmode="lin" valueType="num">
                                      <p:cBhvr>
                                        <p:cTn id="49" dur="1000" fill="hold"/>
                                        <p:tgtEl>
                                          <p:spTgt spid="41"/>
                                        </p:tgtEl>
                                        <p:attrNameLst>
                                          <p:attrName>ppt_x</p:attrName>
                                        </p:attrNameLst>
                                      </p:cBhvr>
                                      <p:tavLst>
                                        <p:tav tm="0">
                                          <p:val>
                                            <p:strVal val="#ppt_x"/>
                                          </p:val>
                                        </p:tav>
                                        <p:tav tm="100000">
                                          <p:val>
                                            <p:strVal val="#ppt_x"/>
                                          </p:val>
                                        </p:tav>
                                      </p:tavLst>
                                    </p:anim>
                                    <p:anim calcmode="lin" valueType="num">
                                      <p:cBhvr>
                                        <p:cTn id="50"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1000"/>
                                        <p:tgtEl>
                                          <p:spTgt spid="39"/>
                                        </p:tgtEl>
                                      </p:cBhvr>
                                    </p:animEffect>
                                    <p:anim calcmode="lin" valueType="num">
                                      <p:cBhvr>
                                        <p:cTn id="56" dur="1000" fill="hold"/>
                                        <p:tgtEl>
                                          <p:spTgt spid="39"/>
                                        </p:tgtEl>
                                        <p:attrNameLst>
                                          <p:attrName>ppt_x</p:attrName>
                                        </p:attrNameLst>
                                      </p:cBhvr>
                                      <p:tavLst>
                                        <p:tav tm="0">
                                          <p:val>
                                            <p:strVal val="#ppt_x"/>
                                          </p:val>
                                        </p:tav>
                                        <p:tav tm="100000">
                                          <p:val>
                                            <p:strVal val="#ppt_x"/>
                                          </p:val>
                                        </p:tav>
                                      </p:tavLst>
                                    </p:anim>
                                    <p:anim calcmode="lin" valueType="num">
                                      <p:cBhvr>
                                        <p:cTn id="57" dur="1000" fill="hold"/>
                                        <p:tgtEl>
                                          <p:spTgt spid="39"/>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1000"/>
                                        <p:tgtEl>
                                          <p:spTgt spid="45"/>
                                        </p:tgtEl>
                                      </p:cBhvr>
                                    </p:animEffect>
                                    <p:anim calcmode="lin" valueType="num">
                                      <p:cBhvr>
                                        <p:cTn id="61" dur="1000" fill="hold"/>
                                        <p:tgtEl>
                                          <p:spTgt spid="45"/>
                                        </p:tgtEl>
                                        <p:attrNameLst>
                                          <p:attrName>ppt_x</p:attrName>
                                        </p:attrNameLst>
                                      </p:cBhvr>
                                      <p:tavLst>
                                        <p:tav tm="0">
                                          <p:val>
                                            <p:strVal val="#ppt_x"/>
                                          </p:val>
                                        </p:tav>
                                        <p:tav tm="100000">
                                          <p:val>
                                            <p:strVal val="#ppt_x"/>
                                          </p:val>
                                        </p:tav>
                                      </p:tavLst>
                                    </p:anim>
                                    <p:anim calcmode="lin" valueType="num">
                                      <p:cBhvr>
                                        <p:cTn id="62"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1000"/>
                                        <p:tgtEl>
                                          <p:spTgt spid="37"/>
                                        </p:tgtEl>
                                      </p:cBhvr>
                                    </p:animEffect>
                                    <p:anim calcmode="lin" valueType="num">
                                      <p:cBhvr>
                                        <p:cTn id="68" dur="1000" fill="hold"/>
                                        <p:tgtEl>
                                          <p:spTgt spid="37"/>
                                        </p:tgtEl>
                                        <p:attrNameLst>
                                          <p:attrName>ppt_x</p:attrName>
                                        </p:attrNameLst>
                                      </p:cBhvr>
                                      <p:tavLst>
                                        <p:tav tm="0">
                                          <p:val>
                                            <p:strVal val="#ppt_x"/>
                                          </p:val>
                                        </p:tav>
                                        <p:tav tm="100000">
                                          <p:val>
                                            <p:strVal val="#ppt_x"/>
                                          </p:val>
                                        </p:tav>
                                      </p:tavLst>
                                    </p:anim>
                                    <p:anim calcmode="lin" valueType="num">
                                      <p:cBhvr>
                                        <p:cTn id="69" dur="1000" fill="hold"/>
                                        <p:tgtEl>
                                          <p:spTgt spid="3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1000"/>
                                        <p:tgtEl>
                                          <p:spTgt spid="46"/>
                                        </p:tgtEl>
                                      </p:cBhvr>
                                    </p:animEffect>
                                    <p:anim calcmode="lin" valueType="num">
                                      <p:cBhvr>
                                        <p:cTn id="73" dur="1000" fill="hold"/>
                                        <p:tgtEl>
                                          <p:spTgt spid="46"/>
                                        </p:tgtEl>
                                        <p:attrNameLst>
                                          <p:attrName>ppt_x</p:attrName>
                                        </p:attrNameLst>
                                      </p:cBhvr>
                                      <p:tavLst>
                                        <p:tav tm="0">
                                          <p:val>
                                            <p:strVal val="#ppt_x"/>
                                          </p:val>
                                        </p:tav>
                                        <p:tav tm="100000">
                                          <p:val>
                                            <p:strVal val="#ppt_x"/>
                                          </p:val>
                                        </p:tav>
                                      </p:tavLst>
                                    </p:anim>
                                    <p:anim calcmode="lin" valueType="num">
                                      <p:cBhvr>
                                        <p:cTn id="7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1000"/>
                                        <p:tgtEl>
                                          <p:spTgt spid="36"/>
                                        </p:tgtEl>
                                      </p:cBhvr>
                                    </p:animEffect>
                                    <p:anim calcmode="lin" valueType="num">
                                      <p:cBhvr>
                                        <p:cTn id="80" dur="1000" fill="hold"/>
                                        <p:tgtEl>
                                          <p:spTgt spid="36"/>
                                        </p:tgtEl>
                                        <p:attrNameLst>
                                          <p:attrName>ppt_x</p:attrName>
                                        </p:attrNameLst>
                                      </p:cBhvr>
                                      <p:tavLst>
                                        <p:tav tm="0">
                                          <p:val>
                                            <p:strVal val="#ppt_x"/>
                                          </p:val>
                                        </p:tav>
                                        <p:tav tm="100000">
                                          <p:val>
                                            <p:strVal val="#ppt_x"/>
                                          </p:val>
                                        </p:tav>
                                      </p:tavLst>
                                    </p:anim>
                                    <p:anim calcmode="lin" valueType="num">
                                      <p:cBhvr>
                                        <p:cTn id="81" dur="1000" fill="hold"/>
                                        <p:tgtEl>
                                          <p:spTgt spid="36"/>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fade">
                                      <p:cBhvr>
                                        <p:cTn id="84" dur="1000"/>
                                        <p:tgtEl>
                                          <p:spTgt spid="47"/>
                                        </p:tgtEl>
                                      </p:cBhvr>
                                    </p:animEffect>
                                    <p:anim calcmode="lin" valueType="num">
                                      <p:cBhvr>
                                        <p:cTn id="85" dur="1000" fill="hold"/>
                                        <p:tgtEl>
                                          <p:spTgt spid="47"/>
                                        </p:tgtEl>
                                        <p:attrNameLst>
                                          <p:attrName>ppt_x</p:attrName>
                                        </p:attrNameLst>
                                      </p:cBhvr>
                                      <p:tavLst>
                                        <p:tav tm="0">
                                          <p:val>
                                            <p:strVal val="#ppt_x"/>
                                          </p:val>
                                        </p:tav>
                                        <p:tav tm="100000">
                                          <p:val>
                                            <p:strVal val="#ppt_x"/>
                                          </p:val>
                                        </p:tav>
                                      </p:tavLst>
                                    </p:anim>
                                    <p:anim calcmode="lin" valueType="num">
                                      <p:cBhvr>
                                        <p:cTn id="8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37" grpId="0"/>
      <p:bldP spid="38" grpId="0"/>
      <p:bldP spid="39" grpId="0"/>
      <p:bldP spid="40" grpId="0"/>
      <p:bldP spid="41" grpId="0"/>
      <p:bldP spid="42" grpId="0" animBg="1"/>
      <p:bldP spid="43" grpId="0" animBg="1"/>
      <p:bldP spid="44" grpId="0" animBg="1"/>
      <p:bldP spid="45" grpId="0" animBg="1"/>
      <p:bldP spid="46" grpId="0" animBg="1"/>
      <p:bldP spid="47" grpId="0" animBg="1"/>
      <p:bldP spid="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AE090-48B6-56C0-C74F-2F654FAEB12E}"/>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6EB62817-EBBB-B6DB-4E90-1FDD5F165D4F}"/>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8CF42FEF-06A7-6D4D-4F8B-6BCF116C47CC}"/>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931391BC-90FB-0226-CA5D-27E426E2A276}"/>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B8A84F9D-EC9A-0470-1C29-A879C3FEB8BD}"/>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DBFC996C-7E4F-7924-A4D4-895BD30CCC05}"/>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D77A73BC-716C-4244-C40B-1884E5063247}"/>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2C69FD83-DBDF-D6FE-CFDA-70196C32455E}"/>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813EE504-C34A-E7A7-6247-38BED7DAB60D}"/>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7ABB6FBB-39FF-33F0-2479-62754A6A3FBB}"/>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30</a:t>
            </a:fld>
            <a:endParaRPr lang="en-GB" dirty="0"/>
          </a:p>
        </p:txBody>
      </p:sp>
      <p:sp>
        <p:nvSpPr>
          <p:cNvPr id="6" name="Ellipse 7">
            <a:extLst>
              <a:ext uri="{FF2B5EF4-FFF2-40B4-BE49-F238E27FC236}">
                <a16:creationId xmlns:a16="http://schemas.microsoft.com/office/drawing/2014/main" id="{A33A0D2F-D197-535A-6E8B-D8F2D4018375}"/>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F3B703FF-68DD-C3BC-81F6-B9F476A4C2E9}"/>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File Tracking</a:t>
            </a:r>
          </a:p>
        </p:txBody>
      </p:sp>
      <p:sp>
        <p:nvSpPr>
          <p:cNvPr id="32" name="ZoneTexte 31">
            <a:extLst>
              <a:ext uri="{FF2B5EF4-FFF2-40B4-BE49-F238E27FC236}">
                <a16:creationId xmlns:a16="http://schemas.microsoft.com/office/drawing/2014/main" id="{098E5F48-2674-368B-3E73-1AFF7CF25594}"/>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04	</a:t>
            </a:r>
          </a:p>
        </p:txBody>
      </p:sp>
      <p:grpSp>
        <p:nvGrpSpPr>
          <p:cNvPr id="36" name="Groupe 35">
            <a:extLst>
              <a:ext uri="{FF2B5EF4-FFF2-40B4-BE49-F238E27FC236}">
                <a16:creationId xmlns:a16="http://schemas.microsoft.com/office/drawing/2014/main" id="{CA43A6DD-F23A-531C-70CC-039804EF6F80}"/>
              </a:ext>
            </a:extLst>
          </p:cNvPr>
          <p:cNvGrpSpPr/>
          <p:nvPr/>
        </p:nvGrpSpPr>
        <p:grpSpPr>
          <a:xfrm>
            <a:off x="2590799" y="2128534"/>
            <a:ext cx="7493026" cy="4061974"/>
            <a:chOff x="2590799" y="2128534"/>
            <a:chExt cx="7493026" cy="4061974"/>
          </a:xfrm>
        </p:grpSpPr>
        <p:sp>
          <p:nvSpPr>
            <p:cNvPr id="33" name="Freeform 2">
              <a:extLst>
                <a:ext uri="{FF2B5EF4-FFF2-40B4-BE49-F238E27FC236}">
                  <a16:creationId xmlns:a16="http://schemas.microsoft.com/office/drawing/2014/main" id="{6774F54C-0500-2419-0D77-D80CA3B1550D}"/>
                </a:ext>
              </a:extLst>
            </p:cNvPr>
            <p:cNvSpPr/>
            <p:nvPr/>
          </p:nvSpPr>
          <p:spPr>
            <a:xfrm>
              <a:off x="2590799" y="2128534"/>
              <a:ext cx="7493026" cy="4061974"/>
            </a:xfrm>
            <a:custGeom>
              <a:avLst/>
              <a:gdLst/>
              <a:ahLst/>
              <a:cxnLst/>
              <a:rect l="l" t="t" r="r" b="b"/>
              <a:pathLst>
                <a:path w="12237089" h="6730399">
                  <a:moveTo>
                    <a:pt x="0" y="0"/>
                  </a:moveTo>
                  <a:lnTo>
                    <a:pt x="12237089" y="0"/>
                  </a:lnTo>
                  <a:lnTo>
                    <a:pt x="12237089" y="6730399"/>
                  </a:lnTo>
                  <a:lnTo>
                    <a:pt x="0" y="6730399"/>
                  </a:lnTo>
                  <a:lnTo>
                    <a:pt x="0" y="0"/>
                  </a:lnTo>
                  <a:close/>
                </a:path>
              </a:pathLst>
            </a:custGeom>
            <a:blipFill>
              <a:blip r:embed="rId8"/>
              <a:stretch>
                <a:fillRect/>
              </a:stretch>
            </a:blipFill>
          </p:spPr>
          <p:txBody>
            <a:bodyPr/>
            <a:lstStyle/>
            <a:p>
              <a:endParaRPr lang="fr-MA"/>
            </a:p>
          </p:txBody>
        </p:sp>
        <p:sp>
          <p:nvSpPr>
            <p:cNvPr id="35" name="Rectangle 34">
              <a:extLst>
                <a:ext uri="{FF2B5EF4-FFF2-40B4-BE49-F238E27FC236}">
                  <a16:creationId xmlns:a16="http://schemas.microsoft.com/office/drawing/2014/main" id="{B64CCCE6-DC3F-43FE-D464-7804BD388287}"/>
                </a:ext>
              </a:extLst>
            </p:cNvPr>
            <p:cNvSpPr/>
            <p:nvPr/>
          </p:nvSpPr>
          <p:spPr>
            <a:xfrm>
              <a:off x="2590799" y="2172298"/>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spTree>
    <p:extLst>
      <p:ext uri="{BB962C8B-B14F-4D97-AF65-F5344CB8AC3E}">
        <p14:creationId xmlns:p14="http://schemas.microsoft.com/office/powerpoint/2010/main" val="2392425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F47D3-29F9-E8FD-9046-A60A36893B83}"/>
            </a:ext>
          </a:extLst>
        </p:cNvPr>
        <p:cNvGrpSpPr/>
        <p:nvPr/>
      </p:nvGrpSpPr>
      <p:grpSpPr>
        <a:xfrm>
          <a:off x="0" y="0"/>
          <a:ext cx="0" cy="0"/>
          <a:chOff x="0" y="0"/>
          <a:chExt cx="0" cy="0"/>
        </a:xfrm>
      </p:grpSpPr>
      <p:grpSp>
        <p:nvGrpSpPr>
          <p:cNvPr id="45" name="Groupe 44">
            <a:extLst>
              <a:ext uri="{FF2B5EF4-FFF2-40B4-BE49-F238E27FC236}">
                <a16:creationId xmlns:a16="http://schemas.microsoft.com/office/drawing/2014/main" id="{9782CFEA-A8F9-A5D8-7970-C89CB2741A49}"/>
              </a:ext>
            </a:extLst>
          </p:cNvPr>
          <p:cNvGrpSpPr/>
          <p:nvPr/>
        </p:nvGrpSpPr>
        <p:grpSpPr>
          <a:xfrm>
            <a:off x="2901508" y="2601656"/>
            <a:ext cx="6576439" cy="3502955"/>
            <a:chOff x="2901508" y="2601656"/>
            <a:chExt cx="6576439" cy="3502955"/>
          </a:xfrm>
        </p:grpSpPr>
        <p:pic>
          <p:nvPicPr>
            <p:cNvPr id="20" name="Image 19">
              <a:extLst>
                <a:ext uri="{FF2B5EF4-FFF2-40B4-BE49-F238E27FC236}">
                  <a16:creationId xmlns:a16="http://schemas.microsoft.com/office/drawing/2014/main" id="{EC536402-2D0D-667D-7A27-548210551135}"/>
                </a:ext>
              </a:extLst>
            </p:cNvPr>
            <p:cNvPicPr>
              <a:picLocks noChangeAspect="1"/>
            </p:cNvPicPr>
            <p:nvPr/>
          </p:nvPicPr>
          <p:blipFill>
            <a:blip r:embed="rId3"/>
            <a:stretch>
              <a:fillRect/>
            </a:stretch>
          </p:blipFill>
          <p:spPr>
            <a:xfrm>
              <a:off x="2979395" y="2601656"/>
              <a:ext cx="6498552" cy="3502955"/>
            </a:xfrm>
            <a:prstGeom prst="rect">
              <a:avLst/>
            </a:prstGeom>
          </p:spPr>
        </p:pic>
        <p:sp>
          <p:nvSpPr>
            <p:cNvPr id="43" name="Rectangle 42">
              <a:extLst>
                <a:ext uri="{FF2B5EF4-FFF2-40B4-BE49-F238E27FC236}">
                  <a16:creationId xmlns:a16="http://schemas.microsoft.com/office/drawing/2014/main" id="{903714C7-A79C-D5C4-A920-49575BB3B2D2}"/>
                </a:ext>
              </a:extLst>
            </p:cNvPr>
            <p:cNvSpPr/>
            <p:nvPr/>
          </p:nvSpPr>
          <p:spPr>
            <a:xfrm>
              <a:off x="2901508" y="2623158"/>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graphicFrame>
        <p:nvGraphicFramePr>
          <p:cNvPr id="3" name="Diagramme 2">
            <a:extLst>
              <a:ext uri="{FF2B5EF4-FFF2-40B4-BE49-F238E27FC236}">
                <a16:creationId xmlns:a16="http://schemas.microsoft.com/office/drawing/2014/main" id="{E09346BF-F284-CC61-98AA-725257237B3F}"/>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Connecteur droit 6">
            <a:extLst>
              <a:ext uri="{FF2B5EF4-FFF2-40B4-BE49-F238E27FC236}">
                <a16:creationId xmlns:a16="http://schemas.microsoft.com/office/drawing/2014/main" id="{EC500E5C-E559-6DBE-FE40-7E87BFA91C9B}"/>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EE0B7337-10A0-C392-5FE0-B27D24883463}"/>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99C7AFEF-16B8-BAA2-847A-43C0D8B82137}"/>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D8AB5AC7-FFF5-106E-F524-D1CD5C6ADA03}"/>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0B04DB44-9C41-3ECF-2A85-C54B0F5E9454}"/>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70E5EBFA-9DC1-BCB6-6CE3-7707301D0C1A}"/>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2DDD3FC0-BC6D-0E80-0C76-9A9DE407C4F6}"/>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CB42E7F3-24C7-C03A-EEFB-AF0591F148E9}"/>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31</a:t>
            </a:fld>
            <a:endParaRPr lang="en-GB" dirty="0"/>
          </a:p>
        </p:txBody>
      </p:sp>
      <p:sp>
        <p:nvSpPr>
          <p:cNvPr id="6" name="Ellipse 7">
            <a:extLst>
              <a:ext uri="{FF2B5EF4-FFF2-40B4-BE49-F238E27FC236}">
                <a16:creationId xmlns:a16="http://schemas.microsoft.com/office/drawing/2014/main" id="{E778FC94-170F-E3D7-E681-80D40A6AEB1E}"/>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58B4CD6F-904E-7E81-F906-2095CD98BA85}"/>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Rejection Tracking</a:t>
            </a:r>
          </a:p>
        </p:txBody>
      </p:sp>
      <p:sp>
        <p:nvSpPr>
          <p:cNvPr id="32" name="ZoneTexte 31">
            <a:extLst>
              <a:ext uri="{FF2B5EF4-FFF2-40B4-BE49-F238E27FC236}">
                <a16:creationId xmlns:a16="http://schemas.microsoft.com/office/drawing/2014/main" id="{5C428ED8-ABEF-6091-63C5-AE2CF5A788C3}"/>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01	</a:t>
            </a:r>
          </a:p>
        </p:txBody>
      </p:sp>
      <p:sp>
        <p:nvSpPr>
          <p:cNvPr id="7" name="ZoneTexte 6">
            <a:extLst>
              <a:ext uri="{FF2B5EF4-FFF2-40B4-BE49-F238E27FC236}">
                <a16:creationId xmlns:a16="http://schemas.microsoft.com/office/drawing/2014/main" id="{B774BAAB-6B6C-89BC-17A0-3F9B7654DA86}"/>
              </a:ext>
            </a:extLst>
          </p:cNvPr>
          <p:cNvSpPr txBox="1"/>
          <p:nvPr/>
        </p:nvSpPr>
        <p:spPr>
          <a:xfrm>
            <a:off x="359546" y="5920373"/>
            <a:ext cx="785373" cy="713074"/>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Taux global de rejet des fichiers</a:t>
            </a:r>
          </a:p>
        </p:txBody>
      </p:sp>
      <p:sp>
        <p:nvSpPr>
          <p:cNvPr id="11" name="ZoneTexte 10">
            <a:extLst>
              <a:ext uri="{FF2B5EF4-FFF2-40B4-BE49-F238E27FC236}">
                <a16:creationId xmlns:a16="http://schemas.microsoft.com/office/drawing/2014/main" id="{3E53D919-E4DE-50F4-0E42-3F2DC0050C97}"/>
              </a:ext>
            </a:extLst>
          </p:cNvPr>
          <p:cNvSpPr txBox="1"/>
          <p:nvPr/>
        </p:nvSpPr>
        <p:spPr>
          <a:xfrm>
            <a:off x="9739970" y="3648984"/>
            <a:ext cx="745283" cy="729610"/>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Indique visuellement</a:t>
            </a:r>
          </a:p>
          <a:p>
            <a:pPr>
              <a:buNone/>
            </a:pPr>
            <a:r>
              <a:rPr lang="fr-MA" sz="1200" dirty="0">
                <a:solidFill>
                  <a:srgbClr val="000000"/>
                </a:solidFill>
                <a:latin typeface="Open Sans"/>
                <a:ea typeface="Open Sans"/>
                <a:cs typeface="Open Sans"/>
              </a:rPr>
              <a:t> la présence ou non </a:t>
            </a:r>
          </a:p>
          <a:p>
            <a:pPr>
              <a:buNone/>
            </a:pPr>
            <a:r>
              <a:rPr lang="fr-MA" sz="1200" dirty="0">
                <a:solidFill>
                  <a:srgbClr val="000000"/>
                </a:solidFill>
                <a:latin typeface="Open Sans"/>
                <a:ea typeface="Open Sans"/>
                <a:cs typeface="Open Sans"/>
              </a:rPr>
              <a:t>de rejets hier</a:t>
            </a:r>
          </a:p>
        </p:txBody>
      </p:sp>
      <p:sp>
        <p:nvSpPr>
          <p:cNvPr id="12" name="ZoneTexte 11">
            <a:extLst>
              <a:ext uri="{FF2B5EF4-FFF2-40B4-BE49-F238E27FC236}">
                <a16:creationId xmlns:a16="http://schemas.microsoft.com/office/drawing/2014/main" id="{0591D3F5-9388-398E-1AE4-73A06E2CD201}"/>
              </a:ext>
            </a:extLst>
          </p:cNvPr>
          <p:cNvSpPr txBox="1"/>
          <p:nvPr/>
        </p:nvSpPr>
        <p:spPr>
          <a:xfrm>
            <a:off x="9708397" y="4409654"/>
            <a:ext cx="745283" cy="729610"/>
          </a:xfrm>
          <a:prstGeom prst="rect">
            <a:avLst/>
          </a:prstGeom>
        </p:spPr>
        <p:txBody>
          <a:bodyPr vert="horz" wrap="none" lIns="0" tIns="0" rIns="0" bIns="0" rtlCol="0" anchor="t" anchorCtr="0">
            <a:normAutofit lnSpcReduction="10000"/>
          </a:bodyPr>
          <a:lstStyle/>
          <a:p>
            <a:pPr>
              <a:buNone/>
            </a:pPr>
            <a:r>
              <a:rPr lang="fr-MA" sz="1200" dirty="0">
                <a:solidFill>
                  <a:srgbClr val="000000"/>
                </a:solidFill>
                <a:latin typeface="Open Sans"/>
                <a:ea typeface="Open Sans"/>
                <a:cs typeface="Open Sans"/>
              </a:rPr>
              <a:t>Visualiser le taux de rejet </a:t>
            </a:r>
          </a:p>
          <a:p>
            <a:pPr>
              <a:buNone/>
            </a:pPr>
            <a:r>
              <a:rPr lang="fr-MA" sz="1200" dirty="0">
                <a:solidFill>
                  <a:srgbClr val="000000"/>
                </a:solidFill>
                <a:latin typeface="Open Sans"/>
                <a:ea typeface="Open Sans"/>
                <a:cs typeface="Open Sans"/>
              </a:rPr>
              <a:t>par fichier et identifier</a:t>
            </a:r>
          </a:p>
          <a:p>
            <a:pPr>
              <a:buNone/>
            </a:pPr>
            <a:r>
              <a:rPr lang="fr-MA" sz="1200" dirty="0">
                <a:solidFill>
                  <a:srgbClr val="000000"/>
                </a:solidFill>
                <a:latin typeface="Open Sans"/>
                <a:ea typeface="Open Sans"/>
                <a:cs typeface="Open Sans"/>
              </a:rPr>
              <a:t> les fichiers les plus </a:t>
            </a:r>
          </a:p>
          <a:p>
            <a:pPr>
              <a:buNone/>
            </a:pPr>
            <a:r>
              <a:rPr lang="fr-MA" sz="1200" dirty="0">
                <a:solidFill>
                  <a:srgbClr val="000000"/>
                </a:solidFill>
                <a:latin typeface="Open Sans"/>
                <a:ea typeface="Open Sans"/>
                <a:cs typeface="Open Sans"/>
              </a:rPr>
              <a:t>problématiques</a:t>
            </a:r>
          </a:p>
        </p:txBody>
      </p:sp>
      <p:sp>
        <p:nvSpPr>
          <p:cNvPr id="13" name="ZoneTexte 12">
            <a:extLst>
              <a:ext uri="{FF2B5EF4-FFF2-40B4-BE49-F238E27FC236}">
                <a16:creationId xmlns:a16="http://schemas.microsoft.com/office/drawing/2014/main" id="{E590EA76-6D9E-C40E-1E11-39443F9DEA5A}"/>
              </a:ext>
            </a:extLst>
          </p:cNvPr>
          <p:cNvSpPr txBox="1"/>
          <p:nvPr/>
        </p:nvSpPr>
        <p:spPr>
          <a:xfrm>
            <a:off x="7595051" y="6276910"/>
            <a:ext cx="745283" cy="729610"/>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Permet le suivi détaillé de l’évolution </a:t>
            </a:r>
          </a:p>
          <a:p>
            <a:pPr>
              <a:buNone/>
            </a:pPr>
            <a:r>
              <a:rPr lang="fr-MA" sz="1200" dirty="0">
                <a:solidFill>
                  <a:srgbClr val="000000"/>
                </a:solidFill>
                <a:latin typeface="Open Sans"/>
                <a:ea typeface="Open Sans"/>
                <a:cs typeface="Open Sans"/>
              </a:rPr>
              <a:t>des rejets par fichier et par jour relatif, facilitant</a:t>
            </a:r>
          </a:p>
          <a:p>
            <a:pPr>
              <a:buNone/>
            </a:pPr>
            <a:r>
              <a:rPr lang="fr-MA" sz="1200" dirty="0">
                <a:solidFill>
                  <a:srgbClr val="000000"/>
                </a:solidFill>
                <a:latin typeface="Open Sans"/>
                <a:ea typeface="Open Sans"/>
                <a:cs typeface="Open Sans"/>
              </a:rPr>
              <a:t>l’analyse temporelle glissante</a:t>
            </a:r>
          </a:p>
        </p:txBody>
      </p:sp>
      <p:sp>
        <p:nvSpPr>
          <p:cNvPr id="14" name="ZoneTexte 13">
            <a:extLst>
              <a:ext uri="{FF2B5EF4-FFF2-40B4-BE49-F238E27FC236}">
                <a16:creationId xmlns:a16="http://schemas.microsoft.com/office/drawing/2014/main" id="{C751356D-F09E-516C-4D27-5CBAF905E72D}"/>
              </a:ext>
            </a:extLst>
          </p:cNvPr>
          <p:cNvSpPr txBox="1"/>
          <p:nvPr/>
        </p:nvSpPr>
        <p:spPr>
          <a:xfrm>
            <a:off x="3931751" y="6340716"/>
            <a:ext cx="745283" cy="729610"/>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Nombre de lignes</a:t>
            </a:r>
          </a:p>
          <a:p>
            <a:pPr>
              <a:buNone/>
            </a:pPr>
            <a:r>
              <a:rPr lang="fr-MA" sz="1200" dirty="0">
                <a:solidFill>
                  <a:srgbClr val="000000"/>
                </a:solidFill>
                <a:latin typeface="Open Sans"/>
                <a:ea typeface="Open Sans"/>
                <a:cs typeface="Open Sans"/>
              </a:rPr>
              <a:t> ayant été rejetées</a:t>
            </a:r>
          </a:p>
        </p:txBody>
      </p:sp>
      <p:sp>
        <p:nvSpPr>
          <p:cNvPr id="22" name="ZoneTexte 21">
            <a:extLst>
              <a:ext uri="{FF2B5EF4-FFF2-40B4-BE49-F238E27FC236}">
                <a16:creationId xmlns:a16="http://schemas.microsoft.com/office/drawing/2014/main" id="{8210CA60-D31F-38E1-1774-9A19997B1D06}"/>
              </a:ext>
            </a:extLst>
          </p:cNvPr>
          <p:cNvSpPr txBox="1"/>
          <p:nvPr/>
        </p:nvSpPr>
        <p:spPr>
          <a:xfrm>
            <a:off x="6315329" y="2172298"/>
            <a:ext cx="742868" cy="690364"/>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Pour filtrer l’ensemble </a:t>
            </a:r>
          </a:p>
          <a:p>
            <a:pPr>
              <a:buNone/>
            </a:pPr>
            <a:r>
              <a:rPr lang="fr-MA" sz="1200" dirty="0">
                <a:solidFill>
                  <a:srgbClr val="000000"/>
                </a:solidFill>
                <a:latin typeface="Open Sans"/>
                <a:ea typeface="Open Sans"/>
                <a:cs typeface="Open Sans"/>
              </a:rPr>
              <a:t>des visuels par nom de fichier</a:t>
            </a:r>
          </a:p>
        </p:txBody>
      </p:sp>
      <p:sp>
        <p:nvSpPr>
          <p:cNvPr id="23" name="ZoneTexte 22">
            <a:extLst>
              <a:ext uri="{FF2B5EF4-FFF2-40B4-BE49-F238E27FC236}">
                <a16:creationId xmlns:a16="http://schemas.microsoft.com/office/drawing/2014/main" id="{8A6803E8-DE6C-605F-0CE8-258473C7511B}"/>
              </a:ext>
            </a:extLst>
          </p:cNvPr>
          <p:cNvSpPr txBox="1"/>
          <p:nvPr/>
        </p:nvSpPr>
        <p:spPr>
          <a:xfrm>
            <a:off x="380799" y="2221751"/>
            <a:ext cx="742868" cy="69036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Pour filtrer les données de l’ensemble de</a:t>
            </a:r>
          </a:p>
          <a:p>
            <a:pPr>
              <a:buNone/>
            </a:pPr>
            <a:r>
              <a:rPr lang="fr-MA" sz="1200" dirty="0">
                <a:solidFill>
                  <a:srgbClr val="000000"/>
                </a:solidFill>
                <a:latin typeface="Open Sans"/>
                <a:ea typeface="Open Sans"/>
                <a:cs typeface="Open Sans"/>
              </a:rPr>
              <a:t> la page en sélectionnant une</a:t>
            </a:r>
          </a:p>
          <a:p>
            <a:pPr>
              <a:buNone/>
            </a:pPr>
            <a:r>
              <a:rPr lang="fr-MA" sz="1200" dirty="0">
                <a:solidFill>
                  <a:srgbClr val="000000"/>
                </a:solidFill>
                <a:latin typeface="Open Sans"/>
                <a:ea typeface="Open Sans"/>
                <a:cs typeface="Open Sans"/>
              </a:rPr>
              <a:t>date spécifique ou « </a:t>
            </a:r>
            <a:r>
              <a:rPr lang="fr-MA" sz="1200" dirty="0" err="1">
                <a:solidFill>
                  <a:srgbClr val="000000"/>
                </a:solidFill>
                <a:latin typeface="Open Sans"/>
                <a:ea typeface="Open Sans"/>
                <a:cs typeface="Open Sans"/>
              </a:rPr>
              <a:t>Today</a:t>
            </a:r>
            <a:r>
              <a:rPr lang="fr-MA" sz="1200" dirty="0">
                <a:solidFill>
                  <a:srgbClr val="000000"/>
                </a:solidFill>
                <a:latin typeface="Open Sans"/>
                <a:ea typeface="Open Sans"/>
                <a:cs typeface="Open Sans"/>
              </a:rPr>
              <a:t> »</a:t>
            </a:r>
          </a:p>
        </p:txBody>
      </p:sp>
      <p:sp>
        <p:nvSpPr>
          <p:cNvPr id="24" name="ZoneTexte 23">
            <a:extLst>
              <a:ext uri="{FF2B5EF4-FFF2-40B4-BE49-F238E27FC236}">
                <a16:creationId xmlns:a16="http://schemas.microsoft.com/office/drawing/2014/main" id="{A8A9DF75-88A2-BAA2-7302-82CA2797DA52}"/>
              </a:ext>
            </a:extLst>
          </p:cNvPr>
          <p:cNvSpPr txBox="1"/>
          <p:nvPr/>
        </p:nvSpPr>
        <p:spPr>
          <a:xfrm>
            <a:off x="9720197" y="2338415"/>
            <a:ext cx="742868" cy="69036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Affiche dynamiquement </a:t>
            </a:r>
          </a:p>
          <a:p>
            <a:pPr>
              <a:buNone/>
            </a:pPr>
            <a:r>
              <a:rPr lang="fr-MA" sz="1200" dirty="0">
                <a:solidFill>
                  <a:srgbClr val="000000"/>
                </a:solidFill>
                <a:latin typeface="Open Sans"/>
                <a:ea typeface="Open Sans"/>
                <a:cs typeface="Open Sans"/>
              </a:rPr>
              <a:t>la date actuelle</a:t>
            </a:r>
          </a:p>
        </p:txBody>
      </p:sp>
      <p:sp>
        <p:nvSpPr>
          <p:cNvPr id="25" name="ZoneTexte 24">
            <a:extLst>
              <a:ext uri="{FF2B5EF4-FFF2-40B4-BE49-F238E27FC236}">
                <a16:creationId xmlns:a16="http://schemas.microsoft.com/office/drawing/2014/main" id="{624100CB-AC66-A25C-DC1E-B092F8414B95}"/>
              </a:ext>
            </a:extLst>
          </p:cNvPr>
          <p:cNvSpPr txBox="1"/>
          <p:nvPr/>
        </p:nvSpPr>
        <p:spPr>
          <a:xfrm>
            <a:off x="937229" y="4013787"/>
            <a:ext cx="742868" cy="69036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Nombre total de fichiers</a:t>
            </a:r>
          </a:p>
          <a:p>
            <a:pPr>
              <a:buNone/>
            </a:pPr>
            <a:r>
              <a:rPr lang="fr-MA" sz="1200" dirty="0">
                <a:solidFill>
                  <a:srgbClr val="000000"/>
                </a:solidFill>
                <a:latin typeface="Open Sans"/>
                <a:ea typeface="Open Sans"/>
                <a:cs typeface="Open Sans"/>
              </a:rPr>
              <a:t> traités pour la date</a:t>
            </a:r>
          </a:p>
          <a:p>
            <a:pPr>
              <a:buNone/>
            </a:pPr>
            <a:r>
              <a:rPr lang="fr-MA" sz="1200" dirty="0">
                <a:solidFill>
                  <a:srgbClr val="000000"/>
                </a:solidFill>
                <a:latin typeface="Open Sans"/>
                <a:ea typeface="Open Sans"/>
                <a:cs typeface="Open Sans"/>
              </a:rPr>
              <a:t> sélectionnée</a:t>
            </a:r>
          </a:p>
        </p:txBody>
      </p:sp>
      <p:sp>
        <p:nvSpPr>
          <p:cNvPr id="26" name="ZoneTexte 25">
            <a:extLst>
              <a:ext uri="{FF2B5EF4-FFF2-40B4-BE49-F238E27FC236}">
                <a16:creationId xmlns:a16="http://schemas.microsoft.com/office/drawing/2014/main" id="{793577F0-9762-2CD9-7261-AFB0E6CFCCA4}"/>
              </a:ext>
            </a:extLst>
          </p:cNvPr>
          <p:cNvSpPr txBox="1"/>
          <p:nvPr/>
        </p:nvSpPr>
        <p:spPr>
          <a:xfrm>
            <a:off x="1051474" y="3220666"/>
            <a:ext cx="742868" cy="69036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Indique visuellement</a:t>
            </a:r>
          </a:p>
          <a:p>
            <a:pPr>
              <a:buNone/>
            </a:pPr>
            <a:r>
              <a:rPr lang="fr-MA" sz="1200" dirty="0">
                <a:solidFill>
                  <a:srgbClr val="000000"/>
                </a:solidFill>
                <a:latin typeface="Open Sans"/>
                <a:ea typeface="Open Sans"/>
                <a:cs typeface="Open Sans"/>
              </a:rPr>
              <a:t> la présence ou non </a:t>
            </a:r>
          </a:p>
          <a:p>
            <a:pPr>
              <a:buNone/>
            </a:pPr>
            <a:r>
              <a:rPr lang="fr-MA" sz="1200" dirty="0">
                <a:solidFill>
                  <a:srgbClr val="000000"/>
                </a:solidFill>
                <a:latin typeface="Open Sans"/>
                <a:ea typeface="Open Sans"/>
                <a:cs typeface="Open Sans"/>
              </a:rPr>
              <a:t>de rejets aujourd’hui</a:t>
            </a:r>
          </a:p>
        </p:txBody>
      </p:sp>
      <p:sp>
        <p:nvSpPr>
          <p:cNvPr id="27" name="ZoneTexte 26">
            <a:extLst>
              <a:ext uri="{FF2B5EF4-FFF2-40B4-BE49-F238E27FC236}">
                <a16:creationId xmlns:a16="http://schemas.microsoft.com/office/drawing/2014/main" id="{B5C5CADB-FD00-A6BE-0CFE-804B0BE65160}"/>
              </a:ext>
            </a:extLst>
          </p:cNvPr>
          <p:cNvSpPr txBox="1"/>
          <p:nvPr/>
        </p:nvSpPr>
        <p:spPr>
          <a:xfrm>
            <a:off x="1447284" y="4774458"/>
            <a:ext cx="742868" cy="69036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Nombre total de </a:t>
            </a:r>
          </a:p>
          <a:p>
            <a:pPr>
              <a:buNone/>
            </a:pPr>
            <a:r>
              <a:rPr lang="fr-MA" sz="1200" dirty="0">
                <a:solidFill>
                  <a:srgbClr val="000000"/>
                </a:solidFill>
                <a:latin typeface="Open Sans"/>
                <a:ea typeface="Open Sans"/>
                <a:cs typeface="Open Sans"/>
              </a:rPr>
              <a:t>lignes traitées</a:t>
            </a:r>
          </a:p>
        </p:txBody>
      </p:sp>
      <p:cxnSp>
        <p:nvCxnSpPr>
          <p:cNvPr id="28" name="Connecteur droit avec flèche 27">
            <a:extLst>
              <a:ext uri="{FF2B5EF4-FFF2-40B4-BE49-F238E27FC236}">
                <a16:creationId xmlns:a16="http://schemas.microsoft.com/office/drawing/2014/main" id="{BAE2DC1C-3B42-716B-F521-AB7F3A925BAC}"/>
              </a:ext>
            </a:extLst>
          </p:cNvPr>
          <p:cNvCxnSpPr>
            <a:cxnSpLocks/>
          </p:cNvCxnSpPr>
          <p:nvPr/>
        </p:nvCxnSpPr>
        <p:spPr bwMode="gray">
          <a:xfrm>
            <a:off x="2500743" y="2790480"/>
            <a:ext cx="1355903" cy="389749"/>
          </a:xfrm>
          <a:prstGeom prst="straightConnector1">
            <a:avLst/>
          </a:prstGeom>
          <a:noFill/>
          <a:ln w="12700">
            <a:solidFill>
              <a:schemeClr val="accent1"/>
            </a:solidFill>
            <a:round/>
            <a:headEnd/>
            <a:tailEnd type="triangle"/>
          </a:ln>
          <a:effectLst/>
        </p:spPr>
      </p:cxnSp>
      <p:cxnSp>
        <p:nvCxnSpPr>
          <p:cNvPr id="29" name="Connecteur droit avec flèche 28">
            <a:extLst>
              <a:ext uri="{FF2B5EF4-FFF2-40B4-BE49-F238E27FC236}">
                <a16:creationId xmlns:a16="http://schemas.microsoft.com/office/drawing/2014/main" id="{8FDDB0F1-DFD3-D226-BF42-77EAFDCC877E}"/>
              </a:ext>
            </a:extLst>
          </p:cNvPr>
          <p:cNvCxnSpPr>
            <a:cxnSpLocks/>
          </p:cNvCxnSpPr>
          <p:nvPr/>
        </p:nvCxnSpPr>
        <p:spPr bwMode="gray">
          <a:xfrm flipH="1">
            <a:off x="8672888" y="2601656"/>
            <a:ext cx="895062" cy="894168"/>
          </a:xfrm>
          <a:prstGeom prst="straightConnector1">
            <a:avLst/>
          </a:prstGeom>
          <a:noFill/>
          <a:ln w="12700">
            <a:solidFill>
              <a:schemeClr val="accent1"/>
            </a:solidFill>
            <a:round/>
            <a:headEnd/>
            <a:tailEnd type="triangle"/>
          </a:ln>
          <a:effectLst/>
        </p:spPr>
      </p:cxnSp>
      <p:cxnSp>
        <p:nvCxnSpPr>
          <p:cNvPr id="30" name="Connecteur droit avec flèche 29">
            <a:extLst>
              <a:ext uri="{FF2B5EF4-FFF2-40B4-BE49-F238E27FC236}">
                <a16:creationId xmlns:a16="http://schemas.microsoft.com/office/drawing/2014/main" id="{C2742864-D715-0023-EAC4-2B848AD67968}"/>
              </a:ext>
            </a:extLst>
          </p:cNvPr>
          <p:cNvCxnSpPr>
            <a:cxnSpLocks/>
          </p:cNvCxnSpPr>
          <p:nvPr/>
        </p:nvCxnSpPr>
        <p:spPr bwMode="gray">
          <a:xfrm>
            <a:off x="6744966" y="2470291"/>
            <a:ext cx="0" cy="1047231"/>
          </a:xfrm>
          <a:prstGeom prst="straightConnector1">
            <a:avLst/>
          </a:prstGeom>
          <a:noFill/>
          <a:ln w="12700">
            <a:solidFill>
              <a:schemeClr val="accent1"/>
            </a:solidFill>
            <a:round/>
            <a:headEnd/>
            <a:tailEnd type="triangle"/>
          </a:ln>
          <a:effectLst/>
        </p:spPr>
      </p:cxnSp>
      <p:cxnSp>
        <p:nvCxnSpPr>
          <p:cNvPr id="31" name="Connecteur droit avec flèche 30">
            <a:extLst>
              <a:ext uri="{FF2B5EF4-FFF2-40B4-BE49-F238E27FC236}">
                <a16:creationId xmlns:a16="http://schemas.microsoft.com/office/drawing/2014/main" id="{8605745A-4252-509D-F477-BC2F1D99160C}"/>
              </a:ext>
            </a:extLst>
          </p:cNvPr>
          <p:cNvCxnSpPr>
            <a:cxnSpLocks/>
          </p:cNvCxnSpPr>
          <p:nvPr/>
        </p:nvCxnSpPr>
        <p:spPr bwMode="gray">
          <a:xfrm flipH="1">
            <a:off x="9170245" y="4746490"/>
            <a:ext cx="397706" cy="0"/>
          </a:xfrm>
          <a:prstGeom prst="straightConnector1">
            <a:avLst/>
          </a:prstGeom>
          <a:noFill/>
          <a:ln w="12700">
            <a:solidFill>
              <a:schemeClr val="accent1"/>
            </a:solidFill>
            <a:round/>
            <a:headEnd/>
            <a:tailEnd type="triangle"/>
          </a:ln>
          <a:effectLst/>
        </p:spPr>
      </p:cxnSp>
      <p:cxnSp>
        <p:nvCxnSpPr>
          <p:cNvPr id="34" name="Connecteur droit avec flèche 33">
            <a:extLst>
              <a:ext uri="{FF2B5EF4-FFF2-40B4-BE49-F238E27FC236}">
                <a16:creationId xmlns:a16="http://schemas.microsoft.com/office/drawing/2014/main" id="{4A5FD733-2971-37C0-0447-B4A47AD0C1F5}"/>
              </a:ext>
            </a:extLst>
          </p:cNvPr>
          <p:cNvCxnSpPr>
            <a:cxnSpLocks/>
          </p:cNvCxnSpPr>
          <p:nvPr/>
        </p:nvCxnSpPr>
        <p:spPr bwMode="gray">
          <a:xfrm>
            <a:off x="2952432" y="3582493"/>
            <a:ext cx="489931" cy="52194"/>
          </a:xfrm>
          <a:prstGeom prst="straightConnector1">
            <a:avLst/>
          </a:prstGeom>
          <a:noFill/>
          <a:ln w="12700">
            <a:solidFill>
              <a:schemeClr val="accent1"/>
            </a:solidFill>
            <a:round/>
            <a:headEnd/>
            <a:tailEnd type="triangle"/>
          </a:ln>
          <a:effectLst/>
        </p:spPr>
      </p:cxnSp>
      <p:cxnSp>
        <p:nvCxnSpPr>
          <p:cNvPr id="35" name="Connecteur droit avec flèche 34">
            <a:extLst>
              <a:ext uri="{FF2B5EF4-FFF2-40B4-BE49-F238E27FC236}">
                <a16:creationId xmlns:a16="http://schemas.microsoft.com/office/drawing/2014/main" id="{341A03AF-B4C7-0A34-BFCC-4C713BC527E3}"/>
              </a:ext>
            </a:extLst>
          </p:cNvPr>
          <p:cNvCxnSpPr>
            <a:cxnSpLocks/>
          </p:cNvCxnSpPr>
          <p:nvPr/>
        </p:nvCxnSpPr>
        <p:spPr bwMode="gray">
          <a:xfrm flipV="1">
            <a:off x="2707466" y="4174353"/>
            <a:ext cx="336832" cy="81859"/>
          </a:xfrm>
          <a:prstGeom prst="straightConnector1">
            <a:avLst/>
          </a:prstGeom>
          <a:noFill/>
          <a:ln w="12700">
            <a:solidFill>
              <a:schemeClr val="accent1"/>
            </a:solidFill>
            <a:round/>
            <a:headEnd/>
            <a:tailEnd type="triangle"/>
          </a:ln>
          <a:effectLst/>
        </p:spPr>
      </p:cxnSp>
      <p:cxnSp>
        <p:nvCxnSpPr>
          <p:cNvPr id="36" name="Connecteur droit avec flèche 35">
            <a:extLst>
              <a:ext uri="{FF2B5EF4-FFF2-40B4-BE49-F238E27FC236}">
                <a16:creationId xmlns:a16="http://schemas.microsoft.com/office/drawing/2014/main" id="{64E680CA-05CB-CCEF-FF79-4E81160C2927}"/>
              </a:ext>
            </a:extLst>
          </p:cNvPr>
          <p:cNvCxnSpPr>
            <a:cxnSpLocks/>
          </p:cNvCxnSpPr>
          <p:nvPr/>
        </p:nvCxnSpPr>
        <p:spPr bwMode="gray">
          <a:xfrm flipV="1">
            <a:off x="2664150" y="4353133"/>
            <a:ext cx="2220187" cy="1406295"/>
          </a:xfrm>
          <a:prstGeom prst="straightConnector1">
            <a:avLst/>
          </a:prstGeom>
          <a:noFill/>
          <a:ln w="12700">
            <a:solidFill>
              <a:schemeClr val="accent1"/>
            </a:solidFill>
            <a:round/>
            <a:headEnd/>
            <a:tailEnd type="triangle"/>
          </a:ln>
          <a:effectLst/>
        </p:spPr>
      </p:cxnSp>
      <p:cxnSp>
        <p:nvCxnSpPr>
          <p:cNvPr id="37" name="Connecteur droit avec flèche 36">
            <a:extLst>
              <a:ext uri="{FF2B5EF4-FFF2-40B4-BE49-F238E27FC236}">
                <a16:creationId xmlns:a16="http://schemas.microsoft.com/office/drawing/2014/main" id="{7F042F59-1BF9-310D-CDAB-06D0EB4BEC9A}"/>
              </a:ext>
            </a:extLst>
          </p:cNvPr>
          <p:cNvCxnSpPr>
            <a:cxnSpLocks/>
          </p:cNvCxnSpPr>
          <p:nvPr/>
        </p:nvCxnSpPr>
        <p:spPr bwMode="gray">
          <a:xfrm flipV="1">
            <a:off x="2774267" y="4828720"/>
            <a:ext cx="336832" cy="81859"/>
          </a:xfrm>
          <a:prstGeom prst="straightConnector1">
            <a:avLst/>
          </a:prstGeom>
          <a:noFill/>
          <a:ln w="12700">
            <a:solidFill>
              <a:schemeClr val="accent1"/>
            </a:solidFill>
            <a:round/>
            <a:headEnd/>
            <a:tailEnd type="triangle"/>
          </a:ln>
          <a:effectLst/>
        </p:spPr>
      </p:cxnSp>
      <p:cxnSp>
        <p:nvCxnSpPr>
          <p:cNvPr id="38" name="Connecteur droit avec flèche 37">
            <a:extLst>
              <a:ext uri="{FF2B5EF4-FFF2-40B4-BE49-F238E27FC236}">
                <a16:creationId xmlns:a16="http://schemas.microsoft.com/office/drawing/2014/main" id="{E53648F2-1099-1723-9B92-8C884D5C1BA4}"/>
              </a:ext>
            </a:extLst>
          </p:cNvPr>
          <p:cNvCxnSpPr>
            <a:cxnSpLocks/>
          </p:cNvCxnSpPr>
          <p:nvPr/>
        </p:nvCxnSpPr>
        <p:spPr bwMode="gray">
          <a:xfrm flipV="1">
            <a:off x="4412027" y="4890435"/>
            <a:ext cx="457252" cy="1277785"/>
          </a:xfrm>
          <a:prstGeom prst="straightConnector1">
            <a:avLst/>
          </a:prstGeom>
          <a:noFill/>
          <a:ln w="12700">
            <a:solidFill>
              <a:schemeClr val="accent1"/>
            </a:solidFill>
            <a:round/>
            <a:headEnd/>
            <a:tailEnd type="triangle"/>
          </a:ln>
          <a:effectLst/>
        </p:spPr>
      </p:cxnSp>
      <p:cxnSp>
        <p:nvCxnSpPr>
          <p:cNvPr id="39" name="Connecteur droit avec flèche 38">
            <a:extLst>
              <a:ext uri="{FF2B5EF4-FFF2-40B4-BE49-F238E27FC236}">
                <a16:creationId xmlns:a16="http://schemas.microsoft.com/office/drawing/2014/main" id="{3D6DDFB0-BDC3-7D8F-7DC8-24CCB778AABB}"/>
              </a:ext>
            </a:extLst>
          </p:cNvPr>
          <p:cNvCxnSpPr>
            <a:cxnSpLocks/>
          </p:cNvCxnSpPr>
          <p:nvPr/>
        </p:nvCxnSpPr>
        <p:spPr bwMode="gray">
          <a:xfrm flipH="1" flipV="1">
            <a:off x="7976590" y="5922081"/>
            <a:ext cx="124160" cy="246139"/>
          </a:xfrm>
          <a:prstGeom prst="straightConnector1">
            <a:avLst/>
          </a:prstGeom>
          <a:noFill/>
          <a:ln w="12700">
            <a:solidFill>
              <a:schemeClr val="accent1"/>
            </a:solidFill>
            <a:round/>
            <a:headEnd/>
            <a:tailEnd type="triangle"/>
          </a:ln>
          <a:effectLst/>
        </p:spPr>
      </p:cxnSp>
      <p:cxnSp>
        <p:nvCxnSpPr>
          <p:cNvPr id="40" name="Connecteur droit avec flèche 39">
            <a:extLst>
              <a:ext uri="{FF2B5EF4-FFF2-40B4-BE49-F238E27FC236}">
                <a16:creationId xmlns:a16="http://schemas.microsoft.com/office/drawing/2014/main" id="{661CDEEF-DE69-108F-FB2F-6E4C3E2FAE5F}"/>
              </a:ext>
            </a:extLst>
          </p:cNvPr>
          <p:cNvCxnSpPr>
            <a:cxnSpLocks/>
          </p:cNvCxnSpPr>
          <p:nvPr/>
        </p:nvCxnSpPr>
        <p:spPr bwMode="gray">
          <a:xfrm flipH="1">
            <a:off x="9369097" y="3911030"/>
            <a:ext cx="198853" cy="72905"/>
          </a:xfrm>
          <a:prstGeom prst="straightConnector1">
            <a:avLst/>
          </a:prstGeom>
          <a:noFill/>
          <a:ln w="12700">
            <a:solidFill>
              <a:schemeClr val="accent1"/>
            </a:solidFill>
            <a:round/>
            <a:headEnd/>
            <a:tailEnd type="triangle"/>
          </a:ln>
          <a:effectLst/>
        </p:spPr>
      </p:cxnSp>
    </p:spTree>
    <p:extLst>
      <p:ext uri="{BB962C8B-B14F-4D97-AF65-F5344CB8AC3E}">
        <p14:creationId xmlns:p14="http://schemas.microsoft.com/office/powerpoint/2010/main" val="842617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anim calcmode="lin" valueType="num">
                                      <p:cBhvr>
                                        <p:cTn id="20" dur="1000" fill="hold"/>
                                        <p:tgtEl>
                                          <p:spTgt spid="26"/>
                                        </p:tgtEl>
                                        <p:attrNameLst>
                                          <p:attrName>ppt_x</p:attrName>
                                        </p:attrNameLst>
                                      </p:cBhvr>
                                      <p:tavLst>
                                        <p:tav tm="0">
                                          <p:val>
                                            <p:strVal val="#ppt_x"/>
                                          </p:val>
                                        </p:tav>
                                        <p:tav tm="100000">
                                          <p:val>
                                            <p:strVal val="#ppt_x"/>
                                          </p:val>
                                        </p:tav>
                                      </p:tavLst>
                                    </p:anim>
                                    <p:anim calcmode="lin" valueType="num">
                                      <p:cBhvr>
                                        <p:cTn id="21" dur="1000" fill="hold"/>
                                        <p:tgtEl>
                                          <p:spTgt spid="26"/>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1000"/>
                                        <p:tgtEl>
                                          <p:spTgt spid="34"/>
                                        </p:tgtEl>
                                      </p:cBhvr>
                                    </p:animEffect>
                                    <p:anim calcmode="lin" valueType="num">
                                      <p:cBhvr>
                                        <p:cTn id="25" dur="1000" fill="hold"/>
                                        <p:tgtEl>
                                          <p:spTgt spid="34"/>
                                        </p:tgtEl>
                                        <p:attrNameLst>
                                          <p:attrName>ppt_x</p:attrName>
                                        </p:attrNameLst>
                                      </p:cBhvr>
                                      <p:tavLst>
                                        <p:tav tm="0">
                                          <p:val>
                                            <p:strVal val="#ppt_x"/>
                                          </p:val>
                                        </p:tav>
                                        <p:tav tm="100000">
                                          <p:val>
                                            <p:strVal val="#ppt_x"/>
                                          </p:val>
                                        </p:tav>
                                      </p:tavLst>
                                    </p:anim>
                                    <p:anim calcmode="lin" valueType="num">
                                      <p:cBhvr>
                                        <p:cTn id="2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1000"/>
                                        <p:tgtEl>
                                          <p:spTgt spid="25"/>
                                        </p:tgtEl>
                                      </p:cBhvr>
                                    </p:animEffect>
                                    <p:anim calcmode="lin" valueType="num">
                                      <p:cBhvr>
                                        <p:cTn id="32" dur="1000" fill="hold"/>
                                        <p:tgtEl>
                                          <p:spTgt spid="25"/>
                                        </p:tgtEl>
                                        <p:attrNameLst>
                                          <p:attrName>ppt_x</p:attrName>
                                        </p:attrNameLst>
                                      </p:cBhvr>
                                      <p:tavLst>
                                        <p:tav tm="0">
                                          <p:val>
                                            <p:strVal val="#ppt_x"/>
                                          </p:val>
                                        </p:tav>
                                        <p:tav tm="100000">
                                          <p:val>
                                            <p:strVal val="#ppt_x"/>
                                          </p:val>
                                        </p:tav>
                                      </p:tavLst>
                                    </p:anim>
                                    <p:anim calcmode="lin" valueType="num">
                                      <p:cBhvr>
                                        <p:cTn id="33" dur="1000" fill="hold"/>
                                        <p:tgtEl>
                                          <p:spTgt spid="25"/>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1000"/>
                                        <p:tgtEl>
                                          <p:spTgt spid="35"/>
                                        </p:tgtEl>
                                      </p:cBhvr>
                                    </p:animEffect>
                                    <p:anim calcmode="lin" valueType="num">
                                      <p:cBhvr>
                                        <p:cTn id="37" dur="1000" fill="hold"/>
                                        <p:tgtEl>
                                          <p:spTgt spid="35"/>
                                        </p:tgtEl>
                                        <p:attrNameLst>
                                          <p:attrName>ppt_x</p:attrName>
                                        </p:attrNameLst>
                                      </p:cBhvr>
                                      <p:tavLst>
                                        <p:tav tm="0">
                                          <p:val>
                                            <p:strVal val="#ppt_x"/>
                                          </p:val>
                                        </p:tav>
                                        <p:tav tm="100000">
                                          <p:val>
                                            <p:strVal val="#ppt_x"/>
                                          </p:val>
                                        </p:tav>
                                      </p:tavLst>
                                    </p:anim>
                                    <p:anim calcmode="lin" valueType="num">
                                      <p:cBhvr>
                                        <p:cTn id="38"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1000"/>
                                        <p:tgtEl>
                                          <p:spTgt spid="27"/>
                                        </p:tgtEl>
                                      </p:cBhvr>
                                    </p:animEffect>
                                    <p:anim calcmode="lin" valueType="num">
                                      <p:cBhvr>
                                        <p:cTn id="44" dur="1000" fill="hold"/>
                                        <p:tgtEl>
                                          <p:spTgt spid="27"/>
                                        </p:tgtEl>
                                        <p:attrNameLst>
                                          <p:attrName>ppt_x</p:attrName>
                                        </p:attrNameLst>
                                      </p:cBhvr>
                                      <p:tavLst>
                                        <p:tav tm="0">
                                          <p:val>
                                            <p:strVal val="#ppt_x"/>
                                          </p:val>
                                        </p:tav>
                                        <p:tav tm="100000">
                                          <p:val>
                                            <p:strVal val="#ppt_x"/>
                                          </p:val>
                                        </p:tav>
                                      </p:tavLst>
                                    </p:anim>
                                    <p:anim calcmode="lin" valueType="num">
                                      <p:cBhvr>
                                        <p:cTn id="45" dur="1000" fill="hold"/>
                                        <p:tgtEl>
                                          <p:spTgt spid="27"/>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1000"/>
                                        <p:tgtEl>
                                          <p:spTgt spid="37"/>
                                        </p:tgtEl>
                                      </p:cBhvr>
                                    </p:animEffect>
                                    <p:anim calcmode="lin" valueType="num">
                                      <p:cBhvr>
                                        <p:cTn id="49" dur="1000" fill="hold"/>
                                        <p:tgtEl>
                                          <p:spTgt spid="37"/>
                                        </p:tgtEl>
                                        <p:attrNameLst>
                                          <p:attrName>ppt_x</p:attrName>
                                        </p:attrNameLst>
                                      </p:cBhvr>
                                      <p:tavLst>
                                        <p:tav tm="0">
                                          <p:val>
                                            <p:strVal val="#ppt_x"/>
                                          </p:val>
                                        </p:tav>
                                        <p:tav tm="100000">
                                          <p:val>
                                            <p:strVal val="#ppt_x"/>
                                          </p:val>
                                        </p:tav>
                                      </p:tavLst>
                                    </p:anim>
                                    <p:anim calcmode="lin" valueType="num">
                                      <p:cBhvr>
                                        <p:cTn id="50"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1000"/>
                                        <p:tgtEl>
                                          <p:spTgt spid="7"/>
                                        </p:tgtEl>
                                      </p:cBhvr>
                                    </p:animEffect>
                                    <p:anim calcmode="lin" valueType="num">
                                      <p:cBhvr>
                                        <p:cTn id="56" dur="1000" fill="hold"/>
                                        <p:tgtEl>
                                          <p:spTgt spid="7"/>
                                        </p:tgtEl>
                                        <p:attrNameLst>
                                          <p:attrName>ppt_x</p:attrName>
                                        </p:attrNameLst>
                                      </p:cBhvr>
                                      <p:tavLst>
                                        <p:tav tm="0">
                                          <p:val>
                                            <p:strVal val="#ppt_x"/>
                                          </p:val>
                                        </p:tav>
                                        <p:tav tm="100000">
                                          <p:val>
                                            <p:strVal val="#ppt_x"/>
                                          </p:val>
                                        </p:tav>
                                      </p:tavLst>
                                    </p:anim>
                                    <p:anim calcmode="lin" valueType="num">
                                      <p:cBhvr>
                                        <p:cTn id="57" dur="1000" fill="hold"/>
                                        <p:tgtEl>
                                          <p:spTgt spid="7"/>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1000"/>
                                        <p:tgtEl>
                                          <p:spTgt spid="36"/>
                                        </p:tgtEl>
                                      </p:cBhvr>
                                    </p:animEffect>
                                    <p:anim calcmode="lin" valueType="num">
                                      <p:cBhvr>
                                        <p:cTn id="61" dur="1000" fill="hold"/>
                                        <p:tgtEl>
                                          <p:spTgt spid="36"/>
                                        </p:tgtEl>
                                        <p:attrNameLst>
                                          <p:attrName>ppt_x</p:attrName>
                                        </p:attrNameLst>
                                      </p:cBhvr>
                                      <p:tavLst>
                                        <p:tav tm="0">
                                          <p:val>
                                            <p:strVal val="#ppt_x"/>
                                          </p:val>
                                        </p:tav>
                                        <p:tav tm="100000">
                                          <p:val>
                                            <p:strVal val="#ppt_x"/>
                                          </p:val>
                                        </p:tav>
                                      </p:tavLst>
                                    </p:anim>
                                    <p:anim calcmode="lin" valueType="num">
                                      <p:cBhvr>
                                        <p:cTn id="62"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1000"/>
                                        <p:tgtEl>
                                          <p:spTgt spid="38"/>
                                        </p:tgtEl>
                                      </p:cBhvr>
                                    </p:animEffect>
                                    <p:anim calcmode="lin" valueType="num">
                                      <p:cBhvr>
                                        <p:cTn id="73" dur="1000" fill="hold"/>
                                        <p:tgtEl>
                                          <p:spTgt spid="38"/>
                                        </p:tgtEl>
                                        <p:attrNameLst>
                                          <p:attrName>ppt_x</p:attrName>
                                        </p:attrNameLst>
                                      </p:cBhvr>
                                      <p:tavLst>
                                        <p:tav tm="0">
                                          <p:val>
                                            <p:strVal val="#ppt_x"/>
                                          </p:val>
                                        </p:tav>
                                        <p:tav tm="100000">
                                          <p:val>
                                            <p:strVal val="#ppt_x"/>
                                          </p:val>
                                        </p:tav>
                                      </p:tavLst>
                                    </p:anim>
                                    <p:anim calcmode="lin" valueType="num">
                                      <p:cBhvr>
                                        <p:cTn id="74"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1000"/>
                                        <p:tgtEl>
                                          <p:spTgt spid="13"/>
                                        </p:tgtEl>
                                      </p:cBhvr>
                                    </p:animEffect>
                                    <p:anim calcmode="lin" valueType="num">
                                      <p:cBhvr>
                                        <p:cTn id="80" dur="1000" fill="hold"/>
                                        <p:tgtEl>
                                          <p:spTgt spid="13"/>
                                        </p:tgtEl>
                                        <p:attrNameLst>
                                          <p:attrName>ppt_x</p:attrName>
                                        </p:attrNameLst>
                                      </p:cBhvr>
                                      <p:tavLst>
                                        <p:tav tm="0">
                                          <p:val>
                                            <p:strVal val="#ppt_x"/>
                                          </p:val>
                                        </p:tav>
                                        <p:tav tm="100000">
                                          <p:val>
                                            <p:strVal val="#ppt_x"/>
                                          </p:val>
                                        </p:tav>
                                      </p:tavLst>
                                    </p:anim>
                                    <p:anim calcmode="lin" valueType="num">
                                      <p:cBhvr>
                                        <p:cTn id="81" dur="1000" fill="hold"/>
                                        <p:tgtEl>
                                          <p:spTgt spid="13"/>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1000"/>
                                        <p:tgtEl>
                                          <p:spTgt spid="39"/>
                                        </p:tgtEl>
                                      </p:cBhvr>
                                    </p:animEffect>
                                    <p:anim calcmode="lin" valueType="num">
                                      <p:cBhvr>
                                        <p:cTn id="85" dur="1000" fill="hold"/>
                                        <p:tgtEl>
                                          <p:spTgt spid="39"/>
                                        </p:tgtEl>
                                        <p:attrNameLst>
                                          <p:attrName>ppt_x</p:attrName>
                                        </p:attrNameLst>
                                      </p:cBhvr>
                                      <p:tavLst>
                                        <p:tav tm="0">
                                          <p:val>
                                            <p:strVal val="#ppt_x"/>
                                          </p:val>
                                        </p:tav>
                                        <p:tav tm="100000">
                                          <p:val>
                                            <p:strVal val="#ppt_x"/>
                                          </p:val>
                                        </p:tav>
                                      </p:tavLst>
                                    </p:anim>
                                    <p:anim calcmode="lin" valueType="num">
                                      <p:cBhvr>
                                        <p:cTn id="8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fade">
                                      <p:cBhvr>
                                        <p:cTn id="91" dur="1000"/>
                                        <p:tgtEl>
                                          <p:spTgt spid="12"/>
                                        </p:tgtEl>
                                      </p:cBhvr>
                                    </p:animEffect>
                                    <p:anim calcmode="lin" valueType="num">
                                      <p:cBhvr>
                                        <p:cTn id="92" dur="1000" fill="hold"/>
                                        <p:tgtEl>
                                          <p:spTgt spid="12"/>
                                        </p:tgtEl>
                                        <p:attrNameLst>
                                          <p:attrName>ppt_x</p:attrName>
                                        </p:attrNameLst>
                                      </p:cBhvr>
                                      <p:tavLst>
                                        <p:tav tm="0">
                                          <p:val>
                                            <p:strVal val="#ppt_x"/>
                                          </p:val>
                                        </p:tav>
                                        <p:tav tm="100000">
                                          <p:val>
                                            <p:strVal val="#ppt_x"/>
                                          </p:val>
                                        </p:tav>
                                      </p:tavLst>
                                    </p:anim>
                                    <p:anim calcmode="lin" valueType="num">
                                      <p:cBhvr>
                                        <p:cTn id="93" dur="1000" fill="hold"/>
                                        <p:tgtEl>
                                          <p:spTgt spid="12"/>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1000"/>
                                        <p:tgtEl>
                                          <p:spTgt spid="31"/>
                                        </p:tgtEl>
                                      </p:cBhvr>
                                    </p:animEffect>
                                    <p:anim calcmode="lin" valueType="num">
                                      <p:cBhvr>
                                        <p:cTn id="97" dur="1000" fill="hold"/>
                                        <p:tgtEl>
                                          <p:spTgt spid="31"/>
                                        </p:tgtEl>
                                        <p:attrNameLst>
                                          <p:attrName>ppt_x</p:attrName>
                                        </p:attrNameLst>
                                      </p:cBhvr>
                                      <p:tavLst>
                                        <p:tav tm="0">
                                          <p:val>
                                            <p:strVal val="#ppt_x"/>
                                          </p:val>
                                        </p:tav>
                                        <p:tav tm="100000">
                                          <p:val>
                                            <p:strVal val="#ppt_x"/>
                                          </p:val>
                                        </p:tav>
                                      </p:tavLst>
                                    </p:anim>
                                    <p:anim calcmode="lin" valueType="num">
                                      <p:cBhvr>
                                        <p:cTn id="9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nodeType="click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1000"/>
                                        <p:tgtEl>
                                          <p:spTgt spid="40"/>
                                        </p:tgtEl>
                                      </p:cBhvr>
                                    </p:animEffect>
                                    <p:anim calcmode="lin" valueType="num">
                                      <p:cBhvr>
                                        <p:cTn id="104" dur="1000" fill="hold"/>
                                        <p:tgtEl>
                                          <p:spTgt spid="40"/>
                                        </p:tgtEl>
                                        <p:attrNameLst>
                                          <p:attrName>ppt_x</p:attrName>
                                        </p:attrNameLst>
                                      </p:cBhvr>
                                      <p:tavLst>
                                        <p:tav tm="0">
                                          <p:val>
                                            <p:strVal val="#ppt_x"/>
                                          </p:val>
                                        </p:tav>
                                        <p:tav tm="100000">
                                          <p:val>
                                            <p:strVal val="#ppt_x"/>
                                          </p:val>
                                        </p:tav>
                                      </p:tavLst>
                                    </p:anim>
                                    <p:anim calcmode="lin" valueType="num">
                                      <p:cBhvr>
                                        <p:cTn id="105" dur="1000" fill="hold"/>
                                        <p:tgtEl>
                                          <p:spTgt spid="40"/>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fade">
                                      <p:cBhvr>
                                        <p:cTn id="108" dur="1000"/>
                                        <p:tgtEl>
                                          <p:spTgt spid="11"/>
                                        </p:tgtEl>
                                      </p:cBhvr>
                                    </p:animEffect>
                                    <p:anim calcmode="lin" valueType="num">
                                      <p:cBhvr>
                                        <p:cTn id="109" dur="1000" fill="hold"/>
                                        <p:tgtEl>
                                          <p:spTgt spid="11"/>
                                        </p:tgtEl>
                                        <p:attrNameLst>
                                          <p:attrName>ppt_x</p:attrName>
                                        </p:attrNameLst>
                                      </p:cBhvr>
                                      <p:tavLst>
                                        <p:tav tm="0">
                                          <p:val>
                                            <p:strVal val="#ppt_x"/>
                                          </p:val>
                                        </p:tav>
                                        <p:tav tm="100000">
                                          <p:val>
                                            <p:strVal val="#ppt_x"/>
                                          </p:val>
                                        </p:tav>
                                      </p:tavLst>
                                    </p:anim>
                                    <p:anim calcmode="lin" valueType="num">
                                      <p:cBhvr>
                                        <p:cTn id="11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24"/>
                                        </p:tgtEl>
                                        <p:attrNameLst>
                                          <p:attrName>style.visibility</p:attrName>
                                        </p:attrNameLst>
                                      </p:cBhvr>
                                      <p:to>
                                        <p:strVal val="visible"/>
                                      </p:to>
                                    </p:set>
                                    <p:animEffect transition="in" filter="fade">
                                      <p:cBhvr>
                                        <p:cTn id="115" dur="1000"/>
                                        <p:tgtEl>
                                          <p:spTgt spid="24"/>
                                        </p:tgtEl>
                                      </p:cBhvr>
                                    </p:animEffect>
                                    <p:anim calcmode="lin" valueType="num">
                                      <p:cBhvr>
                                        <p:cTn id="116" dur="1000" fill="hold"/>
                                        <p:tgtEl>
                                          <p:spTgt spid="24"/>
                                        </p:tgtEl>
                                        <p:attrNameLst>
                                          <p:attrName>ppt_x</p:attrName>
                                        </p:attrNameLst>
                                      </p:cBhvr>
                                      <p:tavLst>
                                        <p:tav tm="0">
                                          <p:val>
                                            <p:strVal val="#ppt_x"/>
                                          </p:val>
                                        </p:tav>
                                        <p:tav tm="100000">
                                          <p:val>
                                            <p:strVal val="#ppt_x"/>
                                          </p:val>
                                        </p:tav>
                                      </p:tavLst>
                                    </p:anim>
                                    <p:anim calcmode="lin" valueType="num">
                                      <p:cBhvr>
                                        <p:cTn id="117" dur="1000" fill="hold"/>
                                        <p:tgtEl>
                                          <p:spTgt spid="24"/>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1000"/>
                                        <p:tgtEl>
                                          <p:spTgt spid="29"/>
                                        </p:tgtEl>
                                      </p:cBhvr>
                                    </p:animEffect>
                                    <p:anim calcmode="lin" valueType="num">
                                      <p:cBhvr>
                                        <p:cTn id="121" dur="1000" fill="hold"/>
                                        <p:tgtEl>
                                          <p:spTgt spid="29"/>
                                        </p:tgtEl>
                                        <p:attrNameLst>
                                          <p:attrName>ppt_x</p:attrName>
                                        </p:attrNameLst>
                                      </p:cBhvr>
                                      <p:tavLst>
                                        <p:tav tm="0">
                                          <p:val>
                                            <p:strVal val="#ppt_x"/>
                                          </p:val>
                                        </p:tav>
                                        <p:tav tm="100000">
                                          <p:val>
                                            <p:strVal val="#ppt_x"/>
                                          </p:val>
                                        </p:tav>
                                      </p:tavLst>
                                    </p:anim>
                                    <p:anim calcmode="lin" valueType="num">
                                      <p:cBhvr>
                                        <p:cTn id="12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fade">
                                      <p:cBhvr>
                                        <p:cTn id="127" dur="1000"/>
                                        <p:tgtEl>
                                          <p:spTgt spid="22"/>
                                        </p:tgtEl>
                                      </p:cBhvr>
                                    </p:animEffect>
                                    <p:anim calcmode="lin" valueType="num">
                                      <p:cBhvr>
                                        <p:cTn id="128" dur="1000" fill="hold"/>
                                        <p:tgtEl>
                                          <p:spTgt spid="22"/>
                                        </p:tgtEl>
                                        <p:attrNameLst>
                                          <p:attrName>ppt_x</p:attrName>
                                        </p:attrNameLst>
                                      </p:cBhvr>
                                      <p:tavLst>
                                        <p:tav tm="0">
                                          <p:val>
                                            <p:strVal val="#ppt_x"/>
                                          </p:val>
                                        </p:tav>
                                        <p:tav tm="100000">
                                          <p:val>
                                            <p:strVal val="#ppt_x"/>
                                          </p:val>
                                        </p:tav>
                                      </p:tavLst>
                                    </p:anim>
                                    <p:anim calcmode="lin" valueType="num">
                                      <p:cBhvr>
                                        <p:cTn id="129" dur="1000" fill="hold"/>
                                        <p:tgtEl>
                                          <p:spTgt spid="22"/>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31" dur="1" fill="hold">
                                          <p:stCondLst>
                                            <p:cond delay="0"/>
                                          </p:stCondLst>
                                        </p:cTn>
                                        <p:tgtEl>
                                          <p:spTgt spid="30"/>
                                        </p:tgtEl>
                                        <p:attrNameLst>
                                          <p:attrName>style.visibility</p:attrName>
                                        </p:attrNameLst>
                                      </p:cBhvr>
                                      <p:to>
                                        <p:strVal val="visible"/>
                                      </p:to>
                                    </p:set>
                                    <p:animEffect transition="in" filter="fade">
                                      <p:cBhvr>
                                        <p:cTn id="132" dur="1000"/>
                                        <p:tgtEl>
                                          <p:spTgt spid="30"/>
                                        </p:tgtEl>
                                      </p:cBhvr>
                                    </p:animEffect>
                                    <p:anim calcmode="lin" valueType="num">
                                      <p:cBhvr>
                                        <p:cTn id="133" dur="1000" fill="hold"/>
                                        <p:tgtEl>
                                          <p:spTgt spid="30"/>
                                        </p:tgtEl>
                                        <p:attrNameLst>
                                          <p:attrName>ppt_x</p:attrName>
                                        </p:attrNameLst>
                                      </p:cBhvr>
                                      <p:tavLst>
                                        <p:tav tm="0">
                                          <p:val>
                                            <p:strVal val="#ppt_x"/>
                                          </p:val>
                                        </p:tav>
                                        <p:tav tm="100000">
                                          <p:val>
                                            <p:strVal val="#ppt_x"/>
                                          </p:val>
                                        </p:tav>
                                      </p:tavLst>
                                    </p:anim>
                                    <p:anim calcmode="lin" valueType="num">
                                      <p:cBhvr>
                                        <p:cTn id="13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4" grpId="0"/>
      <p:bldP spid="22" grpId="0"/>
      <p:bldP spid="23" grpId="0"/>
      <p:bldP spid="24" grpId="0"/>
      <p:bldP spid="25" grpId="0"/>
      <p:bldP spid="26" grpId="0"/>
      <p:bldP spid="2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D9BA-E112-9D3E-77EE-8710340850A5}"/>
            </a:ext>
          </a:extLst>
        </p:cNvPr>
        <p:cNvGrpSpPr/>
        <p:nvPr/>
      </p:nvGrpSpPr>
      <p:grpSpPr>
        <a:xfrm>
          <a:off x="0" y="0"/>
          <a:ext cx="0" cy="0"/>
          <a:chOff x="0" y="0"/>
          <a:chExt cx="0" cy="0"/>
        </a:xfrm>
      </p:grpSpPr>
      <p:grpSp>
        <p:nvGrpSpPr>
          <p:cNvPr id="57" name="Groupe 56">
            <a:extLst>
              <a:ext uri="{FF2B5EF4-FFF2-40B4-BE49-F238E27FC236}">
                <a16:creationId xmlns:a16="http://schemas.microsoft.com/office/drawing/2014/main" id="{EE25B6C3-F0F4-13AA-73DE-D40A1681F89B}"/>
              </a:ext>
            </a:extLst>
          </p:cNvPr>
          <p:cNvGrpSpPr/>
          <p:nvPr/>
        </p:nvGrpSpPr>
        <p:grpSpPr>
          <a:xfrm>
            <a:off x="2524511" y="2375049"/>
            <a:ext cx="7716179" cy="4268223"/>
            <a:chOff x="2524511" y="2375049"/>
            <a:chExt cx="7716179" cy="4268223"/>
          </a:xfrm>
        </p:grpSpPr>
        <p:pic>
          <p:nvPicPr>
            <p:cNvPr id="41" name="Image 40">
              <a:extLst>
                <a:ext uri="{FF2B5EF4-FFF2-40B4-BE49-F238E27FC236}">
                  <a16:creationId xmlns:a16="http://schemas.microsoft.com/office/drawing/2014/main" id="{1168C890-19C2-D0F1-F595-993523362F56}"/>
                </a:ext>
              </a:extLst>
            </p:cNvPr>
            <p:cNvPicPr>
              <a:picLocks noChangeAspect="1"/>
            </p:cNvPicPr>
            <p:nvPr/>
          </p:nvPicPr>
          <p:blipFill>
            <a:blip r:embed="rId3"/>
            <a:stretch>
              <a:fillRect/>
            </a:stretch>
          </p:blipFill>
          <p:spPr>
            <a:xfrm>
              <a:off x="2524511" y="2375049"/>
              <a:ext cx="7716179" cy="4268223"/>
            </a:xfrm>
            <a:prstGeom prst="rect">
              <a:avLst/>
            </a:prstGeom>
          </p:spPr>
        </p:pic>
        <p:sp>
          <p:nvSpPr>
            <p:cNvPr id="56" name="Rectangle 55">
              <a:extLst>
                <a:ext uri="{FF2B5EF4-FFF2-40B4-BE49-F238E27FC236}">
                  <a16:creationId xmlns:a16="http://schemas.microsoft.com/office/drawing/2014/main" id="{E44B279A-6392-EF1F-3C51-0D164FF28BC3}"/>
                </a:ext>
              </a:extLst>
            </p:cNvPr>
            <p:cNvSpPr/>
            <p:nvPr/>
          </p:nvSpPr>
          <p:spPr>
            <a:xfrm>
              <a:off x="2590799" y="2439109"/>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graphicFrame>
        <p:nvGraphicFramePr>
          <p:cNvPr id="3" name="Diagramme 2">
            <a:extLst>
              <a:ext uri="{FF2B5EF4-FFF2-40B4-BE49-F238E27FC236}">
                <a16:creationId xmlns:a16="http://schemas.microsoft.com/office/drawing/2014/main" id="{E4E34A32-8DEC-F93D-76EC-91ACB7E87EA1}"/>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Connecteur droit 6">
            <a:extLst>
              <a:ext uri="{FF2B5EF4-FFF2-40B4-BE49-F238E27FC236}">
                <a16:creationId xmlns:a16="http://schemas.microsoft.com/office/drawing/2014/main" id="{85505D28-9D64-4413-D8AE-C237B94A866E}"/>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15193AE8-996A-FA42-26E4-10482F192A97}"/>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5181CC54-79A2-46EE-861F-2B5B003FF04F}"/>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49E25A17-8F6E-DBF5-0407-CCEC1ADFCDE6}"/>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4988431A-5AD1-EF30-A2A4-222BCF2390C7}"/>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32237202-EE76-6AC9-29A1-315595E4147B}"/>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269FC551-9C7B-A7FB-2563-82978502EEAD}"/>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7CE62219-D72A-19DF-04A5-6D88E3F126B6}"/>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32</a:t>
            </a:fld>
            <a:endParaRPr lang="en-GB" dirty="0"/>
          </a:p>
        </p:txBody>
      </p:sp>
      <p:sp>
        <p:nvSpPr>
          <p:cNvPr id="6" name="Ellipse 7">
            <a:extLst>
              <a:ext uri="{FF2B5EF4-FFF2-40B4-BE49-F238E27FC236}">
                <a16:creationId xmlns:a16="http://schemas.microsoft.com/office/drawing/2014/main" id="{A38854DE-386F-A48C-0A0A-8AC4EA441BCF}"/>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855FA29A-2E5B-A849-3C6B-4BF41F0BE248}"/>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Rejection Tracking</a:t>
            </a:r>
          </a:p>
        </p:txBody>
      </p:sp>
      <p:sp>
        <p:nvSpPr>
          <p:cNvPr id="32" name="ZoneTexte 31">
            <a:extLst>
              <a:ext uri="{FF2B5EF4-FFF2-40B4-BE49-F238E27FC236}">
                <a16:creationId xmlns:a16="http://schemas.microsoft.com/office/drawing/2014/main" id="{70E7D448-49B4-FF9F-371A-FCE8AA404B3A}"/>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02	</a:t>
            </a:r>
          </a:p>
        </p:txBody>
      </p:sp>
      <p:sp>
        <p:nvSpPr>
          <p:cNvPr id="42" name="ZoneTexte 41">
            <a:extLst>
              <a:ext uri="{FF2B5EF4-FFF2-40B4-BE49-F238E27FC236}">
                <a16:creationId xmlns:a16="http://schemas.microsoft.com/office/drawing/2014/main" id="{1B7D731C-1174-F26D-0923-DECD19858014}"/>
              </a:ext>
            </a:extLst>
          </p:cNvPr>
          <p:cNvSpPr txBox="1"/>
          <p:nvPr/>
        </p:nvSpPr>
        <p:spPr>
          <a:xfrm>
            <a:off x="710807" y="2907621"/>
            <a:ext cx="880062" cy="84439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Permet de cibler </a:t>
            </a:r>
          </a:p>
          <a:p>
            <a:pPr>
              <a:buNone/>
            </a:pPr>
            <a:r>
              <a:rPr lang="fr-MA" sz="1200" dirty="0">
                <a:solidFill>
                  <a:srgbClr val="000000"/>
                </a:solidFill>
                <a:latin typeface="Open Sans"/>
                <a:ea typeface="Open Sans"/>
                <a:cs typeface="Open Sans"/>
              </a:rPr>
              <a:t>un fichier spécifique</a:t>
            </a:r>
          </a:p>
          <a:p>
            <a:pPr>
              <a:buNone/>
            </a:pPr>
            <a:r>
              <a:rPr lang="fr-MA" sz="1200" dirty="0">
                <a:solidFill>
                  <a:srgbClr val="000000"/>
                </a:solidFill>
                <a:latin typeface="Open Sans"/>
                <a:ea typeface="Open Sans"/>
                <a:cs typeface="Open Sans"/>
              </a:rPr>
              <a:t> pour consulter son </a:t>
            </a:r>
          </a:p>
          <a:p>
            <a:pPr>
              <a:buNone/>
            </a:pPr>
            <a:r>
              <a:rPr lang="fr-MA" sz="1200" dirty="0">
                <a:solidFill>
                  <a:srgbClr val="000000"/>
                </a:solidFill>
                <a:latin typeface="Open Sans"/>
                <a:ea typeface="Open Sans"/>
                <a:cs typeface="Open Sans"/>
              </a:rPr>
              <a:t>historique qualité</a:t>
            </a:r>
            <a:endParaRPr lang="fr-MA" sz="1200" b="1" dirty="0"/>
          </a:p>
        </p:txBody>
      </p:sp>
      <p:sp>
        <p:nvSpPr>
          <p:cNvPr id="43" name="ZoneTexte 42">
            <a:extLst>
              <a:ext uri="{FF2B5EF4-FFF2-40B4-BE49-F238E27FC236}">
                <a16:creationId xmlns:a16="http://schemas.microsoft.com/office/drawing/2014/main" id="{2B26B1E7-1755-2739-6A73-A73DB9CAE75E}"/>
              </a:ext>
            </a:extLst>
          </p:cNvPr>
          <p:cNvSpPr txBox="1"/>
          <p:nvPr/>
        </p:nvSpPr>
        <p:spPr>
          <a:xfrm>
            <a:off x="4625393" y="1987632"/>
            <a:ext cx="880062" cy="84439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Lorsqu’activé, restreint les données</a:t>
            </a:r>
          </a:p>
          <a:p>
            <a:pPr>
              <a:buNone/>
            </a:pPr>
            <a:r>
              <a:rPr lang="fr-MA" sz="1200" dirty="0">
                <a:solidFill>
                  <a:srgbClr val="000000"/>
                </a:solidFill>
                <a:latin typeface="Open Sans"/>
                <a:ea typeface="Open Sans"/>
                <a:cs typeface="Open Sans"/>
              </a:rPr>
              <a:t> aux 15 derniers jours </a:t>
            </a:r>
          </a:p>
        </p:txBody>
      </p:sp>
      <p:sp>
        <p:nvSpPr>
          <p:cNvPr id="44" name="ZoneTexte 43">
            <a:extLst>
              <a:ext uri="{FF2B5EF4-FFF2-40B4-BE49-F238E27FC236}">
                <a16:creationId xmlns:a16="http://schemas.microsoft.com/office/drawing/2014/main" id="{6C3E3914-85CF-1693-91F0-548799300689}"/>
              </a:ext>
            </a:extLst>
          </p:cNvPr>
          <p:cNvSpPr txBox="1"/>
          <p:nvPr/>
        </p:nvSpPr>
        <p:spPr>
          <a:xfrm>
            <a:off x="10236901" y="2050333"/>
            <a:ext cx="880061" cy="1567012"/>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Fournir un journal détaillé</a:t>
            </a:r>
          </a:p>
          <a:p>
            <a:pPr>
              <a:buNone/>
            </a:pPr>
            <a:r>
              <a:rPr lang="fr-MA" sz="1200" dirty="0">
                <a:solidFill>
                  <a:srgbClr val="000000"/>
                </a:solidFill>
                <a:latin typeface="Open Sans"/>
                <a:ea typeface="Open Sans"/>
                <a:cs typeface="Open Sans"/>
              </a:rPr>
              <a:t> des rejets par fichier</a:t>
            </a:r>
          </a:p>
          <a:p>
            <a:pPr>
              <a:buNone/>
            </a:pPr>
            <a:r>
              <a:rPr lang="fr-MA" sz="1200" dirty="0">
                <a:solidFill>
                  <a:srgbClr val="000000"/>
                </a:solidFill>
                <a:latin typeface="Open Sans"/>
                <a:ea typeface="Open Sans"/>
                <a:cs typeface="Open Sans"/>
              </a:rPr>
              <a:t> et par jour, avec une </a:t>
            </a:r>
          </a:p>
          <a:p>
            <a:pPr>
              <a:buNone/>
            </a:pPr>
            <a:r>
              <a:rPr lang="fr-MA" sz="1200" dirty="0">
                <a:solidFill>
                  <a:srgbClr val="000000"/>
                </a:solidFill>
                <a:latin typeface="Open Sans"/>
                <a:ea typeface="Open Sans"/>
                <a:cs typeface="Open Sans"/>
              </a:rPr>
              <a:t>Notion d’urgence</a:t>
            </a:r>
          </a:p>
          <a:p>
            <a:pPr>
              <a:buNone/>
            </a:pPr>
            <a:r>
              <a:rPr lang="fr-MA" sz="1200" dirty="0">
                <a:solidFill>
                  <a:srgbClr val="000000"/>
                </a:solidFill>
                <a:latin typeface="Open Sans"/>
                <a:ea typeface="Open Sans"/>
                <a:cs typeface="Open Sans"/>
              </a:rPr>
              <a:t>pour guider les actions</a:t>
            </a:r>
          </a:p>
          <a:p>
            <a:pPr>
              <a:buNone/>
            </a:pPr>
            <a:r>
              <a:rPr lang="fr-MA" sz="1200" dirty="0">
                <a:solidFill>
                  <a:srgbClr val="000000"/>
                </a:solidFill>
                <a:latin typeface="Open Sans"/>
                <a:ea typeface="Open Sans"/>
                <a:cs typeface="Open Sans"/>
              </a:rPr>
              <a:t> correctives</a:t>
            </a:r>
          </a:p>
        </p:txBody>
      </p:sp>
      <p:sp>
        <p:nvSpPr>
          <p:cNvPr id="45" name="ZoneTexte 44">
            <a:extLst>
              <a:ext uri="{FF2B5EF4-FFF2-40B4-BE49-F238E27FC236}">
                <a16:creationId xmlns:a16="http://schemas.microsoft.com/office/drawing/2014/main" id="{BC5FA3B7-7250-6322-7AFD-8C62D9FB5946}"/>
              </a:ext>
            </a:extLst>
          </p:cNvPr>
          <p:cNvSpPr txBox="1"/>
          <p:nvPr/>
        </p:nvSpPr>
        <p:spPr>
          <a:xfrm>
            <a:off x="10304061" y="5511957"/>
            <a:ext cx="880062" cy="84439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Visualiser l’évolution des</a:t>
            </a:r>
          </a:p>
          <a:p>
            <a:pPr>
              <a:buNone/>
            </a:pPr>
            <a:r>
              <a:rPr lang="fr-MA" sz="1200" dirty="0">
                <a:solidFill>
                  <a:srgbClr val="000000"/>
                </a:solidFill>
                <a:latin typeface="Open Sans"/>
                <a:ea typeface="Open Sans"/>
                <a:cs typeface="Open Sans"/>
              </a:rPr>
              <a:t> rejets</a:t>
            </a:r>
          </a:p>
        </p:txBody>
      </p:sp>
      <p:sp>
        <p:nvSpPr>
          <p:cNvPr id="46" name="ZoneTexte 45">
            <a:extLst>
              <a:ext uri="{FF2B5EF4-FFF2-40B4-BE49-F238E27FC236}">
                <a16:creationId xmlns:a16="http://schemas.microsoft.com/office/drawing/2014/main" id="{FBB242D7-426E-8611-42FE-5E60F9F64A75}"/>
              </a:ext>
            </a:extLst>
          </p:cNvPr>
          <p:cNvSpPr txBox="1"/>
          <p:nvPr/>
        </p:nvSpPr>
        <p:spPr>
          <a:xfrm>
            <a:off x="567846" y="5266985"/>
            <a:ext cx="880062" cy="844393"/>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Afficher le taux de rejet</a:t>
            </a:r>
          </a:p>
          <a:p>
            <a:pPr>
              <a:buNone/>
            </a:pPr>
            <a:r>
              <a:rPr lang="fr-MA" sz="1200" dirty="0">
                <a:solidFill>
                  <a:srgbClr val="000000"/>
                </a:solidFill>
                <a:latin typeface="Open Sans"/>
                <a:ea typeface="Open Sans"/>
                <a:cs typeface="Open Sans"/>
              </a:rPr>
              <a:t> par fichier et un score</a:t>
            </a:r>
          </a:p>
          <a:p>
            <a:pPr>
              <a:buNone/>
            </a:pPr>
            <a:r>
              <a:rPr lang="fr-MA" sz="1200" dirty="0">
                <a:solidFill>
                  <a:srgbClr val="000000"/>
                </a:solidFill>
                <a:latin typeface="Open Sans"/>
                <a:ea typeface="Open Sans"/>
                <a:cs typeface="Open Sans"/>
              </a:rPr>
              <a:t> qualité calculé</a:t>
            </a:r>
          </a:p>
        </p:txBody>
      </p:sp>
      <p:cxnSp>
        <p:nvCxnSpPr>
          <p:cNvPr id="47" name="Connecteur droit avec flèche 46">
            <a:extLst>
              <a:ext uri="{FF2B5EF4-FFF2-40B4-BE49-F238E27FC236}">
                <a16:creationId xmlns:a16="http://schemas.microsoft.com/office/drawing/2014/main" id="{DCE73FA3-AE89-3A95-EC20-6B1AF4D1E7E7}"/>
              </a:ext>
            </a:extLst>
          </p:cNvPr>
          <p:cNvCxnSpPr>
            <a:cxnSpLocks/>
          </p:cNvCxnSpPr>
          <p:nvPr/>
        </p:nvCxnSpPr>
        <p:spPr bwMode="gray">
          <a:xfrm flipV="1">
            <a:off x="2311678" y="3186927"/>
            <a:ext cx="320158" cy="142891"/>
          </a:xfrm>
          <a:prstGeom prst="straightConnector1">
            <a:avLst/>
          </a:prstGeom>
          <a:noFill/>
          <a:ln w="12700">
            <a:solidFill>
              <a:schemeClr val="accent1"/>
            </a:solidFill>
            <a:round/>
            <a:headEnd/>
            <a:tailEnd type="triangle"/>
          </a:ln>
          <a:effectLst/>
        </p:spPr>
      </p:cxnSp>
      <p:cxnSp>
        <p:nvCxnSpPr>
          <p:cNvPr id="48" name="Connecteur droit avec flèche 47">
            <a:extLst>
              <a:ext uri="{FF2B5EF4-FFF2-40B4-BE49-F238E27FC236}">
                <a16:creationId xmlns:a16="http://schemas.microsoft.com/office/drawing/2014/main" id="{1B728D2C-C80A-0D9F-34B2-9D8A3999D90D}"/>
              </a:ext>
            </a:extLst>
          </p:cNvPr>
          <p:cNvCxnSpPr>
            <a:cxnSpLocks/>
          </p:cNvCxnSpPr>
          <p:nvPr/>
        </p:nvCxnSpPr>
        <p:spPr bwMode="gray">
          <a:xfrm flipH="1">
            <a:off x="4659811" y="2375716"/>
            <a:ext cx="120578" cy="624795"/>
          </a:xfrm>
          <a:prstGeom prst="straightConnector1">
            <a:avLst/>
          </a:prstGeom>
          <a:noFill/>
          <a:ln w="12700">
            <a:solidFill>
              <a:schemeClr val="accent1"/>
            </a:solidFill>
            <a:round/>
            <a:headEnd/>
            <a:tailEnd type="triangle"/>
          </a:ln>
          <a:effectLst/>
        </p:spPr>
      </p:cxnSp>
      <p:cxnSp>
        <p:nvCxnSpPr>
          <p:cNvPr id="49" name="Connecteur droit avec flèche 48">
            <a:extLst>
              <a:ext uri="{FF2B5EF4-FFF2-40B4-BE49-F238E27FC236}">
                <a16:creationId xmlns:a16="http://schemas.microsoft.com/office/drawing/2014/main" id="{350B9241-A8AF-C409-206F-0AD1EF1AF4E3}"/>
              </a:ext>
            </a:extLst>
          </p:cNvPr>
          <p:cNvCxnSpPr>
            <a:cxnSpLocks/>
          </p:cNvCxnSpPr>
          <p:nvPr/>
        </p:nvCxnSpPr>
        <p:spPr bwMode="gray">
          <a:xfrm flipV="1">
            <a:off x="2311678" y="4915433"/>
            <a:ext cx="425666" cy="304064"/>
          </a:xfrm>
          <a:prstGeom prst="straightConnector1">
            <a:avLst/>
          </a:prstGeom>
          <a:noFill/>
          <a:ln w="12700">
            <a:solidFill>
              <a:schemeClr val="accent1"/>
            </a:solidFill>
            <a:round/>
            <a:headEnd/>
            <a:tailEnd type="triangle"/>
          </a:ln>
          <a:effectLst/>
        </p:spPr>
      </p:cxnSp>
      <p:cxnSp>
        <p:nvCxnSpPr>
          <p:cNvPr id="50" name="Connecteur droit avec flèche 49">
            <a:extLst>
              <a:ext uri="{FF2B5EF4-FFF2-40B4-BE49-F238E27FC236}">
                <a16:creationId xmlns:a16="http://schemas.microsoft.com/office/drawing/2014/main" id="{233FF459-FBAC-8A13-6539-7B7E7D9FFC6F}"/>
              </a:ext>
            </a:extLst>
          </p:cNvPr>
          <p:cNvCxnSpPr>
            <a:cxnSpLocks/>
          </p:cNvCxnSpPr>
          <p:nvPr/>
        </p:nvCxnSpPr>
        <p:spPr bwMode="gray">
          <a:xfrm flipH="1">
            <a:off x="9542458" y="2375049"/>
            <a:ext cx="592142" cy="811879"/>
          </a:xfrm>
          <a:prstGeom prst="straightConnector1">
            <a:avLst/>
          </a:prstGeom>
          <a:noFill/>
          <a:ln w="12700">
            <a:solidFill>
              <a:schemeClr val="accent1"/>
            </a:solidFill>
            <a:round/>
            <a:headEnd/>
            <a:tailEnd type="triangle"/>
          </a:ln>
          <a:effectLst/>
        </p:spPr>
      </p:cxnSp>
      <p:cxnSp>
        <p:nvCxnSpPr>
          <p:cNvPr id="51" name="Connecteur droit avec flèche 50">
            <a:extLst>
              <a:ext uri="{FF2B5EF4-FFF2-40B4-BE49-F238E27FC236}">
                <a16:creationId xmlns:a16="http://schemas.microsoft.com/office/drawing/2014/main" id="{2997F62D-13A5-F209-C314-1D1AF14A3033}"/>
              </a:ext>
            </a:extLst>
          </p:cNvPr>
          <p:cNvCxnSpPr>
            <a:cxnSpLocks/>
          </p:cNvCxnSpPr>
          <p:nvPr/>
        </p:nvCxnSpPr>
        <p:spPr bwMode="gray">
          <a:xfrm flipH="1">
            <a:off x="9053986" y="5689182"/>
            <a:ext cx="1186704" cy="705652"/>
          </a:xfrm>
          <a:prstGeom prst="straightConnector1">
            <a:avLst/>
          </a:prstGeom>
          <a:noFill/>
          <a:ln w="12700">
            <a:solidFill>
              <a:schemeClr val="accent1"/>
            </a:solidFill>
            <a:round/>
            <a:headEnd/>
            <a:tailEnd type="triangle"/>
          </a:ln>
          <a:effectLst/>
        </p:spPr>
      </p:cxnSp>
    </p:spTree>
    <p:extLst>
      <p:ext uri="{BB962C8B-B14F-4D97-AF65-F5344CB8AC3E}">
        <p14:creationId xmlns:p14="http://schemas.microsoft.com/office/powerpoint/2010/main" val="544811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1000"/>
                                        <p:tgtEl>
                                          <p:spTgt spid="42"/>
                                        </p:tgtEl>
                                      </p:cBhvr>
                                    </p:animEffect>
                                    <p:anim calcmode="lin" valueType="num">
                                      <p:cBhvr>
                                        <p:cTn id="20" dur="1000" fill="hold"/>
                                        <p:tgtEl>
                                          <p:spTgt spid="42"/>
                                        </p:tgtEl>
                                        <p:attrNameLst>
                                          <p:attrName>ppt_x</p:attrName>
                                        </p:attrNameLst>
                                      </p:cBhvr>
                                      <p:tavLst>
                                        <p:tav tm="0">
                                          <p:val>
                                            <p:strVal val="#ppt_x"/>
                                          </p:val>
                                        </p:tav>
                                        <p:tav tm="100000">
                                          <p:val>
                                            <p:strVal val="#ppt_x"/>
                                          </p:val>
                                        </p:tav>
                                      </p:tavLst>
                                    </p:anim>
                                    <p:anim calcmode="lin" valueType="num">
                                      <p:cBhvr>
                                        <p:cTn id="21" dur="1000" fill="hold"/>
                                        <p:tgtEl>
                                          <p:spTgt spid="4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1000"/>
                                        <p:tgtEl>
                                          <p:spTgt spid="47"/>
                                        </p:tgtEl>
                                      </p:cBhvr>
                                    </p:animEffect>
                                    <p:anim calcmode="lin" valueType="num">
                                      <p:cBhvr>
                                        <p:cTn id="25" dur="1000" fill="hold"/>
                                        <p:tgtEl>
                                          <p:spTgt spid="47"/>
                                        </p:tgtEl>
                                        <p:attrNameLst>
                                          <p:attrName>ppt_x</p:attrName>
                                        </p:attrNameLst>
                                      </p:cBhvr>
                                      <p:tavLst>
                                        <p:tav tm="0">
                                          <p:val>
                                            <p:strVal val="#ppt_x"/>
                                          </p:val>
                                        </p:tav>
                                        <p:tav tm="100000">
                                          <p:val>
                                            <p:strVal val="#ppt_x"/>
                                          </p:val>
                                        </p:tav>
                                      </p:tavLst>
                                    </p:anim>
                                    <p:anim calcmode="lin" valueType="num">
                                      <p:cBhvr>
                                        <p:cTn id="2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1000"/>
                                        <p:tgtEl>
                                          <p:spTgt spid="46"/>
                                        </p:tgtEl>
                                      </p:cBhvr>
                                    </p:animEffect>
                                    <p:anim calcmode="lin" valueType="num">
                                      <p:cBhvr>
                                        <p:cTn id="32" dur="1000" fill="hold"/>
                                        <p:tgtEl>
                                          <p:spTgt spid="46"/>
                                        </p:tgtEl>
                                        <p:attrNameLst>
                                          <p:attrName>ppt_x</p:attrName>
                                        </p:attrNameLst>
                                      </p:cBhvr>
                                      <p:tavLst>
                                        <p:tav tm="0">
                                          <p:val>
                                            <p:strVal val="#ppt_x"/>
                                          </p:val>
                                        </p:tav>
                                        <p:tav tm="100000">
                                          <p:val>
                                            <p:strVal val="#ppt_x"/>
                                          </p:val>
                                        </p:tav>
                                      </p:tavLst>
                                    </p:anim>
                                    <p:anim calcmode="lin" valueType="num">
                                      <p:cBhvr>
                                        <p:cTn id="33" dur="1000" fill="hold"/>
                                        <p:tgtEl>
                                          <p:spTgt spid="46"/>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fade">
                                      <p:cBhvr>
                                        <p:cTn id="36" dur="1000"/>
                                        <p:tgtEl>
                                          <p:spTgt spid="49"/>
                                        </p:tgtEl>
                                      </p:cBhvr>
                                    </p:animEffect>
                                    <p:anim calcmode="lin" valueType="num">
                                      <p:cBhvr>
                                        <p:cTn id="37" dur="1000" fill="hold"/>
                                        <p:tgtEl>
                                          <p:spTgt spid="49"/>
                                        </p:tgtEl>
                                        <p:attrNameLst>
                                          <p:attrName>ppt_x</p:attrName>
                                        </p:attrNameLst>
                                      </p:cBhvr>
                                      <p:tavLst>
                                        <p:tav tm="0">
                                          <p:val>
                                            <p:strVal val="#ppt_x"/>
                                          </p:val>
                                        </p:tav>
                                        <p:tav tm="100000">
                                          <p:val>
                                            <p:strVal val="#ppt_x"/>
                                          </p:val>
                                        </p:tav>
                                      </p:tavLst>
                                    </p:anim>
                                    <p:anim calcmode="lin" valueType="num">
                                      <p:cBhvr>
                                        <p:cTn id="38"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1000"/>
                                        <p:tgtEl>
                                          <p:spTgt spid="44"/>
                                        </p:tgtEl>
                                      </p:cBhvr>
                                    </p:animEffect>
                                    <p:anim calcmode="lin" valueType="num">
                                      <p:cBhvr>
                                        <p:cTn id="44" dur="1000" fill="hold"/>
                                        <p:tgtEl>
                                          <p:spTgt spid="44"/>
                                        </p:tgtEl>
                                        <p:attrNameLst>
                                          <p:attrName>ppt_x</p:attrName>
                                        </p:attrNameLst>
                                      </p:cBhvr>
                                      <p:tavLst>
                                        <p:tav tm="0">
                                          <p:val>
                                            <p:strVal val="#ppt_x"/>
                                          </p:val>
                                        </p:tav>
                                        <p:tav tm="100000">
                                          <p:val>
                                            <p:strVal val="#ppt_x"/>
                                          </p:val>
                                        </p:tav>
                                      </p:tavLst>
                                    </p:anim>
                                    <p:anim calcmode="lin" valueType="num">
                                      <p:cBhvr>
                                        <p:cTn id="45" dur="1000" fill="hold"/>
                                        <p:tgtEl>
                                          <p:spTgt spid="44"/>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fade">
                                      <p:cBhvr>
                                        <p:cTn id="48" dur="1000"/>
                                        <p:tgtEl>
                                          <p:spTgt spid="50"/>
                                        </p:tgtEl>
                                      </p:cBhvr>
                                    </p:animEffect>
                                    <p:anim calcmode="lin" valueType="num">
                                      <p:cBhvr>
                                        <p:cTn id="49" dur="1000" fill="hold"/>
                                        <p:tgtEl>
                                          <p:spTgt spid="50"/>
                                        </p:tgtEl>
                                        <p:attrNameLst>
                                          <p:attrName>ppt_x</p:attrName>
                                        </p:attrNameLst>
                                      </p:cBhvr>
                                      <p:tavLst>
                                        <p:tav tm="0">
                                          <p:val>
                                            <p:strVal val="#ppt_x"/>
                                          </p:val>
                                        </p:tav>
                                        <p:tav tm="100000">
                                          <p:val>
                                            <p:strVal val="#ppt_x"/>
                                          </p:val>
                                        </p:tav>
                                      </p:tavLst>
                                    </p:anim>
                                    <p:anim calcmode="lin" valueType="num">
                                      <p:cBhvr>
                                        <p:cTn id="50"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fade">
                                      <p:cBhvr>
                                        <p:cTn id="55" dur="1000"/>
                                        <p:tgtEl>
                                          <p:spTgt spid="45"/>
                                        </p:tgtEl>
                                      </p:cBhvr>
                                    </p:animEffect>
                                    <p:anim calcmode="lin" valueType="num">
                                      <p:cBhvr>
                                        <p:cTn id="56" dur="1000" fill="hold"/>
                                        <p:tgtEl>
                                          <p:spTgt spid="45"/>
                                        </p:tgtEl>
                                        <p:attrNameLst>
                                          <p:attrName>ppt_x</p:attrName>
                                        </p:attrNameLst>
                                      </p:cBhvr>
                                      <p:tavLst>
                                        <p:tav tm="0">
                                          <p:val>
                                            <p:strVal val="#ppt_x"/>
                                          </p:val>
                                        </p:tav>
                                        <p:tav tm="100000">
                                          <p:val>
                                            <p:strVal val="#ppt_x"/>
                                          </p:val>
                                        </p:tav>
                                      </p:tavLst>
                                    </p:anim>
                                    <p:anim calcmode="lin" valueType="num">
                                      <p:cBhvr>
                                        <p:cTn id="57" dur="1000" fill="hold"/>
                                        <p:tgtEl>
                                          <p:spTgt spid="45"/>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fade">
                                      <p:cBhvr>
                                        <p:cTn id="60" dur="1000"/>
                                        <p:tgtEl>
                                          <p:spTgt spid="51"/>
                                        </p:tgtEl>
                                      </p:cBhvr>
                                    </p:animEffect>
                                    <p:anim calcmode="lin" valueType="num">
                                      <p:cBhvr>
                                        <p:cTn id="61" dur="1000" fill="hold"/>
                                        <p:tgtEl>
                                          <p:spTgt spid="51"/>
                                        </p:tgtEl>
                                        <p:attrNameLst>
                                          <p:attrName>ppt_x</p:attrName>
                                        </p:attrNameLst>
                                      </p:cBhvr>
                                      <p:tavLst>
                                        <p:tav tm="0">
                                          <p:val>
                                            <p:strVal val="#ppt_x"/>
                                          </p:val>
                                        </p:tav>
                                        <p:tav tm="100000">
                                          <p:val>
                                            <p:strVal val="#ppt_x"/>
                                          </p:val>
                                        </p:tav>
                                      </p:tavLst>
                                    </p:anim>
                                    <p:anim calcmode="lin" valueType="num">
                                      <p:cBhvr>
                                        <p:cTn id="62"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5EDF4-378B-C127-CB40-A220CA7A17B9}"/>
            </a:ext>
          </a:extLst>
        </p:cNvPr>
        <p:cNvGrpSpPr/>
        <p:nvPr/>
      </p:nvGrpSpPr>
      <p:grpSpPr>
        <a:xfrm>
          <a:off x="0" y="0"/>
          <a:ext cx="0" cy="0"/>
          <a:chOff x="0" y="0"/>
          <a:chExt cx="0" cy="0"/>
        </a:xfrm>
      </p:grpSpPr>
      <p:grpSp>
        <p:nvGrpSpPr>
          <p:cNvPr id="36" name="Groupe 35">
            <a:extLst>
              <a:ext uri="{FF2B5EF4-FFF2-40B4-BE49-F238E27FC236}">
                <a16:creationId xmlns:a16="http://schemas.microsoft.com/office/drawing/2014/main" id="{615FC206-9947-F55D-2D29-34FF1EAFD032}"/>
              </a:ext>
            </a:extLst>
          </p:cNvPr>
          <p:cNvGrpSpPr/>
          <p:nvPr/>
        </p:nvGrpSpPr>
        <p:grpSpPr>
          <a:xfrm>
            <a:off x="2933306" y="2461127"/>
            <a:ext cx="6750181" cy="3820432"/>
            <a:chOff x="2933306" y="2461127"/>
            <a:chExt cx="6750181" cy="3820432"/>
          </a:xfrm>
        </p:grpSpPr>
        <p:pic>
          <p:nvPicPr>
            <p:cNvPr id="7" name="Image 6">
              <a:extLst>
                <a:ext uri="{FF2B5EF4-FFF2-40B4-BE49-F238E27FC236}">
                  <a16:creationId xmlns:a16="http://schemas.microsoft.com/office/drawing/2014/main" id="{DC96A394-C8D9-84D1-96D9-5EC9E42D10FF}"/>
                </a:ext>
              </a:extLst>
            </p:cNvPr>
            <p:cNvPicPr>
              <a:picLocks noChangeAspect="1"/>
            </p:cNvPicPr>
            <p:nvPr/>
          </p:nvPicPr>
          <p:blipFill>
            <a:blip r:embed="rId3"/>
            <a:stretch>
              <a:fillRect/>
            </a:stretch>
          </p:blipFill>
          <p:spPr>
            <a:xfrm>
              <a:off x="2933306" y="2461127"/>
              <a:ext cx="6750181" cy="3820432"/>
            </a:xfrm>
            <a:prstGeom prst="rect">
              <a:avLst/>
            </a:prstGeom>
          </p:spPr>
        </p:pic>
        <p:sp>
          <p:nvSpPr>
            <p:cNvPr id="35" name="Rectangle 34">
              <a:extLst>
                <a:ext uri="{FF2B5EF4-FFF2-40B4-BE49-F238E27FC236}">
                  <a16:creationId xmlns:a16="http://schemas.microsoft.com/office/drawing/2014/main" id="{8D4DCAFF-3B03-09E5-C813-6A3C3F15EAF4}"/>
                </a:ext>
              </a:extLst>
            </p:cNvPr>
            <p:cNvSpPr/>
            <p:nvPr/>
          </p:nvSpPr>
          <p:spPr>
            <a:xfrm>
              <a:off x="2986337" y="2557573"/>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dirty="0"/>
            </a:p>
          </p:txBody>
        </p:sp>
      </p:grpSp>
      <p:graphicFrame>
        <p:nvGraphicFramePr>
          <p:cNvPr id="3" name="Diagramme 2">
            <a:extLst>
              <a:ext uri="{FF2B5EF4-FFF2-40B4-BE49-F238E27FC236}">
                <a16:creationId xmlns:a16="http://schemas.microsoft.com/office/drawing/2014/main" id="{B086C458-7963-117C-EF19-D91FF9E5A6B9}"/>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Connecteur droit 6">
            <a:extLst>
              <a:ext uri="{FF2B5EF4-FFF2-40B4-BE49-F238E27FC236}">
                <a16:creationId xmlns:a16="http://schemas.microsoft.com/office/drawing/2014/main" id="{06E723BE-E487-F045-EBFB-589E29D30388}"/>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7FE75F7D-218E-0DE4-0BB2-79AAE2C2F76A}"/>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A64F3E71-72A4-EC3D-23A6-58D6FD3D4FD3}"/>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333D14DB-27F2-F970-B36C-ED7BCB4E394E}"/>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B99A5AE0-CFF4-A7B0-1E0D-35101478187E}"/>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05B08BE0-40BA-FABA-0DB4-8056E4053C39}"/>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B94742A0-CFD8-2AF8-7D18-853326B169F9}"/>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DD2AC445-CA8C-A63A-75A5-F4B835F8735A}"/>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33</a:t>
            </a:fld>
            <a:endParaRPr lang="en-GB" dirty="0"/>
          </a:p>
        </p:txBody>
      </p:sp>
      <p:sp>
        <p:nvSpPr>
          <p:cNvPr id="6" name="Ellipse 7">
            <a:extLst>
              <a:ext uri="{FF2B5EF4-FFF2-40B4-BE49-F238E27FC236}">
                <a16:creationId xmlns:a16="http://schemas.microsoft.com/office/drawing/2014/main" id="{70435734-9CFF-21E7-7ADA-EC275E4767F6}"/>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53444C63-C483-B837-F65F-CA38AE4211C2}"/>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Rejection Tracking</a:t>
            </a:r>
          </a:p>
        </p:txBody>
      </p:sp>
      <p:sp>
        <p:nvSpPr>
          <p:cNvPr id="32" name="ZoneTexte 31">
            <a:extLst>
              <a:ext uri="{FF2B5EF4-FFF2-40B4-BE49-F238E27FC236}">
                <a16:creationId xmlns:a16="http://schemas.microsoft.com/office/drawing/2014/main" id="{E94B4CF2-E964-A423-3AC8-8A300C9C881B}"/>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03	</a:t>
            </a:r>
          </a:p>
        </p:txBody>
      </p:sp>
      <p:sp>
        <p:nvSpPr>
          <p:cNvPr id="9" name="ZoneTexte 8">
            <a:extLst>
              <a:ext uri="{FF2B5EF4-FFF2-40B4-BE49-F238E27FC236}">
                <a16:creationId xmlns:a16="http://schemas.microsoft.com/office/drawing/2014/main" id="{9F5D9DED-4877-2031-A9CA-DE71176D1BE0}"/>
              </a:ext>
            </a:extLst>
          </p:cNvPr>
          <p:cNvSpPr txBox="1"/>
          <p:nvPr/>
        </p:nvSpPr>
        <p:spPr>
          <a:xfrm>
            <a:off x="953608" y="3784402"/>
            <a:ext cx="736634" cy="753387"/>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Afficher le volume total </a:t>
            </a:r>
          </a:p>
          <a:p>
            <a:pPr>
              <a:buNone/>
            </a:pPr>
            <a:r>
              <a:rPr lang="fr-MA" sz="1200" dirty="0">
                <a:solidFill>
                  <a:srgbClr val="000000"/>
                </a:solidFill>
                <a:latin typeface="Open Sans"/>
                <a:ea typeface="Open Sans"/>
                <a:cs typeface="Open Sans"/>
              </a:rPr>
              <a:t>de lignes rejetées </a:t>
            </a:r>
          </a:p>
        </p:txBody>
      </p:sp>
      <p:sp>
        <p:nvSpPr>
          <p:cNvPr id="11" name="ZoneTexte 10">
            <a:extLst>
              <a:ext uri="{FF2B5EF4-FFF2-40B4-BE49-F238E27FC236}">
                <a16:creationId xmlns:a16="http://schemas.microsoft.com/office/drawing/2014/main" id="{2AF4F128-5322-0869-F8F4-68F900F047E2}"/>
              </a:ext>
            </a:extLst>
          </p:cNvPr>
          <p:cNvSpPr txBox="1"/>
          <p:nvPr/>
        </p:nvSpPr>
        <p:spPr>
          <a:xfrm>
            <a:off x="920700" y="5318508"/>
            <a:ext cx="736634" cy="753387"/>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Visualiser la répartition des </a:t>
            </a:r>
          </a:p>
          <a:p>
            <a:pPr>
              <a:buNone/>
            </a:pPr>
            <a:r>
              <a:rPr lang="fr-MA" sz="1200" dirty="0">
                <a:solidFill>
                  <a:srgbClr val="000000"/>
                </a:solidFill>
                <a:latin typeface="Open Sans"/>
                <a:ea typeface="Open Sans"/>
                <a:cs typeface="Open Sans"/>
              </a:rPr>
              <a:t>types  de rejets pour </a:t>
            </a:r>
          </a:p>
          <a:p>
            <a:pPr>
              <a:buNone/>
            </a:pPr>
            <a:r>
              <a:rPr lang="fr-MA" sz="1200" dirty="0">
                <a:solidFill>
                  <a:srgbClr val="000000"/>
                </a:solidFill>
                <a:latin typeface="Open Sans"/>
                <a:ea typeface="Open Sans"/>
                <a:cs typeface="Open Sans"/>
              </a:rPr>
              <a:t>identifier</a:t>
            </a:r>
          </a:p>
          <a:p>
            <a:pPr>
              <a:buNone/>
            </a:pPr>
            <a:r>
              <a:rPr lang="fr-MA" sz="1200" dirty="0">
                <a:solidFill>
                  <a:srgbClr val="000000"/>
                </a:solidFill>
                <a:latin typeface="Open Sans"/>
                <a:ea typeface="Open Sans"/>
                <a:cs typeface="Open Sans"/>
              </a:rPr>
              <a:t> les causes principales</a:t>
            </a:r>
          </a:p>
        </p:txBody>
      </p:sp>
      <p:sp>
        <p:nvSpPr>
          <p:cNvPr id="12" name="ZoneTexte 11">
            <a:extLst>
              <a:ext uri="{FF2B5EF4-FFF2-40B4-BE49-F238E27FC236}">
                <a16:creationId xmlns:a16="http://schemas.microsoft.com/office/drawing/2014/main" id="{D8073CE2-BCA1-6BC2-9E75-8B3469F18310}"/>
              </a:ext>
            </a:extLst>
          </p:cNvPr>
          <p:cNvSpPr txBox="1"/>
          <p:nvPr/>
        </p:nvSpPr>
        <p:spPr>
          <a:xfrm>
            <a:off x="8135164" y="6484437"/>
            <a:ext cx="696014" cy="753387"/>
          </a:xfrm>
          <a:prstGeom prst="rect">
            <a:avLst/>
          </a:prstGeom>
        </p:spPr>
        <p:txBody>
          <a:bodyPr vert="horz" wrap="none" lIns="0" tIns="0" rIns="0" bIns="0" rtlCol="0" anchor="t" anchorCtr="0">
            <a:normAutofit/>
          </a:bodyPr>
          <a:lstStyle/>
          <a:p>
            <a:pPr algn="ctr">
              <a:buNone/>
            </a:pPr>
            <a:r>
              <a:rPr lang="fr-MA" sz="1200" dirty="0">
                <a:solidFill>
                  <a:srgbClr val="000000"/>
                </a:solidFill>
                <a:latin typeface="Open Sans"/>
                <a:ea typeface="Open Sans"/>
                <a:cs typeface="Open Sans"/>
              </a:rPr>
              <a:t>Fournir un aperçu détaillé, filtrable, des rejets par type</a:t>
            </a:r>
          </a:p>
        </p:txBody>
      </p:sp>
      <p:sp>
        <p:nvSpPr>
          <p:cNvPr id="13" name="ZoneTexte 12">
            <a:extLst>
              <a:ext uri="{FF2B5EF4-FFF2-40B4-BE49-F238E27FC236}">
                <a16:creationId xmlns:a16="http://schemas.microsoft.com/office/drawing/2014/main" id="{F6B296F0-7F92-3EFC-4525-A122E20091A6}"/>
              </a:ext>
            </a:extLst>
          </p:cNvPr>
          <p:cNvSpPr txBox="1"/>
          <p:nvPr/>
        </p:nvSpPr>
        <p:spPr>
          <a:xfrm>
            <a:off x="9843610" y="5075260"/>
            <a:ext cx="736634" cy="753387"/>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Filtrer selon la catégorie ou </a:t>
            </a:r>
          </a:p>
          <a:p>
            <a:pPr>
              <a:buNone/>
            </a:pPr>
            <a:r>
              <a:rPr lang="fr-MA" sz="1200" dirty="0">
                <a:solidFill>
                  <a:srgbClr val="000000"/>
                </a:solidFill>
                <a:latin typeface="Open Sans"/>
                <a:ea typeface="Open Sans"/>
                <a:cs typeface="Open Sans"/>
              </a:rPr>
              <a:t>source de mise en quarantaine</a:t>
            </a:r>
            <a:r>
              <a:rPr lang="fr-MA" sz="1200" b="1" dirty="0"/>
              <a:t>.</a:t>
            </a:r>
          </a:p>
        </p:txBody>
      </p:sp>
      <p:sp>
        <p:nvSpPr>
          <p:cNvPr id="14" name="ZoneTexte 13">
            <a:extLst>
              <a:ext uri="{FF2B5EF4-FFF2-40B4-BE49-F238E27FC236}">
                <a16:creationId xmlns:a16="http://schemas.microsoft.com/office/drawing/2014/main" id="{3FCACCB9-CF8C-9F94-0255-716BAA426CE8}"/>
              </a:ext>
            </a:extLst>
          </p:cNvPr>
          <p:cNvSpPr txBox="1"/>
          <p:nvPr/>
        </p:nvSpPr>
        <p:spPr>
          <a:xfrm>
            <a:off x="9732904" y="2832081"/>
            <a:ext cx="736634" cy="753387"/>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Filtrer selon la table silver </a:t>
            </a:r>
          </a:p>
          <a:p>
            <a:pPr>
              <a:buNone/>
            </a:pPr>
            <a:r>
              <a:rPr lang="fr-MA" sz="1200" dirty="0">
                <a:solidFill>
                  <a:srgbClr val="000000"/>
                </a:solidFill>
                <a:latin typeface="Open Sans"/>
                <a:ea typeface="Open Sans"/>
                <a:cs typeface="Open Sans"/>
              </a:rPr>
              <a:t>d’origine des données rejetées</a:t>
            </a:r>
          </a:p>
        </p:txBody>
      </p:sp>
      <p:sp>
        <p:nvSpPr>
          <p:cNvPr id="18" name="ZoneTexte 17">
            <a:extLst>
              <a:ext uri="{FF2B5EF4-FFF2-40B4-BE49-F238E27FC236}">
                <a16:creationId xmlns:a16="http://schemas.microsoft.com/office/drawing/2014/main" id="{1475C365-A54D-A65D-9480-8C8E0BAE6203}"/>
              </a:ext>
            </a:extLst>
          </p:cNvPr>
          <p:cNvSpPr txBox="1"/>
          <p:nvPr/>
        </p:nvSpPr>
        <p:spPr>
          <a:xfrm>
            <a:off x="4994224" y="2032236"/>
            <a:ext cx="736634" cy="753387"/>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Cibler un ou plusieurs</a:t>
            </a:r>
          </a:p>
          <a:p>
            <a:pPr>
              <a:buNone/>
            </a:pPr>
            <a:r>
              <a:rPr lang="fr-MA" sz="1200" dirty="0">
                <a:solidFill>
                  <a:srgbClr val="000000"/>
                </a:solidFill>
                <a:latin typeface="Open Sans"/>
                <a:ea typeface="Open Sans"/>
                <a:cs typeface="Open Sans"/>
              </a:rPr>
              <a:t> fichiers à examiner</a:t>
            </a:r>
          </a:p>
        </p:txBody>
      </p:sp>
      <p:sp>
        <p:nvSpPr>
          <p:cNvPr id="20" name="ZoneTexte 19">
            <a:extLst>
              <a:ext uri="{FF2B5EF4-FFF2-40B4-BE49-F238E27FC236}">
                <a16:creationId xmlns:a16="http://schemas.microsoft.com/office/drawing/2014/main" id="{6B17ADA5-1944-B2F4-1926-DE5D52906CFA}"/>
              </a:ext>
            </a:extLst>
          </p:cNvPr>
          <p:cNvSpPr txBox="1"/>
          <p:nvPr/>
        </p:nvSpPr>
        <p:spPr>
          <a:xfrm>
            <a:off x="316988" y="2222967"/>
            <a:ext cx="736634" cy="753387"/>
          </a:xfrm>
          <a:prstGeom prst="rect">
            <a:avLst/>
          </a:prstGeom>
        </p:spPr>
        <p:txBody>
          <a:bodyPr vert="horz" wrap="none" lIns="0" tIns="0" rIns="0" bIns="0" rtlCol="0" anchor="t" anchorCtr="0">
            <a:normAutofit/>
          </a:bodyPr>
          <a:lstStyle/>
          <a:p>
            <a:pPr>
              <a:buNone/>
            </a:pPr>
            <a:r>
              <a:rPr lang="fr-MA" sz="1200" dirty="0">
                <a:solidFill>
                  <a:srgbClr val="000000"/>
                </a:solidFill>
                <a:latin typeface="Open Sans"/>
                <a:ea typeface="Open Sans"/>
                <a:cs typeface="Open Sans"/>
              </a:rPr>
              <a:t>Filtrer toutes les visualisations </a:t>
            </a:r>
          </a:p>
          <a:p>
            <a:pPr>
              <a:buNone/>
            </a:pPr>
            <a:r>
              <a:rPr lang="fr-MA" sz="1200" dirty="0">
                <a:solidFill>
                  <a:srgbClr val="000000"/>
                </a:solidFill>
                <a:latin typeface="Open Sans"/>
                <a:ea typeface="Open Sans"/>
                <a:cs typeface="Open Sans"/>
              </a:rPr>
              <a:t>selon une date spécifique ou “</a:t>
            </a:r>
            <a:r>
              <a:rPr lang="fr-MA" sz="1200" dirty="0" err="1">
                <a:solidFill>
                  <a:srgbClr val="000000"/>
                </a:solidFill>
                <a:latin typeface="Open Sans"/>
                <a:ea typeface="Open Sans"/>
                <a:cs typeface="Open Sans"/>
              </a:rPr>
              <a:t>Today</a:t>
            </a:r>
            <a:r>
              <a:rPr lang="fr-MA" sz="1200" dirty="0">
                <a:solidFill>
                  <a:srgbClr val="000000"/>
                </a:solidFill>
                <a:latin typeface="Open Sans"/>
                <a:ea typeface="Open Sans"/>
                <a:cs typeface="Open Sans"/>
              </a:rPr>
              <a:t>”</a:t>
            </a:r>
          </a:p>
        </p:txBody>
      </p:sp>
      <p:cxnSp>
        <p:nvCxnSpPr>
          <p:cNvPr id="22" name="Connecteur droit avec flèche 21">
            <a:extLst>
              <a:ext uri="{FF2B5EF4-FFF2-40B4-BE49-F238E27FC236}">
                <a16:creationId xmlns:a16="http://schemas.microsoft.com/office/drawing/2014/main" id="{521DABCC-AED3-608C-26F6-17B734F270D7}"/>
              </a:ext>
            </a:extLst>
          </p:cNvPr>
          <p:cNvCxnSpPr>
            <a:cxnSpLocks/>
          </p:cNvCxnSpPr>
          <p:nvPr/>
        </p:nvCxnSpPr>
        <p:spPr bwMode="gray">
          <a:xfrm flipV="1">
            <a:off x="2823307" y="4902919"/>
            <a:ext cx="396436" cy="304081"/>
          </a:xfrm>
          <a:prstGeom prst="straightConnector1">
            <a:avLst/>
          </a:prstGeom>
          <a:noFill/>
          <a:ln w="12700">
            <a:solidFill>
              <a:schemeClr val="accent1"/>
            </a:solidFill>
            <a:round/>
            <a:headEnd/>
            <a:tailEnd type="triangle"/>
          </a:ln>
          <a:effectLst/>
        </p:spPr>
      </p:cxnSp>
      <p:cxnSp>
        <p:nvCxnSpPr>
          <p:cNvPr id="23" name="Connecteur droit avec flèche 22">
            <a:extLst>
              <a:ext uri="{FF2B5EF4-FFF2-40B4-BE49-F238E27FC236}">
                <a16:creationId xmlns:a16="http://schemas.microsoft.com/office/drawing/2014/main" id="{0F3EEDBE-A0D5-112D-9FE6-9C6E8E56DBA2}"/>
              </a:ext>
            </a:extLst>
          </p:cNvPr>
          <p:cNvCxnSpPr>
            <a:cxnSpLocks/>
          </p:cNvCxnSpPr>
          <p:nvPr/>
        </p:nvCxnSpPr>
        <p:spPr bwMode="gray">
          <a:xfrm>
            <a:off x="2823307" y="3973510"/>
            <a:ext cx="396436" cy="0"/>
          </a:xfrm>
          <a:prstGeom prst="straightConnector1">
            <a:avLst/>
          </a:prstGeom>
          <a:noFill/>
          <a:ln w="12700">
            <a:solidFill>
              <a:schemeClr val="accent1"/>
            </a:solidFill>
            <a:round/>
            <a:headEnd/>
            <a:tailEnd type="triangle"/>
          </a:ln>
          <a:effectLst/>
        </p:spPr>
      </p:cxnSp>
      <p:cxnSp>
        <p:nvCxnSpPr>
          <p:cNvPr id="24" name="Connecteur droit avec flèche 23">
            <a:extLst>
              <a:ext uri="{FF2B5EF4-FFF2-40B4-BE49-F238E27FC236}">
                <a16:creationId xmlns:a16="http://schemas.microsoft.com/office/drawing/2014/main" id="{CF918DBC-0A86-1060-1A67-677E2DF5FAFB}"/>
              </a:ext>
            </a:extLst>
          </p:cNvPr>
          <p:cNvCxnSpPr>
            <a:cxnSpLocks/>
          </p:cNvCxnSpPr>
          <p:nvPr/>
        </p:nvCxnSpPr>
        <p:spPr bwMode="gray">
          <a:xfrm>
            <a:off x="2098867" y="2744883"/>
            <a:ext cx="1698147" cy="397561"/>
          </a:xfrm>
          <a:prstGeom prst="straightConnector1">
            <a:avLst/>
          </a:prstGeom>
          <a:noFill/>
          <a:ln w="12700">
            <a:solidFill>
              <a:schemeClr val="accent1"/>
            </a:solidFill>
            <a:round/>
            <a:headEnd/>
            <a:tailEnd type="triangle"/>
          </a:ln>
          <a:effectLst/>
        </p:spPr>
      </p:cxnSp>
      <p:cxnSp>
        <p:nvCxnSpPr>
          <p:cNvPr id="25" name="Connecteur droit avec flèche 24">
            <a:extLst>
              <a:ext uri="{FF2B5EF4-FFF2-40B4-BE49-F238E27FC236}">
                <a16:creationId xmlns:a16="http://schemas.microsoft.com/office/drawing/2014/main" id="{E99369FB-750E-04E7-398F-EF0DAC8CA99C}"/>
              </a:ext>
            </a:extLst>
          </p:cNvPr>
          <p:cNvCxnSpPr>
            <a:cxnSpLocks/>
          </p:cNvCxnSpPr>
          <p:nvPr/>
        </p:nvCxnSpPr>
        <p:spPr bwMode="gray">
          <a:xfrm>
            <a:off x="5763833" y="2419078"/>
            <a:ext cx="0" cy="1365325"/>
          </a:xfrm>
          <a:prstGeom prst="straightConnector1">
            <a:avLst/>
          </a:prstGeom>
          <a:noFill/>
          <a:ln w="12700">
            <a:solidFill>
              <a:schemeClr val="accent1"/>
            </a:solidFill>
            <a:round/>
            <a:headEnd/>
            <a:tailEnd type="triangle"/>
          </a:ln>
          <a:effectLst/>
        </p:spPr>
      </p:cxnSp>
      <p:cxnSp>
        <p:nvCxnSpPr>
          <p:cNvPr id="26" name="Connecteur droit avec flèche 25">
            <a:extLst>
              <a:ext uri="{FF2B5EF4-FFF2-40B4-BE49-F238E27FC236}">
                <a16:creationId xmlns:a16="http://schemas.microsoft.com/office/drawing/2014/main" id="{919CF18A-B8DD-384F-8543-872BDB59FFA2}"/>
              </a:ext>
            </a:extLst>
          </p:cNvPr>
          <p:cNvCxnSpPr>
            <a:cxnSpLocks/>
          </p:cNvCxnSpPr>
          <p:nvPr/>
        </p:nvCxnSpPr>
        <p:spPr bwMode="gray">
          <a:xfrm flipH="1" flipV="1">
            <a:off x="7893759" y="3709935"/>
            <a:ext cx="2133642" cy="1192984"/>
          </a:xfrm>
          <a:prstGeom prst="straightConnector1">
            <a:avLst/>
          </a:prstGeom>
          <a:noFill/>
          <a:ln w="12700">
            <a:solidFill>
              <a:schemeClr val="accent1"/>
            </a:solidFill>
            <a:round/>
            <a:headEnd/>
            <a:tailEnd type="triangle"/>
          </a:ln>
          <a:effectLst/>
        </p:spPr>
      </p:cxnSp>
      <p:cxnSp>
        <p:nvCxnSpPr>
          <p:cNvPr id="27" name="Connecteur droit avec flèche 26">
            <a:extLst>
              <a:ext uri="{FF2B5EF4-FFF2-40B4-BE49-F238E27FC236}">
                <a16:creationId xmlns:a16="http://schemas.microsoft.com/office/drawing/2014/main" id="{0B449FB5-EA36-28E4-1D7E-6D8FDA9F977E}"/>
              </a:ext>
            </a:extLst>
          </p:cNvPr>
          <p:cNvCxnSpPr>
            <a:cxnSpLocks/>
          </p:cNvCxnSpPr>
          <p:nvPr/>
        </p:nvCxnSpPr>
        <p:spPr bwMode="gray">
          <a:xfrm flipH="1">
            <a:off x="9425169" y="3305151"/>
            <a:ext cx="506290" cy="479251"/>
          </a:xfrm>
          <a:prstGeom prst="straightConnector1">
            <a:avLst/>
          </a:prstGeom>
          <a:noFill/>
          <a:ln w="12700">
            <a:solidFill>
              <a:schemeClr val="accent1"/>
            </a:solidFill>
            <a:round/>
            <a:headEnd/>
            <a:tailEnd type="triangle"/>
          </a:ln>
          <a:effectLst/>
        </p:spPr>
      </p:cxnSp>
      <p:cxnSp>
        <p:nvCxnSpPr>
          <p:cNvPr id="28" name="Connecteur droit avec flèche 27">
            <a:extLst>
              <a:ext uri="{FF2B5EF4-FFF2-40B4-BE49-F238E27FC236}">
                <a16:creationId xmlns:a16="http://schemas.microsoft.com/office/drawing/2014/main" id="{4CFC7AD4-1736-77D2-F22B-70ED600536BF}"/>
              </a:ext>
            </a:extLst>
          </p:cNvPr>
          <p:cNvCxnSpPr>
            <a:cxnSpLocks/>
          </p:cNvCxnSpPr>
          <p:nvPr/>
        </p:nvCxnSpPr>
        <p:spPr bwMode="gray">
          <a:xfrm flipH="1" flipV="1">
            <a:off x="8701699" y="6071895"/>
            <a:ext cx="330713" cy="285353"/>
          </a:xfrm>
          <a:prstGeom prst="straightConnector1">
            <a:avLst/>
          </a:prstGeom>
          <a:noFill/>
          <a:ln w="12700">
            <a:solidFill>
              <a:schemeClr val="accent1"/>
            </a:solidFill>
            <a:round/>
            <a:headEnd/>
            <a:tailEnd type="triangle"/>
          </a:ln>
          <a:effectLst/>
        </p:spPr>
      </p:cxnSp>
    </p:spTree>
    <p:extLst>
      <p:ext uri="{BB962C8B-B14F-4D97-AF65-F5344CB8AC3E}">
        <p14:creationId xmlns:p14="http://schemas.microsoft.com/office/powerpoint/2010/main" val="3457591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1000"/>
                                        <p:tgtEl>
                                          <p:spTgt spid="22"/>
                                        </p:tgtEl>
                                      </p:cBhvr>
                                    </p:animEffect>
                                    <p:anim calcmode="lin" valueType="num">
                                      <p:cBhvr>
                                        <p:cTn id="37" dur="1000" fill="hold"/>
                                        <p:tgtEl>
                                          <p:spTgt spid="22"/>
                                        </p:tgtEl>
                                        <p:attrNameLst>
                                          <p:attrName>ppt_x</p:attrName>
                                        </p:attrNameLst>
                                      </p:cBhvr>
                                      <p:tavLst>
                                        <p:tav tm="0">
                                          <p:val>
                                            <p:strVal val="#ppt_x"/>
                                          </p:val>
                                        </p:tav>
                                        <p:tav tm="100000">
                                          <p:val>
                                            <p:strVal val="#ppt_x"/>
                                          </p:val>
                                        </p:tav>
                                      </p:tavLst>
                                    </p:anim>
                                    <p:anim calcmode="lin" valueType="num">
                                      <p:cBhvr>
                                        <p:cTn id="3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1000"/>
                                        <p:tgtEl>
                                          <p:spTgt spid="28"/>
                                        </p:tgtEl>
                                      </p:cBhvr>
                                    </p:animEffect>
                                    <p:anim calcmode="lin" valueType="num">
                                      <p:cBhvr>
                                        <p:cTn id="49" dur="1000" fill="hold"/>
                                        <p:tgtEl>
                                          <p:spTgt spid="28"/>
                                        </p:tgtEl>
                                        <p:attrNameLst>
                                          <p:attrName>ppt_x</p:attrName>
                                        </p:attrNameLst>
                                      </p:cBhvr>
                                      <p:tavLst>
                                        <p:tav tm="0">
                                          <p:val>
                                            <p:strVal val="#ppt_x"/>
                                          </p:val>
                                        </p:tav>
                                        <p:tav tm="100000">
                                          <p:val>
                                            <p:strVal val="#ppt_x"/>
                                          </p:val>
                                        </p:tav>
                                      </p:tavLst>
                                    </p:anim>
                                    <p:anim calcmode="lin" valueType="num">
                                      <p:cBhvr>
                                        <p:cTn id="5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1000"/>
                                        <p:tgtEl>
                                          <p:spTgt spid="13"/>
                                        </p:tgtEl>
                                      </p:cBhvr>
                                    </p:animEffect>
                                    <p:anim calcmode="lin" valueType="num">
                                      <p:cBhvr>
                                        <p:cTn id="56" dur="1000" fill="hold"/>
                                        <p:tgtEl>
                                          <p:spTgt spid="13"/>
                                        </p:tgtEl>
                                        <p:attrNameLst>
                                          <p:attrName>ppt_x</p:attrName>
                                        </p:attrNameLst>
                                      </p:cBhvr>
                                      <p:tavLst>
                                        <p:tav tm="0">
                                          <p:val>
                                            <p:strVal val="#ppt_x"/>
                                          </p:val>
                                        </p:tav>
                                        <p:tav tm="100000">
                                          <p:val>
                                            <p:strVal val="#ppt_x"/>
                                          </p:val>
                                        </p:tav>
                                      </p:tavLst>
                                    </p:anim>
                                    <p:anim calcmode="lin" valueType="num">
                                      <p:cBhvr>
                                        <p:cTn id="57" dur="1000" fill="hold"/>
                                        <p:tgtEl>
                                          <p:spTgt spid="13"/>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1000"/>
                                        <p:tgtEl>
                                          <p:spTgt spid="26"/>
                                        </p:tgtEl>
                                      </p:cBhvr>
                                    </p:animEffect>
                                    <p:anim calcmode="lin" valueType="num">
                                      <p:cBhvr>
                                        <p:cTn id="61" dur="1000" fill="hold"/>
                                        <p:tgtEl>
                                          <p:spTgt spid="26"/>
                                        </p:tgtEl>
                                        <p:attrNameLst>
                                          <p:attrName>ppt_x</p:attrName>
                                        </p:attrNameLst>
                                      </p:cBhvr>
                                      <p:tavLst>
                                        <p:tav tm="0">
                                          <p:val>
                                            <p:strVal val="#ppt_x"/>
                                          </p:val>
                                        </p:tav>
                                        <p:tav tm="100000">
                                          <p:val>
                                            <p:strVal val="#ppt_x"/>
                                          </p:val>
                                        </p:tav>
                                      </p:tavLst>
                                    </p:anim>
                                    <p:anim calcmode="lin" valueType="num">
                                      <p:cBhvr>
                                        <p:cTn id="62"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1000"/>
                                        <p:tgtEl>
                                          <p:spTgt spid="27"/>
                                        </p:tgtEl>
                                      </p:cBhvr>
                                    </p:animEffect>
                                    <p:anim calcmode="lin" valueType="num">
                                      <p:cBhvr>
                                        <p:cTn id="73" dur="1000" fill="hold"/>
                                        <p:tgtEl>
                                          <p:spTgt spid="27"/>
                                        </p:tgtEl>
                                        <p:attrNameLst>
                                          <p:attrName>ppt_x</p:attrName>
                                        </p:attrNameLst>
                                      </p:cBhvr>
                                      <p:tavLst>
                                        <p:tav tm="0">
                                          <p:val>
                                            <p:strVal val="#ppt_x"/>
                                          </p:val>
                                        </p:tav>
                                        <p:tav tm="100000">
                                          <p:val>
                                            <p:strVal val="#ppt_x"/>
                                          </p:val>
                                        </p:tav>
                                      </p:tavLst>
                                    </p:anim>
                                    <p:anim calcmode="lin" valueType="num">
                                      <p:cBhvr>
                                        <p:cTn id="7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1000"/>
                                        <p:tgtEl>
                                          <p:spTgt spid="18"/>
                                        </p:tgtEl>
                                      </p:cBhvr>
                                    </p:animEffect>
                                    <p:anim calcmode="lin" valueType="num">
                                      <p:cBhvr>
                                        <p:cTn id="80" dur="1000" fill="hold"/>
                                        <p:tgtEl>
                                          <p:spTgt spid="18"/>
                                        </p:tgtEl>
                                        <p:attrNameLst>
                                          <p:attrName>ppt_x</p:attrName>
                                        </p:attrNameLst>
                                      </p:cBhvr>
                                      <p:tavLst>
                                        <p:tav tm="0">
                                          <p:val>
                                            <p:strVal val="#ppt_x"/>
                                          </p:val>
                                        </p:tav>
                                        <p:tav tm="100000">
                                          <p:val>
                                            <p:strVal val="#ppt_x"/>
                                          </p:val>
                                        </p:tav>
                                      </p:tavLst>
                                    </p:anim>
                                    <p:anim calcmode="lin" valueType="num">
                                      <p:cBhvr>
                                        <p:cTn id="81" dur="10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1000"/>
                                        <p:tgtEl>
                                          <p:spTgt spid="25"/>
                                        </p:tgtEl>
                                      </p:cBhvr>
                                    </p:animEffect>
                                    <p:anim calcmode="lin" valueType="num">
                                      <p:cBhvr>
                                        <p:cTn id="85" dur="1000" fill="hold"/>
                                        <p:tgtEl>
                                          <p:spTgt spid="25"/>
                                        </p:tgtEl>
                                        <p:attrNameLst>
                                          <p:attrName>ppt_x</p:attrName>
                                        </p:attrNameLst>
                                      </p:cBhvr>
                                      <p:tavLst>
                                        <p:tav tm="0">
                                          <p:val>
                                            <p:strVal val="#ppt_x"/>
                                          </p:val>
                                        </p:tav>
                                        <p:tav tm="100000">
                                          <p:val>
                                            <p:strVal val="#ppt_x"/>
                                          </p:val>
                                        </p:tav>
                                      </p:tavLst>
                                    </p:anim>
                                    <p:anim calcmode="lin" valueType="num">
                                      <p:cBhvr>
                                        <p:cTn id="8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4" grpId="0"/>
      <p:bldP spid="18" grpId="0"/>
      <p:bldP spid="2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56969-567C-4E98-D3E3-3106026EA440}"/>
            </a:ext>
          </a:extLst>
        </p:cNvPr>
        <p:cNvGrpSpPr/>
        <p:nvPr/>
      </p:nvGrpSpPr>
      <p:grpSpPr>
        <a:xfrm>
          <a:off x="0" y="0"/>
          <a:ext cx="0" cy="0"/>
          <a:chOff x="0" y="0"/>
          <a:chExt cx="0" cy="0"/>
        </a:xfrm>
      </p:grpSpPr>
      <p:grpSp>
        <p:nvGrpSpPr>
          <p:cNvPr id="104" name="Groupe 103">
            <a:extLst>
              <a:ext uri="{FF2B5EF4-FFF2-40B4-BE49-F238E27FC236}">
                <a16:creationId xmlns:a16="http://schemas.microsoft.com/office/drawing/2014/main" id="{E3F6C15C-A16C-6481-D73F-67C658FC74A8}"/>
              </a:ext>
            </a:extLst>
          </p:cNvPr>
          <p:cNvGrpSpPr/>
          <p:nvPr/>
        </p:nvGrpSpPr>
        <p:grpSpPr>
          <a:xfrm>
            <a:off x="2551624" y="2294823"/>
            <a:ext cx="7065588" cy="3761894"/>
            <a:chOff x="2551624" y="2294823"/>
            <a:chExt cx="7065588" cy="3761894"/>
          </a:xfrm>
        </p:grpSpPr>
        <p:pic>
          <p:nvPicPr>
            <p:cNvPr id="66" name="Image 65">
              <a:extLst>
                <a:ext uri="{FF2B5EF4-FFF2-40B4-BE49-F238E27FC236}">
                  <a16:creationId xmlns:a16="http://schemas.microsoft.com/office/drawing/2014/main" id="{39C9754D-2E81-FC81-40EC-8154651231DC}"/>
                </a:ext>
              </a:extLst>
            </p:cNvPr>
            <p:cNvPicPr>
              <a:picLocks noChangeAspect="1"/>
            </p:cNvPicPr>
            <p:nvPr/>
          </p:nvPicPr>
          <p:blipFill>
            <a:blip r:embed="rId3"/>
            <a:stretch>
              <a:fillRect/>
            </a:stretch>
          </p:blipFill>
          <p:spPr>
            <a:xfrm>
              <a:off x="2551624" y="2294823"/>
              <a:ext cx="7065588" cy="3761894"/>
            </a:xfrm>
            <a:prstGeom prst="rect">
              <a:avLst/>
            </a:prstGeom>
          </p:spPr>
        </p:pic>
        <p:sp>
          <p:nvSpPr>
            <p:cNvPr id="103" name="Rectangle 102">
              <a:extLst>
                <a:ext uri="{FF2B5EF4-FFF2-40B4-BE49-F238E27FC236}">
                  <a16:creationId xmlns:a16="http://schemas.microsoft.com/office/drawing/2014/main" id="{9232D570-E2F7-270E-1940-0BA7DDB2CF03}"/>
                </a:ext>
              </a:extLst>
            </p:cNvPr>
            <p:cNvSpPr/>
            <p:nvPr/>
          </p:nvSpPr>
          <p:spPr>
            <a:xfrm>
              <a:off x="2766394" y="2362220"/>
              <a:ext cx="381000" cy="288956"/>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graphicFrame>
        <p:nvGraphicFramePr>
          <p:cNvPr id="3" name="Diagramme 2">
            <a:extLst>
              <a:ext uri="{FF2B5EF4-FFF2-40B4-BE49-F238E27FC236}">
                <a16:creationId xmlns:a16="http://schemas.microsoft.com/office/drawing/2014/main" id="{9E50EC87-6C1A-8CCE-695D-13D4208599AD}"/>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Connecteur droit 6">
            <a:extLst>
              <a:ext uri="{FF2B5EF4-FFF2-40B4-BE49-F238E27FC236}">
                <a16:creationId xmlns:a16="http://schemas.microsoft.com/office/drawing/2014/main" id="{DC2ABA48-BA4B-A060-9DC9-1F96702B33A9}"/>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917FA44A-68E0-FAB0-21D1-EACA576B1575}"/>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B309402C-6568-9181-3E82-783F06D932C9}"/>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6B02019C-A61D-5402-0325-CCCF4E9C48CF}"/>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EC329A3A-97D2-42DB-7683-50ECAE3C82EC}"/>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0F0B7A69-543C-A26F-2B52-670D47BF5440}"/>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F4A195F5-890B-C5F1-E573-60DFA0FE9021}"/>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3AA554CA-221F-3CB1-3ED7-5E34EFA78ADF}"/>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34</a:t>
            </a:fld>
            <a:endParaRPr lang="en-GB" dirty="0"/>
          </a:p>
        </p:txBody>
      </p:sp>
      <p:sp>
        <p:nvSpPr>
          <p:cNvPr id="6" name="Ellipse 7">
            <a:extLst>
              <a:ext uri="{FF2B5EF4-FFF2-40B4-BE49-F238E27FC236}">
                <a16:creationId xmlns:a16="http://schemas.microsoft.com/office/drawing/2014/main" id="{CA3A9E29-DF6C-DCB1-AAD6-8AF8418FD6CA}"/>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75198D32-5D59-A9DD-3443-DC7C217DE6C1}"/>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Jobs Monitoring</a:t>
            </a:r>
          </a:p>
        </p:txBody>
      </p:sp>
      <p:sp>
        <p:nvSpPr>
          <p:cNvPr id="32" name="ZoneTexte 31">
            <a:extLst>
              <a:ext uri="{FF2B5EF4-FFF2-40B4-BE49-F238E27FC236}">
                <a16:creationId xmlns:a16="http://schemas.microsoft.com/office/drawing/2014/main" id="{D114CE10-61BF-2354-1FE9-A4F335900C4A}"/>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01	</a:t>
            </a:r>
          </a:p>
        </p:txBody>
      </p:sp>
      <p:cxnSp>
        <p:nvCxnSpPr>
          <p:cNvPr id="67" name="Connecteur droit avec flèche 66">
            <a:extLst>
              <a:ext uri="{FF2B5EF4-FFF2-40B4-BE49-F238E27FC236}">
                <a16:creationId xmlns:a16="http://schemas.microsoft.com/office/drawing/2014/main" id="{C5A2F84D-0AC5-6CFB-080C-299AF2D07758}"/>
              </a:ext>
            </a:extLst>
          </p:cNvPr>
          <p:cNvCxnSpPr>
            <a:cxnSpLocks/>
          </p:cNvCxnSpPr>
          <p:nvPr/>
        </p:nvCxnSpPr>
        <p:spPr bwMode="gray">
          <a:xfrm>
            <a:off x="2455799" y="2893425"/>
            <a:ext cx="407028" cy="192680"/>
          </a:xfrm>
          <a:prstGeom prst="straightConnector1">
            <a:avLst/>
          </a:prstGeom>
          <a:noFill/>
          <a:ln w="12700">
            <a:solidFill>
              <a:schemeClr val="accent1"/>
            </a:solidFill>
            <a:round/>
            <a:headEnd/>
            <a:tailEnd type="triangle"/>
          </a:ln>
          <a:effectLst/>
        </p:spPr>
      </p:cxnSp>
      <p:sp>
        <p:nvSpPr>
          <p:cNvPr id="68" name="ZoneTexte 67">
            <a:extLst>
              <a:ext uri="{FF2B5EF4-FFF2-40B4-BE49-F238E27FC236}">
                <a16:creationId xmlns:a16="http://schemas.microsoft.com/office/drawing/2014/main" id="{26B1D58C-47FA-5026-641A-49D35B9419C8}"/>
              </a:ext>
            </a:extLst>
          </p:cNvPr>
          <p:cNvSpPr txBox="1"/>
          <p:nvPr/>
        </p:nvSpPr>
        <p:spPr>
          <a:xfrm>
            <a:off x="841283" y="2497785"/>
            <a:ext cx="1710341" cy="862833"/>
          </a:xfrm>
          <a:prstGeom prst="rect">
            <a:avLst/>
          </a:prstGeom>
          <a:noFill/>
        </p:spPr>
        <p:txBody>
          <a:bodyPr wrap="square">
            <a:spAutoFit/>
          </a:bodyPr>
          <a:lstStyle/>
          <a:p>
            <a:r>
              <a:rPr lang="fr-MA" sz="1200" dirty="0">
                <a:solidFill>
                  <a:srgbClr val="000000"/>
                </a:solidFill>
                <a:latin typeface="Open Sans"/>
                <a:ea typeface="Open Sans"/>
                <a:cs typeface="Open Sans"/>
              </a:rPr>
              <a:t>Permet de filtrer dynamiquement les visuels selon une date sélectionnée </a:t>
            </a:r>
          </a:p>
        </p:txBody>
      </p:sp>
      <p:sp>
        <p:nvSpPr>
          <p:cNvPr id="69" name="ZoneTexte 68">
            <a:extLst>
              <a:ext uri="{FF2B5EF4-FFF2-40B4-BE49-F238E27FC236}">
                <a16:creationId xmlns:a16="http://schemas.microsoft.com/office/drawing/2014/main" id="{4681FB02-8DE7-712E-FF81-8FC438F9BBDA}"/>
              </a:ext>
            </a:extLst>
          </p:cNvPr>
          <p:cNvSpPr txBox="1"/>
          <p:nvPr/>
        </p:nvSpPr>
        <p:spPr>
          <a:xfrm>
            <a:off x="626513" y="3381959"/>
            <a:ext cx="1710341" cy="671092"/>
          </a:xfrm>
          <a:prstGeom prst="rect">
            <a:avLst/>
          </a:prstGeom>
          <a:noFill/>
        </p:spPr>
        <p:txBody>
          <a:bodyPr wrap="square">
            <a:spAutoFit/>
          </a:bodyPr>
          <a:lstStyle/>
          <a:p>
            <a:r>
              <a:rPr lang="fr-MA" sz="1200" dirty="0">
                <a:solidFill>
                  <a:srgbClr val="000000"/>
                </a:solidFill>
                <a:latin typeface="Open Sans"/>
                <a:ea typeface="Open Sans"/>
                <a:cs typeface="Open Sans"/>
              </a:rPr>
              <a:t>Affiche le nombre total de jobs distincts</a:t>
            </a:r>
          </a:p>
        </p:txBody>
      </p:sp>
      <p:cxnSp>
        <p:nvCxnSpPr>
          <p:cNvPr id="70" name="Connecteur droit avec flèche 69">
            <a:extLst>
              <a:ext uri="{FF2B5EF4-FFF2-40B4-BE49-F238E27FC236}">
                <a16:creationId xmlns:a16="http://schemas.microsoft.com/office/drawing/2014/main" id="{9DBD98EC-86B8-ED46-122E-E127B1B31921}"/>
              </a:ext>
            </a:extLst>
          </p:cNvPr>
          <p:cNvCxnSpPr>
            <a:cxnSpLocks/>
          </p:cNvCxnSpPr>
          <p:nvPr/>
        </p:nvCxnSpPr>
        <p:spPr bwMode="gray">
          <a:xfrm>
            <a:off x="2310924" y="3652144"/>
            <a:ext cx="465677" cy="118814"/>
          </a:xfrm>
          <a:prstGeom prst="straightConnector1">
            <a:avLst/>
          </a:prstGeom>
          <a:noFill/>
          <a:ln w="12700">
            <a:solidFill>
              <a:schemeClr val="accent1"/>
            </a:solidFill>
            <a:round/>
            <a:headEnd/>
            <a:tailEnd type="triangle"/>
          </a:ln>
          <a:effectLst/>
        </p:spPr>
      </p:cxnSp>
      <p:cxnSp>
        <p:nvCxnSpPr>
          <p:cNvPr id="71" name="Connecteur droit avec flèche 70">
            <a:extLst>
              <a:ext uri="{FF2B5EF4-FFF2-40B4-BE49-F238E27FC236}">
                <a16:creationId xmlns:a16="http://schemas.microsoft.com/office/drawing/2014/main" id="{0F3E1A1D-D7EC-D9BC-B1EC-DB1B7E825376}"/>
              </a:ext>
            </a:extLst>
          </p:cNvPr>
          <p:cNvCxnSpPr>
            <a:cxnSpLocks/>
          </p:cNvCxnSpPr>
          <p:nvPr/>
        </p:nvCxnSpPr>
        <p:spPr bwMode="gray">
          <a:xfrm flipV="1">
            <a:off x="2310924" y="3859299"/>
            <a:ext cx="1817056" cy="417952"/>
          </a:xfrm>
          <a:prstGeom prst="straightConnector1">
            <a:avLst/>
          </a:prstGeom>
          <a:noFill/>
          <a:ln w="12700">
            <a:solidFill>
              <a:schemeClr val="accent1"/>
            </a:solidFill>
            <a:round/>
            <a:headEnd/>
            <a:tailEnd type="triangle"/>
          </a:ln>
          <a:effectLst/>
        </p:spPr>
      </p:cxnSp>
      <p:sp>
        <p:nvSpPr>
          <p:cNvPr id="72" name="ZoneTexte 71">
            <a:extLst>
              <a:ext uri="{FF2B5EF4-FFF2-40B4-BE49-F238E27FC236}">
                <a16:creationId xmlns:a16="http://schemas.microsoft.com/office/drawing/2014/main" id="{D18052E1-7218-08D9-004A-3F0F588933DA}"/>
              </a:ext>
            </a:extLst>
          </p:cNvPr>
          <p:cNvSpPr txBox="1"/>
          <p:nvPr/>
        </p:nvSpPr>
        <p:spPr>
          <a:xfrm>
            <a:off x="833421" y="4060165"/>
            <a:ext cx="1710341" cy="671092"/>
          </a:xfrm>
          <a:prstGeom prst="rect">
            <a:avLst/>
          </a:prstGeom>
          <a:noFill/>
        </p:spPr>
        <p:txBody>
          <a:bodyPr wrap="square">
            <a:spAutoFit/>
          </a:bodyPr>
          <a:lstStyle/>
          <a:p>
            <a:r>
              <a:rPr lang="fr-MA" sz="1200" dirty="0">
                <a:solidFill>
                  <a:srgbClr val="000000"/>
                </a:solidFill>
                <a:latin typeface="Open Sans"/>
                <a:ea typeface="Open Sans"/>
                <a:cs typeface="Open Sans"/>
              </a:rPr>
              <a:t>Indique le nombre total de tâches  exécutées</a:t>
            </a:r>
          </a:p>
        </p:txBody>
      </p:sp>
      <p:cxnSp>
        <p:nvCxnSpPr>
          <p:cNvPr id="73" name="Connecteur droit avec flèche 72">
            <a:extLst>
              <a:ext uri="{FF2B5EF4-FFF2-40B4-BE49-F238E27FC236}">
                <a16:creationId xmlns:a16="http://schemas.microsoft.com/office/drawing/2014/main" id="{9C1C4E2F-3F7A-7FB3-60A2-D67C8F10337B}"/>
              </a:ext>
            </a:extLst>
          </p:cNvPr>
          <p:cNvCxnSpPr>
            <a:cxnSpLocks/>
          </p:cNvCxnSpPr>
          <p:nvPr/>
        </p:nvCxnSpPr>
        <p:spPr bwMode="gray">
          <a:xfrm flipV="1">
            <a:off x="2602559" y="5572665"/>
            <a:ext cx="578354" cy="265131"/>
          </a:xfrm>
          <a:prstGeom prst="straightConnector1">
            <a:avLst/>
          </a:prstGeom>
          <a:noFill/>
          <a:ln w="12700">
            <a:solidFill>
              <a:schemeClr val="accent1"/>
            </a:solidFill>
            <a:round/>
            <a:headEnd/>
            <a:tailEnd type="triangle"/>
          </a:ln>
          <a:effectLst/>
        </p:spPr>
      </p:cxnSp>
      <p:sp>
        <p:nvSpPr>
          <p:cNvPr id="74" name="ZoneTexte 73">
            <a:extLst>
              <a:ext uri="{FF2B5EF4-FFF2-40B4-BE49-F238E27FC236}">
                <a16:creationId xmlns:a16="http://schemas.microsoft.com/office/drawing/2014/main" id="{2D236D71-5937-808C-2BD7-B1516152D241}"/>
              </a:ext>
            </a:extLst>
          </p:cNvPr>
          <p:cNvSpPr txBox="1"/>
          <p:nvPr/>
        </p:nvSpPr>
        <p:spPr>
          <a:xfrm>
            <a:off x="786947" y="5597463"/>
            <a:ext cx="1710341" cy="862833"/>
          </a:xfrm>
          <a:prstGeom prst="rect">
            <a:avLst/>
          </a:prstGeom>
          <a:noFill/>
        </p:spPr>
        <p:txBody>
          <a:bodyPr wrap="square">
            <a:spAutoFit/>
          </a:bodyPr>
          <a:lstStyle/>
          <a:p>
            <a:r>
              <a:rPr lang="fr-MA" sz="1200" dirty="0">
                <a:solidFill>
                  <a:srgbClr val="000000"/>
                </a:solidFill>
                <a:latin typeface="Open Sans"/>
                <a:ea typeface="Open Sans"/>
                <a:cs typeface="Open Sans"/>
              </a:rPr>
              <a:t> Ce graphique  permet de visualiser la répartition globale des jobs par statut</a:t>
            </a:r>
          </a:p>
        </p:txBody>
      </p:sp>
      <p:cxnSp>
        <p:nvCxnSpPr>
          <p:cNvPr id="75" name="Connecteur droit avec flèche 74">
            <a:extLst>
              <a:ext uri="{FF2B5EF4-FFF2-40B4-BE49-F238E27FC236}">
                <a16:creationId xmlns:a16="http://schemas.microsoft.com/office/drawing/2014/main" id="{D672B5DA-DE66-6409-C632-1BC2F5362FB1}"/>
              </a:ext>
            </a:extLst>
          </p:cNvPr>
          <p:cNvCxnSpPr>
            <a:cxnSpLocks/>
          </p:cNvCxnSpPr>
          <p:nvPr/>
        </p:nvCxnSpPr>
        <p:spPr bwMode="gray">
          <a:xfrm flipV="1">
            <a:off x="2310924" y="3898795"/>
            <a:ext cx="2886996" cy="1013347"/>
          </a:xfrm>
          <a:prstGeom prst="straightConnector1">
            <a:avLst/>
          </a:prstGeom>
          <a:noFill/>
          <a:ln w="12700">
            <a:solidFill>
              <a:schemeClr val="accent1"/>
            </a:solidFill>
            <a:round/>
            <a:headEnd/>
            <a:tailEnd type="triangle"/>
          </a:ln>
          <a:effectLst/>
        </p:spPr>
      </p:cxnSp>
      <p:sp>
        <p:nvSpPr>
          <p:cNvPr id="76" name="ZoneTexte 75">
            <a:extLst>
              <a:ext uri="{FF2B5EF4-FFF2-40B4-BE49-F238E27FC236}">
                <a16:creationId xmlns:a16="http://schemas.microsoft.com/office/drawing/2014/main" id="{D3AC6AD6-F5AA-C17C-C1C5-12D46618C674}"/>
              </a:ext>
            </a:extLst>
          </p:cNvPr>
          <p:cNvSpPr txBox="1"/>
          <p:nvPr/>
        </p:nvSpPr>
        <p:spPr>
          <a:xfrm>
            <a:off x="745458" y="4714352"/>
            <a:ext cx="1710341" cy="671092"/>
          </a:xfrm>
          <a:prstGeom prst="rect">
            <a:avLst/>
          </a:prstGeom>
          <a:noFill/>
        </p:spPr>
        <p:txBody>
          <a:bodyPr wrap="square">
            <a:spAutoFit/>
          </a:bodyPr>
          <a:lstStyle/>
          <a:p>
            <a:r>
              <a:rPr lang="fr-MA" sz="1200" dirty="0">
                <a:solidFill>
                  <a:srgbClr val="000000"/>
                </a:solidFill>
                <a:latin typeface="Open Sans"/>
                <a:ea typeface="Open Sans"/>
                <a:cs typeface="Open Sans"/>
              </a:rPr>
              <a:t>Affiche la durée moyenne d'exécution des jobs</a:t>
            </a:r>
          </a:p>
        </p:txBody>
      </p:sp>
      <p:sp>
        <p:nvSpPr>
          <p:cNvPr id="77" name="ZoneTexte 76">
            <a:extLst>
              <a:ext uri="{FF2B5EF4-FFF2-40B4-BE49-F238E27FC236}">
                <a16:creationId xmlns:a16="http://schemas.microsoft.com/office/drawing/2014/main" id="{99A9B122-370A-6D49-B921-80D8855CCB6C}"/>
              </a:ext>
            </a:extLst>
          </p:cNvPr>
          <p:cNvSpPr txBox="1"/>
          <p:nvPr/>
        </p:nvSpPr>
        <p:spPr>
          <a:xfrm>
            <a:off x="9753050" y="1935435"/>
            <a:ext cx="1381086" cy="1054574"/>
          </a:xfrm>
          <a:prstGeom prst="rect">
            <a:avLst/>
          </a:prstGeom>
          <a:noFill/>
        </p:spPr>
        <p:txBody>
          <a:bodyPr wrap="square">
            <a:spAutoFit/>
          </a:bodyPr>
          <a:lstStyle/>
          <a:p>
            <a:r>
              <a:rPr lang="fr-MA" sz="1200" dirty="0">
                <a:solidFill>
                  <a:srgbClr val="000000"/>
                </a:solidFill>
                <a:latin typeface="Open Sans"/>
                <a:ea typeface="Open Sans"/>
                <a:cs typeface="Open Sans"/>
              </a:rPr>
              <a:t>Permet de filtrer les données affichées selon le statut des jobs</a:t>
            </a:r>
          </a:p>
        </p:txBody>
      </p:sp>
      <p:sp>
        <p:nvSpPr>
          <p:cNvPr id="78" name="ZoneTexte 77">
            <a:extLst>
              <a:ext uri="{FF2B5EF4-FFF2-40B4-BE49-F238E27FC236}">
                <a16:creationId xmlns:a16="http://schemas.microsoft.com/office/drawing/2014/main" id="{5BEC3282-A118-DEA2-2FA6-C72A24550DCD}"/>
              </a:ext>
            </a:extLst>
          </p:cNvPr>
          <p:cNvSpPr txBox="1"/>
          <p:nvPr/>
        </p:nvSpPr>
        <p:spPr>
          <a:xfrm>
            <a:off x="9818163" y="2986389"/>
            <a:ext cx="1381086" cy="862833"/>
          </a:xfrm>
          <a:prstGeom prst="rect">
            <a:avLst/>
          </a:prstGeom>
          <a:noFill/>
        </p:spPr>
        <p:txBody>
          <a:bodyPr wrap="square">
            <a:spAutoFit/>
          </a:bodyPr>
          <a:lstStyle/>
          <a:p>
            <a:r>
              <a:rPr lang="fr-MA" sz="1200" dirty="0">
                <a:solidFill>
                  <a:srgbClr val="000000"/>
                </a:solidFill>
                <a:latin typeface="Open Sans"/>
                <a:ea typeface="Open Sans"/>
                <a:cs typeface="Open Sans"/>
              </a:rPr>
              <a:t>Sert à afficher uniquement les jobs actifs ou inactifs</a:t>
            </a:r>
          </a:p>
        </p:txBody>
      </p:sp>
      <p:sp>
        <p:nvSpPr>
          <p:cNvPr id="79" name="ZoneTexte 78">
            <a:extLst>
              <a:ext uri="{FF2B5EF4-FFF2-40B4-BE49-F238E27FC236}">
                <a16:creationId xmlns:a16="http://schemas.microsoft.com/office/drawing/2014/main" id="{8C88D97A-DAF9-87E3-F139-885DF5D6BF2D}"/>
              </a:ext>
            </a:extLst>
          </p:cNvPr>
          <p:cNvSpPr txBox="1"/>
          <p:nvPr/>
        </p:nvSpPr>
        <p:spPr>
          <a:xfrm>
            <a:off x="9818163" y="3877951"/>
            <a:ext cx="1493440" cy="862833"/>
          </a:xfrm>
          <a:prstGeom prst="rect">
            <a:avLst/>
          </a:prstGeom>
          <a:noFill/>
        </p:spPr>
        <p:txBody>
          <a:bodyPr wrap="square">
            <a:spAutoFit/>
          </a:bodyPr>
          <a:lstStyle/>
          <a:p>
            <a:r>
              <a:rPr lang="fr-MA" sz="1200" dirty="0">
                <a:solidFill>
                  <a:srgbClr val="000000"/>
                </a:solidFill>
                <a:latin typeface="Open Sans"/>
                <a:ea typeface="Open Sans"/>
                <a:cs typeface="Open Sans"/>
              </a:rPr>
              <a:t>Permet de  filtrer les données selon un domaine spécifique</a:t>
            </a:r>
          </a:p>
        </p:txBody>
      </p:sp>
      <p:cxnSp>
        <p:nvCxnSpPr>
          <p:cNvPr id="80" name="Connecteur droit avec flèche 79">
            <a:extLst>
              <a:ext uri="{FF2B5EF4-FFF2-40B4-BE49-F238E27FC236}">
                <a16:creationId xmlns:a16="http://schemas.microsoft.com/office/drawing/2014/main" id="{06923309-3744-0882-33B4-A8BF6CC0361C}"/>
              </a:ext>
            </a:extLst>
          </p:cNvPr>
          <p:cNvCxnSpPr>
            <a:cxnSpLocks/>
          </p:cNvCxnSpPr>
          <p:nvPr/>
        </p:nvCxnSpPr>
        <p:spPr bwMode="gray">
          <a:xfrm flipH="1">
            <a:off x="7243011" y="2382253"/>
            <a:ext cx="2374202" cy="1143354"/>
          </a:xfrm>
          <a:prstGeom prst="straightConnector1">
            <a:avLst/>
          </a:prstGeom>
          <a:noFill/>
          <a:ln w="12700">
            <a:solidFill>
              <a:schemeClr val="accent1"/>
            </a:solidFill>
            <a:round/>
            <a:headEnd/>
            <a:tailEnd type="triangle"/>
          </a:ln>
          <a:effectLst/>
        </p:spPr>
      </p:cxnSp>
      <p:sp>
        <p:nvSpPr>
          <p:cNvPr id="83" name="ZoneTexte 82">
            <a:extLst>
              <a:ext uri="{FF2B5EF4-FFF2-40B4-BE49-F238E27FC236}">
                <a16:creationId xmlns:a16="http://schemas.microsoft.com/office/drawing/2014/main" id="{4875B3E8-6863-C249-8D09-C9CA8E96CF73}"/>
              </a:ext>
            </a:extLst>
          </p:cNvPr>
          <p:cNvSpPr txBox="1"/>
          <p:nvPr/>
        </p:nvSpPr>
        <p:spPr>
          <a:xfrm>
            <a:off x="9530197" y="5064033"/>
            <a:ext cx="1493440" cy="671092"/>
          </a:xfrm>
          <a:prstGeom prst="rect">
            <a:avLst/>
          </a:prstGeom>
          <a:noFill/>
        </p:spPr>
        <p:txBody>
          <a:bodyPr wrap="square">
            <a:spAutoFit/>
          </a:bodyPr>
          <a:lstStyle/>
          <a:p>
            <a:r>
              <a:rPr lang="fr-MA" sz="1200" dirty="0">
                <a:solidFill>
                  <a:srgbClr val="000000"/>
                </a:solidFill>
                <a:latin typeface="Open Sans"/>
                <a:ea typeface="Open Sans"/>
                <a:cs typeface="Open Sans"/>
              </a:rPr>
              <a:t>Permet de  filtrer les données selon le job</a:t>
            </a:r>
          </a:p>
        </p:txBody>
      </p:sp>
      <p:cxnSp>
        <p:nvCxnSpPr>
          <p:cNvPr id="84" name="Connecteur droit avec flèche 83">
            <a:extLst>
              <a:ext uri="{FF2B5EF4-FFF2-40B4-BE49-F238E27FC236}">
                <a16:creationId xmlns:a16="http://schemas.microsoft.com/office/drawing/2014/main" id="{A081295E-F1E5-D2AA-E998-CCA257D7A0E9}"/>
              </a:ext>
            </a:extLst>
          </p:cNvPr>
          <p:cNvCxnSpPr>
            <a:cxnSpLocks/>
          </p:cNvCxnSpPr>
          <p:nvPr/>
        </p:nvCxnSpPr>
        <p:spPr bwMode="gray">
          <a:xfrm flipH="1" flipV="1">
            <a:off x="8891337" y="5385444"/>
            <a:ext cx="638860" cy="88924"/>
          </a:xfrm>
          <a:prstGeom prst="straightConnector1">
            <a:avLst/>
          </a:prstGeom>
          <a:noFill/>
          <a:ln w="12700">
            <a:solidFill>
              <a:schemeClr val="accent1"/>
            </a:solidFill>
            <a:round/>
            <a:headEnd/>
            <a:tailEnd type="triangle"/>
          </a:ln>
          <a:effectLst/>
        </p:spPr>
      </p:cxnSp>
      <p:cxnSp>
        <p:nvCxnSpPr>
          <p:cNvPr id="85" name="Connecteur droit avec flèche 84">
            <a:extLst>
              <a:ext uri="{FF2B5EF4-FFF2-40B4-BE49-F238E27FC236}">
                <a16:creationId xmlns:a16="http://schemas.microsoft.com/office/drawing/2014/main" id="{43B4EB43-22C9-89DB-BA3A-D8204B84B11B}"/>
              </a:ext>
            </a:extLst>
          </p:cNvPr>
          <p:cNvCxnSpPr>
            <a:cxnSpLocks/>
          </p:cNvCxnSpPr>
          <p:nvPr/>
        </p:nvCxnSpPr>
        <p:spPr bwMode="gray">
          <a:xfrm flipV="1">
            <a:off x="4456710" y="4677477"/>
            <a:ext cx="1430828" cy="1562366"/>
          </a:xfrm>
          <a:prstGeom prst="straightConnector1">
            <a:avLst/>
          </a:prstGeom>
          <a:noFill/>
          <a:ln w="12700">
            <a:solidFill>
              <a:schemeClr val="accent1"/>
            </a:solidFill>
            <a:round/>
            <a:headEnd/>
            <a:tailEnd type="triangle"/>
          </a:ln>
          <a:effectLst/>
        </p:spPr>
      </p:cxnSp>
      <p:sp>
        <p:nvSpPr>
          <p:cNvPr id="86" name="ZoneTexte 85">
            <a:extLst>
              <a:ext uri="{FF2B5EF4-FFF2-40B4-BE49-F238E27FC236}">
                <a16:creationId xmlns:a16="http://schemas.microsoft.com/office/drawing/2014/main" id="{1513D0C8-02DD-1086-DA2A-A430B73BD6C6}"/>
              </a:ext>
            </a:extLst>
          </p:cNvPr>
          <p:cNvSpPr txBox="1"/>
          <p:nvPr/>
        </p:nvSpPr>
        <p:spPr>
          <a:xfrm>
            <a:off x="3160865" y="6220596"/>
            <a:ext cx="1926242" cy="671092"/>
          </a:xfrm>
          <a:prstGeom prst="rect">
            <a:avLst/>
          </a:prstGeom>
          <a:noFill/>
        </p:spPr>
        <p:txBody>
          <a:bodyPr wrap="square">
            <a:spAutoFit/>
          </a:bodyPr>
          <a:lstStyle/>
          <a:p>
            <a:r>
              <a:rPr lang="fr-MA" sz="1200" dirty="0">
                <a:solidFill>
                  <a:srgbClr val="000000"/>
                </a:solidFill>
                <a:latin typeface="Open Sans"/>
                <a:ea typeface="Open Sans"/>
                <a:cs typeface="Open Sans"/>
              </a:rPr>
              <a:t>Affiche la valeur maximale atteinte au niveau Bronze</a:t>
            </a:r>
          </a:p>
        </p:txBody>
      </p:sp>
      <p:sp>
        <p:nvSpPr>
          <p:cNvPr id="88" name="ZoneTexte 87">
            <a:extLst>
              <a:ext uri="{FF2B5EF4-FFF2-40B4-BE49-F238E27FC236}">
                <a16:creationId xmlns:a16="http://schemas.microsoft.com/office/drawing/2014/main" id="{CB4B8E4B-D7F1-A1B6-4738-8BBD625B7177}"/>
              </a:ext>
            </a:extLst>
          </p:cNvPr>
          <p:cNvSpPr txBox="1"/>
          <p:nvPr/>
        </p:nvSpPr>
        <p:spPr>
          <a:xfrm>
            <a:off x="6074979" y="6269190"/>
            <a:ext cx="2339871" cy="671092"/>
          </a:xfrm>
          <a:prstGeom prst="rect">
            <a:avLst/>
          </a:prstGeom>
          <a:noFill/>
        </p:spPr>
        <p:txBody>
          <a:bodyPr wrap="square">
            <a:spAutoFit/>
          </a:bodyPr>
          <a:lstStyle/>
          <a:p>
            <a:r>
              <a:rPr lang="fr-MA" sz="1200" dirty="0">
                <a:solidFill>
                  <a:srgbClr val="000000"/>
                </a:solidFill>
                <a:latin typeface="Open Sans"/>
                <a:ea typeface="Open Sans"/>
                <a:cs typeface="Open Sans"/>
              </a:rPr>
              <a:t>représentant le pic d’éléments atteints au niveau Gold </a:t>
            </a:r>
          </a:p>
        </p:txBody>
      </p:sp>
      <p:sp>
        <p:nvSpPr>
          <p:cNvPr id="89" name="ZoneTexte 88">
            <a:extLst>
              <a:ext uri="{FF2B5EF4-FFF2-40B4-BE49-F238E27FC236}">
                <a16:creationId xmlns:a16="http://schemas.microsoft.com/office/drawing/2014/main" id="{50627013-6074-5578-A43C-EA60C812B78E}"/>
              </a:ext>
            </a:extLst>
          </p:cNvPr>
          <p:cNvSpPr txBox="1"/>
          <p:nvPr/>
        </p:nvSpPr>
        <p:spPr>
          <a:xfrm>
            <a:off x="8674203" y="6212431"/>
            <a:ext cx="1493440" cy="671092"/>
          </a:xfrm>
          <a:prstGeom prst="rect">
            <a:avLst/>
          </a:prstGeom>
          <a:noFill/>
        </p:spPr>
        <p:txBody>
          <a:bodyPr wrap="square">
            <a:spAutoFit/>
          </a:bodyPr>
          <a:lstStyle/>
          <a:p>
            <a:r>
              <a:rPr lang="fr-MA" sz="1200" dirty="0">
                <a:solidFill>
                  <a:srgbClr val="000000"/>
                </a:solidFill>
                <a:latin typeface="Open Sans"/>
                <a:ea typeface="Open Sans"/>
                <a:cs typeface="Open Sans"/>
              </a:rPr>
              <a:t>Indique la valeur maximale au niveau Silver </a:t>
            </a:r>
          </a:p>
        </p:txBody>
      </p:sp>
      <p:cxnSp>
        <p:nvCxnSpPr>
          <p:cNvPr id="90" name="Connecteur droit avec flèche 89">
            <a:extLst>
              <a:ext uri="{FF2B5EF4-FFF2-40B4-BE49-F238E27FC236}">
                <a16:creationId xmlns:a16="http://schemas.microsoft.com/office/drawing/2014/main" id="{3CE4B191-73C8-FCAF-DE5F-2B3775787B28}"/>
              </a:ext>
            </a:extLst>
          </p:cNvPr>
          <p:cNvCxnSpPr>
            <a:cxnSpLocks/>
          </p:cNvCxnSpPr>
          <p:nvPr/>
        </p:nvCxnSpPr>
        <p:spPr bwMode="gray">
          <a:xfrm flipH="1" flipV="1">
            <a:off x="6774068" y="5854199"/>
            <a:ext cx="326769" cy="447618"/>
          </a:xfrm>
          <a:prstGeom prst="straightConnector1">
            <a:avLst/>
          </a:prstGeom>
          <a:noFill/>
          <a:ln w="12700">
            <a:solidFill>
              <a:schemeClr val="accent1"/>
            </a:solidFill>
            <a:round/>
            <a:headEnd/>
            <a:tailEnd type="triangle"/>
          </a:ln>
          <a:effectLst/>
        </p:spPr>
      </p:cxnSp>
      <p:cxnSp>
        <p:nvCxnSpPr>
          <p:cNvPr id="82" name="Connecteur droit avec flèche 81">
            <a:extLst>
              <a:ext uri="{FF2B5EF4-FFF2-40B4-BE49-F238E27FC236}">
                <a16:creationId xmlns:a16="http://schemas.microsoft.com/office/drawing/2014/main" id="{438AAD30-E8DA-050E-E546-C72DDE2E9C42}"/>
              </a:ext>
            </a:extLst>
          </p:cNvPr>
          <p:cNvCxnSpPr>
            <a:cxnSpLocks/>
            <a:stCxn id="79" idx="1"/>
          </p:cNvCxnSpPr>
          <p:nvPr/>
        </p:nvCxnSpPr>
        <p:spPr bwMode="gray">
          <a:xfrm flipH="1" flipV="1">
            <a:off x="9023684" y="3898795"/>
            <a:ext cx="794479" cy="410573"/>
          </a:xfrm>
          <a:prstGeom prst="straightConnector1">
            <a:avLst/>
          </a:prstGeom>
          <a:noFill/>
          <a:ln w="12700">
            <a:solidFill>
              <a:schemeClr val="accent1"/>
            </a:solidFill>
            <a:round/>
            <a:headEnd/>
            <a:tailEnd type="triangle"/>
          </a:ln>
          <a:effectLst/>
        </p:spPr>
      </p:cxnSp>
      <p:cxnSp>
        <p:nvCxnSpPr>
          <p:cNvPr id="81" name="Connecteur droit avec flèche 80">
            <a:extLst>
              <a:ext uri="{FF2B5EF4-FFF2-40B4-BE49-F238E27FC236}">
                <a16:creationId xmlns:a16="http://schemas.microsoft.com/office/drawing/2014/main" id="{B1860EFD-540D-AC30-F8EE-1D036FBD50AF}"/>
              </a:ext>
            </a:extLst>
          </p:cNvPr>
          <p:cNvCxnSpPr>
            <a:cxnSpLocks/>
          </p:cNvCxnSpPr>
          <p:nvPr/>
        </p:nvCxnSpPr>
        <p:spPr bwMode="gray">
          <a:xfrm flipH="1">
            <a:off x="7856621" y="3260558"/>
            <a:ext cx="1896429" cy="391586"/>
          </a:xfrm>
          <a:prstGeom prst="straightConnector1">
            <a:avLst/>
          </a:prstGeom>
          <a:noFill/>
          <a:ln w="12700">
            <a:solidFill>
              <a:schemeClr val="accent1"/>
            </a:solidFill>
            <a:round/>
            <a:headEnd/>
            <a:tailEnd type="triangle"/>
          </a:ln>
          <a:effectLst/>
        </p:spPr>
      </p:cxnSp>
      <p:cxnSp>
        <p:nvCxnSpPr>
          <p:cNvPr id="87" name="Connecteur droit avec flèche 86">
            <a:extLst>
              <a:ext uri="{FF2B5EF4-FFF2-40B4-BE49-F238E27FC236}">
                <a16:creationId xmlns:a16="http://schemas.microsoft.com/office/drawing/2014/main" id="{68944E0C-99EE-3F29-74CD-2DE43167ED27}"/>
              </a:ext>
            </a:extLst>
          </p:cNvPr>
          <p:cNvCxnSpPr>
            <a:cxnSpLocks/>
          </p:cNvCxnSpPr>
          <p:nvPr/>
        </p:nvCxnSpPr>
        <p:spPr bwMode="gray">
          <a:xfrm flipH="1" flipV="1">
            <a:off x="6823572" y="5219452"/>
            <a:ext cx="1874404" cy="1155027"/>
          </a:xfrm>
          <a:prstGeom prst="straightConnector1">
            <a:avLst/>
          </a:prstGeom>
          <a:noFill/>
          <a:ln w="12700">
            <a:solidFill>
              <a:schemeClr val="accent1"/>
            </a:solidFill>
            <a:round/>
            <a:headEnd/>
            <a:tailEnd type="triangle"/>
          </a:ln>
          <a:effectLst/>
        </p:spPr>
      </p:cxnSp>
    </p:spTree>
    <p:extLst>
      <p:ext uri="{BB962C8B-B14F-4D97-AF65-F5344CB8AC3E}">
        <p14:creationId xmlns:p14="http://schemas.microsoft.com/office/powerpoint/2010/main" val="380467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anim calcmode="lin" valueType="num">
                                      <p:cBhvr>
                                        <p:cTn id="8" dur="1000" fill="hold"/>
                                        <p:tgtEl>
                                          <p:spTgt spid="68"/>
                                        </p:tgtEl>
                                        <p:attrNameLst>
                                          <p:attrName>ppt_x</p:attrName>
                                        </p:attrNameLst>
                                      </p:cBhvr>
                                      <p:tavLst>
                                        <p:tav tm="0">
                                          <p:val>
                                            <p:strVal val="#ppt_x"/>
                                          </p:val>
                                        </p:tav>
                                        <p:tav tm="100000">
                                          <p:val>
                                            <p:strVal val="#ppt_x"/>
                                          </p:val>
                                        </p:tav>
                                      </p:tavLst>
                                    </p:anim>
                                    <p:anim calcmode="lin" valueType="num">
                                      <p:cBhvr>
                                        <p:cTn id="9" dur="1000" fill="hold"/>
                                        <p:tgtEl>
                                          <p:spTgt spid="6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fade">
                                      <p:cBhvr>
                                        <p:cTn id="19" dur="1000"/>
                                        <p:tgtEl>
                                          <p:spTgt spid="69"/>
                                        </p:tgtEl>
                                      </p:cBhvr>
                                    </p:animEffect>
                                    <p:anim calcmode="lin" valueType="num">
                                      <p:cBhvr>
                                        <p:cTn id="20" dur="1000" fill="hold"/>
                                        <p:tgtEl>
                                          <p:spTgt spid="69"/>
                                        </p:tgtEl>
                                        <p:attrNameLst>
                                          <p:attrName>ppt_x</p:attrName>
                                        </p:attrNameLst>
                                      </p:cBhvr>
                                      <p:tavLst>
                                        <p:tav tm="0">
                                          <p:val>
                                            <p:strVal val="#ppt_x"/>
                                          </p:val>
                                        </p:tav>
                                        <p:tav tm="100000">
                                          <p:val>
                                            <p:strVal val="#ppt_x"/>
                                          </p:val>
                                        </p:tav>
                                      </p:tavLst>
                                    </p:anim>
                                    <p:anim calcmode="lin" valueType="num">
                                      <p:cBhvr>
                                        <p:cTn id="21" dur="1000" fill="hold"/>
                                        <p:tgtEl>
                                          <p:spTgt spid="6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0"/>
                                        </p:tgtEl>
                                        <p:attrNameLst>
                                          <p:attrName>style.visibility</p:attrName>
                                        </p:attrNameLst>
                                      </p:cBhvr>
                                      <p:to>
                                        <p:strVal val="visible"/>
                                      </p:to>
                                    </p:set>
                                    <p:animEffect transition="in" filter="fade">
                                      <p:cBhvr>
                                        <p:cTn id="24" dur="1000"/>
                                        <p:tgtEl>
                                          <p:spTgt spid="70"/>
                                        </p:tgtEl>
                                      </p:cBhvr>
                                    </p:animEffect>
                                    <p:anim calcmode="lin" valueType="num">
                                      <p:cBhvr>
                                        <p:cTn id="25" dur="1000" fill="hold"/>
                                        <p:tgtEl>
                                          <p:spTgt spid="70"/>
                                        </p:tgtEl>
                                        <p:attrNameLst>
                                          <p:attrName>ppt_x</p:attrName>
                                        </p:attrNameLst>
                                      </p:cBhvr>
                                      <p:tavLst>
                                        <p:tav tm="0">
                                          <p:val>
                                            <p:strVal val="#ppt_x"/>
                                          </p:val>
                                        </p:tav>
                                        <p:tav tm="100000">
                                          <p:val>
                                            <p:strVal val="#ppt_x"/>
                                          </p:val>
                                        </p:tav>
                                      </p:tavLst>
                                    </p:anim>
                                    <p:anim calcmode="lin" valueType="num">
                                      <p:cBhvr>
                                        <p:cTn id="26"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2"/>
                                        </p:tgtEl>
                                        <p:attrNameLst>
                                          <p:attrName>style.visibility</p:attrName>
                                        </p:attrNameLst>
                                      </p:cBhvr>
                                      <p:to>
                                        <p:strVal val="visible"/>
                                      </p:to>
                                    </p:set>
                                    <p:animEffect transition="in" filter="fade">
                                      <p:cBhvr>
                                        <p:cTn id="31" dur="1000"/>
                                        <p:tgtEl>
                                          <p:spTgt spid="72"/>
                                        </p:tgtEl>
                                      </p:cBhvr>
                                    </p:animEffect>
                                    <p:anim calcmode="lin" valueType="num">
                                      <p:cBhvr>
                                        <p:cTn id="32" dur="1000" fill="hold"/>
                                        <p:tgtEl>
                                          <p:spTgt spid="72"/>
                                        </p:tgtEl>
                                        <p:attrNameLst>
                                          <p:attrName>ppt_x</p:attrName>
                                        </p:attrNameLst>
                                      </p:cBhvr>
                                      <p:tavLst>
                                        <p:tav tm="0">
                                          <p:val>
                                            <p:strVal val="#ppt_x"/>
                                          </p:val>
                                        </p:tav>
                                        <p:tav tm="100000">
                                          <p:val>
                                            <p:strVal val="#ppt_x"/>
                                          </p:val>
                                        </p:tav>
                                      </p:tavLst>
                                    </p:anim>
                                    <p:anim calcmode="lin" valueType="num">
                                      <p:cBhvr>
                                        <p:cTn id="33" dur="1000" fill="hold"/>
                                        <p:tgtEl>
                                          <p:spTgt spid="7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fade">
                                      <p:cBhvr>
                                        <p:cTn id="36" dur="1000"/>
                                        <p:tgtEl>
                                          <p:spTgt spid="71"/>
                                        </p:tgtEl>
                                      </p:cBhvr>
                                    </p:animEffect>
                                    <p:anim calcmode="lin" valueType="num">
                                      <p:cBhvr>
                                        <p:cTn id="37" dur="1000" fill="hold"/>
                                        <p:tgtEl>
                                          <p:spTgt spid="71"/>
                                        </p:tgtEl>
                                        <p:attrNameLst>
                                          <p:attrName>ppt_x</p:attrName>
                                        </p:attrNameLst>
                                      </p:cBhvr>
                                      <p:tavLst>
                                        <p:tav tm="0">
                                          <p:val>
                                            <p:strVal val="#ppt_x"/>
                                          </p:val>
                                        </p:tav>
                                        <p:tav tm="100000">
                                          <p:val>
                                            <p:strVal val="#ppt_x"/>
                                          </p:val>
                                        </p:tav>
                                      </p:tavLst>
                                    </p:anim>
                                    <p:anim calcmode="lin" valueType="num">
                                      <p:cBhvr>
                                        <p:cTn id="38"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76"/>
                                        </p:tgtEl>
                                        <p:attrNameLst>
                                          <p:attrName>style.visibility</p:attrName>
                                        </p:attrNameLst>
                                      </p:cBhvr>
                                      <p:to>
                                        <p:strVal val="visible"/>
                                      </p:to>
                                    </p:set>
                                    <p:animEffect transition="in" filter="fade">
                                      <p:cBhvr>
                                        <p:cTn id="43" dur="1000"/>
                                        <p:tgtEl>
                                          <p:spTgt spid="76"/>
                                        </p:tgtEl>
                                      </p:cBhvr>
                                    </p:animEffect>
                                    <p:anim calcmode="lin" valueType="num">
                                      <p:cBhvr>
                                        <p:cTn id="44" dur="1000" fill="hold"/>
                                        <p:tgtEl>
                                          <p:spTgt spid="76"/>
                                        </p:tgtEl>
                                        <p:attrNameLst>
                                          <p:attrName>ppt_x</p:attrName>
                                        </p:attrNameLst>
                                      </p:cBhvr>
                                      <p:tavLst>
                                        <p:tav tm="0">
                                          <p:val>
                                            <p:strVal val="#ppt_x"/>
                                          </p:val>
                                        </p:tav>
                                        <p:tav tm="100000">
                                          <p:val>
                                            <p:strVal val="#ppt_x"/>
                                          </p:val>
                                        </p:tav>
                                      </p:tavLst>
                                    </p:anim>
                                    <p:anim calcmode="lin" valueType="num">
                                      <p:cBhvr>
                                        <p:cTn id="45" dur="1000" fill="hold"/>
                                        <p:tgtEl>
                                          <p:spTgt spid="76"/>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75"/>
                                        </p:tgtEl>
                                        <p:attrNameLst>
                                          <p:attrName>style.visibility</p:attrName>
                                        </p:attrNameLst>
                                      </p:cBhvr>
                                      <p:to>
                                        <p:strVal val="visible"/>
                                      </p:to>
                                    </p:set>
                                    <p:animEffect transition="in" filter="fade">
                                      <p:cBhvr>
                                        <p:cTn id="48" dur="1000"/>
                                        <p:tgtEl>
                                          <p:spTgt spid="75"/>
                                        </p:tgtEl>
                                      </p:cBhvr>
                                    </p:animEffect>
                                    <p:anim calcmode="lin" valueType="num">
                                      <p:cBhvr>
                                        <p:cTn id="49" dur="1000" fill="hold"/>
                                        <p:tgtEl>
                                          <p:spTgt spid="75"/>
                                        </p:tgtEl>
                                        <p:attrNameLst>
                                          <p:attrName>ppt_x</p:attrName>
                                        </p:attrNameLst>
                                      </p:cBhvr>
                                      <p:tavLst>
                                        <p:tav tm="0">
                                          <p:val>
                                            <p:strVal val="#ppt_x"/>
                                          </p:val>
                                        </p:tav>
                                        <p:tav tm="100000">
                                          <p:val>
                                            <p:strVal val="#ppt_x"/>
                                          </p:val>
                                        </p:tav>
                                      </p:tavLst>
                                    </p:anim>
                                    <p:anim calcmode="lin" valueType="num">
                                      <p:cBhvr>
                                        <p:cTn id="50"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74"/>
                                        </p:tgtEl>
                                        <p:attrNameLst>
                                          <p:attrName>style.visibility</p:attrName>
                                        </p:attrNameLst>
                                      </p:cBhvr>
                                      <p:to>
                                        <p:strVal val="visible"/>
                                      </p:to>
                                    </p:set>
                                    <p:animEffect transition="in" filter="fade">
                                      <p:cBhvr>
                                        <p:cTn id="55" dur="1000"/>
                                        <p:tgtEl>
                                          <p:spTgt spid="74"/>
                                        </p:tgtEl>
                                      </p:cBhvr>
                                    </p:animEffect>
                                    <p:anim calcmode="lin" valueType="num">
                                      <p:cBhvr>
                                        <p:cTn id="56" dur="1000" fill="hold"/>
                                        <p:tgtEl>
                                          <p:spTgt spid="74"/>
                                        </p:tgtEl>
                                        <p:attrNameLst>
                                          <p:attrName>ppt_x</p:attrName>
                                        </p:attrNameLst>
                                      </p:cBhvr>
                                      <p:tavLst>
                                        <p:tav tm="0">
                                          <p:val>
                                            <p:strVal val="#ppt_x"/>
                                          </p:val>
                                        </p:tav>
                                        <p:tav tm="100000">
                                          <p:val>
                                            <p:strVal val="#ppt_x"/>
                                          </p:val>
                                        </p:tav>
                                      </p:tavLst>
                                    </p:anim>
                                    <p:anim calcmode="lin" valueType="num">
                                      <p:cBhvr>
                                        <p:cTn id="57" dur="1000" fill="hold"/>
                                        <p:tgtEl>
                                          <p:spTgt spid="74"/>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73"/>
                                        </p:tgtEl>
                                        <p:attrNameLst>
                                          <p:attrName>style.visibility</p:attrName>
                                        </p:attrNameLst>
                                      </p:cBhvr>
                                      <p:to>
                                        <p:strVal val="visible"/>
                                      </p:to>
                                    </p:set>
                                    <p:animEffect transition="in" filter="fade">
                                      <p:cBhvr>
                                        <p:cTn id="60" dur="1000"/>
                                        <p:tgtEl>
                                          <p:spTgt spid="73"/>
                                        </p:tgtEl>
                                      </p:cBhvr>
                                    </p:animEffect>
                                    <p:anim calcmode="lin" valueType="num">
                                      <p:cBhvr>
                                        <p:cTn id="61" dur="1000" fill="hold"/>
                                        <p:tgtEl>
                                          <p:spTgt spid="73"/>
                                        </p:tgtEl>
                                        <p:attrNameLst>
                                          <p:attrName>ppt_x</p:attrName>
                                        </p:attrNameLst>
                                      </p:cBhvr>
                                      <p:tavLst>
                                        <p:tav tm="0">
                                          <p:val>
                                            <p:strVal val="#ppt_x"/>
                                          </p:val>
                                        </p:tav>
                                        <p:tav tm="100000">
                                          <p:val>
                                            <p:strVal val="#ppt_x"/>
                                          </p:val>
                                        </p:tav>
                                      </p:tavLst>
                                    </p:anim>
                                    <p:anim calcmode="lin" valueType="num">
                                      <p:cBhvr>
                                        <p:cTn id="62"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86"/>
                                        </p:tgtEl>
                                        <p:attrNameLst>
                                          <p:attrName>style.visibility</p:attrName>
                                        </p:attrNameLst>
                                      </p:cBhvr>
                                      <p:to>
                                        <p:strVal val="visible"/>
                                      </p:to>
                                    </p:set>
                                    <p:animEffect transition="in" filter="fade">
                                      <p:cBhvr>
                                        <p:cTn id="67" dur="1000"/>
                                        <p:tgtEl>
                                          <p:spTgt spid="86"/>
                                        </p:tgtEl>
                                      </p:cBhvr>
                                    </p:animEffect>
                                    <p:anim calcmode="lin" valueType="num">
                                      <p:cBhvr>
                                        <p:cTn id="68" dur="1000" fill="hold"/>
                                        <p:tgtEl>
                                          <p:spTgt spid="86"/>
                                        </p:tgtEl>
                                        <p:attrNameLst>
                                          <p:attrName>ppt_x</p:attrName>
                                        </p:attrNameLst>
                                      </p:cBhvr>
                                      <p:tavLst>
                                        <p:tav tm="0">
                                          <p:val>
                                            <p:strVal val="#ppt_x"/>
                                          </p:val>
                                        </p:tav>
                                        <p:tav tm="100000">
                                          <p:val>
                                            <p:strVal val="#ppt_x"/>
                                          </p:val>
                                        </p:tav>
                                      </p:tavLst>
                                    </p:anim>
                                    <p:anim calcmode="lin" valueType="num">
                                      <p:cBhvr>
                                        <p:cTn id="69" dur="1000" fill="hold"/>
                                        <p:tgtEl>
                                          <p:spTgt spid="86"/>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85"/>
                                        </p:tgtEl>
                                        <p:attrNameLst>
                                          <p:attrName>style.visibility</p:attrName>
                                        </p:attrNameLst>
                                      </p:cBhvr>
                                      <p:to>
                                        <p:strVal val="visible"/>
                                      </p:to>
                                    </p:set>
                                    <p:animEffect transition="in" filter="fade">
                                      <p:cBhvr>
                                        <p:cTn id="72" dur="1000"/>
                                        <p:tgtEl>
                                          <p:spTgt spid="85"/>
                                        </p:tgtEl>
                                      </p:cBhvr>
                                    </p:animEffect>
                                    <p:anim calcmode="lin" valueType="num">
                                      <p:cBhvr>
                                        <p:cTn id="73" dur="1000" fill="hold"/>
                                        <p:tgtEl>
                                          <p:spTgt spid="85"/>
                                        </p:tgtEl>
                                        <p:attrNameLst>
                                          <p:attrName>ppt_x</p:attrName>
                                        </p:attrNameLst>
                                      </p:cBhvr>
                                      <p:tavLst>
                                        <p:tav tm="0">
                                          <p:val>
                                            <p:strVal val="#ppt_x"/>
                                          </p:val>
                                        </p:tav>
                                        <p:tav tm="100000">
                                          <p:val>
                                            <p:strVal val="#ppt_x"/>
                                          </p:val>
                                        </p:tav>
                                      </p:tavLst>
                                    </p:anim>
                                    <p:anim calcmode="lin" valueType="num">
                                      <p:cBhvr>
                                        <p:cTn id="74" dur="1000" fill="hold"/>
                                        <p:tgtEl>
                                          <p:spTgt spid="85"/>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88"/>
                                        </p:tgtEl>
                                        <p:attrNameLst>
                                          <p:attrName>style.visibility</p:attrName>
                                        </p:attrNameLst>
                                      </p:cBhvr>
                                      <p:to>
                                        <p:strVal val="visible"/>
                                      </p:to>
                                    </p:set>
                                    <p:animEffect transition="in" filter="fade">
                                      <p:cBhvr>
                                        <p:cTn id="79" dur="1000"/>
                                        <p:tgtEl>
                                          <p:spTgt spid="88"/>
                                        </p:tgtEl>
                                      </p:cBhvr>
                                    </p:animEffect>
                                    <p:anim calcmode="lin" valueType="num">
                                      <p:cBhvr>
                                        <p:cTn id="80" dur="1000" fill="hold"/>
                                        <p:tgtEl>
                                          <p:spTgt spid="88"/>
                                        </p:tgtEl>
                                        <p:attrNameLst>
                                          <p:attrName>ppt_x</p:attrName>
                                        </p:attrNameLst>
                                      </p:cBhvr>
                                      <p:tavLst>
                                        <p:tav tm="0">
                                          <p:val>
                                            <p:strVal val="#ppt_x"/>
                                          </p:val>
                                        </p:tav>
                                        <p:tav tm="100000">
                                          <p:val>
                                            <p:strVal val="#ppt_x"/>
                                          </p:val>
                                        </p:tav>
                                      </p:tavLst>
                                    </p:anim>
                                    <p:anim calcmode="lin" valueType="num">
                                      <p:cBhvr>
                                        <p:cTn id="81" dur="1000" fill="hold"/>
                                        <p:tgtEl>
                                          <p:spTgt spid="88"/>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90"/>
                                        </p:tgtEl>
                                        <p:attrNameLst>
                                          <p:attrName>style.visibility</p:attrName>
                                        </p:attrNameLst>
                                      </p:cBhvr>
                                      <p:to>
                                        <p:strVal val="visible"/>
                                      </p:to>
                                    </p:set>
                                    <p:animEffect transition="in" filter="fade">
                                      <p:cBhvr>
                                        <p:cTn id="84" dur="1000"/>
                                        <p:tgtEl>
                                          <p:spTgt spid="90"/>
                                        </p:tgtEl>
                                      </p:cBhvr>
                                    </p:animEffect>
                                    <p:anim calcmode="lin" valueType="num">
                                      <p:cBhvr>
                                        <p:cTn id="85" dur="1000" fill="hold"/>
                                        <p:tgtEl>
                                          <p:spTgt spid="90"/>
                                        </p:tgtEl>
                                        <p:attrNameLst>
                                          <p:attrName>ppt_x</p:attrName>
                                        </p:attrNameLst>
                                      </p:cBhvr>
                                      <p:tavLst>
                                        <p:tav tm="0">
                                          <p:val>
                                            <p:strVal val="#ppt_x"/>
                                          </p:val>
                                        </p:tav>
                                        <p:tav tm="100000">
                                          <p:val>
                                            <p:strVal val="#ppt_x"/>
                                          </p:val>
                                        </p:tav>
                                      </p:tavLst>
                                    </p:anim>
                                    <p:anim calcmode="lin" valueType="num">
                                      <p:cBhvr>
                                        <p:cTn id="86" dur="1000" fill="hold"/>
                                        <p:tgtEl>
                                          <p:spTgt spid="90"/>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87"/>
                                        </p:tgtEl>
                                        <p:attrNameLst>
                                          <p:attrName>style.visibility</p:attrName>
                                        </p:attrNameLst>
                                      </p:cBhvr>
                                      <p:to>
                                        <p:strVal val="visible"/>
                                      </p:to>
                                    </p:set>
                                    <p:animEffect transition="in" filter="fade">
                                      <p:cBhvr>
                                        <p:cTn id="91" dur="1000"/>
                                        <p:tgtEl>
                                          <p:spTgt spid="87"/>
                                        </p:tgtEl>
                                      </p:cBhvr>
                                    </p:animEffect>
                                    <p:anim calcmode="lin" valueType="num">
                                      <p:cBhvr>
                                        <p:cTn id="92" dur="1000" fill="hold"/>
                                        <p:tgtEl>
                                          <p:spTgt spid="87"/>
                                        </p:tgtEl>
                                        <p:attrNameLst>
                                          <p:attrName>ppt_x</p:attrName>
                                        </p:attrNameLst>
                                      </p:cBhvr>
                                      <p:tavLst>
                                        <p:tav tm="0">
                                          <p:val>
                                            <p:strVal val="#ppt_x"/>
                                          </p:val>
                                        </p:tav>
                                        <p:tav tm="100000">
                                          <p:val>
                                            <p:strVal val="#ppt_x"/>
                                          </p:val>
                                        </p:tav>
                                      </p:tavLst>
                                    </p:anim>
                                    <p:anim calcmode="lin" valueType="num">
                                      <p:cBhvr>
                                        <p:cTn id="93" dur="1000" fill="hold"/>
                                        <p:tgtEl>
                                          <p:spTgt spid="87"/>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89"/>
                                        </p:tgtEl>
                                        <p:attrNameLst>
                                          <p:attrName>style.visibility</p:attrName>
                                        </p:attrNameLst>
                                      </p:cBhvr>
                                      <p:to>
                                        <p:strVal val="visible"/>
                                      </p:to>
                                    </p:set>
                                    <p:animEffect transition="in" filter="fade">
                                      <p:cBhvr>
                                        <p:cTn id="96" dur="1000"/>
                                        <p:tgtEl>
                                          <p:spTgt spid="89"/>
                                        </p:tgtEl>
                                      </p:cBhvr>
                                    </p:animEffect>
                                    <p:anim calcmode="lin" valueType="num">
                                      <p:cBhvr>
                                        <p:cTn id="97" dur="1000" fill="hold"/>
                                        <p:tgtEl>
                                          <p:spTgt spid="89"/>
                                        </p:tgtEl>
                                        <p:attrNameLst>
                                          <p:attrName>ppt_x</p:attrName>
                                        </p:attrNameLst>
                                      </p:cBhvr>
                                      <p:tavLst>
                                        <p:tav tm="0">
                                          <p:val>
                                            <p:strVal val="#ppt_x"/>
                                          </p:val>
                                        </p:tav>
                                        <p:tav tm="100000">
                                          <p:val>
                                            <p:strVal val="#ppt_x"/>
                                          </p:val>
                                        </p:tav>
                                      </p:tavLst>
                                    </p:anim>
                                    <p:anim calcmode="lin" valueType="num">
                                      <p:cBhvr>
                                        <p:cTn id="98" dur="1000" fill="hold"/>
                                        <p:tgtEl>
                                          <p:spTgt spid="89"/>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83"/>
                                        </p:tgtEl>
                                        <p:attrNameLst>
                                          <p:attrName>style.visibility</p:attrName>
                                        </p:attrNameLst>
                                      </p:cBhvr>
                                      <p:to>
                                        <p:strVal val="visible"/>
                                      </p:to>
                                    </p:set>
                                    <p:animEffect transition="in" filter="fade">
                                      <p:cBhvr>
                                        <p:cTn id="103" dur="1000"/>
                                        <p:tgtEl>
                                          <p:spTgt spid="83"/>
                                        </p:tgtEl>
                                      </p:cBhvr>
                                    </p:animEffect>
                                    <p:anim calcmode="lin" valueType="num">
                                      <p:cBhvr>
                                        <p:cTn id="104" dur="1000" fill="hold"/>
                                        <p:tgtEl>
                                          <p:spTgt spid="83"/>
                                        </p:tgtEl>
                                        <p:attrNameLst>
                                          <p:attrName>ppt_x</p:attrName>
                                        </p:attrNameLst>
                                      </p:cBhvr>
                                      <p:tavLst>
                                        <p:tav tm="0">
                                          <p:val>
                                            <p:strVal val="#ppt_x"/>
                                          </p:val>
                                        </p:tav>
                                        <p:tav tm="100000">
                                          <p:val>
                                            <p:strVal val="#ppt_x"/>
                                          </p:val>
                                        </p:tav>
                                      </p:tavLst>
                                    </p:anim>
                                    <p:anim calcmode="lin" valueType="num">
                                      <p:cBhvr>
                                        <p:cTn id="105" dur="1000" fill="hold"/>
                                        <p:tgtEl>
                                          <p:spTgt spid="83"/>
                                        </p:tgtEl>
                                        <p:attrNameLst>
                                          <p:attrName>ppt_y</p:attrName>
                                        </p:attrNameLst>
                                      </p:cBhvr>
                                      <p:tavLst>
                                        <p:tav tm="0">
                                          <p:val>
                                            <p:strVal val="#ppt_y+.1"/>
                                          </p:val>
                                        </p:tav>
                                        <p:tav tm="100000">
                                          <p:val>
                                            <p:strVal val="#ppt_y"/>
                                          </p:val>
                                        </p:tav>
                                      </p:tavLst>
                                    </p:anim>
                                  </p:childTnLst>
                                </p:cTn>
                              </p:par>
                              <p:par>
                                <p:cTn id="106" presetID="42" presetClass="entr" presetSubtype="0" fill="hold" nodeType="withEffect">
                                  <p:stCondLst>
                                    <p:cond delay="0"/>
                                  </p:stCondLst>
                                  <p:childTnLst>
                                    <p:set>
                                      <p:cBhvr>
                                        <p:cTn id="107" dur="1" fill="hold">
                                          <p:stCondLst>
                                            <p:cond delay="0"/>
                                          </p:stCondLst>
                                        </p:cTn>
                                        <p:tgtEl>
                                          <p:spTgt spid="84"/>
                                        </p:tgtEl>
                                        <p:attrNameLst>
                                          <p:attrName>style.visibility</p:attrName>
                                        </p:attrNameLst>
                                      </p:cBhvr>
                                      <p:to>
                                        <p:strVal val="visible"/>
                                      </p:to>
                                    </p:set>
                                    <p:animEffect transition="in" filter="fade">
                                      <p:cBhvr>
                                        <p:cTn id="108" dur="1000"/>
                                        <p:tgtEl>
                                          <p:spTgt spid="84"/>
                                        </p:tgtEl>
                                      </p:cBhvr>
                                    </p:animEffect>
                                    <p:anim calcmode="lin" valueType="num">
                                      <p:cBhvr>
                                        <p:cTn id="109" dur="1000" fill="hold"/>
                                        <p:tgtEl>
                                          <p:spTgt spid="84"/>
                                        </p:tgtEl>
                                        <p:attrNameLst>
                                          <p:attrName>ppt_x</p:attrName>
                                        </p:attrNameLst>
                                      </p:cBhvr>
                                      <p:tavLst>
                                        <p:tav tm="0">
                                          <p:val>
                                            <p:strVal val="#ppt_x"/>
                                          </p:val>
                                        </p:tav>
                                        <p:tav tm="100000">
                                          <p:val>
                                            <p:strVal val="#ppt_x"/>
                                          </p:val>
                                        </p:tav>
                                      </p:tavLst>
                                    </p:anim>
                                    <p:anim calcmode="lin" valueType="num">
                                      <p:cBhvr>
                                        <p:cTn id="110"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79"/>
                                        </p:tgtEl>
                                        <p:attrNameLst>
                                          <p:attrName>style.visibility</p:attrName>
                                        </p:attrNameLst>
                                      </p:cBhvr>
                                      <p:to>
                                        <p:strVal val="visible"/>
                                      </p:to>
                                    </p:set>
                                    <p:animEffect transition="in" filter="fade">
                                      <p:cBhvr>
                                        <p:cTn id="115" dur="1000"/>
                                        <p:tgtEl>
                                          <p:spTgt spid="79"/>
                                        </p:tgtEl>
                                      </p:cBhvr>
                                    </p:animEffect>
                                    <p:anim calcmode="lin" valueType="num">
                                      <p:cBhvr>
                                        <p:cTn id="116" dur="1000" fill="hold"/>
                                        <p:tgtEl>
                                          <p:spTgt spid="79"/>
                                        </p:tgtEl>
                                        <p:attrNameLst>
                                          <p:attrName>ppt_x</p:attrName>
                                        </p:attrNameLst>
                                      </p:cBhvr>
                                      <p:tavLst>
                                        <p:tav tm="0">
                                          <p:val>
                                            <p:strVal val="#ppt_x"/>
                                          </p:val>
                                        </p:tav>
                                        <p:tav tm="100000">
                                          <p:val>
                                            <p:strVal val="#ppt_x"/>
                                          </p:val>
                                        </p:tav>
                                      </p:tavLst>
                                    </p:anim>
                                    <p:anim calcmode="lin" valueType="num">
                                      <p:cBhvr>
                                        <p:cTn id="117" dur="1000" fill="hold"/>
                                        <p:tgtEl>
                                          <p:spTgt spid="79"/>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82"/>
                                        </p:tgtEl>
                                        <p:attrNameLst>
                                          <p:attrName>style.visibility</p:attrName>
                                        </p:attrNameLst>
                                      </p:cBhvr>
                                      <p:to>
                                        <p:strVal val="visible"/>
                                      </p:to>
                                    </p:set>
                                    <p:animEffect transition="in" filter="fade">
                                      <p:cBhvr>
                                        <p:cTn id="120" dur="1000"/>
                                        <p:tgtEl>
                                          <p:spTgt spid="82"/>
                                        </p:tgtEl>
                                      </p:cBhvr>
                                    </p:animEffect>
                                    <p:anim calcmode="lin" valueType="num">
                                      <p:cBhvr>
                                        <p:cTn id="121" dur="1000" fill="hold"/>
                                        <p:tgtEl>
                                          <p:spTgt spid="82"/>
                                        </p:tgtEl>
                                        <p:attrNameLst>
                                          <p:attrName>ppt_x</p:attrName>
                                        </p:attrNameLst>
                                      </p:cBhvr>
                                      <p:tavLst>
                                        <p:tav tm="0">
                                          <p:val>
                                            <p:strVal val="#ppt_x"/>
                                          </p:val>
                                        </p:tav>
                                        <p:tav tm="100000">
                                          <p:val>
                                            <p:strVal val="#ppt_x"/>
                                          </p:val>
                                        </p:tav>
                                      </p:tavLst>
                                    </p:anim>
                                    <p:anim calcmode="lin" valueType="num">
                                      <p:cBhvr>
                                        <p:cTn id="122"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78"/>
                                        </p:tgtEl>
                                        <p:attrNameLst>
                                          <p:attrName>style.visibility</p:attrName>
                                        </p:attrNameLst>
                                      </p:cBhvr>
                                      <p:to>
                                        <p:strVal val="visible"/>
                                      </p:to>
                                    </p:set>
                                    <p:animEffect transition="in" filter="fade">
                                      <p:cBhvr>
                                        <p:cTn id="127" dur="1000"/>
                                        <p:tgtEl>
                                          <p:spTgt spid="78"/>
                                        </p:tgtEl>
                                      </p:cBhvr>
                                    </p:animEffect>
                                    <p:anim calcmode="lin" valueType="num">
                                      <p:cBhvr>
                                        <p:cTn id="128" dur="1000" fill="hold"/>
                                        <p:tgtEl>
                                          <p:spTgt spid="78"/>
                                        </p:tgtEl>
                                        <p:attrNameLst>
                                          <p:attrName>ppt_x</p:attrName>
                                        </p:attrNameLst>
                                      </p:cBhvr>
                                      <p:tavLst>
                                        <p:tav tm="0">
                                          <p:val>
                                            <p:strVal val="#ppt_x"/>
                                          </p:val>
                                        </p:tav>
                                        <p:tav tm="100000">
                                          <p:val>
                                            <p:strVal val="#ppt_x"/>
                                          </p:val>
                                        </p:tav>
                                      </p:tavLst>
                                    </p:anim>
                                    <p:anim calcmode="lin" valueType="num">
                                      <p:cBhvr>
                                        <p:cTn id="129" dur="1000" fill="hold"/>
                                        <p:tgtEl>
                                          <p:spTgt spid="78"/>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31" dur="1" fill="hold">
                                          <p:stCondLst>
                                            <p:cond delay="0"/>
                                          </p:stCondLst>
                                        </p:cTn>
                                        <p:tgtEl>
                                          <p:spTgt spid="81"/>
                                        </p:tgtEl>
                                        <p:attrNameLst>
                                          <p:attrName>style.visibility</p:attrName>
                                        </p:attrNameLst>
                                      </p:cBhvr>
                                      <p:to>
                                        <p:strVal val="visible"/>
                                      </p:to>
                                    </p:set>
                                    <p:animEffect transition="in" filter="fade">
                                      <p:cBhvr>
                                        <p:cTn id="132" dur="1000"/>
                                        <p:tgtEl>
                                          <p:spTgt spid="81"/>
                                        </p:tgtEl>
                                      </p:cBhvr>
                                    </p:animEffect>
                                    <p:anim calcmode="lin" valueType="num">
                                      <p:cBhvr>
                                        <p:cTn id="133" dur="1000" fill="hold"/>
                                        <p:tgtEl>
                                          <p:spTgt spid="81"/>
                                        </p:tgtEl>
                                        <p:attrNameLst>
                                          <p:attrName>ppt_x</p:attrName>
                                        </p:attrNameLst>
                                      </p:cBhvr>
                                      <p:tavLst>
                                        <p:tav tm="0">
                                          <p:val>
                                            <p:strVal val="#ppt_x"/>
                                          </p:val>
                                        </p:tav>
                                        <p:tav tm="100000">
                                          <p:val>
                                            <p:strVal val="#ppt_x"/>
                                          </p:val>
                                        </p:tav>
                                      </p:tavLst>
                                    </p:anim>
                                    <p:anim calcmode="lin" valueType="num">
                                      <p:cBhvr>
                                        <p:cTn id="134"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grpId="0" nodeType="clickEffect">
                                  <p:stCondLst>
                                    <p:cond delay="0"/>
                                  </p:stCondLst>
                                  <p:childTnLst>
                                    <p:set>
                                      <p:cBhvr>
                                        <p:cTn id="138" dur="1" fill="hold">
                                          <p:stCondLst>
                                            <p:cond delay="0"/>
                                          </p:stCondLst>
                                        </p:cTn>
                                        <p:tgtEl>
                                          <p:spTgt spid="77"/>
                                        </p:tgtEl>
                                        <p:attrNameLst>
                                          <p:attrName>style.visibility</p:attrName>
                                        </p:attrNameLst>
                                      </p:cBhvr>
                                      <p:to>
                                        <p:strVal val="visible"/>
                                      </p:to>
                                    </p:set>
                                    <p:animEffect transition="in" filter="fade">
                                      <p:cBhvr>
                                        <p:cTn id="139" dur="1000"/>
                                        <p:tgtEl>
                                          <p:spTgt spid="77"/>
                                        </p:tgtEl>
                                      </p:cBhvr>
                                    </p:animEffect>
                                    <p:anim calcmode="lin" valueType="num">
                                      <p:cBhvr>
                                        <p:cTn id="140" dur="1000" fill="hold"/>
                                        <p:tgtEl>
                                          <p:spTgt spid="77"/>
                                        </p:tgtEl>
                                        <p:attrNameLst>
                                          <p:attrName>ppt_x</p:attrName>
                                        </p:attrNameLst>
                                      </p:cBhvr>
                                      <p:tavLst>
                                        <p:tav tm="0">
                                          <p:val>
                                            <p:strVal val="#ppt_x"/>
                                          </p:val>
                                        </p:tav>
                                        <p:tav tm="100000">
                                          <p:val>
                                            <p:strVal val="#ppt_x"/>
                                          </p:val>
                                        </p:tav>
                                      </p:tavLst>
                                    </p:anim>
                                    <p:anim calcmode="lin" valueType="num">
                                      <p:cBhvr>
                                        <p:cTn id="141" dur="1000" fill="hold"/>
                                        <p:tgtEl>
                                          <p:spTgt spid="77"/>
                                        </p:tgtEl>
                                        <p:attrNameLst>
                                          <p:attrName>ppt_y</p:attrName>
                                        </p:attrNameLst>
                                      </p:cBhvr>
                                      <p:tavLst>
                                        <p:tav tm="0">
                                          <p:val>
                                            <p:strVal val="#ppt_y+.1"/>
                                          </p:val>
                                        </p:tav>
                                        <p:tav tm="100000">
                                          <p:val>
                                            <p:strVal val="#ppt_y"/>
                                          </p:val>
                                        </p:tav>
                                      </p:tavLst>
                                    </p:anim>
                                  </p:childTnLst>
                                </p:cTn>
                              </p:par>
                              <p:par>
                                <p:cTn id="142" presetID="42" presetClass="entr" presetSubtype="0" fill="hold" nodeType="withEffect">
                                  <p:stCondLst>
                                    <p:cond delay="0"/>
                                  </p:stCondLst>
                                  <p:childTnLst>
                                    <p:set>
                                      <p:cBhvr>
                                        <p:cTn id="143" dur="1" fill="hold">
                                          <p:stCondLst>
                                            <p:cond delay="0"/>
                                          </p:stCondLst>
                                        </p:cTn>
                                        <p:tgtEl>
                                          <p:spTgt spid="80"/>
                                        </p:tgtEl>
                                        <p:attrNameLst>
                                          <p:attrName>style.visibility</p:attrName>
                                        </p:attrNameLst>
                                      </p:cBhvr>
                                      <p:to>
                                        <p:strVal val="visible"/>
                                      </p:to>
                                    </p:set>
                                    <p:animEffect transition="in" filter="fade">
                                      <p:cBhvr>
                                        <p:cTn id="144" dur="1000"/>
                                        <p:tgtEl>
                                          <p:spTgt spid="80"/>
                                        </p:tgtEl>
                                      </p:cBhvr>
                                    </p:animEffect>
                                    <p:anim calcmode="lin" valueType="num">
                                      <p:cBhvr>
                                        <p:cTn id="145" dur="1000" fill="hold"/>
                                        <p:tgtEl>
                                          <p:spTgt spid="80"/>
                                        </p:tgtEl>
                                        <p:attrNameLst>
                                          <p:attrName>ppt_x</p:attrName>
                                        </p:attrNameLst>
                                      </p:cBhvr>
                                      <p:tavLst>
                                        <p:tav tm="0">
                                          <p:val>
                                            <p:strVal val="#ppt_x"/>
                                          </p:val>
                                        </p:tav>
                                        <p:tav tm="100000">
                                          <p:val>
                                            <p:strVal val="#ppt_x"/>
                                          </p:val>
                                        </p:tav>
                                      </p:tavLst>
                                    </p:anim>
                                    <p:anim calcmode="lin" valueType="num">
                                      <p:cBhvr>
                                        <p:cTn id="146"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2" grpId="0"/>
      <p:bldP spid="74" grpId="0"/>
      <p:bldP spid="76" grpId="0"/>
      <p:bldP spid="77" grpId="0"/>
      <p:bldP spid="78" grpId="0"/>
      <p:bldP spid="79" grpId="0"/>
      <p:bldP spid="83" grpId="0"/>
      <p:bldP spid="86" grpId="0"/>
      <p:bldP spid="88" grpId="0"/>
      <p:bldP spid="8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32334-9CA3-493B-9397-F035653BF023}"/>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37F66347-68B7-FD19-39A3-60552EFAB55D}"/>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7FA5F24C-A0EE-FE8C-9860-9EEAA455C27A}"/>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A226EC96-16C3-EC11-E335-16E6CB275E28}"/>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F0BB3FCA-D530-3C05-D213-5785ADA04BCA}"/>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DD0DD1AC-55AC-FDD3-4327-2E23DF9F9682}"/>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E4237219-E21B-AE08-AC63-E5035B241402}"/>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B3FB7802-3F80-E2C1-92C2-CA689F5C7F52}"/>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199A5100-01D9-B75D-FCE6-37F952D66BE0}"/>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709A3EC2-3FEB-0AB0-2C48-BBBEEC14C384}"/>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35</a:t>
            </a:fld>
            <a:endParaRPr lang="en-GB" dirty="0"/>
          </a:p>
        </p:txBody>
      </p:sp>
      <p:sp>
        <p:nvSpPr>
          <p:cNvPr id="6" name="Ellipse 7">
            <a:extLst>
              <a:ext uri="{FF2B5EF4-FFF2-40B4-BE49-F238E27FC236}">
                <a16:creationId xmlns:a16="http://schemas.microsoft.com/office/drawing/2014/main" id="{F6A12998-3076-BCB7-DB5B-5E081D7D3F13}"/>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F33834AE-E608-3C12-C8C0-34EED68276BE}"/>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Jobs Monitoring</a:t>
            </a:r>
          </a:p>
        </p:txBody>
      </p:sp>
      <p:sp>
        <p:nvSpPr>
          <p:cNvPr id="32" name="ZoneTexte 31">
            <a:extLst>
              <a:ext uri="{FF2B5EF4-FFF2-40B4-BE49-F238E27FC236}">
                <a16:creationId xmlns:a16="http://schemas.microsoft.com/office/drawing/2014/main" id="{FAA4AB44-90BC-329C-172D-883042CA25D2}"/>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02	</a:t>
            </a:r>
          </a:p>
        </p:txBody>
      </p:sp>
      <p:sp>
        <p:nvSpPr>
          <p:cNvPr id="9" name="ZoneTexte 8">
            <a:extLst>
              <a:ext uri="{FF2B5EF4-FFF2-40B4-BE49-F238E27FC236}">
                <a16:creationId xmlns:a16="http://schemas.microsoft.com/office/drawing/2014/main" id="{40AA753C-6E49-7EEB-ACCF-948340A9D7A2}"/>
              </a:ext>
            </a:extLst>
          </p:cNvPr>
          <p:cNvSpPr txBox="1"/>
          <p:nvPr/>
        </p:nvSpPr>
        <p:spPr>
          <a:xfrm>
            <a:off x="10183214" y="3075151"/>
            <a:ext cx="1351813" cy="830997"/>
          </a:xfrm>
          <a:prstGeom prst="rect">
            <a:avLst/>
          </a:prstGeom>
          <a:noFill/>
        </p:spPr>
        <p:txBody>
          <a:bodyPr wrap="square">
            <a:spAutoFit/>
          </a:bodyPr>
          <a:lstStyle/>
          <a:p>
            <a:r>
              <a:rPr lang="fr-MA" sz="1200" dirty="0">
                <a:solidFill>
                  <a:srgbClr val="000000"/>
                </a:solidFill>
                <a:latin typeface="Open Sans"/>
                <a:ea typeface="Open Sans"/>
                <a:cs typeface="Open Sans"/>
              </a:rPr>
              <a:t>Boutons Permet de filtrer les jobs selon leur statut</a:t>
            </a:r>
          </a:p>
        </p:txBody>
      </p:sp>
      <p:cxnSp>
        <p:nvCxnSpPr>
          <p:cNvPr id="11" name="Connecteur droit avec flèche 10">
            <a:extLst>
              <a:ext uri="{FF2B5EF4-FFF2-40B4-BE49-F238E27FC236}">
                <a16:creationId xmlns:a16="http://schemas.microsoft.com/office/drawing/2014/main" id="{806AA535-B523-7964-3083-846E61E1DB81}"/>
              </a:ext>
            </a:extLst>
          </p:cNvPr>
          <p:cNvCxnSpPr>
            <a:cxnSpLocks/>
          </p:cNvCxnSpPr>
          <p:nvPr/>
        </p:nvCxnSpPr>
        <p:spPr bwMode="gray">
          <a:xfrm flipH="1">
            <a:off x="9908171" y="3394014"/>
            <a:ext cx="257360" cy="300789"/>
          </a:xfrm>
          <a:prstGeom prst="straightConnector1">
            <a:avLst/>
          </a:prstGeom>
          <a:noFill/>
          <a:ln w="12700">
            <a:solidFill>
              <a:schemeClr val="accent1"/>
            </a:solidFill>
            <a:round/>
            <a:headEnd/>
            <a:tailEnd type="triangle"/>
          </a:ln>
          <a:effectLst/>
        </p:spPr>
      </p:cxnSp>
      <p:grpSp>
        <p:nvGrpSpPr>
          <p:cNvPr id="14" name="Groupe 13">
            <a:extLst>
              <a:ext uri="{FF2B5EF4-FFF2-40B4-BE49-F238E27FC236}">
                <a16:creationId xmlns:a16="http://schemas.microsoft.com/office/drawing/2014/main" id="{34841865-1319-1FFA-1AE0-B862CA7E64F8}"/>
              </a:ext>
            </a:extLst>
          </p:cNvPr>
          <p:cNvGrpSpPr/>
          <p:nvPr/>
        </p:nvGrpSpPr>
        <p:grpSpPr>
          <a:xfrm>
            <a:off x="1971975" y="2207349"/>
            <a:ext cx="7892080" cy="4260874"/>
            <a:chOff x="1971975" y="2207349"/>
            <a:chExt cx="7892080" cy="4260874"/>
          </a:xfrm>
        </p:grpSpPr>
        <p:pic>
          <p:nvPicPr>
            <p:cNvPr id="7" name="Image 6">
              <a:extLst>
                <a:ext uri="{FF2B5EF4-FFF2-40B4-BE49-F238E27FC236}">
                  <a16:creationId xmlns:a16="http://schemas.microsoft.com/office/drawing/2014/main" id="{88CC7A1A-5834-0DBE-3AD2-F5B73CFD2DF7}"/>
                </a:ext>
              </a:extLst>
            </p:cNvPr>
            <p:cNvPicPr>
              <a:picLocks noChangeAspect="1"/>
            </p:cNvPicPr>
            <p:nvPr/>
          </p:nvPicPr>
          <p:blipFill>
            <a:blip r:embed="rId8"/>
            <a:stretch>
              <a:fillRect/>
            </a:stretch>
          </p:blipFill>
          <p:spPr>
            <a:xfrm>
              <a:off x="1971975" y="2320289"/>
              <a:ext cx="7892080" cy="4147934"/>
            </a:xfrm>
            <a:prstGeom prst="rect">
              <a:avLst/>
            </a:prstGeom>
          </p:spPr>
        </p:pic>
        <p:sp>
          <p:nvSpPr>
            <p:cNvPr id="13" name="Rectangle 12">
              <a:extLst>
                <a:ext uri="{FF2B5EF4-FFF2-40B4-BE49-F238E27FC236}">
                  <a16:creationId xmlns:a16="http://schemas.microsoft.com/office/drawing/2014/main" id="{42599197-F463-5F99-3BC0-B65C4B8A5670}"/>
                </a:ext>
              </a:extLst>
            </p:cNvPr>
            <p:cNvSpPr/>
            <p:nvPr/>
          </p:nvSpPr>
          <p:spPr>
            <a:xfrm>
              <a:off x="2183564" y="2207349"/>
              <a:ext cx="607761" cy="494702"/>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spTree>
    <p:extLst>
      <p:ext uri="{BB962C8B-B14F-4D97-AF65-F5344CB8AC3E}">
        <p14:creationId xmlns:p14="http://schemas.microsoft.com/office/powerpoint/2010/main" val="1708307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5CF9-0EBC-D232-FF86-61D657AC7EB9}"/>
            </a:ext>
          </a:extLst>
        </p:cNvPr>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C7C391F1-415F-90D6-13AF-74C9E64D06DE}"/>
              </a:ext>
            </a:extLst>
          </p:cNvPr>
          <p:cNvGraphicFramePr/>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Connecteur droit 6">
            <a:extLst>
              <a:ext uri="{FF2B5EF4-FFF2-40B4-BE49-F238E27FC236}">
                <a16:creationId xmlns:a16="http://schemas.microsoft.com/office/drawing/2014/main" id="{0DF5E5E5-17A2-2BEC-69BF-CD23F23672C8}"/>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B1FB6B19-E2DC-AED4-E155-0ECBB148F743}"/>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8" name="ZoneTexte 16">
            <a:extLst>
              <a:ext uri="{FF2B5EF4-FFF2-40B4-BE49-F238E27FC236}">
                <a16:creationId xmlns:a16="http://schemas.microsoft.com/office/drawing/2014/main" id="{B1DA0E9F-EE3F-EA32-B59A-440047696BC8}"/>
              </a:ext>
            </a:extLst>
          </p:cNvPr>
          <p:cNvSpPr txBox="1"/>
          <p:nvPr/>
        </p:nvSpPr>
        <p:spPr>
          <a:xfrm>
            <a:off x="163642" y="1283526"/>
            <a:ext cx="242715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Technologies </a:t>
            </a:r>
            <a:r>
              <a:rPr lang="en-US" sz="1400" dirty="0" err="1">
                <a:solidFill>
                  <a:schemeClr val="bg1">
                    <a:lumMod val="50000"/>
                  </a:schemeClr>
                </a:solidFill>
                <a:latin typeface="Century Schoolbook" charset="0"/>
                <a:ea typeface="Century Schoolbook" charset="0"/>
                <a:cs typeface="Century Schoolbook" charset="0"/>
              </a:rPr>
              <a:t>utilisées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10" name="ZoneTexte 17">
            <a:extLst>
              <a:ext uri="{FF2B5EF4-FFF2-40B4-BE49-F238E27FC236}">
                <a16:creationId xmlns:a16="http://schemas.microsoft.com/office/drawing/2014/main" id="{8168BB25-0399-69A2-3819-1E9C30B2A80F}"/>
              </a:ext>
            </a:extLst>
          </p:cNvPr>
          <p:cNvSpPr txBox="1"/>
          <p:nvPr/>
        </p:nvSpPr>
        <p:spPr>
          <a:xfrm>
            <a:off x="9352804" y="1295001"/>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Interfaces Power BI</a:t>
            </a:r>
          </a:p>
        </p:txBody>
      </p:sp>
      <p:sp>
        <p:nvSpPr>
          <p:cNvPr id="15" name="Ellipse 13">
            <a:extLst>
              <a:ext uri="{FF2B5EF4-FFF2-40B4-BE49-F238E27FC236}">
                <a16:creationId xmlns:a16="http://schemas.microsoft.com/office/drawing/2014/main" id="{65FFC95A-A8DB-9B7A-9F50-EFB2AABA14C1}"/>
              </a:ext>
            </a:extLst>
          </p:cNvPr>
          <p:cNvSpPr/>
          <p:nvPr/>
        </p:nvSpPr>
        <p:spPr>
          <a:xfrm flipH="1">
            <a:off x="316988"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7">
            <a:extLst>
              <a:ext uri="{FF2B5EF4-FFF2-40B4-BE49-F238E27FC236}">
                <a16:creationId xmlns:a16="http://schemas.microsoft.com/office/drawing/2014/main" id="{22D0E55A-C7E8-3EE4-E69C-6DD1F37BF495}"/>
              </a:ext>
            </a:extLst>
          </p:cNvPr>
          <p:cNvSpPr txBox="1"/>
          <p:nvPr/>
        </p:nvSpPr>
        <p:spPr>
          <a:xfrm>
            <a:off x="5331666" y="1264077"/>
            <a:ext cx="2290787" cy="307777"/>
          </a:xfrm>
          <a:prstGeom prst="rect">
            <a:avLst/>
          </a:prstGeom>
          <a:noFill/>
        </p:spPr>
        <p:txBody>
          <a:bodyPr wrap="square" rtlCol="0">
            <a:spAutoFit/>
          </a:bodyPr>
          <a:lstStyle/>
          <a:p>
            <a:r>
              <a:rPr lang="en-US" sz="1400" dirty="0">
                <a:solidFill>
                  <a:schemeClr val="bg1">
                    <a:lumMod val="50000"/>
                  </a:schemeClr>
                </a:solidFill>
                <a:latin typeface="Century Schoolbook" charset="0"/>
                <a:ea typeface="Century Schoolbook" charset="0"/>
                <a:cs typeface="Century Schoolbook" charset="0"/>
              </a:rPr>
              <a:t>Jobs </a:t>
            </a:r>
            <a:r>
              <a:rPr lang="en-US" sz="1400" dirty="0" err="1">
                <a:solidFill>
                  <a:schemeClr val="bg1">
                    <a:lumMod val="50000"/>
                  </a:schemeClr>
                </a:solidFill>
                <a:latin typeface="Century Schoolbook" charset="0"/>
                <a:ea typeface="Century Schoolbook" charset="0"/>
                <a:cs typeface="Century Schoolbook" charset="0"/>
              </a:rPr>
              <a:t>exécutés</a:t>
            </a:r>
            <a:endParaRPr lang="en-US" sz="1400" dirty="0">
              <a:solidFill>
                <a:schemeClr val="bg1">
                  <a:lumMod val="50000"/>
                </a:schemeClr>
              </a:solidFill>
              <a:latin typeface="Century Schoolbook" charset="0"/>
              <a:ea typeface="Century Schoolbook" charset="0"/>
              <a:cs typeface="Century Schoolbook" charset="0"/>
            </a:endParaRPr>
          </a:p>
        </p:txBody>
      </p:sp>
      <p:sp>
        <p:nvSpPr>
          <p:cNvPr id="21" name="Ellipse 13">
            <a:extLst>
              <a:ext uri="{FF2B5EF4-FFF2-40B4-BE49-F238E27FC236}">
                <a16:creationId xmlns:a16="http://schemas.microsoft.com/office/drawing/2014/main" id="{0F1AA5A0-7964-366E-F579-292E8679DB4F}"/>
              </a:ext>
            </a:extLst>
          </p:cNvPr>
          <p:cNvSpPr/>
          <p:nvPr/>
        </p:nvSpPr>
        <p:spPr>
          <a:xfrm flipH="1">
            <a:off x="5890981" y="1088131"/>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Slide Number Placeholder 2">
            <a:extLst>
              <a:ext uri="{FF2B5EF4-FFF2-40B4-BE49-F238E27FC236}">
                <a16:creationId xmlns:a16="http://schemas.microsoft.com/office/drawing/2014/main" id="{4E5C65CC-34E2-FB5F-07C1-A8B17202293A}"/>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36</a:t>
            </a:fld>
            <a:endParaRPr lang="en-GB" dirty="0"/>
          </a:p>
        </p:txBody>
      </p:sp>
      <p:sp>
        <p:nvSpPr>
          <p:cNvPr id="6" name="Ellipse 7">
            <a:extLst>
              <a:ext uri="{FF2B5EF4-FFF2-40B4-BE49-F238E27FC236}">
                <a16:creationId xmlns:a16="http://schemas.microsoft.com/office/drawing/2014/main" id="{3C88A06A-3392-CA5A-31AC-905FEF6DBB30}"/>
              </a:ext>
            </a:extLst>
          </p:cNvPr>
          <p:cNvSpPr/>
          <p:nvPr/>
        </p:nvSpPr>
        <p:spPr>
          <a:xfrm flipH="1">
            <a:off x="10442694" y="1100043"/>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ZoneTexte 18">
            <a:extLst>
              <a:ext uri="{FF2B5EF4-FFF2-40B4-BE49-F238E27FC236}">
                <a16:creationId xmlns:a16="http://schemas.microsoft.com/office/drawing/2014/main" id="{6DA7204F-0A9A-8D8E-AEB8-91D15C5E23D2}"/>
              </a:ext>
            </a:extLst>
          </p:cNvPr>
          <p:cNvSpPr txBox="1"/>
          <p:nvPr/>
        </p:nvSpPr>
        <p:spPr>
          <a:xfrm>
            <a:off x="561348" y="1750769"/>
            <a:ext cx="6096000" cy="369332"/>
          </a:xfrm>
          <a:prstGeom prst="rect">
            <a:avLst/>
          </a:prstGeom>
          <a:noFill/>
        </p:spPr>
        <p:txBody>
          <a:bodyPr wrap="square">
            <a:spAutoFit/>
          </a:bodyPr>
          <a:lstStyle/>
          <a:p>
            <a:pPr algn="ctr"/>
            <a:r>
              <a:rPr lang="en-US" b="1" dirty="0">
                <a:solidFill>
                  <a:srgbClr val="C00000"/>
                </a:solidFill>
              </a:rPr>
              <a:t>Jobs Monitoring</a:t>
            </a:r>
          </a:p>
        </p:txBody>
      </p:sp>
      <p:sp>
        <p:nvSpPr>
          <p:cNvPr id="32" name="ZoneTexte 31">
            <a:extLst>
              <a:ext uri="{FF2B5EF4-FFF2-40B4-BE49-F238E27FC236}">
                <a16:creationId xmlns:a16="http://schemas.microsoft.com/office/drawing/2014/main" id="{F629E8AD-5744-5ABC-E375-0281389ED760}"/>
              </a:ext>
            </a:extLst>
          </p:cNvPr>
          <p:cNvSpPr txBox="1"/>
          <p:nvPr/>
        </p:nvSpPr>
        <p:spPr>
          <a:xfrm>
            <a:off x="5890981" y="1802966"/>
            <a:ext cx="6096000" cy="369332"/>
          </a:xfrm>
          <a:prstGeom prst="rect">
            <a:avLst/>
          </a:prstGeom>
          <a:noFill/>
        </p:spPr>
        <p:txBody>
          <a:bodyPr wrap="square">
            <a:spAutoFit/>
          </a:bodyPr>
          <a:lstStyle/>
          <a:p>
            <a:pPr algn="ctr"/>
            <a:r>
              <a:rPr lang="en-US" b="1" dirty="0">
                <a:solidFill>
                  <a:srgbClr val="C00000"/>
                </a:solidFill>
              </a:rPr>
              <a:t>Page – 03	</a:t>
            </a:r>
          </a:p>
        </p:txBody>
      </p:sp>
      <p:grpSp>
        <p:nvGrpSpPr>
          <p:cNvPr id="14" name="Groupe 13">
            <a:extLst>
              <a:ext uri="{FF2B5EF4-FFF2-40B4-BE49-F238E27FC236}">
                <a16:creationId xmlns:a16="http://schemas.microsoft.com/office/drawing/2014/main" id="{0DCC8ABA-B308-0745-DC6A-009B60A35104}"/>
              </a:ext>
            </a:extLst>
          </p:cNvPr>
          <p:cNvGrpSpPr/>
          <p:nvPr/>
        </p:nvGrpSpPr>
        <p:grpSpPr>
          <a:xfrm>
            <a:off x="1703246" y="2236925"/>
            <a:ext cx="8785508" cy="4156856"/>
            <a:chOff x="1703246" y="2236925"/>
            <a:chExt cx="8785508" cy="4156856"/>
          </a:xfrm>
        </p:grpSpPr>
        <p:pic>
          <p:nvPicPr>
            <p:cNvPr id="12" name="Image 11">
              <a:extLst>
                <a:ext uri="{FF2B5EF4-FFF2-40B4-BE49-F238E27FC236}">
                  <a16:creationId xmlns:a16="http://schemas.microsoft.com/office/drawing/2014/main" id="{48492605-C182-08F5-2AE0-EB8E806F5A32}"/>
                </a:ext>
              </a:extLst>
            </p:cNvPr>
            <p:cNvPicPr>
              <a:picLocks noChangeAspect="1"/>
            </p:cNvPicPr>
            <p:nvPr/>
          </p:nvPicPr>
          <p:blipFill>
            <a:blip r:embed="rId8"/>
            <a:stretch>
              <a:fillRect/>
            </a:stretch>
          </p:blipFill>
          <p:spPr>
            <a:xfrm>
              <a:off x="1703246" y="2236925"/>
              <a:ext cx="8785508" cy="4156856"/>
            </a:xfrm>
            <a:prstGeom prst="rect">
              <a:avLst/>
            </a:prstGeom>
          </p:spPr>
        </p:pic>
        <p:sp>
          <p:nvSpPr>
            <p:cNvPr id="13" name="Rectangle 12">
              <a:extLst>
                <a:ext uri="{FF2B5EF4-FFF2-40B4-BE49-F238E27FC236}">
                  <a16:creationId xmlns:a16="http://schemas.microsoft.com/office/drawing/2014/main" id="{CF946101-B8BE-922E-AD9B-982C38551291}"/>
                </a:ext>
              </a:extLst>
            </p:cNvPr>
            <p:cNvSpPr/>
            <p:nvPr/>
          </p:nvSpPr>
          <p:spPr>
            <a:xfrm>
              <a:off x="1975960" y="2299016"/>
              <a:ext cx="779271" cy="403035"/>
            </a:xfrm>
            <a:prstGeom prst="rect">
              <a:avLst/>
            </a:prstGeom>
            <a:solidFill>
              <a:srgbClr val="FF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grpSp>
    </p:spTree>
    <p:extLst>
      <p:ext uri="{BB962C8B-B14F-4D97-AF65-F5344CB8AC3E}">
        <p14:creationId xmlns:p14="http://schemas.microsoft.com/office/powerpoint/2010/main" val="683371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3999" y="2829230"/>
            <a:ext cx="9144000" cy="837101"/>
          </a:xfrm>
        </p:spPr>
        <p:txBody>
          <a:bodyPr>
            <a:normAutofit/>
          </a:bodyPr>
          <a:lstStyle/>
          <a:p>
            <a:r>
              <a:rPr lang="en-US" sz="4800" dirty="0">
                <a:latin typeface="Century Gothic" panose="020B0502020202020204" pitchFamily="34" charset="0"/>
                <a:ea typeface="Century Schoolbook" charset="0"/>
                <a:cs typeface="Century Schoolbook" charset="0"/>
              </a:rPr>
              <a:t>Conclusions &amp; Perspectives</a:t>
            </a:r>
          </a:p>
        </p:txBody>
      </p:sp>
      <p:cxnSp>
        <p:nvCxnSpPr>
          <p:cNvPr id="7" name="Connecteur droit 6"/>
          <p:cNvCxnSpPr/>
          <p:nvPr/>
        </p:nvCxnSpPr>
        <p:spPr>
          <a:xfrm flipV="1">
            <a:off x="3276600" y="3955562"/>
            <a:ext cx="5703277" cy="6838"/>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9" name="Connecteur droit 8"/>
          <p:cNvCxnSpPr/>
          <p:nvPr/>
        </p:nvCxnSpPr>
        <p:spPr>
          <a:xfrm flipV="1">
            <a:off x="3244361" y="2533162"/>
            <a:ext cx="5703277" cy="6838"/>
          </a:xfrm>
          <a:prstGeom prst="line">
            <a:avLst/>
          </a:prstGeom>
          <a:ln/>
        </p:spPr>
        <p:style>
          <a:lnRef idx="1">
            <a:schemeClr val="accent5"/>
          </a:lnRef>
          <a:fillRef idx="0">
            <a:schemeClr val="accent5"/>
          </a:fillRef>
          <a:effectRef idx="0">
            <a:schemeClr val="accent5"/>
          </a:effectRef>
          <a:fontRef idx="minor">
            <a:schemeClr val="tx1"/>
          </a:fontRef>
        </p:style>
      </p:cxnSp>
      <p:sp>
        <p:nvSpPr>
          <p:cNvPr id="10" name="Rectangle à coins arrondis 9"/>
          <p:cNvSpPr/>
          <p:nvPr/>
        </p:nvSpPr>
        <p:spPr>
          <a:xfrm>
            <a:off x="4883085" y="2395728"/>
            <a:ext cx="2394408" cy="144272"/>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à coins arrondis 10"/>
          <p:cNvSpPr/>
          <p:nvPr/>
        </p:nvSpPr>
        <p:spPr>
          <a:xfrm>
            <a:off x="4883085" y="3962400"/>
            <a:ext cx="2394408" cy="152400"/>
          </a:xfrm>
          <a:prstGeom prst="roundRect">
            <a:avLst/>
          </a:prstGeom>
          <a:solidFill>
            <a:srgbClr val="FF00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Slide Number Placeholder 2">
            <a:extLst>
              <a:ext uri="{FF2B5EF4-FFF2-40B4-BE49-F238E27FC236}">
                <a16:creationId xmlns:a16="http://schemas.microsoft.com/office/drawing/2014/main" id="{DAEB7993-FCA7-DA12-22BA-62E461B41EBA}"/>
              </a:ext>
            </a:extLst>
          </p:cNvPr>
          <p:cNvSpPr>
            <a:spLocks noGrp="1"/>
          </p:cNvSpPr>
          <p:nvPr>
            <p:ph type="sldNum" sz="quarter" idx="12"/>
          </p:nvPr>
        </p:nvSpPr>
        <p:spPr/>
        <p:txBody>
          <a:bodyPr/>
          <a:lstStyle/>
          <a:p>
            <a:fld id="{6983841B-0DB4-4C99-B5E5-79625F01DBF7}" type="slidenum">
              <a:rPr lang="en-GB" smtClean="0"/>
              <a:t>37</a:t>
            </a:fld>
            <a:endParaRPr lang="en-GB" dirty="0"/>
          </a:p>
        </p:txBody>
      </p:sp>
    </p:spTree>
    <p:extLst>
      <p:ext uri="{BB962C8B-B14F-4D97-AF65-F5344CB8AC3E}">
        <p14:creationId xmlns:p14="http://schemas.microsoft.com/office/powerpoint/2010/main" val="1904269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p:cNvGraphicFramePr/>
          <p:nvPr>
            <p:extLst>
              <p:ext uri="{D42A27DB-BD31-4B8C-83A1-F6EECF244321}">
                <p14:modId xmlns:p14="http://schemas.microsoft.com/office/powerpoint/2010/main" val="1353763650"/>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Connecteur droit 6">
            <a:extLst>
              <a:ext uri="{FF2B5EF4-FFF2-40B4-BE49-F238E27FC236}">
                <a16:creationId xmlns:a16="http://schemas.microsoft.com/office/drawing/2014/main" id="{95516321-6F8F-3D5B-2239-A19E04DDC4AA}"/>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9" name="Connecteur droit 6">
            <a:extLst>
              <a:ext uri="{FF2B5EF4-FFF2-40B4-BE49-F238E27FC236}">
                <a16:creationId xmlns:a16="http://schemas.microsoft.com/office/drawing/2014/main" id="{749E4F95-39F4-E75A-A23A-2D625C63F543}"/>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10" name="Connecteur droit 6">
            <a:extLst>
              <a:ext uri="{FF2B5EF4-FFF2-40B4-BE49-F238E27FC236}">
                <a16:creationId xmlns:a16="http://schemas.microsoft.com/office/drawing/2014/main" id="{5D31A0E9-6615-7E74-9794-462338DA9DF5}"/>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11" name="Connecteur droit 6">
            <a:extLst>
              <a:ext uri="{FF2B5EF4-FFF2-40B4-BE49-F238E27FC236}">
                <a16:creationId xmlns:a16="http://schemas.microsoft.com/office/drawing/2014/main" id="{08FC4F59-55C0-2D47-7BB8-FC4E7F07B25E}"/>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12" name="Ellipse 13">
            <a:extLst>
              <a:ext uri="{FF2B5EF4-FFF2-40B4-BE49-F238E27FC236}">
                <a16:creationId xmlns:a16="http://schemas.microsoft.com/office/drawing/2014/main" id="{ADC61426-1F6D-CA14-6D15-0F2ED4F2D410}"/>
              </a:ext>
            </a:extLst>
          </p:cNvPr>
          <p:cNvSpPr/>
          <p:nvPr/>
        </p:nvSpPr>
        <p:spPr>
          <a:xfrm flipH="1">
            <a:off x="316988" y="1099192"/>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ZoneTexte 17">
            <a:extLst>
              <a:ext uri="{FF2B5EF4-FFF2-40B4-BE49-F238E27FC236}">
                <a16:creationId xmlns:a16="http://schemas.microsoft.com/office/drawing/2014/main" id="{B643E0D0-5AAC-3474-137A-EF0C5F4B256E}"/>
              </a:ext>
            </a:extLst>
          </p:cNvPr>
          <p:cNvSpPr txBox="1"/>
          <p:nvPr/>
        </p:nvSpPr>
        <p:spPr>
          <a:xfrm>
            <a:off x="-312077" y="128068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Conclusion</a:t>
            </a:r>
          </a:p>
        </p:txBody>
      </p:sp>
      <p:sp>
        <p:nvSpPr>
          <p:cNvPr id="15" name="ZoneTexte 17">
            <a:extLst>
              <a:ext uri="{FF2B5EF4-FFF2-40B4-BE49-F238E27FC236}">
                <a16:creationId xmlns:a16="http://schemas.microsoft.com/office/drawing/2014/main" id="{7D5CB8D8-5085-8A26-5713-EA1F6544DAB3}"/>
              </a:ext>
            </a:extLst>
          </p:cNvPr>
          <p:cNvSpPr txBox="1"/>
          <p:nvPr/>
        </p:nvSpPr>
        <p:spPr>
          <a:xfrm>
            <a:off x="4724400" y="1283635"/>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Perspectives</a:t>
            </a:r>
          </a:p>
        </p:txBody>
      </p:sp>
      <p:sp>
        <p:nvSpPr>
          <p:cNvPr id="16" name="Ellipse 13">
            <a:extLst>
              <a:ext uri="{FF2B5EF4-FFF2-40B4-BE49-F238E27FC236}">
                <a16:creationId xmlns:a16="http://schemas.microsoft.com/office/drawing/2014/main" id="{A072C89A-D126-8765-F1B0-EF012E7FBB23}"/>
              </a:ext>
            </a:extLst>
          </p:cNvPr>
          <p:cNvSpPr/>
          <p:nvPr/>
        </p:nvSpPr>
        <p:spPr>
          <a:xfrm flipH="1">
            <a:off x="5732243" y="1099192"/>
            <a:ext cx="137550" cy="137550"/>
          </a:xfrm>
          <a:prstGeom prst="ellips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F6600"/>
              </a:solidFill>
            </a:endParaRPr>
          </a:p>
        </p:txBody>
      </p:sp>
      <p:sp>
        <p:nvSpPr>
          <p:cNvPr id="2" name="Slide Number Placeholder 2">
            <a:extLst>
              <a:ext uri="{FF2B5EF4-FFF2-40B4-BE49-F238E27FC236}">
                <a16:creationId xmlns:a16="http://schemas.microsoft.com/office/drawing/2014/main" id="{3628253C-D262-CC0E-66CB-D3772D7A1C4C}"/>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38</a:t>
            </a:fld>
            <a:endParaRPr lang="en-GB" dirty="0"/>
          </a:p>
        </p:txBody>
      </p:sp>
      <p:sp>
        <p:nvSpPr>
          <p:cNvPr id="31" name="ZoneTexte 30">
            <a:extLst>
              <a:ext uri="{FF2B5EF4-FFF2-40B4-BE49-F238E27FC236}">
                <a16:creationId xmlns:a16="http://schemas.microsoft.com/office/drawing/2014/main" id="{A4F8F223-A450-DA13-BE54-1449AD19EBB9}"/>
              </a:ext>
            </a:extLst>
          </p:cNvPr>
          <p:cNvSpPr txBox="1"/>
          <p:nvPr/>
        </p:nvSpPr>
        <p:spPr>
          <a:xfrm>
            <a:off x="1406525" y="5142052"/>
            <a:ext cx="7273925" cy="369332"/>
          </a:xfrm>
          <a:prstGeom prst="rect">
            <a:avLst/>
          </a:prstGeom>
          <a:noFill/>
        </p:spPr>
        <p:txBody>
          <a:bodyPr wrap="square">
            <a:spAutoFit/>
          </a:bodyPr>
          <a:lstStyle/>
          <a:p>
            <a:r>
              <a:rPr lang="fr-MA" dirty="0"/>
              <a:t>🔹 </a:t>
            </a:r>
            <a:r>
              <a:rPr lang="fr-MA" b="1" dirty="0"/>
              <a:t>Amélioration de la qualité et de la gouvernance des données</a:t>
            </a:r>
            <a:endParaRPr lang="fr-MA" dirty="0"/>
          </a:p>
        </p:txBody>
      </p:sp>
      <p:sp>
        <p:nvSpPr>
          <p:cNvPr id="35" name="ZoneTexte 34">
            <a:extLst>
              <a:ext uri="{FF2B5EF4-FFF2-40B4-BE49-F238E27FC236}">
                <a16:creationId xmlns:a16="http://schemas.microsoft.com/office/drawing/2014/main" id="{1EBBC8C5-DAE2-3E1E-FCFD-185F64487A4D}"/>
              </a:ext>
            </a:extLst>
          </p:cNvPr>
          <p:cNvSpPr txBox="1"/>
          <p:nvPr/>
        </p:nvSpPr>
        <p:spPr>
          <a:xfrm>
            <a:off x="1406525" y="2073914"/>
            <a:ext cx="7673975" cy="369332"/>
          </a:xfrm>
          <a:prstGeom prst="rect">
            <a:avLst/>
          </a:prstGeom>
          <a:noFill/>
        </p:spPr>
        <p:txBody>
          <a:bodyPr wrap="square">
            <a:spAutoFit/>
          </a:bodyPr>
          <a:lstStyle/>
          <a:p>
            <a:r>
              <a:rPr lang="fr-MA" dirty="0"/>
              <a:t>🔹 </a:t>
            </a:r>
            <a:r>
              <a:rPr lang="fr-MA" b="1" dirty="0"/>
              <a:t>Conception et déploiement réussi d’un système de monitoring des fichiers</a:t>
            </a:r>
            <a:endParaRPr lang="fr-MA" dirty="0"/>
          </a:p>
        </p:txBody>
      </p:sp>
      <p:sp>
        <p:nvSpPr>
          <p:cNvPr id="39" name="ZoneTexte 38">
            <a:extLst>
              <a:ext uri="{FF2B5EF4-FFF2-40B4-BE49-F238E27FC236}">
                <a16:creationId xmlns:a16="http://schemas.microsoft.com/office/drawing/2014/main" id="{2CF6600B-306B-6DE3-92D3-3BB9D63318B6}"/>
              </a:ext>
            </a:extLst>
          </p:cNvPr>
          <p:cNvSpPr txBox="1"/>
          <p:nvPr/>
        </p:nvSpPr>
        <p:spPr>
          <a:xfrm>
            <a:off x="1406525" y="3113572"/>
            <a:ext cx="6254750" cy="369332"/>
          </a:xfrm>
          <a:prstGeom prst="rect">
            <a:avLst/>
          </a:prstGeom>
          <a:noFill/>
        </p:spPr>
        <p:txBody>
          <a:bodyPr wrap="square">
            <a:spAutoFit/>
          </a:bodyPr>
          <a:lstStyle/>
          <a:p>
            <a:r>
              <a:rPr lang="fr-MA" dirty="0"/>
              <a:t>🔹 </a:t>
            </a:r>
            <a:r>
              <a:rPr lang="fr-MA" b="1" dirty="0"/>
              <a:t>Mise en production effective</a:t>
            </a:r>
            <a:endParaRPr lang="fr-MA" dirty="0"/>
          </a:p>
        </p:txBody>
      </p:sp>
      <p:sp>
        <p:nvSpPr>
          <p:cNvPr id="43" name="ZoneTexte 42">
            <a:extLst>
              <a:ext uri="{FF2B5EF4-FFF2-40B4-BE49-F238E27FC236}">
                <a16:creationId xmlns:a16="http://schemas.microsoft.com/office/drawing/2014/main" id="{91818F5D-777E-D6AA-87F6-EB2BB08ABD6C}"/>
              </a:ext>
            </a:extLst>
          </p:cNvPr>
          <p:cNvSpPr txBox="1"/>
          <p:nvPr/>
        </p:nvSpPr>
        <p:spPr>
          <a:xfrm>
            <a:off x="1406525" y="4196065"/>
            <a:ext cx="6254750" cy="369332"/>
          </a:xfrm>
          <a:prstGeom prst="rect">
            <a:avLst/>
          </a:prstGeom>
          <a:noFill/>
        </p:spPr>
        <p:txBody>
          <a:bodyPr wrap="square">
            <a:spAutoFit/>
          </a:bodyPr>
          <a:lstStyle/>
          <a:p>
            <a:r>
              <a:rPr lang="fr-MA" dirty="0"/>
              <a:t>🔹 </a:t>
            </a:r>
            <a:r>
              <a:rPr lang="fr-MA" b="1" dirty="0"/>
              <a:t>Visualisation claire et accessible</a:t>
            </a:r>
            <a:endParaRPr lang="fr-MA" dirty="0"/>
          </a:p>
        </p:txBody>
      </p:sp>
    </p:spTree>
    <p:extLst>
      <p:ext uri="{BB962C8B-B14F-4D97-AF65-F5344CB8AC3E}">
        <p14:creationId xmlns:p14="http://schemas.microsoft.com/office/powerpoint/2010/main" val="2018436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anim calcmode="lin" valueType="num">
                                      <p:cBhvr>
                                        <p:cTn id="23" dur="1000" fill="hold"/>
                                        <p:tgtEl>
                                          <p:spTgt spid="43"/>
                                        </p:tgtEl>
                                        <p:attrNameLst>
                                          <p:attrName>ppt_x</p:attrName>
                                        </p:attrNameLst>
                                      </p:cBhvr>
                                      <p:tavLst>
                                        <p:tav tm="0">
                                          <p:val>
                                            <p:strVal val="#ppt_x"/>
                                          </p:val>
                                        </p:tav>
                                        <p:tav tm="100000">
                                          <p:val>
                                            <p:strVal val="#ppt_x"/>
                                          </p:val>
                                        </p:tav>
                                      </p:tavLst>
                                    </p:anim>
                                    <p:anim calcmode="lin" valueType="num">
                                      <p:cBhvr>
                                        <p:cTn id="2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5" grpId="0"/>
      <p:bldP spid="39" grpId="0"/>
      <p:bldP spid="4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6">
            <a:extLst>
              <a:ext uri="{FF2B5EF4-FFF2-40B4-BE49-F238E27FC236}">
                <a16:creationId xmlns:a16="http://schemas.microsoft.com/office/drawing/2014/main" id="{3497A1A2-EB52-CB47-024C-391E67196D3D}"/>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 name="Connecteur droit 6">
            <a:extLst>
              <a:ext uri="{FF2B5EF4-FFF2-40B4-BE49-F238E27FC236}">
                <a16:creationId xmlns:a16="http://schemas.microsoft.com/office/drawing/2014/main" id="{14BB91D8-A80D-DF1B-60D5-6F97883E43FB}"/>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3" name="Connecteur droit 6">
            <a:extLst>
              <a:ext uri="{FF2B5EF4-FFF2-40B4-BE49-F238E27FC236}">
                <a16:creationId xmlns:a16="http://schemas.microsoft.com/office/drawing/2014/main" id="{C0F62E32-D62C-F99C-3D89-B0E5BA7D2F2A}"/>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cxnSp>
        <p:nvCxnSpPr>
          <p:cNvPr id="24" name="Connecteur droit 6">
            <a:extLst>
              <a:ext uri="{FF2B5EF4-FFF2-40B4-BE49-F238E27FC236}">
                <a16:creationId xmlns:a16="http://schemas.microsoft.com/office/drawing/2014/main" id="{840A9092-5BEC-472E-F97F-6F6D96355A7E}"/>
              </a:ext>
            </a:extLst>
          </p:cNvPr>
          <p:cNvCxnSpPr/>
          <p:nvPr/>
        </p:nvCxnSpPr>
        <p:spPr>
          <a:xfrm>
            <a:off x="385763" y="1168818"/>
            <a:ext cx="11285537" cy="0"/>
          </a:xfrm>
          <a:prstGeom prst="line">
            <a:avLst/>
          </a:prstGeom>
          <a:ln/>
        </p:spPr>
        <p:style>
          <a:lnRef idx="1">
            <a:schemeClr val="dk1"/>
          </a:lnRef>
          <a:fillRef idx="0">
            <a:schemeClr val="dk1"/>
          </a:fillRef>
          <a:effectRef idx="0">
            <a:schemeClr val="dk1"/>
          </a:effectRef>
          <a:fontRef idx="minor">
            <a:schemeClr val="tx1"/>
          </a:fontRef>
        </p:style>
      </p:cxnSp>
      <p:sp>
        <p:nvSpPr>
          <p:cNvPr id="25" name="Ellipse 13">
            <a:extLst>
              <a:ext uri="{FF2B5EF4-FFF2-40B4-BE49-F238E27FC236}">
                <a16:creationId xmlns:a16="http://schemas.microsoft.com/office/drawing/2014/main" id="{CB2FA8DE-6678-9DE8-652B-B25777195CF3}"/>
              </a:ext>
            </a:extLst>
          </p:cNvPr>
          <p:cNvSpPr/>
          <p:nvPr/>
        </p:nvSpPr>
        <p:spPr>
          <a:xfrm flipH="1">
            <a:off x="316988" y="1099192"/>
            <a:ext cx="137550" cy="137550"/>
          </a:xfrm>
          <a:prstGeom prst="ellips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7" name="ZoneTexte 17">
            <a:extLst>
              <a:ext uri="{FF2B5EF4-FFF2-40B4-BE49-F238E27FC236}">
                <a16:creationId xmlns:a16="http://schemas.microsoft.com/office/drawing/2014/main" id="{37E62944-5431-7CA1-A86F-26EB4926D3E0}"/>
              </a:ext>
            </a:extLst>
          </p:cNvPr>
          <p:cNvSpPr txBox="1"/>
          <p:nvPr/>
        </p:nvSpPr>
        <p:spPr>
          <a:xfrm>
            <a:off x="-312077" y="1280686"/>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Conclusion</a:t>
            </a:r>
          </a:p>
        </p:txBody>
      </p:sp>
      <p:sp>
        <p:nvSpPr>
          <p:cNvPr id="31" name="ZoneTexte 17">
            <a:extLst>
              <a:ext uri="{FF2B5EF4-FFF2-40B4-BE49-F238E27FC236}">
                <a16:creationId xmlns:a16="http://schemas.microsoft.com/office/drawing/2014/main" id="{1D68C0C5-D592-3EE5-A299-1A589A97FC72}"/>
              </a:ext>
            </a:extLst>
          </p:cNvPr>
          <p:cNvSpPr txBox="1"/>
          <p:nvPr/>
        </p:nvSpPr>
        <p:spPr>
          <a:xfrm>
            <a:off x="4724400" y="1283635"/>
            <a:ext cx="2290787" cy="307777"/>
          </a:xfrm>
          <a:prstGeom prst="rect">
            <a:avLst/>
          </a:prstGeom>
          <a:noFill/>
        </p:spPr>
        <p:txBody>
          <a:bodyPr wrap="square" rtlCol="0">
            <a:spAutoFit/>
          </a:bodyPr>
          <a:lstStyle/>
          <a:p>
            <a:pPr algn="ctr"/>
            <a:r>
              <a:rPr lang="en-US" sz="1400" dirty="0">
                <a:solidFill>
                  <a:schemeClr val="bg1">
                    <a:lumMod val="50000"/>
                  </a:schemeClr>
                </a:solidFill>
                <a:latin typeface="Century Schoolbook" charset="0"/>
              </a:rPr>
              <a:t>Perspectives</a:t>
            </a:r>
          </a:p>
        </p:txBody>
      </p:sp>
      <p:sp>
        <p:nvSpPr>
          <p:cNvPr id="34" name="Ellipse 13">
            <a:extLst>
              <a:ext uri="{FF2B5EF4-FFF2-40B4-BE49-F238E27FC236}">
                <a16:creationId xmlns:a16="http://schemas.microsoft.com/office/drawing/2014/main" id="{1E78DB8D-E515-4AFE-4CD3-AC1264314BCF}"/>
              </a:ext>
            </a:extLst>
          </p:cNvPr>
          <p:cNvSpPr/>
          <p:nvPr/>
        </p:nvSpPr>
        <p:spPr>
          <a:xfrm flipH="1">
            <a:off x="5732243" y="1099192"/>
            <a:ext cx="137550" cy="13755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aphicFrame>
        <p:nvGraphicFramePr>
          <p:cNvPr id="5" name="Diagramme 4">
            <a:extLst>
              <a:ext uri="{FF2B5EF4-FFF2-40B4-BE49-F238E27FC236}">
                <a16:creationId xmlns:a16="http://schemas.microsoft.com/office/drawing/2014/main" id="{CCE0F673-BB90-64B8-3F8E-66448280AF81}"/>
              </a:ext>
            </a:extLst>
          </p:cNvPr>
          <p:cNvGraphicFramePr/>
          <p:nvPr>
            <p:extLst>
              <p:ext uri="{D42A27DB-BD31-4B8C-83A1-F6EECF244321}">
                <p14:modId xmlns:p14="http://schemas.microsoft.com/office/powerpoint/2010/main" val="2218930624"/>
              </p:ext>
            </p:extLst>
          </p:nvPr>
        </p:nvGraphicFramePr>
        <p:xfrm>
          <a:off x="100013" y="157169"/>
          <a:ext cx="11958638" cy="742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2A0FD07F-9CDF-5EED-8E93-691063AA60CA}"/>
              </a:ext>
            </a:extLst>
          </p:cNvPr>
          <p:cNvSpPr>
            <a:spLocks noGrp="1"/>
          </p:cNvSpPr>
          <p:nvPr>
            <p:ph type="sldNum" sz="quarter" idx="12"/>
          </p:nvPr>
        </p:nvSpPr>
        <p:spPr>
          <a:xfrm>
            <a:off x="8610600" y="6356350"/>
            <a:ext cx="2743200" cy="365125"/>
          </a:xfrm>
        </p:spPr>
        <p:txBody>
          <a:bodyPr/>
          <a:lstStyle/>
          <a:p>
            <a:fld id="{6983841B-0DB4-4C99-B5E5-79625F01DBF7}" type="slidenum">
              <a:rPr lang="en-GB" smtClean="0"/>
              <a:t>39</a:t>
            </a:fld>
            <a:endParaRPr lang="en-GB" dirty="0"/>
          </a:p>
        </p:txBody>
      </p:sp>
      <p:sp>
        <p:nvSpPr>
          <p:cNvPr id="8" name="ZoneTexte 7">
            <a:extLst>
              <a:ext uri="{FF2B5EF4-FFF2-40B4-BE49-F238E27FC236}">
                <a16:creationId xmlns:a16="http://schemas.microsoft.com/office/drawing/2014/main" id="{B1820309-7E52-8D6D-5966-30D5E3AD8476}"/>
              </a:ext>
            </a:extLst>
          </p:cNvPr>
          <p:cNvSpPr txBox="1"/>
          <p:nvPr/>
        </p:nvSpPr>
        <p:spPr>
          <a:xfrm>
            <a:off x="2376487" y="2054978"/>
            <a:ext cx="7694613" cy="3200876"/>
          </a:xfrm>
          <a:prstGeom prst="rect">
            <a:avLst/>
          </a:prstGeom>
          <a:noFill/>
        </p:spPr>
        <p:txBody>
          <a:bodyPr wrap="square">
            <a:spAutoFit/>
          </a:bodyPr>
          <a:lstStyle/>
          <a:p>
            <a:pPr>
              <a:buNone/>
            </a:pPr>
            <a:r>
              <a:rPr lang="fr-MA" sz="2000" dirty="0"/>
              <a:t>🔹 </a:t>
            </a:r>
            <a:r>
              <a:rPr lang="fr-MA" sz="2000" b="1" dirty="0"/>
              <a:t>Ajout d’alertes en temps réel</a:t>
            </a:r>
          </a:p>
          <a:p>
            <a:pPr>
              <a:buNone/>
            </a:pPr>
            <a:endParaRPr lang="fr-MA" sz="2000" dirty="0"/>
          </a:p>
          <a:p>
            <a:pPr>
              <a:buNone/>
            </a:pPr>
            <a:endParaRPr lang="fr-MA" sz="2000" dirty="0"/>
          </a:p>
          <a:p>
            <a:pPr>
              <a:buNone/>
            </a:pPr>
            <a:r>
              <a:rPr lang="fr-MA" sz="2000" dirty="0"/>
              <a:t>🔹 </a:t>
            </a:r>
            <a:r>
              <a:rPr lang="fr-MA" sz="2000" b="1" dirty="0"/>
              <a:t>Extension à d’autres domaines de traitement</a:t>
            </a:r>
          </a:p>
          <a:p>
            <a:pPr>
              <a:buNone/>
            </a:pPr>
            <a:endParaRPr lang="fr-MA" sz="2000" dirty="0"/>
          </a:p>
          <a:p>
            <a:pPr>
              <a:buNone/>
            </a:pPr>
            <a:endParaRPr lang="fr-MA" sz="2000" dirty="0"/>
          </a:p>
          <a:p>
            <a:pPr>
              <a:buNone/>
            </a:pPr>
            <a:r>
              <a:rPr lang="fr-MA" sz="2000" dirty="0"/>
              <a:t>🔹 </a:t>
            </a:r>
            <a:r>
              <a:rPr lang="fr-MA" sz="2000" b="1" dirty="0"/>
              <a:t>Intégration avec un système de logs centralisé</a:t>
            </a:r>
            <a:endParaRPr lang="fr-MA" sz="2000" dirty="0"/>
          </a:p>
          <a:p>
            <a:endParaRPr lang="fr-MA" sz="2000" dirty="0"/>
          </a:p>
          <a:p>
            <a:endParaRPr lang="fr-MA" sz="2000" dirty="0"/>
          </a:p>
          <a:p>
            <a:pPr>
              <a:buNone/>
            </a:pPr>
            <a:r>
              <a:rPr lang="fr-MA" sz="2000" dirty="0"/>
              <a:t>🔹 </a:t>
            </a:r>
            <a:r>
              <a:rPr lang="fr-MA" sz="2000" b="1" dirty="0"/>
              <a:t>Industrialisation complète du pipeline</a:t>
            </a:r>
            <a:endParaRPr lang="fr-MA" sz="2000" dirty="0"/>
          </a:p>
        </p:txBody>
      </p:sp>
    </p:spTree>
    <p:extLst>
      <p:ext uri="{BB962C8B-B14F-4D97-AF65-F5344CB8AC3E}">
        <p14:creationId xmlns:p14="http://schemas.microsoft.com/office/powerpoint/2010/main" val="1188981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2798D5-C795-00C9-0A63-30E115850890}"/>
              </a:ext>
            </a:extLst>
          </p:cNvPr>
          <p:cNvSpPr>
            <a:spLocks noGrp="1"/>
          </p:cNvSpPr>
          <p:nvPr>
            <p:ph type="sldNum" sz="quarter" idx="12"/>
          </p:nvPr>
        </p:nvSpPr>
        <p:spPr/>
        <p:txBody>
          <a:bodyPr/>
          <a:lstStyle/>
          <a:p>
            <a:fld id="{6983841B-0DB4-4C99-B5E5-79625F01DBF7}" type="slidenum">
              <a:rPr lang="en-GB" smtClean="0"/>
              <a:t>40</a:t>
            </a:fld>
            <a:endParaRPr lang="en-GB" dirty="0"/>
          </a:p>
        </p:txBody>
      </p:sp>
      <p:pic>
        <p:nvPicPr>
          <p:cNvPr id="7" name="Image 6" descr="Une image contenant texte, clipart, Graphique, graphisme&#10;&#10;Le contenu généré par l’IA peut être incorrect.">
            <a:extLst>
              <a:ext uri="{FF2B5EF4-FFF2-40B4-BE49-F238E27FC236}">
                <a16:creationId xmlns:a16="http://schemas.microsoft.com/office/drawing/2014/main" id="{48850854-EBE5-482D-7FE1-C4972BC1AC29}"/>
              </a:ext>
            </a:extLst>
          </p:cNvPr>
          <p:cNvPicPr>
            <a:picLocks noChangeAspect="1"/>
          </p:cNvPicPr>
          <p:nvPr/>
        </p:nvPicPr>
        <p:blipFill>
          <a:blip r:embed="rId3"/>
          <a:stretch>
            <a:fillRect/>
          </a:stretch>
        </p:blipFill>
        <p:spPr>
          <a:xfrm>
            <a:off x="2360196" y="0"/>
            <a:ext cx="7543799" cy="6858000"/>
          </a:xfrm>
          <a:prstGeom prst="rect">
            <a:avLst/>
          </a:prstGeom>
        </p:spPr>
      </p:pic>
    </p:spTree>
    <p:extLst>
      <p:ext uri="{BB962C8B-B14F-4D97-AF65-F5344CB8AC3E}">
        <p14:creationId xmlns:p14="http://schemas.microsoft.com/office/powerpoint/2010/main" val="1096689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0506-3D38-70FA-11DD-E9FBEF1BD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E01E2F9-04E2-3C8E-3A29-4F21FCF76B8F}"/>
              </a:ext>
            </a:extLst>
          </p:cNvPr>
          <p:cNvSpPr/>
          <p:nvPr/>
        </p:nvSpPr>
        <p:spPr>
          <a:xfrm>
            <a:off x="6063151" y="3670588"/>
            <a:ext cx="3621454" cy="2123658"/>
          </a:xfrm>
          <a:prstGeom prst="rect">
            <a:avLst/>
          </a:prstGeom>
        </p:spPr>
        <p:txBody>
          <a:bodyPr wrap="square">
            <a:spAutoFit/>
          </a:bodyPr>
          <a:lstStyle/>
          <a:p>
            <a:r>
              <a:rPr lang="en-US" sz="1600" dirty="0">
                <a:solidFill>
                  <a:schemeClr val="tx1">
                    <a:lumMod val="50000"/>
                    <a:lumOff val="50000"/>
                  </a:schemeClr>
                </a:solidFill>
                <a:latin typeface="Century Gothic" charset="0"/>
                <a:ea typeface="Century Gothic" charset="0"/>
                <a:cs typeface="Century Gothic" charset="0"/>
              </a:rPr>
              <a:t>Membres du jury :</a:t>
            </a:r>
          </a:p>
          <a:p>
            <a:endParaRPr lang="en-US" dirty="0"/>
          </a:p>
          <a:p>
            <a:r>
              <a:rPr lang="fr-MA" sz="1400" b="1" dirty="0">
                <a:latin typeface="Century Gothic" charset="0"/>
              </a:rPr>
              <a:t>Mme. KHOUIA Asmaa</a:t>
            </a:r>
          </a:p>
          <a:p>
            <a:endParaRPr lang="fr-MA" sz="1400" b="1" dirty="0">
              <a:latin typeface="Century Gothic" charset="0"/>
            </a:endParaRPr>
          </a:p>
          <a:p>
            <a:r>
              <a:rPr lang="en-US" sz="1400" b="1" dirty="0">
                <a:latin typeface="Century Gothic" charset="0"/>
              </a:rPr>
              <a:t>M. EZZAHAR Jamal</a:t>
            </a:r>
          </a:p>
          <a:p>
            <a:endParaRPr lang="en-US" sz="1400" b="1" dirty="0">
              <a:latin typeface="Century Gothic" charset="0"/>
              <a:ea typeface="Century Gothic" charset="0"/>
              <a:cs typeface="Century Gothic" charset="0"/>
            </a:endParaRPr>
          </a:p>
          <a:p>
            <a:r>
              <a:rPr lang="en-US" sz="1400" b="1" dirty="0">
                <a:latin typeface="Century Gothic" charset="0"/>
                <a:ea typeface="Century Gothic" charset="0"/>
                <a:cs typeface="Century Gothic" charset="0"/>
              </a:rPr>
              <a:t>M. HARZALLA Driss</a:t>
            </a:r>
          </a:p>
          <a:p>
            <a:endParaRPr lang="en-US" sz="1400" b="1" dirty="0">
              <a:latin typeface="Century Gothic" charset="0"/>
              <a:ea typeface="Century Gothic" charset="0"/>
              <a:cs typeface="Century Gothic" charset="0"/>
            </a:endParaRPr>
          </a:p>
          <a:p>
            <a:r>
              <a:rPr lang="en-US" sz="1400" b="1" dirty="0">
                <a:latin typeface="Century Gothic" charset="0"/>
                <a:ea typeface="Century Gothic" charset="0"/>
                <a:cs typeface="Century Gothic" charset="0"/>
              </a:rPr>
              <a:t>M. MADIAFI Mohammed</a:t>
            </a:r>
          </a:p>
        </p:txBody>
      </p:sp>
      <p:sp>
        <p:nvSpPr>
          <p:cNvPr id="5" name="Rectangle 4">
            <a:extLst>
              <a:ext uri="{FF2B5EF4-FFF2-40B4-BE49-F238E27FC236}">
                <a16:creationId xmlns:a16="http://schemas.microsoft.com/office/drawing/2014/main" id="{B24013E5-3AE1-7176-00FA-4422330ADB81}"/>
              </a:ext>
            </a:extLst>
          </p:cNvPr>
          <p:cNvSpPr/>
          <p:nvPr/>
        </p:nvSpPr>
        <p:spPr>
          <a:xfrm>
            <a:off x="9241680" y="4060335"/>
            <a:ext cx="6096000" cy="2062103"/>
          </a:xfrm>
          <a:prstGeom prst="rect">
            <a:avLst/>
          </a:prstGeom>
        </p:spPr>
        <p:txBody>
          <a:bodyPr>
            <a:spAutoFit/>
          </a:bodyPr>
          <a:lstStyle/>
          <a:p>
            <a:r>
              <a:rPr lang="fr-MA" sz="1600" dirty="0">
                <a:solidFill>
                  <a:schemeClr val="tx1">
                    <a:lumMod val="65000"/>
                    <a:lumOff val="35000"/>
                  </a:schemeClr>
                </a:solidFill>
                <a:latin typeface="Century" charset="0"/>
              </a:rPr>
              <a:t>Professeur à ENSA de Safi</a:t>
            </a:r>
          </a:p>
          <a:p>
            <a:endParaRPr lang="fr-MA" sz="1600" dirty="0">
              <a:solidFill>
                <a:schemeClr val="tx1">
                  <a:lumMod val="65000"/>
                  <a:lumOff val="35000"/>
                </a:schemeClr>
              </a:solidFill>
              <a:latin typeface="Century" charset="0"/>
            </a:endParaRPr>
          </a:p>
          <a:p>
            <a:r>
              <a:rPr lang="fr-MA" sz="1600" dirty="0">
                <a:solidFill>
                  <a:schemeClr val="tx1">
                    <a:lumMod val="65000"/>
                    <a:lumOff val="35000"/>
                  </a:schemeClr>
                </a:solidFill>
                <a:latin typeface="Century" charset="0"/>
              </a:rPr>
              <a:t>Professeur à ENSA de Safi</a:t>
            </a:r>
            <a:endParaRPr lang="en-US" sz="1600" dirty="0">
              <a:solidFill>
                <a:schemeClr val="tx1">
                  <a:lumMod val="65000"/>
                  <a:lumOff val="35000"/>
                </a:schemeClr>
              </a:solidFill>
              <a:latin typeface="Century" charset="0"/>
            </a:endParaRPr>
          </a:p>
          <a:p>
            <a:endParaRPr lang="en-US" sz="1600" dirty="0">
              <a:solidFill>
                <a:schemeClr val="tx1">
                  <a:lumMod val="65000"/>
                  <a:lumOff val="35000"/>
                </a:schemeClr>
              </a:solidFill>
              <a:latin typeface="Century" charset="0"/>
            </a:endParaRPr>
          </a:p>
          <a:p>
            <a:r>
              <a:rPr lang="fr-MA" sz="1600" dirty="0">
                <a:solidFill>
                  <a:schemeClr val="tx1">
                    <a:lumMod val="65000"/>
                    <a:lumOff val="35000"/>
                  </a:schemeClr>
                </a:solidFill>
                <a:latin typeface="Century" charset="0"/>
              </a:rPr>
              <a:t>Professeur à ENSA de Safi</a:t>
            </a:r>
            <a:endParaRPr lang="en-US" sz="1600" dirty="0">
              <a:solidFill>
                <a:schemeClr val="tx1">
                  <a:lumMod val="65000"/>
                  <a:lumOff val="35000"/>
                </a:schemeClr>
              </a:solidFill>
              <a:latin typeface="Century" charset="0"/>
            </a:endParaRPr>
          </a:p>
          <a:p>
            <a:endParaRPr lang="en-US" sz="1600" dirty="0">
              <a:solidFill>
                <a:schemeClr val="tx1">
                  <a:lumMod val="65000"/>
                  <a:lumOff val="35000"/>
                </a:schemeClr>
              </a:solidFill>
              <a:latin typeface="Century" charset="0"/>
            </a:endParaRPr>
          </a:p>
          <a:p>
            <a:r>
              <a:rPr lang="fr-MA" sz="1600" dirty="0">
                <a:solidFill>
                  <a:schemeClr val="tx1">
                    <a:lumMod val="65000"/>
                    <a:lumOff val="35000"/>
                  </a:schemeClr>
                </a:solidFill>
                <a:latin typeface="Century" charset="0"/>
              </a:rPr>
              <a:t>Professeur à ENSA de Safi</a:t>
            </a:r>
            <a:endParaRPr lang="en-US" sz="1600" dirty="0">
              <a:solidFill>
                <a:schemeClr val="tx1">
                  <a:lumMod val="65000"/>
                  <a:lumOff val="35000"/>
                </a:schemeClr>
              </a:solidFill>
              <a:latin typeface="Century" charset="0"/>
            </a:endParaRPr>
          </a:p>
          <a:p>
            <a:endParaRPr lang="en-US" sz="1600" dirty="0">
              <a:solidFill>
                <a:schemeClr val="tx1">
                  <a:lumMod val="65000"/>
                  <a:lumOff val="35000"/>
                </a:schemeClr>
              </a:solidFill>
              <a:latin typeface="Century" charset="0"/>
            </a:endParaRPr>
          </a:p>
        </p:txBody>
      </p:sp>
      <p:sp>
        <p:nvSpPr>
          <p:cNvPr id="2" name="Rectangle 1">
            <a:extLst>
              <a:ext uri="{FF2B5EF4-FFF2-40B4-BE49-F238E27FC236}">
                <a16:creationId xmlns:a16="http://schemas.microsoft.com/office/drawing/2014/main" id="{77CF4D59-4EE8-3425-4819-83D21441E7E2}"/>
              </a:ext>
            </a:extLst>
          </p:cNvPr>
          <p:cNvSpPr/>
          <p:nvPr/>
        </p:nvSpPr>
        <p:spPr>
          <a:xfrm>
            <a:off x="0" y="1688751"/>
            <a:ext cx="12192000" cy="1785562"/>
          </a:xfrm>
          <a:prstGeom prst="rect">
            <a:avLst/>
          </a:prstGeom>
          <a:solidFill>
            <a:srgbClr val="E31937"/>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solidFill>
                <a:srgbClr val="F19D19"/>
              </a:solidFill>
              <a:highlight>
                <a:srgbClr val="000080"/>
              </a:highlight>
            </a:endParaRPr>
          </a:p>
        </p:txBody>
      </p:sp>
      <p:sp>
        <p:nvSpPr>
          <p:cNvPr id="6" name="Rectangle 5">
            <a:extLst>
              <a:ext uri="{FF2B5EF4-FFF2-40B4-BE49-F238E27FC236}">
                <a16:creationId xmlns:a16="http://schemas.microsoft.com/office/drawing/2014/main" id="{1729E72B-4216-A8BC-D36C-B2A0968F1304}"/>
              </a:ext>
            </a:extLst>
          </p:cNvPr>
          <p:cNvSpPr/>
          <p:nvPr/>
        </p:nvSpPr>
        <p:spPr>
          <a:xfrm>
            <a:off x="479216" y="3670588"/>
            <a:ext cx="2420221" cy="830997"/>
          </a:xfrm>
          <a:prstGeom prst="rect">
            <a:avLst/>
          </a:prstGeom>
        </p:spPr>
        <p:txBody>
          <a:bodyPr wrap="square">
            <a:spAutoFit/>
          </a:bodyPr>
          <a:lstStyle/>
          <a:p>
            <a:r>
              <a:rPr lang="en-US" sz="1600" dirty="0">
                <a:solidFill>
                  <a:schemeClr val="tx1">
                    <a:lumMod val="50000"/>
                    <a:lumOff val="50000"/>
                  </a:schemeClr>
                </a:solidFill>
                <a:latin typeface="Century Gothic" charset="0"/>
                <a:ea typeface="Century Gothic" charset="0"/>
                <a:cs typeface="Century Gothic" charset="0"/>
              </a:rPr>
              <a:t>Présenté par :</a:t>
            </a:r>
            <a:endParaRPr lang="fr-FR" sz="1600" dirty="0">
              <a:solidFill>
                <a:schemeClr val="tx1">
                  <a:lumMod val="50000"/>
                  <a:lumOff val="50000"/>
                </a:schemeClr>
              </a:solidFill>
              <a:latin typeface="Century Gothic" charset="0"/>
              <a:ea typeface="Century Gothic" charset="0"/>
              <a:cs typeface="Century Gothic" charset="0"/>
            </a:endParaRPr>
          </a:p>
          <a:p>
            <a:endParaRPr lang="fr-FR" b="1" dirty="0">
              <a:latin typeface="Century Gothic" charset="0"/>
              <a:ea typeface="Century Gothic" charset="0"/>
              <a:cs typeface="Century Gothic" charset="0"/>
            </a:endParaRPr>
          </a:p>
          <a:p>
            <a:r>
              <a:rPr lang="fr-FR" sz="1400" b="1" dirty="0">
                <a:latin typeface="Century Gothic" charset="0"/>
                <a:ea typeface="Century Gothic" charset="0"/>
                <a:cs typeface="Century Gothic" charset="0"/>
              </a:rPr>
              <a:t>M. SOROURI Yasser</a:t>
            </a:r>
          </a:p>
        </p:txBody>
      </p:sp>
      <p:sp>
        <p:nvSpPr>
          <p:cNvPr id="7" name="Rectangle 6">
            <a:extLst>
              <a:ext uri="{FF2B5EF4-FFF2-40B4-BE49-F238E27FC236}">
                <a16:creationId xmlns:a16="http://schemas.microsoft.com/office/drawing/2014/main" id="{F5C42F47-39BB-8C00-4BA9-8F4AD948CC0B}"/>
              </a:ext>
            </a:extLst>
          </p:cNvPr>
          <p:cNvSpPr/>
          <p:nvPr/>
        </p:nvSpPr>
        <p:spPr>
          <a:xfrm>
            <a:off x="-787093" y="2073700"/>
            <a:ext cx="13766185" cy="1015663"/>
          </a:xfrm>
          <a:prstGeom prst="rect">
            <a:avLst/>
          </a:prstGeom>
        </p:spPr>
        <p:txBody>
          <a:bodyPr wrap="square">
            <a:spAutoFit/>
          </a:bodyPr>
          <a:lstStyle/>
          <a:p>
            <a:pPr algn="ctr"/>
            <a:r>
              <a:rPr lang="fr-MA" sz="2900" b="1" dirty="0">
                <a:solidFill>
                  <a:schemeClr val="bg1"/>
                </a:solidFill>
                <a:latin typeface="Century Gothic" panose="020B0502020202020204" pitchFamily="34" charset="0"/>
                <a:cs typeface="Times New Roman" panose="02020603050405020304" pitchFamily="18" charset="0"/>
              </a:rPr>
              <a:t>Conception et Développement d’un Système de Suivi et de Gestion</a:t>
            </a:r>
          </a:p>
          <a:p>
            <a:pPr algn="ctr"/>
            <a:r>
              <a:rPr lang="fr-MA" sz="2900" b="1" dirty="0">
                <a:solidFill>
                  <a:schemeClr val="bg1"/>
                </a:solidFill>
                <a:latin typeface="Century Gothic" panose="020B0502020202020204" pitchFamily="34" charset="0"/>
                <a:cs typeface="Times New Roman" panose="02020603050405020304" pitchFamily="18" charset="0"/>
              </a:rPr>
              <a:t>des Rejets des Fichiers sur S3 via </a:t>
            </a:r>
            <a:r>
              <a:rPr lang="fr-MA" sz="2900" b="1" dirty="0" err="1">
                <a:solidFill>
                  <a:schemeClr val="bg1"/>
                </a:solidFill>
                <a:latin typeface="Century Gothic" panose="020B0502020202020204" pitchFamily="34" charset="0"/>
                <a:cs typeface="Times New Roman" panose="02020603050405020304" pitchFamily="18" charset="0"/>
              </a:rPr>
              <a:t>Databricks</a:t>
            </a:r>
            <a:r>
              <a:rPr lang="fr-MA" sz="2900" b="1" dirty="0">
                <a:solidFill>
                  <a:schemeClr val="bg1"/>
                </a:solidFill>
                <a:latin typeface="Century Gothic" panose="020B0502020202020204" pitchFamily="34" charset="0"/>
                <a:cs typeface="Times New Roman" panose="02020603050405020304" pitchFamily="18" charset="0"/>
              </a:rPr>
              <a:t> et Power BI</a:t>
            </a:r>
            <a:endParaRPr lang="en-US" sz="2900" b="1" dirty="0">
              <a:solidFill>
                <a:schemeClr val="bg1"/>
              </a:solidFill>
              <a:latin typeface="Century Gothic" panose="020B050202020202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8A4074C7-FC1E-3BD3-D2AC-9BC8E6B1767A}"/>
              </a:ext>
            </a:extLst>
          </p:cNvPr>
          <p:cNvSpPr/>
          <p:nvPr/>
        </p:nvSpPr>
        <p:spPr>
          <a:xfrm>
            <a:off x="2626815" y="176079"/>
            <a:ext cx="6662521" cy="1323439"/>
          </a:xfrm>
          <a:prstGeom prst="rect">
            <a:avLst/>
          </a:prstGeom>
        </p:spPr>
        <p:txBody>
          <a:bodyPr wrap="square">
            <a:spAutoFit/>
          </a:bodyPr>
          <a:lstStyle/>
          <a:p>
            <a:pPr algn="ctr"/>
            <a:r>
              <a:rPr lang="fr-MA" sz="2000" dirty="0">
                <a:latin typeface="Century Gothic" panose="020B0502020202020204" pitchFamily="34" charset="0"/>
              </a:rPr>
              <a:t>Soutenance du Projet de Fin d’Etudes</a:t>
            </a:r>
          </a:p>
          <a:p>
            <a:pPr algn="ctr"/>
            <a:br>
              <a:rPr lang="en-US" sz="2000" dirty="0">
                <a:latin typeface="Century Gothic" panose="020B0502020202020204" pitchFamily="34" charset="0"/>
              </a:rPr>
            </a:br>
            <a:endParaRPr lang="en-US" sz="2000" dirty="0">
              <a:latin typeface="Century Gothic" panose="020B0502020202020204" pitchFamily="34" charset="0"/>
            </a:endParaRPr>
          </a:p>
          <a:p>
            <a:pPr algn="ctr"/>
            <a:r>
              <a:rPr lang="en-US" sz="2000" b="1" dirty="0">
                <a:latin typeface="Century Gothic" panose="020B0502020202020204" pitchFamily="34" charset="0"/>
              </a:rPr>
              <a:t>Filière: </a:t>
            </a:r>
            <a:r>
              <a:rPr lang="fr-MA" sz="2000" dirty="0"/>
              <a:t>Ingénierie de Données et Intelligence Artificielle</a:t>
            </a:r>
            <a:endParaRPr lang="fr-FR" sz="2000" dirty="0">
              <a:latin typeface="Century Gothic" panose="020B0502020202020204" pitchFamily="34" charset="0"/>
              <a:ea typeface="Lato Light" panose="020F0502020204030203"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DF5BE248-A149-E536-67A0-5DC3F6B0754D}"/>
              </a:ext>
            </a:extLst>
          </p:cNvPr>
          <p:cNvSpPr/>
          <p:nvPr/>
        </p:nvSpPr>
        <p:spPr>
          <a:xfrm>
            <a:off x="4928241" y="6308553"/>
            <a:ext cx="3621454" cy="307777"/>
          </a:xfrm>
          <a:prstGeom prst="rect">
            <a:avLst/>
          </a:prstGeom>
        </p:spPr>
        <p:txBody>
          <a:bodyPr wrap="square">
            <a:spAutoFit/>
          </a:bodyPr>
          <a:lstStyle/>
          <a:p>
            <a:r>
              <a:rPr lang="en-US" sz="1400" dirty="0">
                <a:solidFill>
                  <a:schemeClr val="tx1">
                    <a:lumMod val="50000"/>
                    <a:lumOff val="50000"/>
                  </a:schemeClr>
                </a:solidFill>
                <a:latin typeface="Century Gothic" charset="0"/>
              </a:rPr>
              <a:t>Soutenu le 2 Juillet 2025</a:t>
            </a:r>
            <a:endParaRPr lang="fr-FR" sz="1400" dirty="0">
              <a:solidFill>
                <a:schemeClr val="tx1">
                  <a:lumMod val="50000"/>
                  <a:lumOff val="50000"/>
                </a:schemeClr>
              </a:solidFill>
              <a:latin typeface="Century Gothic" charset="0"/>
            </a:endParaRPr>
          </a:p>
        </p:txBody>
      </p:sp>
      <p:sp>
        <p:nvSpPr>
          <p:cNvPr id="9" name="Rectangle 8">
            <a:extLst>
              <a:ext uri="{FF2B5EF4-FFF2-40B4-BE49-F238E27FC236}">
                <a16:creationId xmlns:a16="http://schemas.microsoft.com/office/drawing/2014/main" id="{94A5E335-FE03-92CF-9B7D-0CAF6E01F67E}"/>
              </a:ext>
            </a:extLst>
          </p:cNvPr>
          <p:cNvSpPr/>
          <p:nvPr/>
        </p:nvSpPr>
        <p:spPr>
          <a:xfrm>
            <a:off x="3642305" y="549447"/>
            <a:ext cx="4907390" cy="307777"/>
          </a:xfrm>
          <a:prstGeom prst="rect">
            <a:avLst/>
          </a:prstGeom>
        </p:spPr>
        <p:txBody>
          <a:bodyPr wrap="square">
            <a:spAutoFit/>
          </a:bodyPr>
          <a:lstStyle/>
          <a:p>
            <a:r>
              <a:rPr lang="fr-MA" sz="1400" dirty="0">
                <a:solidFill>
                  <a:schemeClr val="tx1">
                    <a:lumMod val="50000"/>
                    <a:lumOff val="50000"/>
                  </a:schemeClr>
                </a:solidFill>
                <a:latin typeface="Century Gothic" charset="0"/>
              </a:rPr>
              <a:t>En vue de l’obtention du Diplôme d’Ingénieur D’Etat</a:t>
            </a:r>
            <a:endParaRPr lang="fr-FR" sz="1400" dirty="0">
              <a:solidFill>
                <a:schemeClr val="tx1">
                  <a:lumMod val="50000"/>
                  <a:lumOff val="50000"/>
                </a:schemeClr>
              </a:solidFill>
              <a:latin typeface="Century Gothic" charset="0"/>
            </a:endParaRPr>
          </a:p>
        </p:txBody>
      </p:sp>
      <p:pic>
        <p:nvPicPr>
          <p:cNvPr id="12" name="Image 11" descr="Une image contenant Graphique, Police, logo, symbole&#10;&#10;Description générée automatiquement">
            <a:extLst>
              <a:ext uri="{FF2B5EF4-FFF2-40B4-BE49-F238E27FC236}">
                <a16:creationId xmlns:a16="http://schemas.microsoft.com/office/drawing/2014/main" id="{1912C274-E9FF-8A1E-FF56-1FC3175A6F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223" y="5237325"/>
            <a:ext cx="2019836" cy="1253047"/>
          </a:xfrm>
          <a:prstGeom prst="rect">
            <a:avLst/>
          </a:prstGeom>
        </p:spPr>
      </p:pic>
      <p:pic>
        <p:nvPicPr>
          <p:cNvPr id="15" name="Image 14">
            <a:extLst>
              <a:ext uri="{FF2B5EF4-FFF2-40B4-BE49-F238E27FC236}">
                <a16:creationId xmlns:a16="http://schemas.microsoft.com/office/drawing/2014/main" id="{4AACF593-934E-46DE-7246-91EAFE86E6A2}"/>
              </a:ext>
            </a:extLst>
          </p:cNvPr>
          <p:cNvPicPr>
            <a:picLocks noChangeAspect="1"/>
          </p:cNvPicPr>
          <p:nvPr/>
        </p:nvPicPr>
        <p:blipFill>
          <a:blip r:embed="rId4"/>
          <a:stretch>
            <a:fillRect/>
          </a:stretch>
        </p:blipFill>
        <p:spPr>
          <a:xfrm>
            <a:off x="10566178" y="58862"/>
            <a:ext cx="1203767" cy="1475772"/>
          </a:xfrm>
          <a:prstGeom prst="rect">
            <a:avLst/>
          </a:prstGeom>
        </p:spPr>
      </p:pic>
      <p:pic>
        <p:nvPicPr>
          <p:cNvPr id="23" name="Image 22">
            <a:extLst>
              <a:ext uri="{FF2B5EF4-FFF2-40B4-BE49-F238E27FC236}">
                <a16:creationId xmlns:a16="http://schemas.microsoft.com/office/drawing/2014/main" id="{6C1876ED-B931-8733-17C4-48C0ED8FC099}"/>
              </a:ext>
            </a:extLst>
          </p:cNvPr>
          <p:cNvPicPr>
            <a:picLocks noChangeAspect="1"/>
          </p:cNvPicPr>
          <p:nvPr/>
        </p:nvPicPr>
        <p:blipFill>
          <a:blip r:embed="rId5"/>
          <a:stretch>
            <a:fillRect/>
          </a:stretch>
        </p:blipFill>
        <p:spPr>
          <a:xfrm>
            <a:off x="169020" y="57303"/>
            <a:ext cx="1977027" cy="1398713"/>
          </a:xfrm>
          <a:prstGeom prst="rect">
            <a:avLst/>
          </a:prstGeom>
        </p:spPr>
      </p:pic>
      <p:sp>
        <p:nvSpPr>
          <p:cNvPr id="27" name="ZoneTexte 26">
            <a:extLst>
              <a:ext uri="{FF2B5EF4-FFF2-40B4-BE49-F238E27FC236}">
                <a16:creationId xmlns:a16="http://schemas.microsoft.com/office/drawing/2014/main" id="{A1911648-B4E3-4263-30CD-8F80CBB10039}"/>
              </a:ext>
            </a:extLst>
          </p:cNvPr>
          <p:cNvSpPr txBox="1"/>
          <p:nvPr/>
        </p:nvSpPr>
        <p:spPr>
          <a:xfrm>
            <a:off x="484401" y="4895814"/>
            <a:ext cx="8065294" cy="369332"/>
          </a:xfrm>
          <a:prstGeom prst="rect">
            <a:avLst/>
          </a:prstGeom>
          <a:noFill/>
        </p:spPr>
        <p:txBody>
          <a:bodyPr wrap="square">
            <a:spAutoFit/>
          </a:bodyPr>
          <a:lstStyle/>
          <a:p>
            <a:r>
              <a:rPr lang="fr-MA" sz="1600" dirty="0">
                <a:solidFill>
                  <a:schemeClr val="tx1">
                    <a:lumMod val="50000"/>
                    <a:lumOff val="50000"/>
                  </a:schemeClr>
                </a:solidFill>
                <a:latin typeface="Century Gothic" charset="0"/>
              </a:rPr>
              <a:t>Effectué à</a:t>
            </a:r>
            <a:r>
              <a:rPr lang="fr-MA" sz="1800" b="0" i="0" u="none" strike="noStrike" baseline="0" dirty="0">
                <a:latin typeface="SFBX1200"/>
              </a:rPr>
              <a:t> </a:t>
            </a:r>
            <a:r>
              <a:rPr lang="fr-MA" sz="1800" b="0" i="0" u="none" strike="noStrike" baseline="0" dirty="0">
                <a:latin typeface="SFRM1200"/>
              </a:rPr>
              <a:t>: </a:t>
            </a:r>
            <a:r>
              <a:rPr lang="fr-MA" sz="1400" b="1" dirty="0">
                <a:latin typeface="Century Gothic" charset="0"/>
              </a:rPr>
              <a:t>CGI</a:t>
            </a:r>
          </a:p>
        </p:txBody>
      </p:sp>
      <p:sp>
        <p:nvSpPr>
          <p:cNvPr id="3" name="ZoneTexte 2">
            <a:extLst>
              <a:ext uri="{FF2B5EF4-FFF2-40B4-BE49-F238E27FC236}">
                <a16:creationId xmlns:a16="http://schemas.microsoft.com/office/drawing/2014/main" id="{68EC7578-F214-04A1-0C31-3521C80E1FD5}"/>
              </a:ext>
            </a:extLst>
          </p:cNvPr>
          <p:cNvSpPr txBox="1"/>
          <p:nvPr/>
        </p:nvSpPr>
        <p:spPr>
          <a:xfrm>
            <a:off x="3081403" y="3685582"/>
            <a:ext cx="2420221" cy="1477328"/>
          </a:xfrm>
          <a:prstGeom prst="rect">
            <a:avLst/>
          </a:prstGeom>
          <a:noFill/>
        </p:spPr>
        <p:txBody>
          <a:bodyPr wrap="square">
            <a:spAutoFit/>
          </a:bodyPr>
          <a:lstStyle/>
          <a:p>
            <a:r>
              <a:rPr lang="en-US" sz="1600" dirty="0" err="1">
                <a:solidFill>
                  <a:schemeClr val="tx1">
                    <a:lumMod val="50000"/>
                    <a:lumOff val="50000"/>
                  </a:schemeClr>
                </a:solidFill>
                <a:latin typeface="Century Gothic" charset="0"/>
              </a:rPr>
              <a:t>Encadré</a:t>
            </a:r>
            <a:r>
              <a:rPr lang="en-US" sz="1600" dirty="0">
                <a:solidFill>
                  <a:schemeClr val="tx1">
                    <a:lumMod val="50000"/>
                    <a:lumOff val="50000"/>
                  </a:schemeClr>
                </a:solidFill>
                <a:latin typeface="Century Gothic" charset="0"/>
              </a:rPr>
              <a:t> par :</a:t>
            </a:r>
          </a:p>
          <a:p>
            <a:endParaRPr lang="en-US" sz="1600" dirty="0">
              <a:solidFill>
                <a:schemeClr val="tx1">
                  <a:lumMod val="50000"/>
                  <a:lumOff val="50000"/>
                </a:schemeClr>
              </a:solidFill>
              <a:latin typeface="Century Gothic" charset="0"/>
            </a:endParaRPr>
          </a:p>
          <a:p>
            <a:pPr>
              <a:lnSpc>
                <a:spcPct val="150000"/>
              </a:lnSpc>
            </a:pPr>
            <a:r>
              <a:rPr lang="fr-MA" sz="1400" b="1" dirty="0">
                <a:latin typeface="Century Gothic" charset="0"/>
              </a:rPr>
              <a:t>Mme. KHOUIA Asmaa</a:t>
            </a:r>
          </a:p>
          <a:p>
            <a:pPr>
              <a:lnSpc>
                <a:spcPct val="150000"/>
              </a:lnSpc>
            </a:pPr>
            <a:r>
              <a:rPr lang="fr-MA" sz="1400" b="1" dirty="0">
                <a:latin typeface="Century Gothic" charset="0"/>
              </a:rPr>
              <a:t>M. ATKI Youness</a:t>
            </a:r>
            <a:endParaRPr lang="en-US" sz="1400" b="1" dirty="0">
              <a:latin typeface="Century Gothic" charset="0"/>
            </a:endParaRPr>
          </a:p>
          <a:p>
            <a:endParaRPr lang="fr-FR" sz="1600" dirty="0">
              <a:solidFill>
                <a:schemeClr val="tx1">
                  <a:lumMod val="50000"/>
                  <a:lumOff val="50000"/>
                </a:schemeClr>
              </a:solidFill>
              <a:latin typeface="Century Gothic" charset="0"/>
            </a:endParaRPr>
          </a:p>
        </p:txBody>
      </p:sp>
    </p:spTree>
    <p:extLst>
      <p:ext uri="{BB962C8B-B14F-4D97-AF65-F5344CB8AC3E}">
        <p14:creationId xmlns:p14="http://schemas.microsoft.com/office/powerpoint/2010/main" val="2724024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F7900"/>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Classic 2">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Metadata/LabelInfo.xml><?xml version="1.0" encoding="utf-8"?>
<clbl:labelList xmlns:clbl="http://schemas.microsoft.com/office/2020/mipLabelMetadata">
  <clbl:label id="{07222825-62ea-40f3-96b5-5375c07996e2}" enabled="1" method="Privileged" siteId="{90c7a20a-f34b-40bf-bc48-b9253b6f5d20}" removed="0"/>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emplate>Retrospect</Template>
  <TotalTime>55953</TotalTime>
  <Words>4618</Words>
  <Application>Microsoft Office PowerPoint</Application>
  <PresentationFormat>Grand écran</PresentationFormat>
  <Paragraphs>696</Paragraphs>
  <Slides>41</Slides>
  <Notes>38</Notes>
  <HiddenSlides>0</HiddenSlides>
  <MMClips>0</MMClips>
  <ScaleCrop>false</ScaleCrop>
  <HeadingPairs>
    <vt:vector size="6" baseType="variant">
      <vt:variant>
        <vt:lpstr>Polices utilisées</vt:lpstr>
      </vt:variant>
      <vt:variant>
        <vt:i4>13</vt:i4>
      </vt:variant>
      <vt:variant>
        <vt:lpstr>Thème</vt:lpstr>
      </vt:variant>
      <vt:variant>
        <vt:i4>1</vt:i4>
      </vt:variant>
      <vt:variant>
        <vt:lpstr>Titres des diapositives</vt:lpstr>
      </vt:variant>
      <vt:variant>
        <vt:i4>41</vt:i4>
      </vt:variant>
    </vt:vector>
  </HeadingPairs>
  <TitlesOfParts>
    <vt:vector size="55" baseType="lpstr">
      <vt:lpstr>Abadi</vt:lpstr>
      <vt:lpstr>ADLaM Display</vt:lpstr>
      <vt:lpstr>Arial</vt:lpstr>
      <vt:lpstr>Calibri</vt:lpstr>
      <vt:lpstr>Calibri Light</vt:lpstr>
      <vt:lpstr>Century</vt:lpstr>
      <vt:lpstr>Century Gothic</vt:lpstr>
      <vt:lpstr>Century Schoolbook</vt:lpstr>
      <vt:lpstr>Open Sans</vt:lpstr>
      <vt:lpstr>SFBX1200</vt:lpstr>
      <vt:lpstr>SFRM1200</vt:lpstr>
      <vt:lpstr>Times New Roman</vt:lpstr>
      <vt:lpstr>Wingdings</vt:lpstr>
      <vt:lpstr>Office Theme</vt:lpstr>
      <vt:lpstr>Présentation PowerPoint</vt:lpstr>
      <vt:lpstr>Présentation PowerPoint</vt:lpstr>
      <vt:lpstr>Contexte Général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Analyse des Besoins</vt:lpstr>
      <vt:lpstr>Présentation PowerPoint</vt:lpstr>
      <vt:lpstr>Présentation PowerPoint</vt:lpstr>
      <vt:lpstr>Conception</vt:lpstr>
      <vt:lpstr>Présentation PowerPoint</vt:lpstr>
      <vt:lpstr>Présentation PowerPoint</vt:lpstr>
      <vt:lpstr>Présentation PowerPoint</vt:lpstr>
      <vt:lpstr>Présentation PowerPoint</vt:lpstr>
      <vt:lpstr>Présentation PowerPoint</vt:lpstr>
      <vt:lpstr>Présentation PowerPoint</vt:lpstr>
      <vt:lpstr>Réalisation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Conclusions &amp; Perspectives</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Igor</dc:creator>
  <cp:lastModifiedBy>SOROURI, Yasser</cp:lastModifiedBy>
  <cp:revision>1415</cp:revision>
  <cp:lastPrinted>2020-09-27T11:51:34Z</cp:lastPrinted>
  <dcterms:created xsi:type="dcterms:W3CDTF">2017-12-05T16:25:52Z</dcterms:created>
  <dcterms:modified xsi:type="dcterms:W3CDTF">2025-07-01T22:16:19Z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Text">
    <vt:lpwstr>Orange Restricted</vt:lpwstr>
  </property>
</Properties>
</file>