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/Relationships>
</file>

<file path=ppt/slides/_rels/slide22.xml.rels><?xml version="1.0" encoding="UTF-8" standalone="yes"?><Relationships xmlns="http://schemas.openxmlformats.org/package/2006/relationships"></Relationships>
</file>

<file path=ppt/slides/_rels/slide23.xml.rels><?xml version="1.0" encoding="UTF-8" standalone="yes"?><Relationships xmlns="http://schemas.openxmlformats.org/package/2006/relationships"></Relationships>
</file>

<file path=ppt/slides/_rels/slide24.xml.rels><?xml version="1.0" encoding="UTF-8" standalone="yes"?><Relationships xmlns="http://schemas.openxmlformats.org/package/2006/relationships"></Relationships>
</file>

<file path=ppt/slides/_rels/slide25.xml.rels><?xml version="1.0" encoding="UTF-8" standalone="yes"?><Relationships xmlns="http://schemas.openxmlformats.org/package/2006/relationships"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0" y="1691640"/>
            <a:ext cx="12188952" cy="178308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Image 13"/>
          <p:cNvPicPr/>
          <p:nvPr/>
        </p:nvPicPr>
        <p:blipFill>
          <a:blip r:embed="rId1"/>
          <a:stretch>
            <a:fillRect/>
          </a:stretch>
        </p:blipFill>
        <p:spPr>
          <a:xfrm>
            <a:off x="420624" y="219456"/>
            <a:ext cx="2148840" cy="502920"/>
          </a:xfrm>
          <a:prstGeom prst="rect">
            <a:avLst/>
          </a:prstGeom>
        </p:spPr>
      </p:pic>
      <p:pic>
        <p:nvPicPr>
          <p:cNvPr id="14" name="Image 14"/>
          <p:cNvPicPr/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603504" cy="603504"/>
          </a:xfrm>
          <a:prstGeom prst="rect">
            <a:avLst/>
          </a:prstGeom>
        </p:spPr>
      </p:pic>
      <p:pic>
        <p:nvPicPr>
          <p:cNvPr id="15" name="Image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0625328" y="201168"/>
            <a:ext cx="603504" cy="603504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2487168" y="164592"/>
            <a:ext cx="7223760" cy="1170432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2000" b="1">
                <a:solidFill>
                  <a:srgbClr val="000080"/>
                </a:solidFill>
              </a:rPr>
              <a:t>Soutenance du Projet de Fin d'Études</a:t>
            </a:r>
          </a:p>
          <a:p>
            <a:pPr algn="ctr"/>
            <a:r>
              <a:rPr lang="fr-FR" sz="1400" b="1">
                <a:solidFill>
                  <a:srgbClr val="222222"/>
                </a:solidFill>
              </a:rPr>
              <a:t>Filière : Ingénierie des Données et Intelligence Artificielle</a:t>
            </a:r>
          </a:p>
          <a:p>
            <a:pPr algn="ctr"/>
            <a:r>
              <a:rPr lang="fr-FR" sz="1200" b="0">
                <a:solidFill>
                  <a:srgbClr val="595959"/>
                </a:solidFill>
              </a:rPr>
              <a:t>En vue de l'obtention du Diplôme d'Ingénieur d'État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1975104"/>
            <a:ext cx="11173968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2700" b="1">
                <a:solidFill>
                  <a:srgbClr val="FFFFFF"/>
                </a:solidFill>
              </a:rPr>
              <a:t>Conception et déploiement d'une Cloud Data Platform</a:t>
            </a:r>
          </a:p>
          <a:p>
            <a:pPr algn="ctr"/>
            <a:r>
              <a:rPr lang="fr-FR" sz="1800" b="0">
                <a:solidFill>
                  <a:srgbClr val="FFFFFF"/>
                </a:solidFill>
              </a:rPr>
              <a:t>Architecture Lakehouse cloud-native pour EQDOM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38912" y="3785615"/>
            <a:ext cx="2331720" cy="1060704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Présenté par :</a:t>
            </a:r>
          </a:p>
          <a:p>
            <a:pPr/>
            <a:r>
              <a:rPr lang="fr-FR" sz="1500" b="1">
                <a:solidFill>
                  <a:srgbClr val="222222"/>
                </a:solidFill>
              </a:rPr>
              <a:t>M. DAHIRY Mohammed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Effectué à : SEVENAPP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Mission client : EQDOM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044952" y="3785615"/>
            <a:ext cx="2743200" cy="122529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Encadré par :</a:t>
            </a:r>
          </a:p>
          <a:p>
            <a:pPr/>
            <a:r>
              <a:rPr lang="fr-FR" sz="1300" b="1">
                <a:solidFill>
                  <a:srgbClr val="222222"/>
                </a:solidFill>
              </a:rPr>
              <a:t>Pr. EZZAHAR Jamal</a:t>
            </a:r>
          </a:p>
          <a:p>
            <a:pPr/>
            <a:r>
              <a:rPr lang="fr-FR" sz="1000" b="0">
                <a:solidFill>
                  <a:srgbClr val="595959"/>
                </a:solidFill>
              </a:rPr>
              <a:t>Encadrant académique</a:t>
            </a:r>
          </a:p>
          <a:p>
            <a:pPr/>
            <a:r>
              <a:rPr lang="fr-FR" sz="1300" b="1">
                <a:solidFill>
                  <a:srgbClr val="222222"/>
                </a:solidFill>
              </a:rPr>
              <a:t>M. EL GHALLAOUI Zine Labidine</a:t>
            </a:r>
          </a:p>
          <a:p>
            <a:pPr/>
            <a:r>
              <a:rPr lang="fr-FR" sz="1000" b="0">
                <a:solidFill>
                  <a:srgbClr val="595959"/>
                </a:solidFill>
              </a:rPr>
              <a:t>Encadrant professionnel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163056" y="3785615"/>
            <a:ext cx="5394960" cy="138988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Membres du jury :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EZZAHAR Jamal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MADIAFI Mohammed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HARZALLA Driss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BENDAIDA Fatiha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480560" y="619963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" tIns="3000" rIns="3000" bIns="3000"/>
          <a:lstStyle/>
          <a:p>
            <a:pPr algn="ctr"/>
            <a:r>
              <a:rPr lang="fr-FR" sz="1200" b="1">
                <a:solidFill>
                  <a:srgbClr val="222222"/>
                </a:solidFill>
              </a:rPr>
              <a:t>Soutenu le 26 Juin 2026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PLAN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261872" y="1325880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103120" y="1307592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Contexte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EQDOM, enjeux data et problématique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519672" y="1325880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360920" y="1307592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Besoins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Exigences cloud et chaîne de confiance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261872" y="2807208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03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2103120" y="278892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Conception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Architecture cible et choix structurants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519672" y="2807208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360920" y="278892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Réalisation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Déploiement, pipeline et preuves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261872" y="4288536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103120" y="4270248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Valeur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Apports et décisions défendables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19672" y="4288536"/>
            <a:ext cx="658368" cy="658368"/>
          </a:xfrm>
          <a:prstGeom prst="ellipse">
            <a:avLst/>
          </a:prstGeom>
          <a:noFill/>
          <a:ln w="12700">
            <a:solidFill>
              <a:srgbClr val="E31937"/>
            </a:solidFill>
          </a:ln>
        </p:spPr>
        <p:txBody>
          <a:bodyPr wrap="square" lIns="7000" tIns="7000" rIns="7000" bIns="7000"/>
          <a:lstStyle/>
          <a:p>
            <a:pPr algn="ctr"/>
            <a:r>
              <a:rPr lang="fr-FR" sz="1900" b="1">
                <a:solidFill>
                  <a:srgbClr val="E31937"/>
                </a:solidFill>
              </a:rPr>
              <a:t>06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360920" y="4270248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700" b="1">
                <a:solidFill>
                  <a:srgbClr val="222222"/>
                </a:solidFill>
              </a:rPr>
              <a:t>Perspectives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Limites et trajectoire d'industrialisation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Contexte et problématique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Avant de présenter la solution, il faut clarifier le terrain métier et la difficulté à résoudre.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Contexte business EQDOM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La data devient un levier de pilotage, de risque et d'IA</a:t>
            </a:r>
          </a:p>
        </p:txBody>
      </p:sp>
      <p:sp>
        <p:nvSpPr>
          <p:cNvPr id="13" name="Shape 13"/>
          <p:cNvSpPr/>
          <p:nvPr/>
        </p:nvSpPr>
        <p:spPr>
          <a:xfrm>
            <a:off x="34747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Contexte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43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000080"/>
                </a:solidFill>
              </a:rPr>
              <a:t>Ambition 2025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Placer l'exploitation de la donnée au cœur de la transformation digitale : pilotage, IA, personnalisation et anticipation du risque.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2519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E31937"/>
                </a:solidFill>
              </a:rPr>
              <a:t>Douleur actuelle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Données dispersées, extractions manuelles, Power BI alimenté artisanalement, peu de standardisation et de traçabilité.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F19D19"/>
                </a:solidFill>
              </a:rPr>
              <a:t>Cible entreprise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Un socle data gouverné, fiable, scalable, connecté aux métiers et prêt pour les cas d'usage analytics / data science.</a:t>
            </a:r>
          </a:p>
        </p:txBody>
      </p:sp>
      <p:pic>
        <p:nvPicPr>
          <p:cNvPr id="23" name="Image 23"/>
          <p:cNvPicPr/>
          <p:nvPr/>
        </p:nvPicPr>
        <p:blipFill>
          <a:blip r:embed="rId1"/>
          <a:stretch>
            <a:fillRect/>
          </a:stretch>
        </p:blipFill>
        <p:spPr>
          <a:xfrm>
            <a:off x="5440680" y="3794760"/>
            <a:ext cx="1051560" cy="1051560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097280" y="4800600"/>
            <a:ext cx="996696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fr-FR" sz="1800" b="1">
                <a:solidFill>
                  <a:srgbClr val="000080"/>
                </a:solidFill>
              </a:rPr>
              <a:t>Message jury : le projet ne vend pas de la technologie, il réduit le délai entre une donnée opérationnelle et une décision métier fiable.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Problématique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Industrialiser une plateforme data sans enfermer EQDOM dans un fournisseur</a:t>
            </a:r>
          </a:p>
        </p:txBody>
      </p:sp>
      <p:sp>
        <p:nvSpPr>
          <p:cNvPr id="13" name="Shape 13"/>
          <p:cNvSpPr/>
          <p:nvPr/>
        </p:nvSpPr>
        <p:spPr>
          <a:xfrm>
            <a:off x="34747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Contexte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31520" y="132588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Constats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Sources multiples : PostgreSQL ONE, Informix CBS, SmartStream, CSV/XLS/XLSX.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Transformations peu versionnées et difficilement rejouables.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Incidents difficiles à diagnostiquer sans logs et métriques centralisés.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Besoin d'un MVP crédible, mais extensible vers DEV / UAT / PROD.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263640" y="1325880"/>
            <a:ext cx="5166360" cy="429768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E31937"/>
                </a:solidFill>
              </a:rPr>
              <a:t>Question centrale</a:t>
            </a:r>
          </a:p>
          <a:p>
            <a:pPr/>
            <a:r>
              <a:rPr lang="fr-FR" sz="2100" b="1">
                <a:solidFill>
                  <a:srgbClr val="222222"/>
                </a:solidFill>
              </a:rPr>
              <a:t>Comment concevoir une Cloud Data Platform cloud-native, sécurisée et reproductible, capable d'ingérer batch et streaming, de produire un Lakehouse Bronze / Silver / Gold et d'exposer des données fiables aux usages BI et IA ?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Analyse des 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Le contexte est posé. Il faut maintenant traduire les enjeux métier en exigences vérifiables.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Analyse des besoins — Infrastructure cloud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Ce que la plateforme doit garantir avant même de traiter la donnée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Shape 14"/>
          <p:cNvSpPr/>
          <p:nvPr/>
        </p:nvSpPr>
        <p:spPr>
          <a:xfrm>
            <a:off x="188366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Besoins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43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000080"/>
                </a:solidFill>
              </a:rPr>
              <a:t>Sécurité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Moindre privilège, chiffrement KMS, secrets hors Git, API EKS restreinte, exposition sans LoadBalancer public.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2519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E31937"/>
                </a:solidFill>
              </a:rPr>
              <a:t>Coûts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Dev dimensionné, NAT unique en MVP, compute scalable à zéro et destruction automatisée pour éviter les coûts dormants.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F19D19"/>
                </a:solidFill>
              </a:rPr>
              <a:t>Portabilité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Kubernetes + MinIO + Iceberg : une architecture cloud-ready et plus simple à déplacer vers d'autres clouds ou on-prem.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" y="3886200"/>
            <a:ext cx="1051560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000080"/>
                </a:solidFill>
              </a:rPr>
              <a:t>Argument business</a:t>
            </a:r>
          </a:p>
          <a:p>
            <a:pPr/>
            <a:r>
              <a:rPr lang="fr-FR" sz="1700" b="0">
                <a:solidFill>
                  <a:srgbClr val="222222"/>
                </a:solidFill>
              </a:rPr>
              <a:t>Le socle cloud doit être contrôlable financièrement et auditable techniquement : le jury doit voir une plateforme pilotable, pas un simple cluster lancé pour la démonstration.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Analyse des besoins — Pipeline data / DataOps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Transformer des sources dispersées en indicateurs consommables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Shape 14"/>
          <p:cNvSpPr/>
          <p:nvPr/>
        </p:nvSpPr>
        <p:spPr>
          <a:xfrm>
            <a:off x="188366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Besoins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43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000080"/>
                </a:solidFill>
              </a:rPr>
              <a:t>Ingestion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CDC pour bases opérationnelles et batch pour fichiers métier : couvrir les flux récurrents et les exports ponctuels.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2519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E31937"/>
                </a:solidFill>
              </a:rPr>
              <a:t>Qualité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Bronze pour l'historique brut, Silver pour le nettoyage, Gold pour les indicateurs métier validés.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F19D19"/>
                </a:solidFill>
              </a:rPr>
              <a:t>DataOps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DAGs Airflow, jobs Spark/dbt versionnés, logs, métriques et capacité de rejeu.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" y="3886200"/>
            <a:ext cx="10515600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000080"/>
                </a:solidFill>
              </a:rPr>
              <a:t>Argument business</a:t>
            </a:r>
          </a:p>
          <a:p>
            <a:pPr/>
            <a:r>
              <a:rPr lang="fr-FR" sz="1700" b="0">
                <a:solidFill>
                  <a:srgbClr val="222222"/>
                </a:solidFill>
              </a:rPr>
              <a:t>Le pipeline ne sert pas seulement à déplacer des données : il crée une chaîne de confiance entre les sources opérationnelles et les décisions de pilotage.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Conception de la solution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Les exigences sont établies. La conception montre comment chaque besoin devient un choix d'architecture.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Conception — Architecture globale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Sept couches pour passer de la source au pilotage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Shape 15"/>
          <p:cNvSpPr/>
          <p:nvPr/>
        </p:nvSpPr>
        <p:spPr>
          <a:xfrm>
            <a:off x="320954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6492240" cy="342900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7360920" y="1234440"/>
            <a:ext cx="42519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Lecture de l'architecture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Sources → ingestion → stockage → calcul → virtualisation → présentation → observabilité.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Les composants sont opérés dans Kubernetes pour garder la même logique de déploiement.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La BI et l'IA consomment la couche Gold, pas les sources brutes.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5074920"/>
            <a:ext cx="105156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fr-FR" sz="1700" b="1">
                <a:solidFill>
                  <a:srgbClr val="000080"/>
                </a:solidFill>
              </a:rPr>
              <a:t>Conviction : séparer stockage, calcul et exposition permet d'évoluer par couches sans reconstruire toute la plateforme.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Conception — Infrastructure cloud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EKS comme socle opérable, pas comme dépendance propriétaire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Shape 15"/>
          <p:cNvSpPr/>
          <p:nvPr/>
        </p:nvSpPr>
        <p:spPr>
          <a:xfrm>
            <a:off x="320954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812280" cy="205740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7543800" y="1143000"/>
            <a:ext cx="3977639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Choix clés</a:t>
            </a:r>
          </a:p>
          <a:p>
            <a:pPr marL="285750" indent="-171450">
              <a:buChar char="•"/>
            </a:pPr>
            <a:r>
              <a:rPr lang="fr-FR" sz="1500" b="0">
                <a:solidFill>
                  <a:srgbClr val="222222"/>
                </a:solidFill>
              </a:rPr>
              <a:t>VPC multi-AZ, sous-réseaux publics/privés, KMS et IAM modulaires via Terraform.</a:t>
            </a:r>
          </a:p>
          <a:p>
            <a:pPr marL="285750" indent="-171450">
              <a:buChar char="•"/>
            </a:pPr>
            <a:r>
              <a:rPr lang="fr-FR" sz="1500" b="0">
                <a:solidFill>
                  <a:srgbClr val="222222"/>
                </a:solidFill>
              </a:rPr>
              <a:t>Deux node groups : stateful-ng toujours actif, compute-ng élastique.</a:t>
            </a:r>
          </a:p>
          <a:p>
            <a:pPr marL="285750" indent="-171450">
              <a:buChar char="•"/>
            </a:pPr>
            <a:r>
              <a:rPr lang="fr-FR" sz="1500" b="0">
                <a:solidFill>
                  <a:srgbClr val="222222"/>
                </a:solidFill>
              </a:rPr>
              <a:t>StorageClass gp3 chiffrée pour les volumes persistants.</a:t>
            </a:r>
          </a:p>
          <a:p>
            <a:pPr marL="285750" indent="-171450">
              <a:buChar char="•"/>
            </a:pPr>
            <a:r>
              <a:rPr lang="fr-FR" sz="1500" b="0">
                <a:solidFill>
                  <a:srgbClr val="222222"/>
                </a:solidFill>
              </a:rPr>
              <a:t>Namespaces platform-* avec quotas et NetworkPolicies.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85800" y="3886200"/>
            <a:ext cx="6492240" cy="114300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E31937"/>
                </a:solidFill>
              </a:rPr>
              <a:t>Pourquoi MinIO sur EBS ?</a:t>
            </a:r>
          </a:p>
          <a:p>
            <a:pPr/>
            <a:r>
              <a:rPr lang="fr-FR" sz="1500" b="0">
                <a:solidFill>
                  <a:srgbClr val="222222"/>
                </a:solidFill>
              </a:rPr>
              <a:t>Dans EKS, MinIO a besoin d'un stockage persistant et prévisible. L'EBS gp3 évite de dépendre directement de S3 pour la couche Lakehouse, améliore le contrôle opérationnel et garde une interface S3-compatible portable.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Conception — Exposition sécurisée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Cloudflare Operator + TunnelBinding + Zero Trust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Shape 15"/>
          <p:cNvSpPr/>
          <p:nvPr/>
        </p:nvSpPr>
        <p:spPr>
          <a:xfrm>
            <a:off x="320954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188720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Pourquoi ce choix ?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Pas de LoadBalancer public pour Airflow, Dremio, Grafana ou NiFi.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Tunnel Cloudflare sortant : exposition DNS contrôlée et surface d'attaque réduite.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TunnelBinding : associer un DNS à un service Kubernetes de manière déclarative.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Zero Trust : authentification et politiques d'accès par application.</a:t>
            </a:r>
          </a:p>
        </p:txBody>
      </p:sp>
      <p:pic>
        <p:nvPicPr>
          <p:cNvPr id="21" name="Image 21"/>
          <p:cNvPicPr/>
          <p:nvPr/>
        </p:nvPicPr>
        <p:blipFill>
          <a:blip r:embed="rId1"/>
          <a:stretch>
            <a:fillRect/>
          </a:stretch>
        </p:blipFill>
        <p:spPr>
          <a:xfrm>
            <a:off x="6217920" y="1234440"/>
            <a:ext cx="5257800" cy="3611880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6309360" y="5074920"/>
            <a:ext cx="507492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fr-FR" sz="1500" b="1">
                <a:solidFill>
                  <a:srgbClr val="000080"/>
                </a:solidFill>
              </a:rPr>
              <a:t>Argument business : sécurité forte, coût faible, accès maîtrisé pour les démonstrations et l'exploitation.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Conception — Optimisation des coûts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Planifier le compute selon les heures utiles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Shape 15"/>
          <p:cNvSpPr/>
          <p:nvPr/>
        </p:nvSpPr>
        <p:spPr>
          <a:xfrm>
            <a:off x="320954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234440"/>
            <a:ext cx="4846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200" b="1">
                <a:solidFill>
                  <a:srgbClr val="000080"/>
                </a:solidFill>
              </a:rPr>
              <a:t>Scheduling proposé</a:t>
            </a:r>
          </a:p>
          <a:p>
            <a:pPr marL="285750" indent="-171450">
              <a:buChar char="•"/>
            </a:pPr>
            <a:r>
              <a:rPr lang="fr-FR" sz="1700" b="0">
                <a:solidFill>
                  <a:srgbClr val="222222"/>
                </a:solidFill>
              </a:rPr>
              <a:t>08:00 : démarrage des nœuds compute pour les traitements et interfaces.</a:t>
            </a:r>
          </a:p>
          <a:p>
            <a:pPr marL="285750" indent="-171450">
              <a:buChar char="•"/>
            </a:pPr>
            <a:r>
              <a:rPr lang="fr-FR" sz="1700" b="0">
                <a:solidFill>
                  <a:srgbClr val="222222"/>
                </a:solidFill>
              </a:rPr>
              <a:t>18:00 : scale-down / arrêt du compute-ng pour réduire les coûts hors horaires.</a:t>
            </a:r>
          </a:p>
          <a:p>
            <a:pPr marL="285750" indent="-171450">
              <a:buChar char="•"/>
            </a:pPr>
            <a:r>
              <a:rPr lang="fr-FR" sz="1700" b="0">
                <a:solidFill>
                  <a:srgbClr val="222222"/>
                </a:solidFill>
              </a:rPr>
              <a:t>Lambda + EventBridge pilotent les tailles min/desired/max du node group.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172200" y="2148840"/>
            <a:ext cx="1325880" cy="1325880"/>
          </a:xfrm>
          <a:prstGeom prst="ellipse">
            <a:avLst/>
          </a:prstGeom>
          <a:solidFill>
            <a:srgbClr val="4C7EB8"/>
          </a:solidFill>
          <a:ln>
            <a:noFill/>
          </a:ln>
        </p:spPr>
        <p:txBody>
          <a:bodyPr wrap="square" lIns="20000" tIns="20000" rIns="20000" bIns="20000"/>
          <a:lstStyle/>
          <a:p>
            <a:pPr algn="ctr"/>
            <a:r>
              <a:rPr lang="fr-FR" sz="2100" b="1">
                <a:solidFill>
                  <a:srgbClr val="FFFFFF"/>
                </a:solidFill>
              </a:rPr>
              <a:t>08:00</a:t>
            </a:r>
          </a:p>
          <a:p>
            <a:pPr algn="ctr"/>
            <a:r>
              <a:rPr lang="fr-FR" sz="1100" b="1">
                <a:solidFill>
                  <a:srgbClr val="FFFFFF"/>
                </a:solidFill>
              </a:rPr>
              <a:t>Scale up</a:t>
            </a:r>
          </a:p>
        </p:txBody>
      </p:sp>
      <p:sp>
        <p:nvSpPr>
          <p:cNvPr id="22" name="Shape 22"/>
          <p:cNvSpPr/>
          <p:nvPr/>
        </p:nvSpPr>
        <p:spPr>
          <a:xfrm>
            <a:off x="7479792" y="2724912"/>
            <a:ext cx="320040" cy="64008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863840" y="2148840"/>
            <a:ext cx="1325880" cy="1325880"/>
          </a:xfrm>
          <a:prstGeom prst="ellipse">
            <a:avLst/>
          </a:prstGeom>
          <a:solidFill>
            <a:srgbClr val="F19D19"/>
          </a:solidFill>
          <a:ln>
            <a:noFill/>
          </a:ln>
        </p:spPr>
        <p:txBody>
          <a:bodyPr wrap="square" lIns="20000" tIns="20000" rIns="20000" bIns="20000"/>
          <a:lstStyle/>
          <a:p>
            <a:pPr algn="ctr"/>
            <a:r>
              <a:rPr lang="fr-FR" sz="2100" b="1">
                <a:solidFill>
                  <a:srgbClr val="FFFFFF"/>
                </a:solidFill>
              </a:rPr>
              <a:t>Journée</a:t>
            </a:r>
          </a:p>
          <a:p>
            <a:pPr algn="ctr"/>
            <a:r>
              <a:rPr lang="fr-FR" sz="1100" b="1">
                <a:solidFill>
                  <a:srgbClr val="FFFFFF"/>
                </a:solidFill>
              </a:rPr>
              <a:t>Traitements</a:t>
            </a:r>
          </a:p>
        </p:txBody>
      </p:sp>
      <p:sp>
        <p:nvSpPr>
          <p:cNvPr id="24" name="Shape 24"/>
          <p:cNvSpPr/>
          <p:nvPr/>
        </p:nvSpPr>
        <p:spPr>
          <a:xfrm>
            <a:off x="9171432" y="2724912"/>
            <a:ext cx="320040" cy="64008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555480" y="2148840"/>
            <a:ext cx="1325880" cy="13258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 wrap="square" lIns="20000" tIns="20000" rIns="20000" bIns="20000"/>
          <a:lstStyle/>
          <a:p>
            <a:pPr algn="ctr"/>
            <a:r>
              <a:rPr lang="fr-FR" sz="2100" b="1">
                <a:solidFill>
                  <a:srgbClr val="FFFFFF"/>
                </a:solidFill>
              </a:rPr>
              <a:t>18:00</a:t>
            </a:r>
          </a:p>
          <a:p>
            <a:pPr algn="ctr"/>
            <a:r>
              <a:rPr lang="fr-FR" sz="1100" b="1">
                <a:solidFill>
                  <a:srgbClr val="FFFFFF"/>
                </a:solidFill>
              </a:rPr>
              <a:t>Scale down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035040" y="4069080"/>
            <a:ext cx="5074920" cy="91440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Pitch jury</a:t>
            </a:r>
          </a:p>
          <a:p>
            <a:pPr/>
            <a:r>
              <a:rPr lang="fr-FR" sz="1600" b="0">
                <a:solidFill>
                  <a:srgbClr val="222222"/>
                </a:solidFill>
              </a:rPr>
              <a:t>Je n'optimise pas seulement la technique : je transforme une plateforme coûteuse 24/7 en capacité activée quand elle crée de la valeur.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Conception — Pipeline data / DataOps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Un Lakehouse médaillon gouvernable et rejouable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Shape 15"/>
          <p:cNvSpPr/>
          <p:nvPr/>
        </p:nvSpPr>
        <p:spPr>
          <a:xfrm>
            <a:off x="3209544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Conception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132320" cy="178308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8001000" y="114300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Rôles des couches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Bronze : vérité brute et traçable.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Silver : nettoyage, typage, déduplication.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Gold : indicateurs et vues métier.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Iceberg apporte tables ACID, schéma et évolution.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31520" y="3657600"/>
            <a:ext cx="6858000" cy="141732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E31937"/>
                </a:solidFill>
              </a:rPr>
              <a:t>DataOps</a:t>
            </a:r>
          </a:p>
          <a:p>
            <a:pPr/>
            <a:r>
              <a:rPr lang="fr-FR" sz="1700" b="0">
                <a:solidFill>
                  <a:srgbClr val="222222"/>
                </a:solidFill>
              </a:rPr>
              <a:t>Airflow orchestre, Spark exécute, dbt structure les transformations, Dremio expose la donnée sans la dupliquer.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Réalisation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Après l'architecture cible, place aux éléments déployés et aux preuves observables.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Réalisation — Infrastructure cloud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Socle AWS/EKS déployé et automatisé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47823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257800" cy="2331720"/>
          </a:xfrm>
          <a:prstGeom prst="rect">
            <a:avLst/>
          </a:prstGeom>
        </p:spPr>
      </p:pic>
      <p:pic>
        <p:nvPicPr>
          <p:cNvPr id="21" name="Imag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257800" cy="2331720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777240" y="3886200"/>
            <a:ext cx="10469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000080"/>
                </a:solidFill>
              </a:rPr>
              <a:t>Livrables</a:t>
            </a:r>
          </a:p>
          <a:p>
            <a:pPr/>
            <a:r>
              <a:rPr lang="fr-FR" sz="1600" b="0">
                <a:solidFill>
                  <a:srgbClr val="222222"/>
                </a:solidFill>
              </a:rPr>
              <a:t>Modules Terraform VPC/KMS/IAM/EKS/ECR/Lambda, backend R2, namespaces, quotas, NetworkPolicies, StorageClass gp3 chiffrée et scripts bootstrap/teardown.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Réalisation — Stockage et métastore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MinIO, PostgreSQL CNPG, Hive Metastore et zones Lakehouse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47823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166360" cy="2880360"/>
          </a:xfrm>
          <a:prstGeom prst="rect">
            <a:avLst/>
          </a:prstGeom>
        </p:spPr>
      </p:pic>
      <p:pic>
        <p:nvPicPr>
          <p:cNvPr id="21" name="Imag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6172200" y="1143000"/>
            <a:ext cx="5257800" cy="2880360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777240" y="4343400"/>
            <a:ext cx="10378440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fr-FR" sz="1700" b="1">
                <a:solidFill>
                  <a:srgbClr val="000080"/>
                </a:solidFill>
              </a:rPr>
              <a:t>Preuve fonctionnelle : les zones Bronze, Silver et Gold existent dans le stockage objet, avec un catalogue technique pour requêter les tables Iceberg.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Réalisation — Pipeline data / DataOps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Ingestion, orchestration et transformations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47823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520440" cy="2057400"/>
          </a:xfrm>
          <a:prstGeom prst="rect">
            <a:avLst/>
          </a:prstGeom>
        </p:spPr>
      </p:pic>
      <p:pic>
        <p:nvPicPr>
          <p:cNvPr id="21" name="Imag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143000"/>
            <a:ext cx="3520440" cy="2057400"/>
          </a:xfrm>
          <a:prstGeom prst="rect">
            <a:avLst/>
          </a:prstGeom>
        </p:spPr>
      </p:pic>
      <p:pic>
        <p:nvPicPr>
          <p:cNvPr id="22" name="Imag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8092440" y="1143000"/>
            <a:ext cx="3200400" cy="205740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777240" y="3657600"/>
            <a:ext cx="10378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000080"/>
                </a:solidFill>
              </a:rPr>
              <a:t>Ce qui est démontré</a:t>
            </a:r>
          </a:p>
          <a:p>
            <a:pPr/>
            <a:r>
              <a:rPr lang="fr-FR" sz="1700" b="0">
                <a:solidFill>
                  <a:srgbClr val="222222"/>
                </a:solidFill>
              </a:rPr>
              <a:t>DAGs Airflow versionnés, SparkApplications, projet dbt, ingestion fichiers, flux NiFi, Kafka/Strimzi et transformation Bronze → Silver → Gold.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Réalisation — Tables et indicateurs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De la donnée brute à la vision métier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47823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pic>
        <p:nvPicPr>
          <p:cNvPr id="20" name="Image 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91840" cy="2011680"/>
          </a:xfrm>
          <a:prstGeom prst="rect">
            <a:avLst/>
          </a:prstGeom>
        </p:spPr>
      </p:pic>
      <p:pic>
        <p:nvPicPr>
          <p:cNvPr id="21" name="Imag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4434840" y="1143000"/>
            <a:ext cx="3291840" cy="2011680"/>
          </a:xfrm>
          <a:prstGeom prst="rect">
            <a:avLst/>
          </a:prstGeom>
        </p:spPr>
      </p:pic>
      <p:pic>
        <p:nvPicPr>
          <p:cNvPr id="22" name="Imag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8183879" y="1143000"/>
            <a:ext cx="3291840" cy="2011680"/>
          </a:xfrm>
          <a:prstGeom prst="rect">
            <a:avLst/>
          </a:prstGeom>
        </p:spPr>
      </p:pic>
      <p:pic>
        <p:nvPicPr>
          <p:cNvPr id="23" name="Image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234440" y="3657600"/>
            <a:ext cx="9646920" cy="1691640"/>
          </a:xfrm>
          <a:prstGeom prst="rect">
            <a:avLst/>
          </a:prstGeom>
        </p:spPr>
      </p:pic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Réalisation — Serving et BI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Dremio expose les tables Gold aux analystes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47823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Réalisation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234440"/>
            <a:ext cx="4160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Pourquoi Dremio ?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Requête SQL sur Iceberg sans déplacer la donnée.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Connexion BI via ODBC ou Arrow Flight.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Découplage entre stockage Lakehouse et consommation métier.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Plus de flexibilité qu'un data warehouse fermé pour un MVP cloud-ready.</a:t>
            </a:r>
          </a:p>
        </p:txBody>
      </p:sp>
      <p:pic>
        <p:nvPicPr>
          <p:cNvPr id="21" name="Image 21"/>
          <p:cNvPicPr/>
          <p:nvPr/>
        </p:nvPicPr>
        <p:blipFill>
          <a:blip r:embed="rId1"/>
          <a:stretch>
            <a:fillRect/>
          </a:stretch>
        </p:blipFill>
        <p:spPr>
          <a:xfrm>
            <a:off x="5212080" y="1188720"/>
            <a:ext cx="6080760" cy="3840480"/>
          </a:xfrm>
          <a:prstGeom prst="rect">
            <a:avLst/>
          </a:prstGeom>
        </p:spPr>
      </p:pic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Valeur créée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Les composants sont en place. Il reste à expliciter ce que cette architecture change concrètement pour EQDOM.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Décisions défendables devant le jury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Le business case derrière les choix techniques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7" name="Shape 17"/>
          <p:cNvSpPr/>
          <p:nvPr/>
        </p:nvSpPr>
        <p:spPr>
          <a:xfrm>
            <a:off x="6355080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0080" y="114300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EKS + Kubernetes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standard d'exploitation, opérateurs, scalabilité et trajectoire multi-cloud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217920" y="114300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MinIO sur EBS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stockage persistant, S3-compatible, plus contrôlable dans EKS et moins dépendant de S3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40080" y="24688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Cloudflare Zero Trust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exposition sécurisée, DNS déclaratif, pas de LoadBalancer public, coût faible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217920" y="24688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Lambda scheduling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capacité active de 08:00 à 18:00, réduction des coûts hors horaires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0080" y="37947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Lakehouse Iceberg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traçabilité, schéma, ACID et base solide pour BI/IA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217920" y="37947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700" b="1">
                <a:solidFill>
                  <a:srgbClr val="000080"/>
                </a:solidFill>
              </a:rPr>
              <a:t>Airflow + Spark + dbt</a:t>
            </a:r>
          </a:p>
          <a:p>
            <a:pPr/>
            <a:r>
              <a:rPr lang="fr-FR" sz="1300" b="0">
                <a:solidFill>
                  <a:srgbClr val="222222"/>
                </a:solidFill>
              </a:rPr>
              <a:t>orchestration, calcul distribué et transformations versionnées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Valeur créée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Ce que la plateforme apporte à EQDOM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7" name="Shape 17"/>
          <p:cNvSpPr/>
          <p:nvPr/>
        </p:nvSpPr>
        <p:spPr>
          <a:xfrm>
            <a:off x="6355080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Valeur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43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000080"/>
                </a:solidFill>
              </a:rPr>
              <a:t>Time-to-data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Accélérer la mise à disposition des données fiables pour les tableaux de bord et les cas IA.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2519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E31937"/>
                </a:solidFill>
              </a:rPr>
              <a:t>Confiance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Traçabilité Bronze/Silver/Gold, transformations versionnées, supervision et capacité de rejeu.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141732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800" b="1">
                <a:solidFill>
                  <a:srgbClr val="F19D19"/>
                </a:solidFill>
              </a:rPr>
              <a:t>Maîtrise</a:t>
            </a:r>
          </a:p>
          <a:p>
            <a:pPr/>
            <a:r>
              <a:rPr lang="fr-FR" sz="1400" b="0">
                <a:solidFill>
                  <a:srgbClr val="222222"/>
                </a:solidFill>
              </a:rPr>
              <a:t>Coûts pilotés, exposition sécurisée, infrastructure reproductible et cloud agnostic.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68680" y="3931920"/>
            <a:ext cx="10287000" cy="118872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1900" b="1">
                <a:solidFill>
                  <a:srgbClr val="000080"/>
                </a:solidFill>
              </a:rPr>
              <a:t>Phrase de soutenance</a:t>
            </a:r>
          </a:p>
          <a:p>
            <a:pPr/>
            <a:r>
              <a:rPr lang="fr-FR" sz="1800" b="1">
                <a:solidFill>
                  <a:srgbClr val="222222"/>
                </a:solidFill>
              </a:rPr>
              <a:t>J'ai conçu la plateforme comme un actif d'entreprise : elle ne répond pas seulement au besoin du jour, elle prépare EQDOM à industrialiser ses usages BI, analytics et IA.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892040" y="2395728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892040" y="3968496"/>
            <a:ext cx="2395728" cy="146304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463040" y="2788920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3400" b="0">
                <a:solidFill>
                  <a:srgbClr val="222222"/>
                </a:solidFill>
              </a:rPr>
              <a:t>Limites et perspectives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743200" y="4407408"/>
            <a:ext cx="672084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1200" b="0">
                <a:solidFill>
                  <a:srgbClr val="595959"/>
                </a:solidFill>
              </a:rPr>
              <a:t>La conclusion ne fige pas la plateforme : elle présente les prochains jalons d'une industrialisation maîtrisée.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74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/>
            <a:r>
              <a:rPr lang="fr-FR" sz="2400" b="1">
                <a:solidFill>
                  <a:srgbClr val="222222"/>
                </a:solidFill>
              </a:rPr>
              <a:t>Limites et perspectives</a:t>
            </a:r>
          </a:p>
          <a:p>
            <a:pPr/>
            <a:r>
              <a:rPr lang="fr-FR" sz="1300" b="0">
                <a:solidFill>
                  <a:srgbClr val="595959"/>
                </a:solidFill>
              </a:rPr>
              <a:t>Une trajectoire d'industrialisation claire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" y="896112"/>
            <a:ext cx="135331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Contexte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057400" y="896112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Besoins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383279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Conception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956048" y="896112"/>
            <a:ext cx="1389888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Réalisation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528816" y="896112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0">
                <a:solidFill>
                  <a:srgbClr val="595959"/>
                </a:solidFill>
              </a:rPr>
              <a:t>Valeur</a:t>
            </a:r>
          </a:p>
        </p:txBody>
      </p:sp>
      <p:sp>
        <p:nvSpPr>
          <p:cNvPr id="18" name="Shape 18"/>
          <p:cNvSpPr/>
          <p:nvPr/>
        </p:nvSpPr>
        <p:spPr>
          <a:xfrm>
            <a:off x="7525512" y="914400"/>
            <a:ext cx="128016" cy="128016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7699248" y="896112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 lIns="4000" tIns="4000" rIns="4000" bIns="4000"/>
          <a:lstStyle/>
          <a:p>
            <a:pPr/>
            <a:r>
              <a:rPr lang="fr-FR" sz="900" b="1">
                <a:solidFill>
                  <a:srgbClr val="E31937"/>
                </a:solidFill>
              </a:rPr>
              <a:t>Perspectives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234440"/>
            <a:ext cx="51663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000080"/>
                </a:solidFill>
              </a:rPr>
              <a:t>Limites assumées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Dashboards Grafana et règles d'alerting à finaliser.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GitOps ArgoCD présent mais activation complète à industrialiser.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Durcissement PROD : sauvegardes, HA, tests de charge, politiques d'accès détaillées.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263640" y="1234440"/>
            <a:ext cx="5166360" cy="411480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660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fr-FR" sz="2000" b="1">
                <a:solidFill>
                  <a:srgbClr val="E31937"/>
                </a:solidFill>
              </a:rPr>
              <a:t>Perspectives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Promotions DEV → UAT → PROD via GitOps.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Data quality automatisée et catalogage métier.</a:t>
            </a:r>
          </a:p>
          <a:p>
            <a:pPr marL="285750" indent="-171450">
              <a:buChar char="•"/>
            </a:pPr>
            <a:r>
              <a:rPr lang="fr-FR" sz="1600" b="0">
                <a:solidFill>
                  <a:srgbClr val="222222"/>
                </a:solidFill>
              </a:rPr>
              <a:t>Cas d'usage fraude, proactivité commerciale et recouvrement optimisé.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0" y="1691640"/>
            <a:ext cx="12188952" cy="178308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Image 13"/>
          <p:cNvPicPr/>
          <p:nvPr/>
        </p:nvPicPr>
        <p:blipFill>
          <a:blip r:embed="rId1"/>
          <a:stretch>
            <a:fillRect/>
          </a:stretch>
        </p:blipFill>
        <p:spPr>
          <a:xfrm>
            <a:off x="420624" y="219456"/>
            <a:ext cx="2148840" cy="502920"/>
          </a:xfrm>
          <a:prstGeom prst="rect">
            <a:avLst/>
          </a:prstGeom>
        </p:spPr>
      </p:pic>
      <p:pic>
        <p:nvPicPr>
          <p:cNvPr id="14" name="Image 14"/>
          <p:cNvPicPr/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603504" cy="603504"/>
          </a:xfrm>
          <a:prstGeom prst="rect">
            <a:avLst/>
          </a:prstGeom>
        </p:spPr>
      </p:pic>
      <p:pic>
        <p:nvPicPr>
          <p:cNvPr id="15" name="Image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0625328" y="201168"/>
            <a:ext cx="603504" cy="603504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2487168" y="164592"/>
            <a:ext cx="7223760" cy="1170432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2000" b="1">
                <a:solidFill>
                  <a:srgbClr val="000080"/>
                </a:solidFill>
              </a:rPr>
              <a:t>Soutenance du Projet de Fin d'Études</a:t>
            </a:r>
          </a:p>
          <a:p>
            <a:pPr algn="ctr"/>
            <a:r>
              <a:rPr lang="fr-FR" sz="1400" b="1">
                <a:solidFill>
                  <a:srgbClr val="222222"/>
                </a:solidFill>
              </a:rPr>
              <a:t>Filière : Ingénierie des Données et Intelligence Artificielle</a:t>
            </a:r>
          </a:p>
          <a:p>
            <a:pPr algn="ctr"/>
            <a:r>
              <a:rPr lang="fr-FR" sz="1200" b="0">
                <a:solidFill>
                  <a:srgbClr val="595959"/>
                </a:solidFill>
              </a:rPr>
              <a:t>En vue de l'obtention du Diplôme d'Ingénieur d'État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1975104"/>
            <a:ext cx="11173968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 algn="ctr"/>
            <a:r>
              <a:rPr lang="fr-FR" sz="2700" b="1">
                <a:solidFill>
                  <a:srgbClr val="FFFFFF"/>
                </a:solidFill>
              </a:rPr>
              <a:t>Conception et déploiement d'une Cloud Data Platform</a:t>
            </a:r>
          </a:p>
          <a:p>
            <a:pPr algn="ctr"/>
            <a:r>
              <a:rPr lang="fr-FR" sz="1800" b="0">
                <a:solidFill>
                  <a:srgbClr val="FFFFFF"/>
                </a:solidFill>
              </a:rPr>
              <a:t>Architecture Lakehouse cloud-native pour EQDOM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38912" y="3785615"/>
            <a:ext cx="2331720" cy="1060704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Présenté par :</a:t>
            </a:r>
          </a:p>
          <a:p>
            <a:pPr/>
            <a:r>
              <a:rPr lang="fr-FR" sz="1500" b="1">
                <a:solidFill>
                  <a:srgbClr val="222222"/>
                </a:solidFill>
              </a:rPr>
              <a:t>M. DAHIRY Mohammed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Effectué à : SEVENAPP</a:t>
            </a:r>
          </a:p>
          <a:p>
            <a:pPr/>
            <a:r>
              <a:rPr lang="fr-FR" sz="1100" b="0">
                <a:solidFill>
                  <a:srgbClr val="595959"/>
                </a:solidFill>
              </a:rPr>
              <a:t>Mission client : EQDOM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044952" y="3785615"/>
            <a:ext cx="2743200" cy="1225296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Encadré par :</a:t>
            </a:r>
          </a:p>
          <a:p>
            <a:pPr/>
            <a:r>
              <a:rPr lang="fr-FR" sz="1300" b="1">
                <a:solidFill>
                  <a:srgbClr val="222222"/>
                </a:solidFill>
              </a:rPr>
              <a:t>Pr. EZZAHAR Jamal</a:t>
            </a:r>
          </a:p>
          <a:p>
            <a:pPr/>
            <a:r>
              <a:rPr lang="fr-FR" sz="1000" b="0">
                <a:solidFill>
                  <a:srgbClr val="595959"/>
                </a:solidFill>
              </a:rPr>
              <a:t>Encadrant académique</a:t>
            </a:r>
          </a:p>
          <a:p>
            <a:pPr/>
            <a:r>
              <a:rPr lang="fr-FR" sz="1300" b="1">
                <a:solidFill>
                  <a:srgbClr val="222222"/>
                </a:solidFill>
              </a:rPr>
              <a:t>M. EL GHALLAOUI Zine Labidine</a:t>
            </a:r>
          </a:p>
          <a:p>
            <a:pPr/>
            <a:r>
              <a:rPr lang="fr-FR" sz="1000" b="0">
                <a:solidFill>
                  <a:srgbClr val="595959"/>
                </a:solidFill>
              </a:rPr>
              <a:t>Encadrant professionnel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163056" y="3785615"/>
            <a:ext cx="5394960" cy="1389888"/>
          </a:xfrm>
          <a:prstGeom prst="rect">
            <a:avLst/>
          </a:prstGeom>
          <a:noFill/>
          <a:ln>
            <a:noFill/>
          </a:ln>
        </p:spPr>
        <p:txBody>
          <a:bodyPr wrap="square" lIns="5000" tIns="5000" rIns="5000" bIns="5000"/>
          <a:lstStyle/>
          <a:p>
            <a:pPr/>
            <a:r>
              <a:rPr lang="fr-FR" sz="1300" b="1">
                <a:solidFill>
                  <a:srgbClr val="000080"/>
                </a:solidFill>
              </a:rPr>
              <a:t>Membres du jury :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EZZAHAR Jamal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MADIAFI Mohammed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HARZALLA Driss</a:t>
            </a:r>
          </a:p>
          <a:p>
            <a:pPr/>
            <a:r>
              <a:rPr lang="fr-FR" sz="1200" b="1">
                <a:solidFill>
                  <a:srgbClr val="222222"/>
                </a:solidFill>
              </a:rPr>
              <a:t>Pr. BENDAIDA Fatiha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480560" y="619963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" tIns="3000" rIns="3000" bIns="3000"/>
          <a:lstStyle/>
          <a:p>
            <a:pPr algn="ctr"/>
            <a:r>
              <a:rPr lang="fr-FR" sz="1200" b="1">
                <a:solidFill>
                  <a:srgbClr val="222222"/>
                </a:solidFill>
              </a:rPr>
              <a:t>Soutenu le 26 Juin 2026</a:t>
            </a:r>
          </a:p>
        </p:txBody>
      </p:sp>
      <p:sp>
        <p:nvSpPr>
          <p:cNvPr id="999" name="Text 999"/>
          <p:cNvSpPr txBox="1"/>
          <p:nvPr/>
        </p:nvSpPr>
        <p:spPr>
          <a:xfrm>
            <a:off x="8613648" y="6355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000" tIns="2000" rIns="2000" bIns="2000"/>
          <a:lstStyle/>
          <a:p>
            <a:pPr algn="ctr"/>
            <a:r>
              <a:rPr lang="fr-FR" sz="1000" b="0">
                <a:solidFill>
                  <a:srgbClr val="595959"/>
                </a:solidFill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26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Cloud Data Platform EQDOM</dc:title>
  <dc:creator>Mohammed Dahiry</dc:creator>
  <cp:lastModifiedBy>Codex</cp:lastModifiedBy>
</cp:coreProperties>
</file>